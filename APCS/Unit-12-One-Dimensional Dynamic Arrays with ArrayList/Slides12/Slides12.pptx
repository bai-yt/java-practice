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sldIdLst>
    <p:sldId id="256" r:id="rId2"/>
    <p:sldId id="759" r:id="rId3"/>
    <p:sldId id="735" r:id="rId4"/>
    <p:sldId id="805" r:id="rId5"/>
    <p:sldId id="806" r:id="rId6"/>
    <p:sldId id="808" r:id="rId7"/>
    <p:sldId id="809" r:id="rId8"/>
    <p:sldId id="832" r:id="rId9"/>
    <p:sldId id="811" r:id="rId10"/>
    <p:sldId id="833" r:id="rId11"/>
    <p:sldId id="807" r:id="rId12"/>
    <p:sldId id="813" r:id="rId13"/>
    <p:sldId id="834" r:id="rId14"/>
    <p:sldId id="815" r:id="rId15"/>
    <p:sldId id="835" r:id="rId16"/>
    <p:sldId id="817" r:id="rId17"/>
    <p:sldId id="836" r:id="rId18"/>
    <p:sldId id="819" r:id="rId19"/>
    <p:sldId id="838" r:id="rId20"/>
    <p:sldId id="840" r:id="rId21"/>
    <p:sldId id="810" r:id="rId22"/>
    <p:sldId id="883" r:id="rId23"/>
    <p:sldId id="828" r:id="rId24"/>
    <p:sldId id="843" r:id="rId25"/>
    <p:sldId id="812" r:id="rId26"/>
    <p:sldId id="841" r:id="rId27"/>
    <p:sldId id="842" r:id="rId28"/>
    <p:sldId id="844" r:id="rId29"/>
    <p:sldId id="845" r:id="rId30"/>
    <p:sldId id="846" r:id="rId31"/>
    <p:sldId id="884" r:id="rId32"/>
    <p:sldId id="848" r:id="rId33"/>
    <p:sldId id="847" r:id="rId34"/>
    <p:sldId id="849" r:id="rId35"/>
    <p:sldId id="850" r:id="rId36"/>
    <p:sldId id="851" r:id="rId37"/>
    <p:sldId id="852" r:id="rId38"/>
    <p:sldId id="886" r:id="rId39"/>
    <p:sldId id="887" r:id="rId40"/>
    <p:sldId id="888" r:id="rId41"/>
    <p:sldId id="889" r:id="rId42"/>
    <p:sldId id="853" r:id="rId43"/>
    <p:sldId id="890" r:id="rId44"/>
    <p:sldId id="891" r:id="rId45"/>
    <p:sldId id="892" r:id="rId46"/>
    <p:sldId id="897" r:id="rId47"/>
    <p:sldId id="894" r:id="rId48"/>
    <p:sldId id="895" r:id="rId49"/>
    <p:sldId id="896" r:id="rId50"/>
    <p:sldId id="893" r:id="rId5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5pPr>
    <a:lvl6pPr marL="22860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6pPr>
    <a:lvl7pPr marL="27432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7pPr>
    <a:lvl8pPr marL="32004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8pPr>
    <a:lvl9pPr marL="3657600" algn="l" defTabSz="914400" rtl="0" eaLnBrk="1" latinLnBrk="0" hangingPunct="1">
      <a:defRPr sz="1900" b="1" kern="1200">
        <a:solidFill>
          <a:schemeClr val="tx1"/>
        </a:solidFill>
        <a:latin typeface="Arial Black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FFCC"/>
    <a:srgbClr val="FF99CC"/>
    <a:srgbClr val="FF0000"/>
    <a:srgbClr val="006000"/>
    <a:srgbClr val="FF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53" autoAdjust="0"/>
    <p:restoredTop sz="89474" autoAdjust="0"/>
  </p:normalViewPr>
  <p:slideViewPr>
    <p:cSldViewPr>
      <p:cViewPr varScale="1">
        <p:scale>
          <a:sx n="82" d="100"/>
          <a:sy n="82" d="100"/>
        </p:scale>
        <p:origin x="-800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7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463027E-62D1-46B2-9FC9-2CB1C483FF16}" type="datetimeFigureOut">
              <a:rPr lang="en-US"/>
              <a:pPr>
                <a:defRPr/>
              </a:pPr>
              <a:t>5/16/2015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213125A-8977-4148-877D-64CAED7749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220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18DEFD-9330-459C-9899-774320416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47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862CC-6887-48C2-A1D8-B0961FF752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81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CE299-D65E-4853-9CC3-63D6E6A63A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81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929B37-0CAC-4E32-882F-5C3B90C9C0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15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52E730-6DAF-4648-B9B2-09AFD9519D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9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D3239-8967-46B3-AA76-0C86DC07EE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54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C8DF5-58E5-420A-883A-F439A5C8C3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3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8CE83-C3D5-4C85-A999-772A79ECB0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667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85840E-F97A-418D-898F-B8C09196DE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220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EEAA3-F47B-4F34-B87E-EDDD5452F2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8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A744EC-4B9F-4AFA-ABA2-FA5D13EDF8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0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99C63-F7CF-4545-BD57-2A4084CDC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4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</a:defRPr>
            </a:lvl1pPr>
          </a:lstStyle>
          <a:p>
            <a:pPr>
              <a:defRPr/>
            </a:pPr>
            <a:fld id="{3A970E59-C0B7-4CAB-B210-D33049784F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gi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gi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WordArt 6"/>
          <p:cNvSpPr>
            <a:spLocks noChangeArrowheads="1" noChangeShapeType="1" noTextEdit="1"/>
          </p:cNvSpPr>
          <p:nvPr/>
        </p:nvSpPr>
        <p:spPr bwMode="auto">
          <a:xfrm>
            <a:off x="685800" y="1654175"/>
            <a:ext cx="8077200" cy="2155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0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</a:sp3d>
          </a:bodyPr>
          <a:lstStyle/>
          <a:p>
            <a:pPr algn="ctr"/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Chapter </a:t>
            </a:r>
            <a:r>
              <a:rPr lang="en-US" sz="3600" kern="10" dirty="0" smtClean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12 </a:t>
            </a:r>
            <a:r>
              <a:rPr lang="en-US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DCEBF5"/>
                    </a:gs>
                    <a:gs pos="8000">
                      <a:srgbClr val="83A7C3"/>
                    </a:gs>
                    <a:gs pos="13000">
                      <a:srgbClr val="768FB9"/>
                    </a:gs>
                    <a:gs pos="21001">
                      <a:srgbClr val="83A7C3"/>
                    </a:gs>
                    <a:gs pos="52000">
                      <a:srgbClr val="FFFFFF"/>
                    </a:gs>
                    <a:gs pos="56000">
                      <a:srgbClr val="9C6563"/>
                    </a:gs>
                    <a:gs pos="58000">
                      <a:srgbClr val="80302D"/>
                    </a:gs>
                    <a:gs pos="71001">
                      <a:srgbClr val="C0524E"/>
                    </a:gs>
                    <a:gs pos="94000">
                      <a:srgbClr val="EBDAD4"/>
                    </a:gs>
                    <a:gs pos="100000">
                      <a:srgbClr val="55261C"/>
                    </a:gs>
                  </a:gsLst>
                  <a:lin ang="5400000" scaled="1"/>
                </a:gradFill>
                <a:latin typeface="Arial Black"/>
              </a:rPr>
              <a:t>Slides</a:t>
            </a:r>
          </a:p>
        </p:txBody>
      </p:sp>
      <p:sp>
        <p:nvSpPr>
          <p:cNvPr id="9" name="WordArt 7"/>
          <p:cNvSpPr>
            <a:spLocks noChangeArrowheads="1" noChangeShapeType="1" noTextEdit="1"/>
          </p:cNvSpPr>
          <p:nvPr/>
        </p:nvSpPr>
        <p:spPr bwMode="auto">
          <a:xfrm>
            <a:off x="371475" y="3840480"/>
            <a:ext cx="840105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Dynamic Arrays</a:t>
            </a:r>
          </a:p>
          <a:p>
            <a:pPr algn="ctr"/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with the ArrayList Class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10" name="WordArt 22"/>
          <p:cNvSpPr>
            <a:spLocks noChangeArrowheads="1" noChangeShapeType="1" noTextEdit="1"/>
          </p:cNvSpPr>
          <p:nvPr/>
        </p:nvSpPr>
        <p:spPr bwMode="auto">
          <a:xfrm>
            <a:off x="152400" y="152400"/>
            <a:ext cx="8915400" cy="1143000"/>
          </a:xfrm>
          <a:prstGeom prst="rect">
            <a:avLst/>
          </a:prstGeom>
        </p:spPr>
        <p:txBody>
          <a:bodyPr wrap="none" fromWordArt="1">
            <a:prstTxWarp prst="textFadeUp">
              <a:avLst>
                <a:gd name="adj" fmla="val 4954"/>
              </a:avLst>
            </a:prstTxWarp>
          </a:bodyPr>
          <a:lstStyle/>
          <a:p>
            <a:pPr algn="ctr"/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Exposure Java </a:t>
            </a:r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2015</a:t>
            </a:r>
            <a:endParaRPr lang="fr-FR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  <a:p>
            <a:pPr algn="ctr"/>
            <a:r>
              <a:rPr lang="fr-FR" sz="7200" kern="10" dirty="0" smtClean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APCS </a:t>
            </a:r>
            <a:r>
              <a:rPr lang="fr-FR" sz="7200" kern="10" dirty="0">
                <a:ln w="12700">
                  <a:solidFill>
                    <a:srgbClr val="B2B2B2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520402"/>
                    </a:gs>
                    <a:gs pos="50000">
                      <a:srgbClr val="FFCC00"/>
                    </a:gs>
                    <a:gs pos="100000">
                      <a:srgbClr val="520402"/>
                    </a:gs>
                  </a:gsLst>
                  <a:lin ang="5400000" scaled="1"/>
                </a:gra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Impact"/>
              </a:rPr>
              <a:t>Edition</a:t>
            </a:r>
            <a:endParaRPr lang="en-US" sz="7200" kern="10" dirty="0">
              <a:ln w="12700">
                <a:solidFill>
                  <a:srgbClr val="B2B2B2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520402"/>
                  </a:gs>
                  <a:gs pos="50000">
                    <a:srgbClr val="FFCC00"/>
                  </a:gs>
                  <a:gs pos="100000">
                    <a:srgbClr val="520402"/>
                  </a:gs>
                </a:gsLst>
                <a:lin ang="5400000" scaled="1"/>
              </a:gra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Impact"/>
            </a:endParaRPr>
          </a:p>
        </p:txBody>
      </p:sp>
      <p:sp>
        <p:nvSpPr>
          <p:cNvPr id="11" name="WordArt 19"/>
          <p:cNvSpPr>
            <a:spLocks noChangeArrowheads="1" noChangeShapeType="1" noTextEdit="1"/>
          </p:cNvSpPr>
          <p:nvPr/>
        </p:nvSpPr>
        <p:spPr bwMode="auto">
          <a:xfrm rot="235564">
            <a:off x="1209675" y="4751388"/>
            <a:ext cx="3076575" cy="2055812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84639"/>
              </a:avLst>
            </a:prstTxWarp>
            <a:scene3d>
              <a:camera prst="legacyPerspectiveFront">
                <a:rot lat="20519958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lstStyle/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PowerPoint Presentation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created by: 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Mr. John L. M. Schram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and Mr. Leon Schram</a:t>
            </a:r>
          </a:p>
          <a:p>
            <a:pPr algn="ctr"/>
            <a:r>
              <a:rPr lang="en-US" sz="20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Impact"/>
              </a:rPr>
              <a:t>Authors of Exposure Java</a:t>
            </a:r>
          </a:p>
        </p:txBody>
      </p:sp>
      <p:pic>
        <p:nvPicPr>
          <p:cNvPr id="12" name="Picture 18" descr="Schram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4784725"/>
            <a:ext cx="27432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WordArt 2"/>
          <p:cNvSpPr>
            <a:spLocks noChangeArrowheads="1" noChangeShapeType="1" noTextEdit="1"/>
          </p:cNvSpPr>
          <p:nvPr/>
        </p:nvSpPr>
        <p:spPr bwMode="auto">
          <a:xfrm>
            <a:off x="457200" y="1905000"/>
            <a:ext cx="8382000" cy="3810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Introduction</a:t>
            </a:r>
          </a:p>
        </p:txBody>
      </p:sp>
      <p:sp>
        <p:nvSpPr>
          <p:cNvPr id="3075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12.1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5400" dirty="0" smtClean="0">
                <a:solidFill>
                  <a:schemeClr val="tx1"/>
                </a:solidFill>
                <a:latin typeface="Arial Black" pitchFamily="34" charset="0"/>
              </a:rPr>
              <a:t>Java Arrays</a:t>
            </a:r>
            <a:endParaRPr lang="en-US" sz="5400" dirty="0" smtClean="0">
              <a:latin typeface="Arial Black" pitchFamily="34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52400" y="1371600"/>
            <a:ext cx="8839200" cy="452431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defRPr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  <a:p>
            <a:r>
              <a:rPr lang="en-US" sz="2400" spc="-2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</a:t>
            </a:r>
            <a:r>
              <a:rPr lang="en-US" sz="2400" spc="-20" dirty="0">
                <a:latin typeface="Arial" panose="020B0604020202020204" pitchFamily="34" charset="0"/>
                <a:cs typeface="Arial" panose="020B0604020202020204" pitchFamily="34" charset="0"/>
              </a:rPr>
              <a:t>	Java has a </a:t>
            </a:r>
            <a:r>
              <a:rPr lang="en-US" sz="2400" i="1" spc="-20" dirty="0">
                <a:latin typeface="Arial" panose="020B0604020202020204" pitchFamily="34" charset="0"/>
                <a:cs typeface="Arial" panose="020B0604020202020204" pitchFamily="34" charset="0"/>
              </a:rPr>
              <a:t>static array</a:t>
            </a:r>
            <a:r>
              <a:rPr lang="en-US" sz="2400" spc="-20" dirty="0">
                <a:latin typeface="Arial" panose="020B0604020202020204" pitchFamily="34" charset="0"/>
                <a:cs typeface="Arial" panose="020B0604020202020204" pitchFamily="34" charset="0"/>
              </a:rPr>
              <a:t> capable of easy multi-dimensions.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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Java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has a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dynamic array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which is also capable of </a:t>
            </a: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	multi-dimensions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but it is more complex.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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The </a:t>
            </a:r>
            <a:r>
              <a:rPr lang="en-US" sz="2400" b="0" dirty="0">
                <a:cs typeface="Arial" panose="020B0604020202020204" pitchFamily="34" charset="0"/>
              </a:rPr>
              <a:t>ArrayList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class is used for the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dynamic array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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i="1" spc="-30" dirty="0">
                <a:latin typeface="Arial" panose="020B0604020202020204" pitchFamily="34" charset="0"/>
                <a:cs typeface="Arial" panose="020B0604020202020204" pitchFamily="34" charset="0"/>
              </a:rPr>
              <a:t>Static arrays</a:t>
            </a:r>
            <a:r>
              <a:rPr lang="en-US" sz="2400" spc="-30" dirty="0">
                <a:latin typeface="Arial" panose="020B0604020202020204" pitchFamily="34" charset="0"/>
                <a:cs typeface="Arial" panose="020B0604020202020204" pitchFamily="34" charset="0"/>
              </a:rPr>
              <a:t> have no methods, but have the initializer list.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Symbol"/>
              </a:rPr>
              <a:t>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b="0" dirty="0">
                <a:cs typeface="Arial" panose="020B0604020202020204" pitchFamily="34" charset="0"/>
              </a:rPr>
              <a:t> ArrayList</a:t>
            </a:r>
            <a:r>
              <a:rPr lang="en-US" sz="2400" dirty="0"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class with many methods.</a:t>
            </a:r>
          </a:p>
          <a:p>
            <a:pPr eaLnBrk="1" hangingPunct="1">
              <a:defRPr/>
            </a:pPr>
            <a:endParaRPr lang="en-US" sz="2400" dirty="0" smtClean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WordArt 2"/>
          <p:cNvSpPr>
            <a:spLocks noChangeArrowheads="1" noChangeShapeType="1" noTextEdit="1"/>
          </p:cNvSpPr>
          <p:nvPr/>
        </p:nvSpPr>
        <p:spPr bwMode="auto">
          <a:xfrm>
            <a:off x="457200" y="1447800"/>
            <a:ext cx="8382000" cy="2971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ArrayList</a:t>
            </a:r>
          </a:p>
        </p:txBody>
      </p:sp>
      <p:sp>
        <p:nvSpPr>
          <p:cNvPr id="23555" name="WordArt 3"/>
          <p:cNvSpPr>
            <a:spLocks noChangeArrowheads="1" noChangeShapeType="1" noTextEdit="1"/>
          </p:cNvSpPr>
          <p:nvPr/>
        </p:nvSpPr>
        <p:spPr bwMode="auto">
          <a:xfrm>
            <a:off x="457200" y="3886200"/>
            <a:ext cx="8382000" cy="2743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Methods</a:t>
            </a:r>
          </a:p>
        </p:txBody>
      </p:sp>
      <p:sp>
        <p:nvSpPr>
          <p:cNvPr id="23556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12.2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0" y="7938"/>
            <a:ext cx="9144000" cy="68634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Java1201.java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This program introduces the &lt;ArrayList&gt; class and the &lt;add&gt; method.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Note that each name is added to the end of the list.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Ignore the warning messages about "unsafe operations" which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will be explained later and avoided.</a:t>
            </a: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import </a:t>
            </a:r>
            <a:r>
              <a:rPr lang="en-US" sz="2000" dirty="0">
                <a:latin typeface="Times New Roman" pitchFamily="18" charset="0"/>
              </a:rPr>
              <a:t>java.util.ArrayList;</a:t>
            </a:r>
          </a:p>
          <a:p>
            <a:pPr eaLnBrk="1" hangingPunct="1"/>
            <a:endParaRPr lang="en-US" sz="18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public class Java1201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	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      	</a:t>
            </a:r>
            <a:r>
              <a:rPr lang="en-US" sz="2000" dirty="0" smtClean="0">
                <a:latin typeface="Times New Roman" pitchFamily="18" charset="0"/>
              </a:rPr>
              <a:t>	ArrayList </a:t>
            </a:r>
            <a:r>
              <a:rPr lang="en-US" sz="2000" dirty="0">
                <a:latin typeface="Times New Roman" pitchFamily="18" charset="0"/>
              </a:rPr>
              <a:t>names = new ArrayList();</a:t>
            </a:r>
          </a:p>
          <a:p>
            <a:pPr eaLnBrk="1" hangingPunct="1"/>
            <a:r>
              <a:rPr lang="en-US" sz="2400" b="0" dirty="0"/>
              <a:t>		names.add("Isolde");</a:t>
            </a:r>
          </a:p>
          <a:p>
            <a:pPr eaLnBrk="1" hangingPunct="1"/>
            <a:r>
              <a:rPr lang="en-US" sz="2400" b="0" dirty="0"/>
              <a:t>		names.add("John");</a:t>
            </a:r>
          </a:p>
          <a:p>
            <a:pPr eaLnBrk="1" hangingPunct="1"/>
            <a:r>
              <a:rPr lang="en-US" sz="2400" b="0" dirty="0"/>
              <a:t>		names.add("Greg");</a:t>
            </a:r>
          </a:p>
          <a:p>
            <a:pPr eaLnBrk="1" hangingPunct="1"/>
            <a:r>
              <a:rPr lang="en-US" sz="2400" b="0" dirty="0"/>
              <a:t>		names.add("Maria");</a:t>
            </a:r>
          </a:p>
          <a:p>
            <a:pPr eaLnBrk="1" hangingPunct="1"/>
            <a:r>
              <a:rPr lang="en-US" sz="2400" b="0" dirty="0"/>
              <a:t>		names.add("Heidi</a:t>
            </a:r>
            <a:r>
              <a:rPr lang="en-US" sz="2400" b="0" dirty="0" smtClean="0"/>
              <a:t>");</a:t>
            </a:r>
            <a:endParaRPr lang="en-US" sz="2400" b="0" dirty="0"/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System.out.println("names contains " + </a:t>
            </a:r>
            <a:r>
              <a:rPr lang="en-US" sz="2400" b="0" dirty="0"/>
              <a:t>names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  	}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}</a:t>
            </a:r>
            <a:endParaRPr lang="en-US" sz="2000" dirty="0"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824335"/>
            <a:ext cx="914400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names contains [Isolde, John, Greg, Maria, Heidi]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447800"/>
          </a:xfrm>
        </p:spPr>
        <p:txBody>
          <a:bodyPr/>
          <a:lstStyle/>
          <a:p>
            <a:r>
              <a:rPr lang="en-US" sz="4800" dirty="0" smtClean="0">
                <a:latin typeface="Arial Black" pitchFamily="34" charset="0"/>
              </a:rPr>
              <a:t>ArrayList Method add</a:t>
            </a:r>
          </a:p>
        </p:txBody>
      </p:sp>
      <p:sp>
        <p:nvSpPr>
          <p:cNvPr id="710659" name="Text Box 3"/>
          <p:cNvSpPr txBox="1">
            <a:spLocks noChangeArrowheads="1"/>
          </p:cNvSpPr>
          <p:nvPr/>
        </p:nvSpPr>
        <p:spPr bwMode="auto">
          <a:xfrm>
            <a:off x="304800" y="1600200"/>
            <a:ext cx="8534400" cy="230822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latin typeface="Courier New" pitchFamily="49" charset="0"/>
              </a:rPr>
              <a:t>names.add("Tom");</a:t>
            </a:r>
          </a:p>
          <a:p>
            <a:pPr>
              <a:defRPr/>
            </a:pPr>
            <a:endParaRPr lang="en-US" sz="2800" dirty="0">
              <a:latin typeface="+mj-lt"/>
            </a:endParaRPr>
          </a:p>
          <a:p>
            <a:pPr>
              <a:defRPr/>
            </a:pPr>
            <a:r>
              <a:rPr lang="en-US" sz="2800" dirty="0">
                <a:latin typeface="+mj-lt"/>
              </a:rPr>
              <a:t>The </a:t>
            </a:r>
            <a:r>
              <a:rPr lang="en-US" sz="2800" b="0" dirty="0"/>
              <a:t>add</a:t>
            </a:r>
            <a:r>
              <a:rPr lang="en-US" sz="2800" dirty="0">
                <a:latin typeface="+mj-lt"/>
              </a:rPr>
              <a:t> method allocates space for the newly enlarged array and then stores the new array element at the end of the </a:t>
            </a:r>
            <a:r>
              <a:rPr lang="en-US" sz="2800" b="0" dirty="0"/>
              <a:t>ArrayList</a:t>
            </a:r>
            <a:r>
              <a:rPr lang="en-US" sz="2800" dirty="0">
                <a:latin typeface="+mj-lt"/>
              </a:rPr>
              <a:t> object.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524000"/>
          </a:xfrm>
        </p:spPr>
        <p:txBody>
          <a:bodyPr/>
          <a:lstStyle/>
          <a:p>
            <a:r>
              <a:rPr lang="en-US" sz="4000" dirty="0" smtClean="0">
                <a:latin typeface="Arial Black" pitchFamily="34" charset="0"/>
              </a:rPr>
              <a:t>Displaying ArrayList Elements</a:t>
            </a:r>
          </a:p>
        </p:txBody>
      </p:sp>
      <p:sp>
        <p:nvSpPr>
          <p:cNvPr id="711683" name="Text Box 3"/>
          <p:cNvSpPr txBox="1">
            <a:spLocks noChangeArrowheads="1"/>
          </p:cNvSpPr>
          <p:nvPr/>
        </p:nvSpPr>
        <p:spPr bwMode="auto">
          <a:xfrm>
            <a:off x="304800" y="1676400"/>
            <a:ext cx="8534400" cy="44196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800" b="0" dirty="0"/>
              <a:t>ArrayList</a:t>
            </a:r>
            <a:r>
              <a:rPr lang="en-US" sz="2800" dirty="0"/>
              <a:t> </a:t>
            </a:r>
            <a:r>
              <a:rPr lang="en-US" sz="2800" dirty="0">
                <a:latin typeface="+mj-lt"/>
              </a:rPr>
              <a:t>elements can be accessed with various methods.  </a:t>
            </a:r>
          </a:p>
          <a:p>
            <a:pPr>
              <a:defRPr/>
            </a:pPr>
            <a:endParaRPr lang="en-US" sz="2800" dirty="0">
              <a:latin typeface="+mj-lt"/>
            </a:endParaRPr>
          </a:p>
          <a:p>
            <a:pPr>
              <a:defRPr/>
            </a:pPr>
            <a:r>
              <a:rPr lang="en-US" sz="2800" dirty="0">
                <a:latin typeface="+mj-lt"/>
              </a:rPr>
              <a:t>It is possible to display all the elements inside square brackets, separated by commas by using the </a:t>
            </a:r>
            <a:r>
              <a:rPr lang="en-US" sz="2800" dirty="0" smtClean="0">
                <a:latin typeface="+mj-lt"/>
              </a:rPr>
              <a:t>println </a:t>
            </a:r>
            <a:r>
              <a:rPr lang="en-US" sz="2800" dirty="0">
                <a:latin typeface="+mj-lt"/>
              </a:rPr>
              <a:t>method.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3200" dirty="0">
                <a:latin typeface="Courier New" pitchFamily="49" charset="0"/>
              </a:rPr>
              <a:t>System.out.println(names);</a:t>
            </a:r>
          </a:p>
          <a:p>
            <a:pPr>
              <a:defRPr/>
            </a:pPr>
            <a:endParaRPr lang="en-US" sz="2800" dirty="0">
              <a:latin typeface="Courier New" pitchFamily="49" charset="0"/>
            </a:endParaRPr>
          </a:p>
          <a:p>
            <a:pPr>
              <a:defRPr/>
            </a:pPr>
            <a:r>
              <a:rPr lang="en-US" sz="2800" dirty="0"/>
              <a:t>[Isolde, John, Greg, Maria, Heidi]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0" y="7938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Java1202.java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This program uses the &lt;size&gt; method to determine the number of elements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in an &lt;ArrayList&gt; object. The &lt;length&gt; field is only for static arrays.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Note that the value returned by the &lt;size&gt; method changes when more names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are added to the &lt;ArrayList&gt; object.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public class Java1202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ArrayList names = new ArrayList();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names.add("Isolde");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names.add("John");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names.add("Greg");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System.out.println("names contains " + names);;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System.out.println("There are " + </a:t>
            </a:r>
            <a:r>
              <a:rPr lang="en-US" sz="2000" b="0" dirty="0"/>
              <a:t>names.size()</a:t>
            </a:r>
            <a:r>
              <a:rPr lang="en-US" sz="1700" dirty="0">
                <a:latin typeface="Times New Roman" pitchFamily="18" charset="0"/>
              </a:rPr>
              <a:t> + " elements in the names object.");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names.add("Maria");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names.add("Heidi");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System.out.println("names contains " + names);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System.out.println("There are " + </a:t>
            </a:r>
            <a:r>
              <a:rPr lang="en-US" sz="2000" b="0" dirty="0"/>
              <a:t>names.size()</a:t>
            </a:r>
            <a:r>
              <a:rPr lang="en-US" sz="1700" dirty="0" smtClean="0">
                <a:latin typeface="Times New Roman" pitchFamily="18" charset="0"/>
              </a:rPr>
              <a:t> </a:t>
            </a:r>
            <a:r>
              <a:rPr lang="en-US" sz="1700" dirty="0">
                <a:latin typeface="Times New Roman" pitchFamily="18" charset="0"/>
              </a:rPr>
              <a:t>+ " elements in the names object.");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 	}</a:t>
            </a:r>
          </a:p>
          <a:p>
            <a:pPr eaLnBrk="1" hangingPunct="1">
              <a:tabLst>
                <a:tab pos="22860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 smtClean="0">
                <a:latin typeface="Times New Roman" pitchFamily="18" charset="0"/>
              </a:rPr>
              <a:t>}</a:t>
            </a:r>
            <a:endParaRPr lang="en-US" sz="17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names contains [Isolde, John, Greg]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There are 3 elements in the names object.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names contains [Isolde, John, Greg, Maria, Heidi]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There are 5 elements in the names object.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143000"/>
          </a:xfrm>
        </p:spPr>
        <p:txBody>
          <a:bodyPr/>
          <a:lstStyle/>
          <a:p>
            <a:r>
              <a:rPr lang="en-US" sz="4800" dirty="0" smtClean="0">
                <a:latin typeface="Arial Black" pitchFamily="34" charset="0"/>
              </a:rPr>
              <a:t>ArrayList Method size</a:t>
            </a:r>
          </a:p>
        </p:txBody>
      </p:sp>
      <p:sp>
        <p:nvSpPr>
          <p:cNvPr id="713731" name="Text Box 3"/>
          <p:cNvSpPr txBox="1">
            <a:spLocks noChangeArrowheads="1"/>
          </p:cNvSpPr>
          <p:nvPr/>
        </p:nvSpPr>
        <p:spPr bwMode="auto">
          <a:xfrm>
            <a:off x="685800" y="1219200"/>
            <a:ext cx="7772400" cy="2997200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latin typeface="Courier New" pitchFamily="49" charset="0"/>
              </a:rPr>
              <a:t>int count = names.size();</a:t>
            </a:r>
          </a:p>
          <a:p>
            <a:pPr>
              <a:lnSpc>
                <a:spcPct val="70000"/>
              </a:lnSpc>
              <a:defRPr/>
            </a:pPr>
            <a:endParaRPr lang="en-US" sz="3200" dirty="0">
              <a:latin typeface="+mn-lt"/>
            </a:endParaRPr>
          </a:p>
          <a:p>
            <a:pPr>
              <a:defRPr/>
            </a:pPr>
            <a:r>
              <a:rPr lang="en-US" sz="2800" dirty="0">
                <a:latin typeface="+mn-lt"/>
              </a:rPr>
              <a:t>The </a:t>
            </a:r>
            <a:r>
              <a:rPr lang="en-US" sz="2800" b="0" dirty="0"/>
              <a:t>size</a:t>
            </a:r>
            <a:r>
              <a:rPr lang="en-US" sz="2800" dirty="0">
                <a:latin typeface="+mn-lt"/>
              </a:rPr>
              <a:t> method returns the </a:t>
            </a:r>
            <a:r>
              <a:rPr lang="en-US" sz="2800" u="sng" dirty="0">
                <a:latin typeface="+mn-lt"/>
              </a:rPr>
              <a:t>number</a:t>
            </a:r>
            <a:r>
              <a:rPr lang="en-US" sz="2800" dirty="0">
                <a:latin typeface="+mn-lt"/>
              </a:rPr>
              <a:t> of elements of the </a:t>
            </a:r>
            <a:r>
              <a:rPr lang="en-US" sz="2800" b="0" dirty="0"/>
              <a:t>ArrayList</a:t>
            </a:r>
            <a:r>
              <a:rPr lang="en-US" sz="2800" dirty="0">
                <a:latin typeface="+mn-lt"/>
              </a:rPr>
              <a:t> object </a:t>
            </a:r>
            <a:r>
              <a:rPr lang="en-US" sz="2800" b="0" dirty="0"/>
              <a:t>names</a:t>
            </a:r>
            <a:r>
              <a:rPr lang="en-US" sz="2800" dirty="0">
                <a:latin typeface="+mn-lt"/>
              </a:rPr>
              <a:t>.</a:t>
            </a:r>
          </a:p>
          <a:p>
            <a:pPr>
              <a:lnSpc>
                <a:spcPct val="70000"/>
              </a:lnSpc>
              <a:defRPr/>
            </a:pPr>
            <a:endParaRPr lang="en-US" sz="3200" dirty="0">
              <a:latin typeface="+mn-lt"/>
            </a:endParaRPr>
          </a:p>
          <a:p>
            <a:pPr>
              <a:defRPr/>
            </a:pPr>
            <a:r>
              <a:rPr lang="en-US" sz="2800" dirty="0">
                <a:latin typeface="+mn-lt"/>
              </a:rPr>
              <a:t>Remember </a:t>
            </a:r>
            <a:r>
              <a:rPr lang="en-US" sz="2800" i="1" dirty="0">
                <a:latin typeface="+mn-lt"/>
              </a:rPr>
              <a:t>Java static arrays</a:t>
            </a:r>
            <a:r>
              <a:rPr lang="en-US" sz="2800" dirty="0">
                <a:latin typeface="+mn-lt"/>
              </a:rPr>
              <a:t> use a </a:t>
            </a:r>
            <a:r>
              <a:rPr lang="en-US" sz="2800" b="0" dirty="0"/>
              <a:t>length</a:t>
            </a:r>
            <a:r>
              <a:rPr lang="en-US" sz="2800" dirty="0">
                <a:latin typeface="+mn-lt"/>
              </a:rPr>
              <a:t> </a:t>
            </a:r>
            <a:r>
              <a:rPr lang="en-US" sz="2800" i="1" dirty="0">
                <a:latin typeface="+mn-lt"/>
              </a:rPr>
              <a:t>field</a:t>
            </a:r>
            <a:r>
              <a:rPr lang="en-US" sz="2800" dirty="0">
                <a:latin typeface="+mn-lt"/>
              </a:rPr>
              <a:t> while </a:t>
            </a:r>
            <a:r>
              <a:rPr lang="en-US" sz="2800" b="0" dirty="0"/>
              <a:t>ArrayList</a:t>
            </a:r>
            <a:r>
              <a:rPr lang="en-US" sz="2800" b="0" dirty="0">
                <a:latin typeface="+mn-lt"/>
              </a:rPr>
              <a:t> </a:t>
            </a:r>
            <a:r>
              <a:rPr lang="en-US" sz="2800" dirty="0">
                <a:latin typeface="+mn-lt"/>
              </a:rPr>
              <a:t>uses a </a:t>
            </a:r>
            <a:r>
              <a:rPr lang="en-US" sz="2800" b="0" dirty="0"/>
              <a:t>size</a:t>
            </a:r>
            <a:r>
              <a:rPr lang="en-US" sz="2800" dirty="0">
                <a:latin typeface="+mn-lt"/>
              </a:rPr>
              <a:t> </a:t>
            </a:r>
            <a:r>
              <a:rPr lang="en-US" sz="2800" i="1" dirty="0">
                <a:latin typeface="+mn-lt"/>
              </a:rPr>
              <a:t>method</a:t>
            </a:r>
            <a:r>
              <a:rPr lang="en-US" sz="2800" dirty="0">
                <a:latin typeface="+mn-lt"/>
              </a:rPr>
              <a:t>.</a:t>
            </a:r>
          </a:p>
        </p:txBody>
      </p:sp>
      <p:sp>
        <p:nvSpPr>
          <p:cNvPr id="28676" name="WordArt 4"/>
          <p:cNvSpPr>
            <a:spLocks noChangeArrowheads="1" noChangeShapeType="1" noTextEdit="1"/>
          </p:cNvSpPr>
          <p:nvPr/>
        </p:nvSpPr>
        <p:spPr bwMode="auto">
          <a:xfrm>
            <a:off x="1905000" y="4876800"/>
            <a:ext cx="5410200" cy="15240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879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Don’t confuse</a:t>
            </a:r>
          </a:p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length &amp; size!</a:t>
            </a:r>
          </a:p>
        </p:txBody>
      </p:sp>
      <p:pic>
        <p:nvPicPr>
          <p:cNvPr id="28677" name="Picture 5" descr="j0282748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9530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8" name="Picture 6" descr="j0303364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3300" y="1371600"/>
            <a:ext cx="6477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9" name="Picture 7" descr="j0282747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9530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0" y="7938"/>
            <a:ext cx="9144000" cy="683264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1800" dirty="0">
                <a:latin typeface="Times New Roman" pitchFamily="18" charset="0"/>
              </a:rPr>
              <a:t>// Java1203.java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// This program shows how to access specified elements in an &lt;ArrayList&gt; object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// with the &lt;get(k)&gt; method. </a:t>
            </a:r>
            <a:r>
              <a:rPr lang="en-US" sz="1800" dirty="0" smtClean="0">
                <a:latin typeface="Times New Roman" pitchFamily="18" charset="0"/>
              </a:rPr>
              <a:t> This </a:t>
            </a:r>
            <a:r>
              <a:rPr lang="en-US" sz="1800" dirty="0">
                <a:latin typeface="Times New Roman" pitchFamily="18" charset="0"/>
              </a:rPr>
              <a:t>compares to using [k] in static arrays.</a:t>
            </a: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import java.util.ArrayList;</a:t>
            </a: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public class Java1203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 	public static void main(String[] args)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ArrayList names = new ArrayList();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names.add("Isolde");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names.add("John");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names.add("Greg");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names.add("Maria");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names.add("Heidi");</a:t>
            </a: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for (int k = 0; k &lt; names.size(); k++)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	System.out.println(</a:t>
            </a:r>
            <a:r>
              <a:rPr lang="en-US" sz="2000" b="0" dirty="0"/>
              <a:t>names.get(k)</a:t>
            </a:r>
            <a:r>
              <a:rPr lang="en-US" sz="18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System.out.println();</a:t>
            </a:r>
          </a:p>
          <a:p>
            <a:pPr eaLnBrk="1" hangingPunct="1"/>
            <a:endParaRPr lang="en-US" sz="1400" dirty="0">
              <a:latin typeface="Times New Roman" pitchFamily="18" charset="0"/>
            </a:endParaRP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for (int k = names.size()-1; k &gt;= 0; k--)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			System.out.println(</a:t>
            </a:r>
            <a:r>
              <a:rPr lang="en-US" sz="2000" b="0" dirty="0"/>
              <a:t>names.get(k)</a:t>
            </a:r>
            <a:r>
              <a:rPr lang="en-US" sz="1800" dirty="0">
                <a:latin typeface="Times New Roman" pitchFamily="18" charset="0"/>
              </a:rPr>
              <a:t>);</a:t>
            </a:r>
          </a:p>
          <a:p>
            <a:pPr eaLnBrk="1" hangingPunct="1"/>
            <a:r>
              <a:rPr lang="en-US" sz="1800" dirty="0">
                <a:latin typeface="Times New Roman" pitchFamily="18" charset="0"/>
              </a:rPr>
              <a:t>  	}</a:t>
            </a:r>
          </a:p>
          <a:p>
            <a:pPr eaLnBrk="1" hangingPunct="1"/>
            <a:r>
              <a:rPr lang="en-US" sz="1800" dirty="0" smtClean="0">
                <a:latin typeface="Times New Roman" pitchFamily="18" charset="0"/>
              </a:rPr>
              <a:t>}</a:t>
            </a:r>
            <a:endParaRPr lang="en-US" sz="18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72200" y="1340108"/>
            <a:ext cx="1676400" cy="48320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Isolde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John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Greg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Maria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Heidi</a:t>
            </a:r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Heidi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Maria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Greg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John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Isolde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066800"/>
          </a:xfrm>
        </p:spPr>
        <p:txBody>
          <a:bodyPr/>
          <a:lstStyle/>
          <a:p>
            <a:r>
              <a:rPr lang="en-US" sz="4800" dirty="0" smtClean="0">
                <a:latin typeface="Arial Black" pitchFamily="34" charset="0"/>
              </a:rPr>
              <a:t>ArrayList Access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28600" y="1219200"/>
            <a:ext cx="8686800" cy="185737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800" b="0" dirty="0">
                <a:cs typeface="Arial" charset="0"/>
              </a:rPr>
              <a:t>ArrayList</a:t>
            </a:r>
            <a:r>
              <a:rPr lang="en-US" sz="2800" dirty="0">
                <a:latin typeface="Arial" charset="0"/>
                <a:cs typeface="Arial" charset="0"/>
              </a:rPr>
              <a:t> objects </a:t>
            </a:r>
            <a:r>
              <a:rPr lang="en-US" sz="2800" u="sng" dirty="0">
                <a:latin typeface="Arial" charset="0"/>
                <a:cs typeface="Arial" charset="0"/>
              </a:rPr>
              <a:t>cannot</a:t>
            </a:r>
            <a:r>
              <a:rPr lang="en-US" sz="2800" dirty="0">
                <a:latin typeface="Arial" charset="0"/>
                <a:cs typeface="Arial" charset="0"/>
              </a:rPr>
              <a:t> be accessed with an index [ ] operator, like a </a:t>
            </a:r>
            <a:r>
              <a:rPr lang="en-US" sz="2800" i="1" dirty="0">
                <a:latin typeface="Arial" charset="0"/>
                <a:cs typeface="Arial" charset="0"/>
              </a:rPr>
              <a:t>Java static array</a:t>
            </a:r>
            <a:r>
              <a:rPr lang="en-US" sz="2800" dirty="0">
                <a:latin typeface="Arial" charset="0"/>
                <a:cs typeface="Arial" charset="0"/>
              </a:rPr>
              <a:t>.</a:t>
            </a:r>
          </a:p>
          <a:p>
            <a:pPr eaLnBrk="1" hangingPunct="1"/>
            <a:endParaRPr lang="en-US" sz="2800" dirty="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 dirty="0">
                <a:latin typeface="Arial" charset="0"/>
                <a:cs typeface="Arial" charset="0"/>
              </a:rPr>
              <a:t>All access is performed with </a:t>
            </a:r>
            <a:r>
              <a:rPr lang="en-US" sz="2800" b="0" dirty="0">
                <a:cs typeface="Arial" charset="0"/>
              </a:rPr>
              <a:t>ArrayList</a:t>
            </a:r>
            <a:r>
              <a:rPr lang="en-US" sz="2800" dirty="0">
                <a:latin typeface="Arial" charset="0"/>
                <a:cs typeface="Arial" charset="0"/>
              </a:rPr>
              <a:t> methods.</a:t>
            </a:r>
            <a:r>
              <a:rPr lang="en-US" sz="2800" b="0" dirty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30724" name="Oval 6"/>
          <p:cNvSpPr>
            <a:spLocks noChangeArrowheads="1"/>
          </p:cNvSpPr>
          <p:nvPr/>
        </p:nvSpPr>
        <p:spPr bwMode="auto">
          <a:xfrm>
            <a:off x="2819400" y="3276600"/>
            <a:ext cx="3505200" cy="34290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725" name="Text Box 7"/>
          <p:cNvSpPr txBox="1">
            <a:spLocks noChangeArrowheads="1"/>
          </p:cNvSpPr>
          <p:nvPr/>
        </p:nvSpPr>
        <p:spPr bwMode="auto">
          <a:xfrm>
            <a:off x="3048000" y="4648200"/>
            <a:ext cx="3048000" cy="579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 dirty="0">
                <a:latin typeface="Arial Narrow" pitchFamily="34" charset="0"/>
              </a:rPr>
              <a:t>ACCESS DENIED!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295400"/>
          </a:xfrm>
        </p:spPr>
        <p:txBody>
          <a:bodyPr/>
          <a:lstStyle/>
          <a:p>
            <a:r>
              <a:rPr lang="en-US" dirty="0" smtClean="0">
                <a:latin typeface="Arial Black" pitchFamily="34" charset="0"/>
              </a:rPr>
              <a:t>ArrayList Method get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304800" y="1401763"/>
            <a:ext cx="8534400" cy="4893647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ourier New" pitchFamily="49" charset="0"/>
                <a:cs typeface="Courier New" pitchFamily="49" charset="0"/>
              </a:rPr>
              <a:t>System.out.println(names.get(3));</a:t>
            </a:r>
          </a:p>
          <a:p>
            <a:pPr eaLnBrk="1" hangingPunct="1"/>
            <a:endParaRPr lang="en-US" sz="2800" dirty="0">
              <a:latin typeface="Times New Roman" pitchFamily="18" charset="0"/>
            </a:endParaRPr>
          </a:p>
          <a:p>
            <a:pPr eaLnBrk="1" hangingPunct="1"/>
            <a:r>
              <a:rPr lang="en-US" sz="2800" dirty="0">
                <a:latin typeface="Arial" charset="0"/>
                <a:cs typeface="Arial" charset="0"/>
              </a:rPr>
              <a:t>The </a:t>
            </a:r>
            <a:r>
              <a:rPr lang="en-US" sz="2800" b="0" dirty="0">
                <a:cs typeface="Arial" charset="0"/>
              </a:rPr>
              <a:t>get</a:t>
            </a:r>
            <a:r>
              <a:rPr lang="en-US" sz="2800" dirty="0">
                <a:latin typeface="Arial" charset="0"/>
                <a:cs typeface="Arial" charset="0"/>
              </a:rPr>
              <a:t> method accesses a specified array element.  </a:t>
            </a:r>
          </a:p>
          <a:p>
            <a:pPr eaLnBrk="1" hangingPunct="1"/>
            <a:endParaRPr lang="en-US" sz="2800" dirty="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 dirty="0">
                <a:latin typeface="Arial" charset="0"/>
                <a:cs typeface="Arial" charset="0"/>
              </a:rPr>
              <a:t>The parameter of the get method is the </a:t>
            </a:r>
            <a:r>
              <a:rPr lang="en-US" sz="2800" i="1" dirty="0">
                <a:latin typeface="Arial" charset="0"/>
                <a:cs typeface="Arial" charset="0"/>
              </a:rPr>
              <a:t>index </a:t>
            </a:r>
            <a:r>
              <a:rPr lang="en-US" sz="2800" dirty="0">
                <a:latin typeface="Arial" charset="0"/>
                <a:cs typeface="Arial" charset="0"/>
              </a:rPr>
              <a:t>of the </a:t>
            </a:r>
            <a:r>
              <a:rPr lang="en-US" sz="2800" b="0" dirty="0">
                <a:cs typeface="Arial" charset="0"/>
              </a:rPr>
              <a:t>ArrayList</a:t>
            </a:r>
            <a:r>
              <a:rPr lang="en-US" sz="2800" dirty="0">
                <a:latin typeface="Arial" charset="0"/>
                <a:cs typeface="Arial" charset="0"/>
              </a:rPr>
              <a:t> object and starts at </a:t>
            </a:r>
            <a:r>
              <a:rPr lang="en-US" sz="2800" b="0" dirty="0">
                <a:cs typeface="Arial" charset="0"/>
              </a:rPr>
              <a:t>0</a:t>
            </a:r>
            <a:r>
              <a:rPr lang="en-US" sz="2800" dirty="0">
                <a:latin typeface="Arial" charset="0"/>
                <a:cs typeface="Arial" charset="0"/>
              </a:rPr>
              <a:t>.</a:t>
            </a:r>
          </a:p>
          <a:p>
            <a:pPr eaLnBrk="1" hangingPunct="1"/>
            <a:endParaRPr lang="en-US" sz="2800" dirty="0">
              <a:latin typeface="Arial" charset="0"/>
              <a:cs typeface="Arial" charset="0"/>
            </a:endParaRPr>
          </a:p>
          <a:p>
            <a:pPr eaLnBrk="1" hangingPunct="1"/>
            <a:r>
              <a:rPr lang="en-US" sz="2800" dirty="0">
                <a:latin typeface="Arial" charset="0"/>
                <a:cs typeface="Arial" charset="0"/>
              </a:rPr>
              <a:t>Any attempt to access an element at a </a:t>
            </a:r>
          </a:p>
          <a:p>
            <a:pPr eaLnBrk="1" hangingPunct="1"/>
            <a:r>
              <a:rPr lang="en-US" sz="2800" dirty="0">
                <a:latin typeface="Arial" charset="0"/>
                <a:cs typeface="Arial" charset="0"/>
              </a:rPr>
              <a:t>non-existing index results in an </a:t>
            </a:r>
            <a:r>
              <a:rPr lang="en-US" sz="2800" b="0" dirty="0">
                <a:cs typeface="Arial" charset="0"/>
              </a:rPr>
              <a:t>IndexOutOfBoundsException</a:t>
            </a:r>
            <a:r>
              <a:rPr lang="en-US" sz="2800" dirty="0">
                <a:latin typeface="Arial" charset="0"/>
                <a:cs typeface="Arial" charset="0"/>
              </a:rPr>
              <a:t> </a:t>
            </a:r>
            <a:r>
              <a:rPr lang="en-US" sz="2800" dirty="0" smtClean="0">
                <a:latin typeface="Arial" charset="0"/>
                <a:cs typeface="Arial" charset="0"/>
              </a:rPr>
              <a:t>error message.</a:t>
            </a:r>
            <a:endParaRPr lang="en-US" sz="2800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0" y="7938"/>
            <a:ext cx="9144000" cy="68511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// Java1204.java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// This program demonstrates the &lt;set&gt; method of the &lt;ArrayList&gt; class, which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// replaces existing elements with a new object</a:t>
            </a:r>
            <a:r>
              <a:rPr lang="en-US" sz="1700" dirty="0" smtClean="0">
                <a:latin typeface="Times New Roman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</a:rPr>
              <a:t>// Note that the &lt;set&gt; method is a return method that returns the last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</a:rPr>
              <a:t>// </a:t>
            </a:r>
            <a:r>
              <a:rPr lang="en-US" sz="1700" dirty="0">
                <a:latin typeface="Times New Roman" pitchFamily="18" charset="0"/>
              </a:rPr>
              <a:t>element value before it is replaced.</a:t>
            </a:r>
          </a:p>
          <a:p>
            <a:pPr eaLnBrk="1" hangingPunct="1">
              <a:lnSpc>
                <a:spcPct val="90000"/>
              </a:lnSpc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lnSpc>
                <a:spcPct val="90000"/>
              </a:lnSpc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public class Java1204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	ArrayList names = new ArrayList();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	names.add("Isolde");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	names.add("John");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	names.add("Greg");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	names.add("Maria");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	names.add("Heidi");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	System.out.println("names contains " + names);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	System.out.println();</a:t>
            </a:r>
          </a:p>
          <a:p>
            <a:pPr eaLnBrk="1" hangingPunct="1">
              <a:lnSpc>
                <a:spcPct val="90000"/>
              </a:lnSpc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b="0" dirty="0"/>
              <a:t>		names.set(1,"Jessica");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0" dirty="0"/>
              <a:t>		names.set(2,"Anthony");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0" dirty="0"/>
              <a:t>		names.set(3,"Haley");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0" dirty="0"/>
              <a:t>		System.out.println(names.set(4,"Alec"));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	System.out.println("names contains " + names);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700" dirty="0" smtClean="0">
                <a:latin typeface="Times New Roman" pitchFamily="18" charset="0"/>
              </a:rPr>
              <a:t>}</a:t>
            </a:r>
            <a:endParaRPr lang="en-US" sz="17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91440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names contains [Isolde, John, Greg, Maria, Heidi]</a:t>
            </a:r>
          </a:p>
          <a:p>
            <a:endParaRPr lang="en-US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Heidi</a:t>
            </a:r>
          </a:p>
          <a:p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names contains [Isolde, Jessica, Anthony, Haley, Alec]</a:t>
            </a:r>
            <a:endParaRPr lang="en-US" sz="21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447800"/>
          </a:xfrm>
        </p:spPr>
        <p:txBody>
          <a:bodyPr/>
          <a:lstStyle/>
          <a:p>
            <a:r>
              <a:rPr lang="en-US" sz="4800" dirty="0" smtClean="0">
                <a:latin typeface="Arial Black" pitchFamily="34" charset="0"/>
              </a:rPr>
              <a:t>ArrayList Method set</a:t>
            </a:r>
          </a:p>
        </p:txBody>
      </p:sp>
      <p:sp>
        <p:nvSpPr>
          <p:cNvPr id="717827" name="Text Box 3"/>
          <p:cNvSpPr txBox="1">
            <a:spLocks noChangeArrowheads="1"/>
          </p:cNvSpPr>
          <p:nvPr/>
        </p:nvSpPr>
        <p:spPr bwMode="auto">
          <a:xfrm>
            <a:off x="304800" y="1570038"/>
            <a:ext cx="8534400" cy="5139869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latin typeface="Courier New" pitchFamily="49" charset="0"/>
              </a:rPr>
              <a:t>names.set(4,"Tom");</a:t>
            </a:r>
          </a:p>
          <a:p>
            <a:pPr>
              <a:defRPr/>
            </a:pPr>
            <a:endParaRPr lang="en-US" sz="2400" dirty="0">
              <a:latin typeface="Courier New" pitchFamily="49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b="0" dirty="0">
                <a:cs typeface="Arial" panose="020B0604020202020204" pitchFamily="34" charset="0"/>
              </a:rPr>
              <a:t>set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method uses the first parameter as the index location to find an array element and then replaces it with the value of the second set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parameter. 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You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will get an error if you try to access an index location, which has not been allocated yet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800" b="0" dirty="0">
                <a:cs typeface="Arial" panose="020B0604020202020204" pitchFamily="34" charset="0"/>
              </a:rPr>
              <a:t>set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method also returns the last value before replacing 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0" y="7938"/>
            <a:ext cx="9144000" cy="6815712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// Java1205.java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// This program demonstrates the &lt;remove&gt; method of the &lt;ArrayList&gt; 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// class to delete a specified list element.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// Dynamic arrays change size when they get bigger or smaller.</a:t>
            </a:r>
          </a:p>
          <a:p>
            <a:pPr eaLnBrk="1" hangingPunct="1">
              <a:lnSpc>
                <a:spcPct val="85000"/>
              </a:lnSpc>
            </a:pPr>
            <a:endParaRPr lang="en-US" sz="12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lnSpc>
                <a:spcPct val="85000"/>
              </a:lnSpc>
            </a:pPr>
            <a:endParaRPr lang="en-US" sz="12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public class Java1205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	ArrayList names = new ArrayList();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	names.add("Isolde");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	names.add("John");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	names.add("Greg");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	names.add("Maria");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	names.add("Heidi");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      </a:t>
            </a:r>
            <a:r>
              <a:rPr lang="en-US" sz="1800" dirty="0" smtClean="0">
                <a:latin typeface="Times New Roman" pitchFamily="18" charset="0"/>
              </a:rPr>
              <a:t>		System.out.println</a:t>
            </a:r>
            <a:r>
              <a:rPr lang="en-US" sz="1800" dirty="0">
                <a:latin typeface="Times New Roman" pitchFamily="18" charset="0"/>
              </a:rPr>
              <a:t>("names Size: " +names.size());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	System.out.println("names contains " + names);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	System.out.println</a:t>
            </a:r>
            <a:r>
              <a:rPr lang="en-US" sz="1800" dirty="0" smtClean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</a:pPr>
            <a:endParaRPr lang="en-US" sz="9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2000" b="0" dirty="0"/>
              <a:t>		names.remove(2);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   	</a:t>
            </a:r>
            <a:r>
              <a:rPr lang="en-US" sz="1800" dirty="0" smtClean="0">
                <a:latin typeface="Times New Roman" pitchFamily="18" charset="0"/>
              </a:rPr>
              <a:t>	System.out.println</a:t>
            </a:r>
            <a:r>
              <a:rPr lang="en-US" sz="1800" dirty="0">
                <a:latin typeface="Times New Roman" pitchFamily="18" charset="0"/>
              </a:rPr>
              <a:t>("names contains " + names);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	System.out.println</a:t>
            </a:r>
            <a:r>
              <a:rPr lang="en-US" sz="1800" dirty="0" smtClean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</a:pPr>
            <a:endParaRPr lang="en-US" sz="9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2000" b="0" dirty="0" smtClean="0"/>
              <a:t>  </a:t>
            </a:r>
            <a:r>
              <a:rPr lang="en-US" sz="2000" b="0" dirty="0"/>
              <a:t>		names.remove(3);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		System.out.println("names contains " + names);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      </a:t>
            </a:r>
            <a:r>
              <a:rPr lang="en-US" sz="1800" dirty="0" smtClean="0">
                <a:latin typeface="Times New Roman" pitchFamily="18" charset="0"/>
              </a:rPr>
              <a:t>		System.out.println</a:t>
            </a:r>
            <a:r>
              <a:rPr lang="en-US" sz="1800" dirty="0">
                <a:latin typeface="Times New Roman" pitchFamily="18" charset="0"/>
              </a:rPr>
              <a:t>("names Size: " +names.size());</a:t>
            </a:r>
          </a:p>
          <a:p>
            <a:pPr eaLnBrk="1" hangingPunct="1">
              <a:lnSpc>
                <a:spcPct val="85000"/>
              </a:lnSpc>
            </a:pPr>
            <a:r>
              <a:rPr lang="en-US" sz="1800" dirty="0">
                <a:latin typeface="Times New Roman" pitchFamily="18" charset="0"/>
              </a:rPr>
              <a:t>  </a:t>
            </a:r>
            <a:r>
              <a:rPr lang="en-US" sz="1800" dirty="0" smtClean="0">
                <a:latin typeface="Times New Roman" pitchFamily="18" charset="0"/>
              </a:rPr>
              <a:t>	}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800" dirty="0" smtClean="0">
                <a:latin typeface="Times New Roman" pitchFamily="18" charset="0"/>
              </a:rPr>
              <a:t>}</a:t>
            </a:r>
            <a:endParaRPr lang="en-US" sz="1800" dirty="0">
              <a:latin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0"/>
            <a:ext cx="9144000" cy="2423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names Size: 5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names contains [Isolde, John, Greg, Maria, Heidi]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names contains [Isolde, John, Maria, Heidi]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names contains [Isolde, John, Maria]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names Size: 3</a:t>
            </a:r>
            <a:endParaRPr lang="en-US" sz="2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3200400" y="640080"/>
            <a:ext cx="2209800" cy="4059936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 flipV="1">
            <a:off x="3200400" y="1295400"/>
            <a:ext cx="3505200" cy="423672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600200"/>
          </a:xfrm>
        </p:spPr>
        <p:txBody>
          <a:bodyPr/>
          <a:lstStyle/>
          <a:p>
            <a:r>
              <a:rPr lang="en-US" sz="4800" dirty="0" smtClean="0">
                <a:latin typeface="Arial Black" pitchFamily="34" charset="0"/>
              </a:rPr>
              <a:t>ArrayList Method remove</a:t>
            </a:r>
          </a:p>
        </p:txBody>
      </p:sp>
      <p:sp>
        <p:nvSpPr>
          <p:cNvPr id="719875" name="Text Box 3"/>
          <p:cNvSpPr txBox="1">
            <a:spLocks noChangeArrowheads="1"/>
          </p:cNvSpPr>
          <p:nvPr/>
        </p:nvSpPr>
        <p:spPr bwMode="auto">
          <a:xfrm>
            <a:off x="304800" y="1692275"/>
            <a:ext cx="8534400" cy="2308324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latin typeface="Courier New" pitchFamily="49" charset="0"/>
              </a:rPr>
              <a:t>names.remove(3);</a:t>
            </a:r>
          </a:p>
          <a:p>
            <a:pPr>
              <a:defRPr/>
            </a:pPr>
            <a:endParaRPr lang="en-US" sz="2800" dirty="0">
              <a:latin typeface="+mj-lt"/>
            </a:endParaRPr>
          </a:p>
          <a:p>
            <a:pPr>
              <a:defRPr/>
            </a:pPr>
            <a:r>
              <a:rPr lang="en-US" sz="2800" dirty="0">
                <a:latin typeface="+mj-lt"/>
              </a:rPr>
              <a:t>The </a:t>
            </a:r>
            <a:r>
              <a:rPr lang="en-US" sz="2800" b="0" dirty="0"/>
              <a:t>remove</a:t>
            </a:r>
            <a:r>
              <a:rPr lang="en-US" sz="2800" dirty="0">
                <a:latin typeface="+mj-lt"/>
              </a:rPr>
              <a:t> method removes the array element at the </a:t>
            </a:r>
            <a:r>
              <a:rPr lang="en-US" sz="2800" i="1" dirty="0">
                <a:latin typeface="+mj-lt"/>
              </a:rPr>
              <a:t>index</a:t>
            </a:r>
            <a:r>
              <a:rPr lang="en-US" sz="2800" dirty="0">
                <a:latin typeface="+mj-lt"/>
              </a:rPr>
              <a:t> location of its parameter and decreases the object size by one array element</a:t>
            </a:r>
            <a:r>
              <a:rPr lang="en-US" sz="2800" dirty="0" smtClean="0">
                <a:latin typeface="+mj-lt"/>
              </a:rPr>
              <a:t>.</a:t>
            </a:r>
            <a:endParaRPr lang="en-US" sz="28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0" y="7938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Java1206.java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This program demonstrates how to use the overloaded &lt;add&gt; method of the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&lt;ArrayList&gt; class to insert new elements at a specified location.</a:t>
            </a:r>
          </a:p>
          <a:p>
            <a:pPr eaLnBrk="1" hangingPunct="1">
              <a:lnSpc>
                <a:spcPct val="90000"/>
              </a:lnSpc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lnSpc>
                <a:spcPct val="90000"/>
              </a:lnSpc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public class Java1206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ArrayList names = new ArrayList();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names.add("Isolde");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names.add("John");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names.add("Greg");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names.add("Maria");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names.add("Heidi</a:t>
            </a:r>
            <a:r>
              <a:rPr lang="en-US" sz="1800" dirty="0" smtClean="0">
                <a:latin typeface="Times New Roman" pitchFamily="18" charset="0"/>
              </a:rPr>
              <a:t>");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System.out.println("names contains " + names);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System.out.println();</a:t>
            </a:r>
          </a:p>
          <a:p>
            <a:pPr eaLnBrk="1" hangingPunct="1">
              <a:lnSpc>
                <a:spcPct val="90000"/>
              </a:lnSpc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b="0" dirty="0"/>
              <a:t>		names.add(2,"Jessica");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System.out.println("names contains " + names);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System.out.println();</a:t>
            </a:r>
          </a:p>
          <a:p>
            <a:pPr eaLnBrk="1" hangingPunct="1">
              <a:lnSpc>
                <a:spcPct val="90000"/>
              </a:lnSpc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b="0" dirty="0"/>
              <a:t>  		names.add(3,"Anthony");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System.out.println("names contains " + names);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  	}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 smtClean="0">
                <a:latin typeface="Times New Roman" pitchFamily="18" charset="0"/>
              </a:rPr>
              <a:t>}</a:t>
            </a:r>
            <a:endParaRPr lang="en-US" sz="1800" dirty="0">
              <a:latin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14003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names contains [Isolde, John, Greg, Maria, Heidi]</a:t>
            </a:r>
          </a:p>
          <a:p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names contains [Isolde, John, Jessica, Greg, Maria, Heidi]</a:t>
            </a:r>
          </a:p>
          <a:p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names contains [Isolde, John, Jessica, Anthony, Greg, Maria, Heidi]</a:t>
            </a:r>
            <a:endParaRPr lang="en-US" sz="17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2743200" y="228600"/>
            <a:ext cx="1524000" cy="452932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 flipV="1">
            <a:off x="2727960" y="731520"/>
            <a:ext cx="2682240" cy="5029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2057400"/>
          </a:xfrm>
        </p:spPr>
        <p:txBody>
          <a:bodyPr/>
          <a:lstStyle/>
          <a:p>
            <a:r>
              <a:rPr lang="en-US" sz="4800" dirty="0" smtClean="0">
                <a:latin typeface="Arial Black" pitchFamily="34" charset="0"/>
              </a:rPr>
              <a:t>ArrayList Method add</a:t>
            </a:r>
            <a:br>
              <a:rPr lang="en-US" sz="4800" dirty="0" smtClean="0">
                <a:latin typeface="Arial Black" pitchFamily="34" charset="0"/>
              </a:rPr>
            </a:br>
            <a:r>
              <a:rPr lang="en-US" sz="4800" dirty="0" smtClean="0">
                <a:latin typeface="Arial Black" pitchFamily="34" charset="0"/>
              </a:rPr>
              <a:t>(2</a:t>
            </a:r>
            <a:r>
              <a:rPr lang="en-US" sz="4800" baseline="30000" dirty="0" smtClean="0">
                <a:latin typeface="Arial Black" pitchFamily="34" charset="0"/>
              </a:rPr>
              <a:t>nd</a:t>
            </a:r>
            <a:r>
              <a:rPr lang="en-US" sz="4800" dirty="0" smtClean="0">
                <a:latin typeface="Arial Black" pitchFamily="34" charset="0"/>
              </a:rPr>
              <a:t> Overloaded method)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304800" y="2301875"/>
            <a:ext cx="8534400" cy="2308324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3200" dirty="0">
                <a:latin typeface="Courier New" pitchFamily="49" charset="0"/>
              </a:rPr>
              <a:t>names.add(3,"Kathy");</a:t>
            </a:r>
          </a:p>
          <a:p>
            <a:pPr eaLnBrk="1" hangingPunct="1"/>
            <a:endParaRPr lang="en-US" sz="2800" dirty="0">
              <a:latin typeface="Courier New" pitchFamily="49" charset="0"/>
            </a:endParaRPr>
          </a:p>
          <a:p>
            <a:pPr eaLnBrk="1" hangingPunct="1"/>
            <a:r>
              <a:rPr lang="en-US" sz="2800" dirty="0">
                <a:latin typeface="Arial" charset="0"/>
                <a:cs typeface="Arial" charset="0"/>
              </a:rPr>
              <a:t>The overloaded </a:t>
            </a:r>
            <a:r>
              <a:rPr lang="en-US" sz="2800" b="0" dirty="0">
                <a:cs typeface="Arial" charset="0"/>
              </a:rPr>
              <a:t>add(3,"Kathy")</a:t>
            </a:r>
            <a:r>
              <a:rPr lang="en-US" sz="2800" dirty="0">
                <a:cs typeface="Arial" charset="0"/>
              </a:rPr>
              <a:t> </a:t>
            </a:r>
            <a:r>
              <a:rPr lang="en-US" sz="2800" dirty="0">
                <a:latin typeface="Arial" charset="0"/>
                <a:cs typeface="Arial" charset="0"/>
              </a:rPr>
              <a:t>method adds or rather </a:t>
            </a:r>
            <a:r>
              <a:rPr lang="en-US" sz="2800" i="1" dirty="0">
                <a:latin typeface="Arial" charset="0"/>
                <a:cs typeface="Arial" charset="0"/>
              </a:rPr>
              <a:t>inserts </a:t>
            </a:r>
            <a:r>
              <a:rPr lang="en-US" sz="2800" dirty="0">
                <a:latin typeface="Arial" charset="0"/>
                <a:cs typeface="Arial" charset="0"/>
              </a:rPr>
              <a:t>a new array element at the indicated </a:t>
            </a:r>
            <a:r>
              <a:rPr lang="en-US" sz="2800" i="1" dirty="0">
                <a:latin typeface="Arial" charset="0"/>
                <a:cs typeface="Arial" charset="0"/>
              </a:rPr>
              <a:t>index</a:t>
            </a:r>
            <a:r>
              <a:rPr lang="en-US" sz="2800" dirty="0" smtClean="0">
                <a:latin typeface="Arial" charset="0"/>
                <a:cs typeface="Arial" charset="0"/>
              </a:rPr>
              <a:t>.</a:t>
            </a:r>
            <a:endParaRPr lang="en-US" sz="2800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3"/>
          <p:cNvSpPr txBox="1">
            <a:spLocks noChangeArrowheads="1"/>
          </p:cNvSpPr>
          <p:nvPr/>
        </p:nvSpPr>
        <p:spPr bwMode="auto">
          <a:xfrm>
            <a:off x="381000" y="1447800"/>
            <a:ext cx="8382000" cy="4524315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2400" b="0" dirty="0">
                <a:cs typeface="Arial" pitchFamily="34" charset="0"/>
              </a:rPr>
              <a:t>ArrayList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class is </a:t>
            </a:r>
            <a:r>
              <a:rPr lang="en-US" sz="2400" dirty="0" smtClean="0">
                <a:latin typeface="Arial" pitchFamily="34" charset="0"/>
                <a:cs typeface="Arial" pitchFamily="34" charset="0"/>
              </a:rPr>
              <a:t>tested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on the AP exam </a:t>
            </a:r>
            <a:endParaRPr lang="en-US" sz="2400" dirty="0" smtClean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2400" dirty="0" smtClean="0">
                <a:latin typeface="Arial" pitchFamily="34" charset="0"/>
                <a:cs typeface="Arial" pitchFamily="34" charset="0"/>
              </a:rPr>
              <a:t>with th</a:t>
            </a:r>
            <a:r>
              <a:rPr lang="en-US" sz="2400" dirty="0" smtClean="0">
                <a:latin typeface="+mj-lt"/>
              </a:rPr>
              <a:t>e </a:t>
            </a:r>
            <a:r>
              <a:rPr lang="en-US" sz="2400" dirty="0">
                <a:latin typeface="+mj-lt"/>
              </a:rPr>
              <a:t>following six </a:t>
            </a:r>
            <a:r>
              <a:rPr lang="en-US" sz="2400" dirty="0" smtClean="0">
                <a:latin typeface="+mj-lt"/>
              </a:rPr>
              <a:t>methods:</a:t>
            </a:r>
          </a:p>
          <a:p>
            <a:pPr>
              <a:defRPr/>
            </a:pPr>
            <a:r>
              <a:rPr lang="en-US" sz="2400" dirty="0">
                <a:latin typeface="+mj-lt"/>
              </a:rPr>
              <a:t> </a:t>
            </a:r>
          </a:p>
          <a:p>
            <a:pPr>
              <a:defRPr/>
            </a:pPr>
            <a:r>
              <a:rPr lang="en-US" sz="2400" b="0" dirty="0"/>
              <a:t>	int size()</a:t>
            </a:r>
          </a:p>
          <a:p>
            <a:pPr>
              <a:defRPr/>
            </a:pPr>
            <a:r>
              <a:rPr lang="en-US" sz="2400" b="0" dirty="0"/>
              <a:t>	boolean add(E obj)</a:t>
            </a:r>
          </a:p>
          <a:p>
            <a:pPr>
              <a:defRPr/>
            </a:pPr>
            <a:r>
              <a:rPr lang="en-US" sz="2400" b="0" dirty="0"/>
              <a:t>	void add(int index, E obj)</a:t>
            </a:r>
          </a:p>
          <a:p>
            <a:pPr>
              <a:defRPr/>
            </a:pPr>
            <a:r>
              <a:rPr lang="en-US" sz="2400" b="0" dirty="0"/>
              <a:t>	E get(int index)</a:t>
            </a:r>
          </a:p>
          <a:p>
            <a:pPr>
              <a:defRPr/>
            </a:pPr>
            <a:r>
              <a:rPr lang="en-US" sz="2400" b="0" dirty="0"/>
              <a:t>	E set(int index, E obj)</a:t>
            </a:r>
          </a:p>
          <a:p>
            <a:pPr>
              <a:defRPr/>
            </a:pPr>
            <a:r>
              <a:rPr lang="en-US" sz="2400" b="0" dirty="0"/>
              <a:t>	E remove(int index)</a:t>
            </a:r>
          </a:p>
          <a:p>
            <a:pPr>
              <a:defRPr/>
            </a:pPr>
            <a:r>
              <a:rPr lang="en-US" sz="2400" dirty="0">
                <a:latin typeface="+mj-lt"/>
              </a:rPr>
              <a:t> </a:t>
            </a:r>
          </a:p>
          <a:p>
            <a:pPr>
              <a:defRPr/>
            </a:pPr>
            <a:r>
              <a:rPr lang="en-US" sz="2400" dirty="0">
                <a:latin typeface="+mj-lt"/>
              </a:rPr>
              <a:t>In the method headings above </a:t>
            </a:r>
            <a:r>
              <a:rPr lang="en-US" sz="2400" b="0" dirty="0"/>
              <a:t>E</a:t>
            </a:r>
            <a:r>
              <a:rPr lang="en-US" sz="2400" dirty="0">
                <a:latin typeface="+mj-lt"/>
              </a:rPr>
              <a:t> is the data type of the </a:t>
            </a:r>
            <a:r>
              <a:rPr lang="en-US" sz="2400" i="1" dirty="0">
                <a:latin typeface="+mj-lt"/>
              </a:rPr>
              <a:t>Element</a:t>
            </a:r>
            <a:r>
              <a:rPr lang="en-US" sz="2400" dirty="0">
                <a:latin typeface="+mj-lt"/>
              </a:rPr>
              <a:t> that is added or returned</a:t>
            </a:r>
            <a:r>
              <a:rPr lang="en-US" sz="2400" dirty="0" smtClean="0">
                <a:latin typeface="+mj-lt"/>
              </a:rPr>
              <a:t>.</a:t>
            </a:r>
            <a:endParaRPr lang="en-US" sz="2400" dirty="0">
              <a:latin typeface="+mj-lt"/>
            </a:endParaRPr>
          </a:p>
        </p:txBody>
      </p:sp>
      <p:sp>
        <p:nvSpPr>
          <p:cNvPr id="38915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447800"/>
          </a:xfrm>
          <a:noFill/>
        </p:spPr>
        <p:txBody>
          <a:bodyPr/>
          <a:lstStyle/>
          <a:p>
            <a:pPr eaLnBrk="1" hangingPunct="1"/>
            <a:r>
              <a:rPr lang="en-US" sz="5400" dirty="0" smtClean="0">
                <a:latin typeface="Arial Black" pitchFamily="34" charset="0"/>
              </a:rPr>
              <a:t>AP Exam Alert</a:t>
            </a:r>
          </a:p>
        </p:txBody>
      </p:sp>
      <p:pic>
        <p:nvPicPr>
          <p:cNvPr id="38916" name="Picture 6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25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7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76200"/>
            <a:ext cx="471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8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Picture 9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471488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0" name="Picture 10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3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1" name="Picture 13" descr="MMj03368600000[1]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76200"/>
            <a:ext cx="4714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2" name="Picture 14" descr="MMAG00293_0000[1]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37" y="2057400"/>
            <a:ext cx="2290763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WordArt 2"/>
          <p:cNvSpPr>
            <a:spLocks noChangeArrowheads="1" noChangeShapeType="1" noTextEdit="1"/>
          </p:cNvSpPr>
          <p:nvPr/>
        </p:nvSpPr>
        <p:spPr bwMode="auto">
          <a:xfrm>
            <a:off x="533400" y="2743200"/>
            <a:ext cx="8382000" cy="2209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and </a:t>
            </a:r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Primitive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39939" name="WordArt 3"/>
          <p:cNvSpPr>
            <a:spLocks noChangeArrowheads="1" noChangeShapeType="1" noTextEdit="1"/>
          </p:cNvSpPr>
          <p:nvPr/>
        </p:nvSpPr>
        <p:spPr bwMode="auto">
          <a:xfrm>
            <a:off x="1905000" y="4495800"/>
            <a:ext cx="7086600" cy="2209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Datatypes</a:t>
            </a:r>
          </a:p>
        </p:txBody>
      </p:sp>
      <p:sp>
        <p:nvSpPr>
          <p:cNvPr id="39940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12.3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39941" name="WordArt 3"/>
          <p:cNvSpPr>
            <a:spLocks noChangeArrowheads="1" noChangeShapeType="1" noTextEdit="1"/>
          </p:cNvSpPr>
          <p:nvPr/>
        </p:nvSpPr>
        <p:spPr bwMode="auto">
          <a:xfrm>
            <a:off x="228600" y="1295400"/>
            <a:ext cx="5562600" cy="17526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5199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ArrayList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81114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// Java1207.java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// This program demonstrates how &lt;int&gt; values stored into an &lt;</a:t>
            </a:r>
            <a:r>
              <a:rPr lang="en-US" sz="1700" dirty="0" smtClean="0">
                <a:latin typeface="Times New Roman" pitchFamily="18" charset="0"/>
              </a:rPr>
              <a:t>ArrayList&gt; object </a:t>
            </a:r>
            <a:r>
              <a:rPr lang="en-US" sz="1700" dirty="0">
                <a:latin typeface="Times New Roman" pitchFamily="18" charset="0"/>
              </a:rPr>
              <a:t>are first </a:t>
            </a:r>
            <a:endParaRPr lang="en-US" sz="1700" dirty="0" smtClean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700" dirty="0" smtClean="0">
                <a:latin typeface="Times New Roman" pitchFamily="18" charset="0"/>
              </a:rPr>
              <a:t>// converted </a:t>
            </a:r>
            <a:r>
              <a:rPr lang="en-US" sz="1700" dirty="0">
                <a:latin typeface="Times New Roman" pitchFamily="18" charset="0"/>
              </a:rPr>
              <a:t>to &lt;Integer&gt; </a:t>
            </a:r>
            <a:r>
              <a:rPr lang="en-US" sz="1700" dirty="0" smtClean="0">
                <a:latin typeface="Times New Roman" pitchFamily="18" charset="0"/>
              </a:rPr>
              <a:t>objects.  The </a:t>
            </a:r>
            <a:r>
              <a:rPr lang="en-US" sz="1700" dirty="0">
                <a:latin typeface="Times New Roman" pitchFamily="18" charset="0"/>
              </a:rPr>
              <a:t>&lt;Integer&gt; class is called a "wrapper" class.</a:t>
            </a:r>
          </a:p>
          <a:p>
            <a:pPr eaLnBrk="1" hangingPunct="1">
              <a:lnSpc>
                <a:spcPct val="85000"/>
              </a:lnSpc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lnSpc>
                <a:spcPct val="85000"/>
              </a:lnSpc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public class Java1207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	ArrayList numbers = new ArrayList();</a:t>
            </a:r>
          </a:p>
          <a:p>
            <a:pPr eaLnBrk="1" hangingPunct="1">
              <a:lnSpc>
                <a:spcPct val="85000"/>
              </a:lnSpc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	for (int k = 1; k &lt;= 500; k++)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		int rndInt = (int) (Math.random() * 900 + 100);</a:t>
            </a:r>
          </a:p>
          <a:p>
            <a:pPr eaLnBrk="1" hangingPunct="1">
              <a:lnSpc>
                <a:spcPct val="85000"/>
              </a:lnSpc>
            </a:pPr>
            <a:r>
              <a:rPr lang="en-US" sz="2000" b="0" dirty="0"/>
              <a:t>			numbers.add(new Integer(rndInt));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         	</a:t>
            </a:r>
            <a:r>
              <a:rPr lang="en-US" sz="1700" dirty="0" smtClean="0">
                <a:latin typeface="Times New Roman" pitchFamily="18" charset="0"/>
              </a:rPr>
              <a:t>	System.out.print(rndInt </a:t>
            </a:r>
            <a:r>
              <a:rPr lang="en-US" sz="1700" dirty="0">
                <a:latin typeface="Times New Roman" pitchFamily="18" charset="0"/>
              </a:rPr>
              <a:t>+ "  ");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         	</a:t>
            </a:r>
            <a:r>
              <a:rPr lang="en-US" sz="1700" dirty="0" smtClean="0">
                <a:latin typeface="Times New Roman" pitchFamily="18" charset="0"/>
              </a:rPr>
              <a:t>	if </a:t>
            </a:r>
            <a:r>
              <a:rPr lang="en-US" sz="1700" dirty="0">
                <a:latin typeface="Times New Roman" pitchFamily="18" charset="0"/>
              </a:rPr>
              <a:t>(k % 15 == 0)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            	</a:t>
            </a:r>
            <a:r>
              <a:rPr lang="en-US" sz="1700" dirty="0" smtClean="0">
                <a:latin typeface="Times New Roman" pitchFamily="18" charset="0"/>
              </a:rPr>
              <a:t>		System.out.println</a:t>
            </a:r>
            <a:r>
              <a:rPr lang="en-US" sz="17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	int sum = 0;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	for (int k = 0; k &lt; numbers.size(); k++)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85000"/>
              </a:lnSpc>
            </a:pPr>
            <a:r>
              <a:rPr lang="en-US" sz="2000" b="0" dirty="0"/>
              <a:t>			Integer temp = (Integer) numbers.get(k);</a:t>
            </a:r>
          </a:p>
          <a:p>
            <a:pPr eaLnBrk="1" hangingPunct="1">
              <a:lnSpc>
                <a:spcPct val="85000"/>
              </a:lnSpc>
            </a:pPr>
            <a:r>
              <a:rPr lang="en-US" sz="2000" b="0" dirty="0"/>
              <a:t>			sum += temp.intValue();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	System.out.println("\n\nSum: " + sum);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5000"/>
              </a:lnSpc>
            </a:pPr>
            <a:r>
              <a:rPr lang="en-US" sz="1700" dirty="0" smtClean="0">
                <a:latin typeface="Times New Roman" pitchFamily="18" charset="0"/>
              </a:rPr>
              <a:t>}</a:t>
            </a:r>
            <a:endParaRPr lang="en-US" sz="170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637  402  417  787  501  596  480  240  416  904  284  227  917  372  716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799  283  771  543  198  906  232  336  420  212  942  679  969  344  875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561  977  979  634  621  319  940  432  406  778  659  656  315  194  619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150  983  813  812  300  252  645  573  815  847  744  247  402  938  673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756  350  724  334  412  181  431  621  308  584  221  622  770  904  990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984  750  775  794  268  543  832  988  834  988  730  741  741  940  346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702  189  396  564  539  920  407  357  382  951  391  577  230  626  851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756  753  406  512  452  454  404  733  443  102  268  551  804  946  436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639  752  365  495  726  427  483  747  367  767  610  414  166  816  619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620  984  275  672  238  569  968  558  756  351  226  998  758  440  792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355  236  515  677  311  139  724  172  228  364  613  945  985  468  502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770  151  699  449  606  800  910  387  759  526  723  526  200  325  486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869  826  479  981  741  740  534  383  181  383  426  493  197  426  564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444  983  978  484  942  765  722  363  907  287  797  946  467  216  839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596  896  283  386  440  622  500  438  495  671  521  346  227  792  336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838  877  500  565  783  827  452  857  700  873  906  131  804  763  234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211  327  532  304  168  195  271  129  908  178  989  624  443  232  416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633  872  116  427  294  248  794  900  220  549  721  461  928  925  194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972  802  153  138  928  337  187  740  858  615  973  843  851  460  795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788  482  118  559  449  225  587  579  162  541  819  677  290  145  422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354  135  451  555  286  943  850  895  752  117  493  691  973  874  177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736  664  576  406  412  274  246  547  568  277  395  419  319  738  389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413  373  241  441  113  878  727  536  350  741  404  203  661  347  662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787  175  520  902  617  878  700  150  729  609  801  486  389  287  529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349  449  736  228  727  286  986  980  966  996  714  113  633  451  350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551  397  703  540  284  668  270  136  776  540  151  280  107  251  684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151  862  944  947  207  463  980  941  709  141  489  761  425  862  114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912  482  382  693  813  653  521  497  536  931  251  500  835  207  756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317  753  766  524  491  835  202  853  126  642  168  186  525  433  359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512  869  979  476  681  203  264  107  594  196  383  619  689  100  248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377  402  858  103  758  936  130  583  966  788  209  477  443  981  622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715  206  956  260  160  426  732  223  771  352  501  564  498  376  763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263  290  691  426  327  515  270  269  244  960  228  700  371  603  889  </a:t>
            </a: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657  840  558  510  259  </a:t>
            </a:r>
          </a:p>
          <a:p>
            <a:pPr>
              <a:lnSpc>
                <a:spcPct val="77000"/>
              </a:lnSpc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77000"/>
              </a:lnSpc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Sum: 274662</a:t>
            </a:r>
          </a:p>
        </p:txBody>
      </p:sp>
    </p:spTree>
    <p:extLst>
      <p:ext uri="{BB962C8B-B14F-4D97-AF65-F5344CB8AC3E}">
        <p14:creationId xmlns:p14="http://schemas.microsoft.com/office/powerpoint/2010/main" val="389768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144000" cy="1524000"/>
          </a:xfrm>
        </p:spPr>
        <p:txBody>
          <a:bodyPr/>
          <a:lstStyle/>
          <a:p>
            <a:r>
              <a:rPr lang="en-US" sz="4800" dirty="0" smtClean="0">
                <a:latin typeface="Arial Black" pitchFamily="34" charset="0"/>
              </a:rPr>
              <a:t>ArrayList and</a:t>
            </a:r>
            <a:br>
              <a:rPr lang="en-US" sz="4800" dirty="0" smtClean="0">
                <a:latin typeface="Arial Black" pitchFamily="34" charset="0"/>
              </a:rPr>
            </a:br>
            <a:r>
              <a:rPr lang="en-US" sz="4800" dirty="0" smtClean="0">
                <a:latin typeface="Arial Black" pitchFamily="34" charset="0"/>
              </a:rPr>
              <a:t>Primitive Data Types</a:t>
            </a:r>
          </a:p>
        </p:txBody>
      </p:sp>
      <p:sp>
        <p:nvSpPr>
          <p:cNvPr id="730115" name="Text Box 3"/>
          <p:cNvSpPr txBox="1">
            <a:spLocks noChangeArrowheads="1"/>
          </p:cNvSpPr>
          <p:nvPr/>
        </p:nvSpPr>
        <p:spPr bwMode="auto">
          <a:xfrm>
            <a:off x="304800" y="1700213"/>
            <a:ext cx="8458200" cy="4894262"/>
          </a:xfrm>
          <a:prstGeom prst="rect">
            <a:avLst/>
          </a:prstGeom>
          <a:solidFill>
            <a:srgbClr val="00FFCC"/>
          </a:solidFill>
          <a:ln w="571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n-lt"/>
              </a:rPr>
              <a:t>The </a:t>
            </a:r>
            <a:r>
              <a:rPr lang="en-US" sz="2400" b="0" dirty="0"/>
              <a:t>ArrayList</a:t>
            </a:r>
            <a:r>
              <a:rPr lang="en-US" sz="2400" dirty="0">
                <a:latin typeface="+mn-lt"/>
              </a:rPr>
              <a:t> class can only store </a:t>
            </a:r>
            <a:r>
              <a:rPr lang="en-US" sz="2400" b="0" dirty="0"/>
              <a:t>Object</a:t>
            </a:r>
            <a:r>
              <a:rPr lang="en-US" sz="2400" dirty="0">
                <a:latin typeface="+mn-lt"/>
              </a:rPr>
              <a:t> values.</a:t>
            </a:r>
          </a:p>
          <a:p>
            <a:pPr>
              <a:defRPr/>
            </a:pPr>
            <a:r>
              <a:rPr lang="en-US" sz="2400" dirty="0">
                <a:latin typeface="+mn-lt"/>
              </a:rPr>
              <a:t> </a:t>
            </a:r>
          </a:p>
          <a:p>
            <a:pPr>
              <a:defRPr/>
            </a:pPr>
            <a:r>
              <a:rPr lang="en-US" sz="2400" i="1" dirty="0">
                <a:latin typeface="+mn-lt"/>
              </a:rPr>
              <a:t>Primitive</a:t>
            </a:r>
            <a:r>
              <a:rPr lang="en-US" sz="2400" dirty="0">
                <a:latin typeface="+mn-lt"/>
              </a:rPr>
              <a:t> data type values can be stored indirectly using </a:t>
            </a:r>
            <a:r>
              <a:rPr lang="en-US" sz="2400" i="1" dirty="0">
                <a:latin typeface="+mn-lt"/>
              </a:rPr>
              <a:t>wrapper</a:t>
            </a:r>
            <a:r>
              <a:rPr lang="en-US" sz="2400" dirty="0">
                <a:latin typeface="+mn-lt"/>
              </a:rPr>
              <a:t> classes.</a:t>
            </a:r>
          </a:p>
          <a:p>
            <a:pPr>
              <a:defRPr/>
            </a:pPr>
            <a:r>
              <a:rPr lang="en-US" sz="2400" dirty="0">
                <a:latin typeface="+mn-lt"/>
              </a:rPr>
              <a:t> </a:t>
            </a:r>
          </a:p>
          <a:p>
            <a:pPr>
              <a:defRPr/>
            </a:pPr>
            <a:r>
              <a:rPr lang="en-US" sz="2400" dirty="0">
                <a:latin typeface="+mn-lt"/>
              </a:rPr>
              <a:t>The </a:t>
            </a:r>
            <a:r>
              <a:rPr lang="en-US" sz="2400" b="0" dirty="0"/>
              <a:t>Integer</a:t>
            </a:r>
            <a:r>
              <a:rPr lang="en-US" sz="2400" dirty="0">
                <a:latin typeface="+mn-lt"/>
              </a:rPr>
              <a:t> class </a:t>
            </a:r>
          </a:p>
          <a:p>
            <a:pPr>
              <a:defRPr/>
            </a:pPr>
            <a:r>
              <a:rPr lang="en-US" sz="2400" i="1" dirty="0">
                <a:latin typeface="+mn-lt"/>
              </a:rPr>
              <a:t>	wraps </a:t>
            </a:r>
            <a:r>
              <a:rPr lang="en-US" sz="2400" b="0" dirty="0"/>
              <a:t>int</a:t>
            </a:r>
            <a:r>
              <a:rPr lang="en-US" sz="2400" dirty="0">
                <a:latin typeface="+mn-lt"/>
              </a:rPr>
              <a:t> values.</a:t>
            </a:r>
          </a:p>
          <a:p>
            <a:pPr>
              <a:defRPr/>
            </a:pPr>
            <a:endParaRPr lang="en-US" sz="2400" dirty="0">
              <a:latin typeface="+mn-lt"/>
            </a:endParaRPr>
          </a:p>
          <a:p>
            <a:pPr>
              <a:defRPr/>
            </a:pPr>
            <a:r>
              <a:rPr lang="en-US" sz="2400" dirty="0">
                <a:latin typeface="+mn-lt"/>
              </a:rPr>
              <a:t>The </a:t>
            </a:r>
            <a:r>
              <a:rPr lang="en-US" sz="2400" b="0" dirty="0"/>
              <a:t>Double</a:t>
            </a:r>
            <a:r>
              <a:rPr lang="en-US" sz="2400" dirty="0">
                <a:latin typeface="+mn-lt"/>
              </a:rPr>
              <a:t> class </a:t>
            </a:r>
          </a:p>
          <a:p>
            <a:pPr>
              <a:defRPr/>
            </a:pPr>
            <a:r>
              <a:rPr lang="en-US" sz="2400" i="1" dirty="0">
                <a:latin typeface="+mn-lt"/>
              </a:rPr>
              <a:t>	wraps </a:t>
            </a:r>
            <a:r>
              <a:rPr lang="en-US" sz="2400" b="0" dirty="0"/>
              <a:t>double</a:t>
            </a:r>
            <a:r>
              <a:rPr lang="en-US" sz="2400" dirty="0">
                <a:latin typeface="+mn-lt"/>
              </a:rPr>
              <a:t> values.</a:t>
            </a:r>
          </a:p>
          <a:p>
            <a:pPr>
              <a:defRPr/>
            </a:pPr>
            <a:endParaRPr lang="en-US" sz="2400" dirty="0">
              <a:latin typeface="+mn-lt"/>
            </a:endParaRPr>
          </a:p>
          <a:p>
            <a:pPr>
              <a:defRPr/>
            </a:pPr>
            <a:r>
              <a:rPr lang="en-US" sz="2400" dirty="0">
                <a:latin typeface="+mn-lt"/>
              </a:rPr>
              <a:t>The </a:t>
            </a:r>
            <a:r>
              <a:rPr lang="en-US" sz="2400" b="0" dirty="0"/>
              <a:t>Boolean</a:t>
            </a:r>
            <a:r>
              <a:rPr lang="en-US" sz="2400" dirty="0">
                <a:latin typeface="+mn-lt"/>
              </a:rPr>
              <a:t> class </a:t>
            </a:r>
          </a:p>
          <a:p>
            <a:pPr>
              <a:defRPr/>
            </a:pPr>
            <a:r>
              <a:rPr lang="en-US" sz="2400" i="1" dirty="0">
                <a:latin typeface="+mn-lt"/>
              </a:rPr>
              <a:t>	wraps</a:t>
            </a:r>
            <a:r>
              <a:rPr lang="en-US" sz="2400" dirty="0">
                <a:latin typeface="+mn-lt"/>
              </a:rPr>
              <a:t> </a:t>
            </a:r>
            <a:r>
              <a:rPr lang="en-US" sz="2400" b="0" dirty="0"/>
              <a:t>boolean</a:t>
            </a:r>
            <a:r>
              <a:rPr lang="en-US" sz="2400" dirty="0">
                <a:latin typeface="+mn-lt"/>
              </a:rPr>
              <a:t> values.</a:t>
            </a:r>
          </a:p>
        </p:txBody>
      </p:sp>
      <p:pic>
        <p:nvPicPr>
          <p:cNvPr id="43012" name="Picture 4" descr="MCPE01711_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1238" y="2971800"/>
            <a:ext cx="3713162" cy="34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WordArt 2"/>
          <p:cNvSpPr>
            <a:spLocks noChangeArrowheads="1" noChangeShapeType="1" noTextEdit="1"/>
          </p:cNvSpPr>
          <p:nvPr/>
        </p:nvSpPr>
        <p:spPr bwMode="auto">
          <a:xfrm>
            <a:off x="457200" y="1447800"/>
            <a:ext cx="8382000" cy="2971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ArrayList</a:t>
            </a:r>
          </a:p>
        </p:txBody>
      </p:sp>
      <p:sp>
        <p:nvSpPr>
          <p:cNvPr id="44035" name="WordArt 3"/>
          <p:cNvSpPr>
            <a:spLocks noChangeArrowheads="1" noChangeShapeType="1" noTextEdit="1"/>
          </p:cNvSpPr>
          <p:nvPr/>
        </p:nvSpPr>
        <p:spPr bwMode="auto">
          <a:xfrm>
            <a:off x="457200" y="3886200"/>
            <a:ext cx="8382000" cy="2743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&amp; Generics</a:t>
            </a:r>
          </a:p>
        </p:txBody>
      </p:sp>
      <p:sp>
        <p:nvSpPr>
          <p:cNvPr id="44036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12.4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Java1208.java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This program has no output, which does not matter, because it does not compile.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You will see two "incompatible types" syntax errors.  This may seem strange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because the &lt;ArrayList&gt; object stores &lt;Person&gt; objects.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800" dirty="0" smtClean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public class Java1208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ArrayList people = new ArrayList();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people.add(new Person("Joe",21));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people.add(new Person("Sue",20));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spc="-20" dirty="0"/>
              <a:t>    </a:t>
            </a:r>
            <a:r>
              <a:rPr lang="en-US" sz="2200" spc="-20" dirty="0" smtClean="0"/>
              <a:t>	Person </a:t>
            </a:r>
            <a:r>
              <a:rPr lang="en-US" sz="2200" spc="-20" dirty="0"/>
              <a:t>student1 = people.get(0);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spc="-20" dirty="0"/>
              <a:t>   </a:t>
            </a:r>
            <a:r>
              <a:rPr lang="en-US" sz="2200" spc="-20" dirty="0" smtClean="0"/>
              <a:t>	Person </a:t>
            </a:r>
            <a:r>
              <a:rPr lang="en-US" sz="2200" spc="-20" dirty="0"/>
              <a:t>student2 = people.get(1);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 smtClean="0">
                <a:latin typeface="Times New Roman" pitchFamily="18" charset="0"/>
              </a:rPr>
              <a:t>}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5562600" y="3380125"/>
            <a:ext cx="3581400" cy="347787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class Person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private String name;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private int age;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spc="-30" dirty="0">
                <a:latin typeface="Times New Roman" pitchFamily="18" charset="0"/>
              </a:rPr>
              <a:t>	public Person (String n, int a)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name = n;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age = a;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228600" algn="l"/>
                <a:tab pos="457200" algn="l"/>
                <a:tab pos="6858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87" t="46846" r="8188" b="12471"/>
          <a:stretch/>
        </p:blipFill>
        <p:spPr bwMode="auto">
          <a:xfrm>
            <a:off x="0" y="0"/>
            <a:ext cx="9144000" cy="3294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Java1209.java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This program compiles and there is still no output.  Output is not the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issue.  Understanding the correct syntax involved does matter.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In this case lines 18 and 19 cast to the &lt;Person&gt; class, which makes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Java happy.  Without casting the data types are unknown.</a:t>
            </a:r>
          </a:p>
          <a:p>
            <a:pPr eaLnBrk="1" hangingPunct="1"/>
            <a:endParaRPr lang="en-US" sz="3600" dirty="0">
              <a:latin typeface="Times New Roman" pitchFamily="18" charset="0"/>
            </a:endParaRP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import </a:t>
            </a:r>
            <a:r>
              <a:rPr lang="en-US" sz="2000" dirty="0">
                <a:latin typeface="Times New Roman" pitchFamily="18" charset="0"/>
              </a:rPr>
              <a:t>java.util.ArrayList</a:t>
            </a:r>
            <a:r>
              <a:rPr lang="en-US" sz="2000" dirty="0" smtClean="0">
                <a:latin typeface="Times New Roman" pitchFamily="18" charset="0"/>
              </a:rPr>
              <a:t>;</a:t>
            </a:r>
          </a:p>
          <a:p>
            <a:pPr eaLnBrk="1" hangingPunct="1"/>
            <a:endParaRPr lang="en-US" sz="3600" dirty="0">
              <a:latin typeface="Times New Roman" pitchFamily="18" charset="0"/>
            </a:endParaRP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public </a:t>
            </a:r>
            <a:r>
              <a:rPr lang="en-US" sz="2000" dirty="0">
                <a:latin typeface="Times New Roman" pitchFamily="18" charset="0"/>
              </a:rPr>
              <a:t>class Java1209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ArrayList people = new ArrayList();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people.add(new Person("Joe",21));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people.add(new Person("Sue",20));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200" dirty="0"/>
              <a:t>      	Person student1 = (Person) people.get(0</a:t>
            </a:r>
            <a:r>
              <a:rPr lang="en-US" sz="2200" dirty="0" smtClean="0"/>
              <a:t>);	</a:t>
            </a:r>
            <a:r>
              <a:rPr lang="en-US" sz="2200" dirty="0" smtClean="0">
                <a:solidFill>
                  <a:srgbClr val="FF0000"/>
                </a:solidFill>
              </a:rPr>
              <a:t>// Line 18</a:t>
            </a:r>
            <a:endParaRPr lang="en-US" sz="2200" dirty="0">
              <a:solidFill>
                <a:srgbClr val="FF0000"/>
              </a:solidFill>
            </a:endParaRPr>
          </a:p>
          <a:p>
            <a:pPr eaLnBrk="1" hangingPunct="1"/>
            <a:r>
              <a:rPr lang="en-US" sz="2200" dirty="0"/>
              <a:t>      	Person student2 = (Person) people.get(1</a:t>
            </a:r>
            <a:r>
              <a:rPr lang="en-US" sz="2200" dirty="0" smtClean="0"/>
              <a:t>);	</a:t>
            </a:r>
            <a:r>
              <a:rPr lang="en-US" sz="2200" dirty="0" smtClean="0">
                <a:solidFill>
                  <a:srgbClr val="FF0000"/>
                </a:solidFill>
              </a:rPr>
              <a:t>// Line 19</a:t>
            </a:r>
            <a:endParaRPr lang="en-US" sz="2200" dirty="0">
              <a:solidFill>
                <a:srgbClr val="FF0000"/>
              </a:solidFill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}</a:t>
            </a:r>
            <a:endParaRPr lang="en-US" sz="1800" dirty="0">
              <a:latin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8" t="46846" r="26375" b="34547"/>
          <a:stretch/>
        </p:blipFill>
        <p:spPr bwMode="auto">
          <a:xfrm>
            <a:off x="0" y="0"/>
            <a:ext cx="9144000" cy="2099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Text Box 2"/>
          <p:cNvSpPr txBox="1">
            <a:spLocks noChangeArrowheads="1"/>
          </p:cNvSpPr>
          <p:nvPr/>
        </p:nvSpPr>
        <p:spPr bwMode="auto">
          <a:xfrm>
            <a:off x="5334000" y="1752600"/>
            <a:ext cx="3810000" cy="3478212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class Person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private String name;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private int age;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Person (String n, int a)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name = n;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age = a;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/>
            <a:r>
              <a:rPr lang="en-US" sz="2000" dirty="0">
                <a:latin typeface="Times New Roman" pitchFamily="18" charset="0"/>
              </a:rPr>
              <a:t>// Java1210.java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Since Java Version 5.0 the "casting" solution of the last program is so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"old Java version".  It is now possible to specify, at the time that the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&lt;ArrayList&gt; object is constructed, what kind of object is stored.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// Note: the "unsafe operations" warning is now also gone.</a:t>
            </a: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import </a:t>
            </a:r>
            <a:r>
              <a:rPr lang="en-US" sz="2000" dirty="0">
                <a:latin typeface="Times New Roman" pitchFamily="18" charset="0"/>
              </a:rPr>
              <a:t>java.util.ArrayList;</a:t>
            </a:r>
          </a:p>
          <a:p>
            <a:pPr eaLnBrk="1" hangingPunct="1"/>
            <a:endParaRPr lang="en-US" sz="16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public class Java1210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/>
            <a:r>
              <a:rPr lang="en-US" sz="2200" dirty="0"/>
              <a:t>		ArrayList&lt;Person&gt; people = new ArrayList&lt;Person&gt;();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people.add(new Person("Joe",21));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	people.add(new Person("Sue",20));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Person </a:t>
            </a:r>
            <a:r>
              <a:rPr lang="en-US" sz="2000" dirty="0">
                <a:latin typeface="Times New Roman" pitchFamily="18" charset="0"/>
              </a:rPr>
              <a:t>student1 = people.get(0);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Person </a:t>
            </a:r>
            <a:r>
              <a:rPr lang="en-US" sz="2000" dirty="0">
                <a:latin typeface="Times New Roman" pitchFamily="18" charset="0"/>
              </a:rPr>
              <a:t>student2 = people.get(1);</a:t>
            </a:r>
          </a:p>
          <a:p>
            <a:pPr eaLnBrk="1" hangingPunct="1"/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/>
            <a:r>
              <a:rPr lang="en-US" sz="2000" dirty="0" smtClean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  <a:p>
            <a:pPr eaLnBrk="1" hangingPunct="1"/>
            <a:endParaRPr lang="en-US" sz="2000" dirty="0">
              <a:latin typeface="Times New Roman" pitchFamily="18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334000" y="4029533"/>
            <a:ext cx="3810000" cy="282846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class Person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private String name;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private int age;</a:t>
            </a:r>
          </a:p>
          <a:p>
            <a:pPr eaLnBrk="1" hangingPunct="1">
              <a:lnSpc>
                <a:spcPct val="90000"/>
              </a:lnSpc>
            </a:pPr>
            <a:r>
              <a:rPr lang="en-US" sz="1600" dirty="0">
                <a:latin typeface="Times New Roman" pitchFamily="18" charset="0"/>
              </a:rPr>
              <a:t>	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public Person (String n, int a)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	name = n;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	age = a;</a:t>
            </a:r>
          </a:p>
          <a:p>
            <a:pPr eaLnBrk="1" hangingPunct="1">
              <a:lnSpc>
                <a:spcPct val="70000"/>
              </a:lnSpc>
            </a:pPr>
            <a:r>
              <a:rPr lang="en-US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70000"/>
              </a:lnSpc>
            </a:pPr>
            <a:r>
              <a:rPr lang="en-US" dirty="0">
                <a:latin typeface="Times New Roman" pitchFamily="18" charset="0"/>
              </a:rPr>
              <a:t>}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5" t="46531" r="38750" b="40223"/>
          <a:stretch/>
        </p:blipFill>
        <p:spPr bwMode="auto">
          <a:xfrm>
            <a:off x="3581400" y="1676400"/>
            <a:ext cx="5562600" cy="1229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// Java1211.java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// This program shows another benefit of using generics.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// There are two &lt;ArrayList&gt; objects and both are </a:t>
            </a:r>
            <a:r>
              <a:rPr lang="en-US" dirty="0" smtClean="0">
                <a:latin typeface="Times New Roman" pitchFamily="18" charset="0"/>
              </a:rPr>
              <a:t>constructed to </a:t>
            </a:r>
            <a:r>
              <a:rPr lang="en-US" dirty="0">
                <a:latin typeface="Times New Roman" pitchFamily="18" charset="0"/>
              </a:rPr>
              <a:t>store &lt;Integer&gt; </a:t>
            </a:r>
            <a:endParaRPr lang="en-US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</a:rPr>
              <a:t>// values</a:t>
            </a:r>
            <a:r>
              <a:rPr lang="en-US" dirty="0">
                <a:latin typeface="Times New Roman" pitchFamily="18" charset="0"/>
              </a:rPr>
              <a:t>.  After three values are </a:t>
            </a:r>
            <a:r>
              <a:rPr lang="en-US" dirty="0" smtClean="0">
                <a:latin typeface="Times New Roman" pitchFamily="18" charset="0"/>
              </a:rPr>
              <a:t>entered in </a:t>
            </a:r>
            <a:r>
              <a:rPr lang="en-US" dirty="0">
                <a:latin typeface="Times New Roman" pitchFamily="18" charset="0"/>
              </a:rPr>
              <a:t>the &lt;numbers1&gt; object, those values are </a:t>
            </a:r>
            <a:endParaRPr lang="en-US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</a:rPr>
              <a:t>// then assigned to </a:t>
            </a:r>
            <a:r>
              <a:rPr lang="en-US" dirty="0">
                <a:latin typeface="Times New Roman" pitchFamily="18" charset="0"/>
              </a:rPr>
              <a:t>&lt;numbers2&gt;, which works without problems.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public class Java1211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	ArrayList&lt;Integer&gt; numbers1 = new ArrayList&lt;Integer&gt;();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	numbers1.add(new Integer(100));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	numbers1.add(new Integer(200));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	numbers1.add(new Integer(300));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	System.out.println(numbers1);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000" b="0" dirty="0"/>
              <a:t>		ArrayList&lt;Integer&gt; numbers2 = new ArrayList&lt;Integer&gt;();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0" dirty="0"/>
              <a:t>		numbers2.add(numbers1.get(0));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0" dirty="0"/>
              <a:t>		numbers2.add(numbers1.get(1));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0" dirty="0"/>
              <a:t>		numbers2.add(numbers1.get(2));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0" dirty="0" smtClean="0"/>
              <a:t>		System.out.println(numbers2);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>
                <a:latin typeface="Times New Roman" pitchFamily="18" charset="0"/>
              </a:rPr>
              <a:t>}</a:t>
            </a:r>
            <a:endParaRPr lang="en-US" sz="17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76800" y="1712893"/>
            <a:ext cx="3429000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[100, 200, 300]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[100, 200, 300]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7109639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// Java1212.java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// Generics make sure that an array is in fact an array.  An array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// is supposed to be a data structure with elements of the same type.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// This program example - which does not use generics - allows the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// list array to store three different data types.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300" dirty="0">
              <a:latin typeface="Times New Roman" pitchFamily="18" charset="0"/>
            </a:endParaRP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300" dirty="0">
              <a:latin typeface="Times New Roman" pitchFamily="18" charset="0"/>
            </a:endParaRP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public class Java1212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		ArrayList list = new ArrayList();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		list.add(new Double(3.14159));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		list.add(new Integer(200));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		list.add(new String("Dubrovnik"));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		System.out.println(list);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</a:endParaRPr>
          </a:p>
        </p:txBody>
      </p:sp>
      <p:pic>
        <p:nvPicPr>
          <p:cNvPr id="5" name="Picture 5" descr="j0282748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2766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j0282747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352800"/>
            <a:ext cx="1219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715000" y="4800600"/>
            <a:ext cx="3124200" cy="1569660"/>
          </a:xfrm>
          <a:prstGeom prst="rect">
            <a:avLst/>
          </a:prstGeom>
          <a:solidFill>
            <a:srgbClr val="FF99CC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41783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41783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41783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41783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41783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783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783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783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783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algn="ctr" eaLnBrk="1" hangingPunct="1"/>
            <a:r>
              <a:rPr lang="en-US" sz="3200" dirty="0">
                <a:latin typeface="Arial" charset="0"/>
                <a:cs typeface="Arial" charset="0"/>
                <a:sym typeface="Symbol" pitchFamily="18" charset="2"/>
              </a:rPr>
              <a:t>This </a:t>
            </a:r>
            <a:r>
              <a:rPr lang="en-US" sz="3200" dirty="0" smtClean="0">
                <a:latin typeface="Arial" charset="0"/>
                <a:cs typeface="Arial" charset="0"/>
                <a:sym typeface="Symbol" pitchFamily="18" charset="2"/>
              </a:rPr>
              <a:t>violates</a:t>
            </a:r>
          </a:p>
          <a:p>
            <a:pPr algn="ctr" eaLnBrk="1" hangingPunct="1"/>
            <a:r>
              <a:rPr lang="en-US" sz="3200" dirty="0" smtClean="0">
                <a:latin typeface="Arial" charset="0"/>
                <a:cs typeface="Arial" charset="0"/>
                <a:sym typeface="Symbol" pitchFamily="18" charset="2"/>
              </a:rPr>
              <a:t>the definition</a:t>
            </a:r>
          </a:p>
          <a:p>
            <a:pPr algn="ctr" eaLnBrk="1" hangingPunct="1"/>
            <a:r>
              <a:rPr lang="en-US" sz="3200" dirty="0" smtClean="0">
                <a:latin typeface="Arial" charset="0"/>
                <a:cs typeface="Arial" charset="0"/>
                <a:sym typeface="Symbol" pitchFamily="18" charset="2"/>
              </a:rPr>
              <a:t>of </a:t>
            </a:r>
            <a:r>
              <a:rPr lang="en-US" sz="3200" dirty="0">
                <a:latin typeface="Arial" charset="0"/>
                <a:cs typeface="Arial" charset="0"/>
                <a:sym typeface="Symbol" pitchFamily="18" charset="2"/>
              </a:rPr>
              <a:t>an array.</a:t>
            </a:r>
          </a:p>
        </p:txBody>
      </p:sp>
      <p:pic>
        <p:nvPicPr>
          <p:cNvPr id="6" name="Picture 6" descr="j0303364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1590675"/>
            <a:ext cx="6477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581400" y="2448580"/>
            <a:ext cx="5562600" cy="523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[3.14159, 200, Dubrovnik]</a:t>
            </a:r>
            <a:endParaRPr lang="en-US" sz="2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2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4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// Java1213.java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// Once generics are used, Java becomes very picky.  If you want to create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// an &lt;ArrayList&gt; object to store &lt;Double&gt; values, such as is shown below,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// then only &lt;Double&gt; values must be </a:t>
            </a:r>
            <a:r>
              <a:rPr lang="en-US" sz="2200" dirty="0" smtClean="0">
                <a:latin typeface="Times New Roman" pitchFamily="18" charset="0"/>
              </a:rPr>
              <a:t>added.  The </a:t>
            </a:r>
            <a:r>
              <a:rPr lang="en-US" sz="2200" dirty="0">
                <a:latin typeface="Times New Roman" pitchFamily="18" charset="0"/>
              </a:rPr>
              <a:t>attempt to add one </a:t>
            </a:r>
            <a:endParaRPr lang="en-US" sz="2200" dirty="0" smtClean="0">
              <a:latin typeface="Times New Roman" pitchFamily="18" charset="0"/>
            </a:endParaRP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 smtClean="0">
                <a:latin typeface="Times New Roman" pitchFamily="18" charset="0"/>
              </a:rPr>
              <a:t>// &lt;Double&gt; and </a:t>
            </a:r>
            <a:r>
              <a:rPr lang="en-US" sz="2200" dirty="0">
                <a:latin typeface="Times New Roman" pitchFamily="18" charset="0"/>
              </a:rPr>
              <a:t>two &lt;Integer&gt; objects results in two errors.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200" dirty="0">
              <a:latin typeface="Times New Roman" pitchFamily="18" charset="0"/>
            </a:endParaRP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200" dirty="0">
              <a:latin typeface="Times New Roman" pitchFamily="18" charset="0"/>
            </a:endParaRP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public class Java1213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{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	{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300" dirty="0"/>
              <a:t>		ArrayList&lt;Double&gt; list = new ArrayList&lt;Double&gt;();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		list.add(new Double(3.14159));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		list.add(new Integer(200));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		list.add(new Integer(300));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		System.out.println(list);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	}</a:t>
            </a:r>
          </a:p>
          <a:p>
            <a:pPr eaLnBrk="1" hangingPunct="1"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200" dirty="0">
                <a:latin typeface="Times New Roman" pitchFamily="18" charset="0"/>
              </a:rPr>
              <a:t>}</a:t>
            </a:r>
          </a:p>
          <a:p>
            <a:pPr eaLnBrk="1" hangingPunct="1"/>
            <a:endParaRPr lang="en-US" dirty="0">
              <a:latin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6" t="19368" r="15328" b="9285"/>
          <a:stretch/>
        </p:blipFill>
        <p:spPr bwMode="auto">
          <a:xfrm>
            <a:off x="2458386" y="1948721"/>
            <a:ext cx="4931765" cy="34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6" t="19368" r="15328" b="12730"/>
          <a:stretch/>
        </p:blipFill>
        <p:spPr bwMode="auto">
          <a:xfrm>
            <a:off x="0" y="137160"/>
            <a:ext cx="9144000" cy="6583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265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WordArt 2"/>
          <p:cNvSpPr>
            <a:spLocks noChangeArrowheads="1" noChangeShapeType="1" noTextEdit="1"/>
          </p:cNvSpPr>
          <p:nvPr/>
        </p:nvSpPr>
        <p:spPr bwMode="auto">
          <a:xfrm>
            <a:off x="457200" y="1447800"/>
            <a:ext cx="8382000" cy="29718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ArrayList and the</a:t>
            </a:r>
          </a:p>
        </p:txBody>
      </p:sp>
      <p:sp>
        <p:nvSpPr>
          <p:cNvPr id="51203" name="WordArt 3"/>
          <p:cNvSpPr>
            <a:spLocks noChangeArrowheads="1" noChangeShapeType="1" noTextEdit="1"/>
          </p:cNvSpPr>
          <p:nvPr/>
        </p:nvSpPr>
        <p:spPr bwMode="auto">
          <a:xfrm>
            <a:off x="457200" y="3886200"/>
            <a:ext cx="8382000" cy="2743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Enhanced for Loop</a:t>
            </a:r>
          </a:p>
        </p:txBody>
      </p:sp>
      <p:sp>
        <p:nvSpPr>
          <p:cNvPr id="51204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12.5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707270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Java1214.java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This program shows three ways to display the members of an &lt;ArrayList&gt; object.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The enhanced &lt;for..each&gt; loop works very well with &lt;ArrayList&gt; objects.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public class Java1214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ArrayList&lt;String&gt; names = new ArrayList&lt;String&gt;();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names.add("Isolde");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names.add("John");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names.add("Greg");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names.add("Maria");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names.add("Heidi");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4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System.out.println(names);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System.out.println();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2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for (int index = 0; index &lt; names.size(); index++)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	System.out.println(names.get(index));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System.out.println();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b="0" dirty="0"/>
              <a:t>		for (String name: names)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b="0" dirty="0"/>
              <a:t>			System.out.println(name);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	}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4154031"/>
            <a:ext cx="1676400" cy="22467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Isolde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John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Greg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Maria</a:t>
            </a:r>
          </a:p>
          <a:p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Heidi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WordArt 2"/>
          <p:cNvSpPr>
            <a:spLocks noChangeArrowheads="1" noChangeShapeType="1" noTextEdit="1"/>
          </p:cNvSpPr>
          <p:nvPr/>
        </p:nvSpPr>
        <p:spPr bwMode="auto">
          <a:xfrm>
            <a:off x="457200" y="1447800"/>
            <a:ext cx="8382000" cy="2743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The Deck Class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3251" name="WordArt 3"/>
          <p:cNvSpPr>
            <a:spLocks noChangeArrowheads="1" noChangeShapeType="1" noTextEdit="1"/>
          </p:cNvSpPr>
          <p:nvPr/>
        </p:nvSpPr>
        <p:spPr bwMode="auto">
          <a:xfrm>
            <a:off x="457200" y="3810000"/>
            <a:ext cx="8382000" cy="292608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With ArrayList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3252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12.6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714195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Card.java     12-26-14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This is the "unit" class that stores information about a single card.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*********************************************************************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The "Elevens" AP Lab is created for the College Board APCS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curriculum by Michael Clancy, Robert Glen Martin and Judith Hromcik.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Leon Schram has altered this "Elevens" AP Lab file to focus on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CS topics as the "Elevens" Lab is integrated into the curriculum.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 smtClean="0">
                <a:latin typeface="Times New Roman" pitchFamily="18" charset="0"/>
              </a:rPr>
              <a:t>public </a:t>
            </a:r>
            <a:r>
              <a:rPr lang="en-US" sz="1700" dirty="0">
                <a:latin typeface="Times New Roman" pitchFamily="18" charset="0"/>
              </a:rPr>
              <a:t>class Card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private </a:t>
            </a:r>
            <a:r>
              <a:rPr lang="en-US" sz="1700" dirty="0">
                <a:latin typeface="Times New Roman" pitchFamily="18" charset="0"/>
              </a:rPr>
              <a:t>String suit;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private </a:t>
            </a:r>
            <a:r>
              <a:rPr lang="en-US" sz="1700" dirty="0">
                <a:latin typeface="Times New Roman" pitchFamily="18" charset="0"/>
              </a:rPr>
              <a:t>String rank;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private </a:t>
            </a:r>
            <a:r>
              <a:rPr lang="en-US" sz="1700" dirty="0">
                <a:latin typeface="Times New Roman" pitchFamily="18" charset="0"/>
              </a:rPr>
              <a:t>int value;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Card(String s, String r, int v</a:t>
            </a:r>
            <a:r>
              <a:rPr lang="en-US" sz="1700" dirty="0" smtClean="0">
                <a:latin typeface="Times New Roman" pitchFamily="18" charset="0"/>
              </a:rPr>
              <a:t>)   {   suit </a:t>
            </a:r>
            <a:r>
              <a:rPr lang="en-US" sz="1700" dirty="0">
                <a:latin typeface="Times New Roman" pitchFamily="18" charset="0"/>
              </a:rPr>
              <a:t>= </a:t>
            </a:r>
            <a:r>
              <a:rPr lang="en-US" sz="1700" dirty="0" smtClean="0">
                <a:latin typeface="Times New Roman" pitchFamily="18" charset="0"/>
              </a:rPr>
              <a:t>s;   rank </a:t>
            </a:r>
            <a:r>
              <a:rPr lang="en-US" sz="1700" dirty="0">
                <a:latin typeface="Times New Roman" pitchFamily="18" charset="0"/>
              </a:rPr>
              <a:t>= </a:t>
            </a:r>
            <a:r>
              <a:rPr lang="en-US" sz="1700" dirty="0" smtClean="0">
                <a:latin typeface="Times New Roman" pitchFamily="18" charset="0"/>
              </a:rPr>
              <a:t>r;   value </a:t>
            </a:r>
            <a:r>
              <a:rPr lang="en-US" sz="1700" dirty="0">
                <a:latin typeface="Times New Roman" pitchFamily="18" charset="0"/>
              </a:rPr>
              <a:t>= v</a:t>
            </a:r>
            <a:r>
              <a:rPr lang="en-US" sz="1700" dirty="0" smtClean="0">
                <a:latin typeface="Times New Roman" pitchFamily="18" charset="0"/>
              </a:rPr>
              <a:t>;   }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511675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String getSuit() </a:t>
            </a:r>
            <a:r>
              <a:rPr lang="en-US" sz="1700" dirty="0" smtClean="0">
                <a:latin typeface="Times New Roman" pitchFamily="18" charset="0"/>
              </a:rPr>
              <a:t>	  {   return </a:t>
            </a:r>
            <a:r>
              <a:rPr lang="en-US" sz="1700" dirty="0">
                <a:latin typeface="Times New Roman" pitchFamily="18" charset="0"/>
              </a:rPr>
              <a:t>suit; 	</a:t>
            </a:r>
            <a:r>
              <a:rPr lang="en-US" sz="1700" dirty="0" smtClean="0">
                <a:latin typeface="Times New Roman" pitchFamily="18" charset="0"/>
              </a:rPr>
              <a:t>}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511675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String getRank() </a:t>
            </a:r>
            <a:r>
              <a:rPr lang="en-US" sz="1700" dirty="0" smtClean="0">
                <a:latin typeface="Times New Roman" pitchFamily="18" charset="0"/>
              </a:rPr>
              <a:t>	  {   </a:t>
            </a:r>
            <a:r>
              <a:rPr lang="en-US" sz="1700" dirty="0">
                <a:latin typeface="Times New Roman" pitchFamily="18" charset="0"/>
              </a:rPr>
              <a:t>return rank; </a:t>
            </a:r>
            <a:r>
              <a:rPr lang="en-US" sz="1700" dirty="0" smtClean="0">
                <a:latin typeface="Times New Roman" pitchFamily="18" charset="0"/>
              </a:rPr>
              <a:t>	}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511675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int getValue()   </a:t>
            </a:r>
            <a:r>
              <a:rPr lang="en-US" sz="1700" dirty="0" smtClean="0">
                <a:latin typeface="Times New Roman" pitchFamily="18" charset="0"/>
              </a:rPr>
              <a:t>	  {   return </a:t>
            </a:r>
            <a:r>
              <a:rPr lang="en-US" sz="1700" dirty="0">
                <a:latin typeface="Times New Roman" pitchFamily="18" charset="0"/>
              </a:rPr>
              <a:t>value</a:t>
            </a:r>
            <a:r>
              <a:rPr lang="en-US" sz="1700" dirty="0" smtClean="0">
                <a:latin typeface="Times New Roman" pitchFamily="18" charset="0"/>
              </a:rPr>
              <a:t>;	}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	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boolean matches(Card otherCard)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{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return otherCard.getSuit().</a:t>
            </a:r>
            <a:r>
              <a:rPr lang="en-US" sz="1700" dirty="0" smtClean="0">
                <a:latin typeface="Times New Roman" pitchFamily="18" charset="0"/>
              </a:rPr>
              <a:t>equals(</a:t>
            </a:r>
            <a:r>
              <a:rPr lang="en-US" sz="1700" dirty="0" err="1" smtClean="0">
                <a:latin typeface="Times New Roman" pitchFamily="18" charset="0"/>
              </a:rPr>
              <a:t>this.suit</a:t>
            </a:r>
            <a:r>
              <a:rPr lang="en-US" sz="1700" dirty="0" smtClean="0">
                <a:latin typeface="Times New Roman" pitchFamily="18" charset="0"/>
              </a:rPr>
              <a:t>)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 </a:t>
            </a:r>
            <a:r>
              <a:rPr lang="en-US" sz="1700" dirty="0" smtClean="0">
                <a:latin typeface="Times New Roman" pitchFamily="18" charset="0"/>
              </a:rPr>
              <a:t>   &amp;&amp; </a:t>
            </a:r>
            <a:r>
              <a:rPr lang="en-US" sz="1700" dirty="0">
                <a:latin typeface="Times New Roman" pitchFamily="18" charset="0"/>
              </a:rPr>
              <a:t>otherCard.getRank().</a:t>
            </a:r>
            <a:r>
              <a:rPr lang="en-US" sz="1700" dirty="0" smtClean="0">
                <a:latin typeface="Times New Roman" pitchFamily="18" charset="0"/>
              </a:rPr>
              <a:t>equals(</a:t>
            </a:r>
            <a:r>
              <a:rPr lang="en-US" sz="1700" dirty="0" err="1" smtClean="0">
                <a:latin typeface="Times New Roman" pitchFamily="18" charset="0"/>
              </a:rPr>
              <a:t>this.rank</a:t>
            </a:r>
            <a:r>
              <a:rPr lang="en-US" sz="1700" dirty="0" smtClean="0">
                <a:latin typeface="Times New Roman" pitchFamily="18" charset="0"/>
              </a:rPr>
              <a:t>)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	</a:t>
            </a:r>
            <a:r>
              <a:rPr lang="en-US" sz="1700" dirty="0" smtClean="0">
                <a:latin typeface="Times New Roman" pitchFamily="18" charset="0"/>
              </a:rPr>
              <a:t>    &amp;&amp; </a:t>
            </a:r>
            <a:r>
              <a:rPr lang="en-US" sz="1700" dirty="0">
                <a:latin typeface="Times New Roman" pitchFamily="18" charset="0"/>
              </a:rPr>
              <a:t>otherCard.getValue() == </a:t>
            </a:r>
            <a:r>
              <a:rPr lang="en-US" sz="1700" dirty="0" err="1" smtClean="0">
                <a:latin typeface="Times New Roman" pitchFamily="18" charset="0"/>
              </a:rPr>
              <a:t>this.value</a:t>
            </a:r>
            <a:r>
              <a:rPr lang="en-US" sz="1700" dirty="0" smtClean="0">
                <a:latin typeface="Times New Roman" pitchFamily="18" charset="0"/>
              </a:rPr>
              <a:t>;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 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   </a:t>
            </a:r>
            <a:r>
              <a:rPr lang="en-US" sz="1700" dirty="0" smtClean="0">
                <a:latin typeface="Times New Roman" pitchFamily="18" charset="0"/>
              </a:rPr>
              <a:t>	public </a:t>
            </a:r>
            <a:r>
              <a:rPr lang="en-US" sz="1700" dirty="0">
                <a:latin typeface="Times New Roman" pitchFamily="18" charset="0"/>
              </a:rPr>
              <a:t>String toString</a:t>
            </a:r>
            <a:r>
              <a:rPr lang="en-US" sz="1700" dirty="0" smtClean="0">
                <a:latin typeface="Times New Roman" pitchFamily="18" charset="0"/>
              </a:rPr>
              <a:t>()   {   return </a:t>
            </a:r>
            <a:r>
              <a:rPr lang="en-US" sz="1700" dirty="0">
                <a:latin typeface="Times New Roman" pitchFamily="18" charset="0"/>
              </a:rPr>
              <a:t>"[" + suit + ", " + rank + ", " + value + </a:t>
            </a:r>
            <a:r>
              <a:rPr lang="en-US" sz="1700" dirty="0" smtClean="0">
                <a:latin typeface="Times New Roman" pitchFamily="18" charset="0"/>
              </a:rPr>
              <a:t>"]";   }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1600" dirty="0">
              <a:latin typeface="Times New Roman" pitchFamily="18" charset="0"/>
            </a:endParaRPr>
          </a:p>
        </p:txBody>
      </p:sp>
      <p:pic>
        <p:nvPicPr>
          <p:cNvPr id="5126" name="Picture 6" descr="C:\Users\JohnSchram\AppData\Local\Microsoft\Windows\Temporary Internet Files\Content.IE5\QPYJZ01W\ace-of-spades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733800"/>
            <a:ext cx="1981200" cy="234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Deck01.java     12-26-14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This is the first stage of the Deck class, as introduced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in the previous "Static Arrays" chapter.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This version is implemented with "dynamic arrays".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********************************************************************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The "Elevens" AP Lab is created for the College Board APCS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curriculum by Michael Clancy, Robert Glen Martin and Judith Hromcik.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Leon Schram has altered this "Elevens" AP Lab file to focus on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// CS topics as the "Elevens" Lab is integrated into the curriculum.</a:t>
            </a:r>
          </a:p>
          <a:p>
            <a:pPr eaLnBrk="1" hangingPunct="1">
              <a:lnSpc>
                <a:spcPct val="90000"/>
              </a:lnSpc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lnSpc>
                <a:spcPct val="90000"/>
              </a:lnSpc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public class Deck01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private ArrayList&lt;Card&gt; cards;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private int size;</a:t>
            </a:r>
          </a:p>
          <a:p>
            <a:pPr eaLnBrk="1" hangingPunct="1">
              <a:lnSpc>
                <a:spcPct val="90000"/>
              </a:lnSpc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public Deck01()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   </a:t>
            </a:r>
            <a:r>
              <a:rPr lang="en-US" sz="1800" dirty="0" smtClean="0">
                <a:latin typeface="Times New Roman" pitchFamily="18" charset="0"/>
              </a:rPr>
              <a:t>	{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cards = new ArrayList&lt;Card&gt;();;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	size = 0;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   </a:t>
            </a:r>
            <a:r>
              <a:rPr lang="en-US" sz="1800" dirty="0" smtClean="0">
                <a:latin typeface="Times New Roman" pitchFamily="18" charset="0"/>
              </a:rPr>
              <a:t>	public </a:t>
            </a:r>
            <a:r>
              <a:rPr lang="en-US" sz="1800" dirty="0">
                <a:latin typeface="Times New Roman" pitchFamily="18" charset="0"/>
              </a:rPr>
              <a:t>int getSize</a:t>
            </a:r>
            <a:r>
              <a:rPr lang="en-US" sz="1800" dirty="0" smtClean="0">
                <a:latin typeface="Times New Roman" pitchFamily="18" charset="0"/>
              </a:rPr>
              <a:t>()   {   return </a:t>
            </a:r>
            <a:r>
              <a:rPr lang="en-US" sz="1800" dirty="0">
                <a:latin typeface="Times New Roman" pitchFamily="18" charset="0"/>
              </a:rPr>
              <a:t>size</a:t>
            </a:r>
            <a:r>
              <a:rPr lang="en-US" sz="1800" dirty="0" smtClean="0">
                <a:latin typeface="Times New Roman" pitchFamily="18" charset="0"/>
              </a:rPr>
              <a:t>;   }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   </a:t>
            </a:r>
            <a:r>
              <a:rPr lang="en-US" sz="1800" dirty="0" smtClean="0">
                <a:latin typeface="Times New Roman" pitchFamily="18" charset="0"/>
              </a:rPr>
              <a:t>	public </a:t>
            </a:r>
            <a:r>
              <a:rPr lang="en-US" sz="1800" dirty="0">
                <a:latin typeface="Times New Roman" pitchFamily="18" charset="0"/>
              </a:rPr>
              <a:t>boolean isEmpty</a:t>
            </a:r>
            <a:r>
              <a:rPr lang="en-US" sz="1800" dirty="0" smtClean="0">
                <a:latin typeface="Times New Roman" pitchFamily="18" charset="0"/>
              </a:rPr>
              <a:t>()   {   return </a:t>
            </a:r>
            <a:r>
              <a:rPr lang="en-US" sz="1800" dirty="0">
                <a:latin typeface="Times New Roman" pitchFamily="18" charset="0"/>
              </a:rPr>
              <a:t>size == 0</a:t>
            </a:r>
            <a:r>
              <a:rPr lang="en-US" sz="1800" dirty="0" smtClean="0">
                <a:latin typeface="Times New Roman" pitchFamily="18" charset="0"/>
              </a:rPr>
              <a:t>;   }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1800" dirty="0">
                <a:latin typeface="Times New Roman" pitchFamily="18" charset="0"/>
              </a:rPr>
              <a:t>}</a:t>
            </a:r>
          </a:p>
        </p:txBody>
      </p:sp>
      <p:pic>
        <p:nvPicPr>
          <p:cNvPr id="6146" name="Picture 2" descr="C:\Users\JohnSchram\AppData\Local\Microsoft\Windows\Temporary Internet Files\Content.IE5\IHVDDHNW\jvUa1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368446"/>
            <a:ext cx="3879954" cy="387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DeckTester01.java     12-26-14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This program tests the "dynamic array" Deck01 class.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********************************************************************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The "Elevens" AP Lab is created for the College Board APCS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curriculum by Michael Clancy, Robert Glen Martin and Judith Hromcik.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Leon Schram has altered this "Elevens" AP Lab file to focus on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CS topics as the "Elevens" Lab is integrated into the curriculum</a:t>
            </a:r>
            <a:r>
              <a:rPr lang="en-US" sz="2000" dirty="0" smtClean="0">
                <a:latin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400" dirty="0">
                <a:latin typeface="Times New Roman" pitchFamily="18" charset="0"/>
              </a:rPr>
              <a:t>public class DeckTester01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4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4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400" dirty="0">
                <a:latin typeface="Times New Roman" pitchFamily="18" charset="0"/>
              </a:rPr>
              <a:t>	{ 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	Deck01 </a:t>
            </a:r>
            <a:r>
              <a:rPr lang="en-US" sz="2400" dirty="0">
                <a:latin typeface="Times New Roman" pitchFamily="18" charset="0"/>
              </a:rPr>
              <a:t>deck = new Deck01();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	System.out.println(deck</a:t>
            </a:r>
            <a:r>
              <a:rPr lang="en-US" sz="24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	System.out.println(deck.getSize</a:t>
            </a:r>
            <a:r>
              <a:rPr lang="en-US" sz="2400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400" dirty="0">
                <a:latin typeface="Times New Roman" pitchFamily="18" charset="0"/>
              </a:rPr>
              <a:t>      </a:t>
            </a:r>
            <a:r>
              <a:rPr lang="en-US" sz="2400" dirty="0" smtClean="0">
                <a:latin typeface="Times New Roman" pitchFamily="18" charset="0"/>
              </a:rPr>
              <a:t>		System.out.println(deck.isEmpty</a:t>
            </a:r>
            <a:r>
              <a:rPr lang="en-US" sz="2400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4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4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endParaRPr lang="en-US" sz="20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10000" y="5284590"/>
            <a:ext cx="3276600" cy="13849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Deck01@1db9742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</p:txBody>
      </p:sp>
      <p:pic>
        <p:nvPicPr>
          <p:cNvPr id="13314" name="Picture 2" descr="C:\Users\JohnSchram\AppData\Local\Microsoft\Windows\Temporary Internet Files\Content.IE5\DSY7AMS9\mostofit2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629" y="2062842"/>
            <a:ext cx="3625782" cy="235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Deck02.java     12-26-14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Methods &lt;add&gt; and &lt;display&gt; are added to the &lt;Deck02&gt; class.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Objects of the &lt;Card&gt; class can now be stored in the &lt;cards&gt; array.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This version is implemented with "dynamic arrays"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********************************************************************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The "Elevens" AP Lab is created for the College Board APCS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curriculum by Michael Clancy, Robert Glen Martin and Judith Hromcik.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Leon Schram has altered this "Elevens" AP Lab file to focus on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// CS topics as the "Elevens" Lab is integrated into the curriculum.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public class Deck02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private ArrayList&lt;Card&gt; cards;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private int size;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public Deck02()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</a:t>
            </a:r>
            <a:r>
              <a:rPr lang="en-US" sz="1800" dirty="0" smtClean="0">
                <a:latin typeface="Times New Roman" pitchFamily="18" charset="0"/>
              </a:rPr>
              <a:t>	{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cards = new ArrayList&lt;Card&gt;();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size = 0;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</a:t>
            </a:r>
            <a:r>
              <a:rPr lang="en-US" sz="1800" dirty="0" smtClean="0">
                <a:latin typeface="Times New Roman" pitchFamily="18" charset="0"/>
              </a:rPr>
              <a:t>	public </a:t>
            </a:r>
            <a:r>
              <a:rPr lang="en-US" sz="1800" dirty="0">
                <a:latin typeface="Times New Roman" pitchFamily="18" charset="0"/>
              </a:rPr>
              <a:t>int getSize</a:t>
            </a:r>
            <a:r>
              <a:rPr lang="en-US" sz="1800" dirty="0" smtClean="0">
                <a:latin typeface="Times New Roman" pitchFamily="18" charset="0"/>
              </a:rPr>
              <a:t>()  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</a:rPr>
              <a:t>{  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</a:rPr>
              <a:t>	return </a:t>
            </a:r>
            <a:r>
              <a:rPr lang="en-US" sz="1800" dirty="0">
                <a:latin typeface="Times New Roman" pitchFamily="18" charset="0"/>
              </a:rPr>
              <a:t>size</a:t>
            </a:r>
            <a:r>
              <a:rPr lang="en-US" sz="1800" dirty="0" smtClean="0">
                <a:latin typeface="Times New Roman" pitchFamily="18" charset="0"/>
              </a:rPr>
              <a:t>;  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</a:rPr>
              <a:t>}</a:t>
            </a:r>
            <a:r>
              <a:rPr lang="en-US" sz="1700" dirty="0" smtClean="0">
                <a:latin typeface="Times New Roman" pitchFamily="18" charset="0"/>
              </a:rPr>
              <a:t>  	</a:t>
            </a:r>
            <a:endParaRPr lang="en-US" sz="1700" dirty="0">
              <a:latin typeface="Times New Roman" pitchFamily="18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419600" y="2333685"/>
            <a:ext cx="4724400" cy="452431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 smtClean="0">
                <a:latin typeface="Times New Roman" pitchFamily="18" charset="0"/>
              </a:rPr>
              <a:t>   	</a:t>
            </a:r>
            <a:r>
              <a:rPr lang="en-US" sz="1800" dirty="0">
                <a:latin typeface="Times New Roman" pitchFamily="18" charset="0"/>
              </a:rPr>
              <a:t>public boolean isEmpty()   </a:t>
            </a:r>
            <a:endParaRPr lang="en-US" sz="1800" dirty="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 smtClean="0">
                <a:latin typeface="Times New Roman" pitchFamily="18" charset="0"/>
              </a:rPr>
              <a:t>	{   </a:t>
            </a: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	return size == 0;   </a:t>
            </a: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800" dirty="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</a:rPr>
              <a:t>public </a:t>
            </a:r>
            <a:r>
              <a:rPr lang="en-US" sz="1800" dirty="0">
                <a:latin typeface="Times New Roman" pitchFamily="18" charset="0"/>
              </a:rPr>
              <a:t>void add(String suit, </a:t>
            </a:r>
            <a:endParaRPr lang="en-US" sz="1800" dirty="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</a:rPr>
              <a:t>				String </a:t>
            </a:r>
            <a:r>
              <a:rPr lang="en-US" sz="1800" dirty="0">
                <a:latin typeface="Times New Roman" pitchFamily="18" charset="0"/>
              </a:rPr>
              <a:t>rank, int value)</a:t>
            </a: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</a:t>
            </a:r>
            <a:r>
              <a:rPr lang="en-US" sz="1800" dirty="0" smtClean="0">
                <a:latin typeface="Times New Roman" pitchFamily="18" charset="0"/>
              </a:rPr>
              <a:t>	{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   </a:t>
            </a:r>
            <a:r>
              <a:rPr lang="en-US" sz="1800" dirty="0" smtClean="0">
                <a:latin typeface="Times New Roman" pitchFamily="18" charset="0"/>
              </a:rPr>
              <a:t>		Card </a:t>
            </a:r>
            <a:r>
              <a:rPr lang="en-US" sz="1800" dirty="0">
                <a:latin typeface="Times New Roman" pitchFamily="18" charset="0"/>
              </a:rPr>
              <a:t>temp = </a:t>
            </a:r>
            <a:endParaRPr lang="en-US" sz="1800" dirty="0" smtClean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	</a:t>
            </a:r>
            <a:r>
              <a:rPr lang="en-US" sz="1800" dirty="0" smtClean="0">
                <a:latin typeface="Times New Roman" pitchFamily="18" charset="0"/>
              </a:rPr>
              <a:t>		new </a:t>
            </a:r>
            <a:r>
              <a:rPr lang="en-US" sz="1800" dirty="0">
                <a:latin typeface="Times New Roman" pitchFamily="18" charset="0"/>
              </a:rPr>
              <a:t>Card(suit,rank,value);</a:t>
            </a: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   </a:t>
            </a:r>
            <a:r>
              <a:rPr lang="en-US" sz="1800" dirty="0" smtClean="0">
                <a:latin typeface="Times New Roman" pitchFamily="18" charset="0"/>
              </a:rPr>
              <a:t>		cards.add(temp</a:t>
            </a:r>
            <a:r>
              <a:rPr lang="en-US" sz="18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   </a:t>
            </a:r>
            <a:r>
              <a:rPr lang="en-US" sz="1800" dirty="0" smtClean="0">
                <a:latin typeface="Times New Roman" pitchFamily="18" charset="0"/>
              </a:rPr>
              <a:t>		size</a:t>
            </a:r>
            <a:r>
              <a:rPr lang="en-US" sz="1800" dirty="0">
                <a:latin typeface="Times New Roman" pitchFamily="18" charset="0"/>
              </a:rPr>
              <a:t>++;</a:t>
            </a: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</a:t>
            </a:r>
            <a:r>
              <a:rPr lang="en-US" sz="1800" dirty="0" smtClean="0">
                <a:latin typeface="Times New Roman" pitchFamily="18" charset="0"/>
              </a:rPr>
              <a:t>	}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  </a:t>
            </a: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</a:t>
            </a:r>
            <a:r>
              <a:rPr lang="en-US" sz="1800" dirty="0" smtClean="0">
                <a:latin typeface="Times New Roman" pitchFamily="18" charset="0"/>
              </a:rPr>
              <a:t>	public </a:t>
            </a:r>
            <a:r>
              <a:rPr lang="en-US" sz="1800" dirty="0">
                <a:latin typeface="Times New Roman" pitchFamily="18" charset="0"/>
              </a:rPr>
              <a:t>void display()</a:t>
            </a: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</a:t>
            </a:r>
            <a:r>
              <a:rPr lang="en-US" sz="1800" dirty="0" smtClean="0">
                <a:latin typeface="Times New Roman" pitchFamily="18" charset="0"/>
              </a:rPr>
              <a:t>	{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   </a:t>
            </a:r>
            <a:r>
              <a:rPr lang="en-US" sz="1800" dirty="0" smtClean="0">
                <a:latin typeface="Times New Roman" pitchFamily="18" charset="0"/>
              </a:rPr>
              <a:t>		for </a:t>
            </a:r>
            <a:r>
              <a:rPr lang="en-US" sz="1800" dirty="0">
                <a:latin typeface="Times New Roman" pitchFamily="18" charset="0"/>
              </a:rPr>
              <a:t>(Card </a:t>
            </a:r>
            <a:r>
              <a:rPr lang="en-US" sz="1800" dirty="0" err="1">
                <a:latin typeface="Times New Roman" pitchFamily="18" charset="0"/>
              </a:rPr>
              <a:t>card</a:t>
            </a:r>
            <a:r>
              <a:rPr lang="en-US" sz="1800" dirty="0">
                <a:latin typeface="Times New Roman" pitchFamily="18" charset="0"/>
              </a:rPr>
              <a:t>: cards)</a:t>
            </a: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      </a:t>
            </a:r>
            <a:r>
              <a:rPr lang="en-US" sz="1800" dirty="0" smtClean="0">
                <a:latin typeface="Times New Roman" pitchFamily="18" charset="0"/>
              </a:rPr>
              <a:t>		</a:t>
            </a:r>
            <a:r>
              <a:rPr lang="en-US" sz="1800" dirty="0" err="1" smtClean="0">
                <a:latin typeface="Times New Roman" pitchFamily="18" charset="0"/>
              </a:rPr>
              <a:t>System.out.println</a:t>
            </a:r>
            <a:r>
              <a:rPr lang="en-US" sz="1800" dirty="0" smtClean="0">
                <a:latin typeface="Times New Roman" pitchFamily="18" charset="0"/>
              </a:rPr>
              <a:t>(card</a:t>
            </a:r>
            <a:r>
              <a:rPr lang="en-US" sz="18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>
                <a:latin typeface="Times New Roman" pitchFamily="18" charset="0"/>
              </a:rPr>
              <a:t>   </a:t>
            </a:r>
            <a:r>
              <a:rPr lang="en-US" sz="1800" dirty="0" smtClean="0">
                <a:latin typeface="Times New Roman" pitchFamily="18" charset="0"/>
              </a:rPr>
              <a:t>	} </a:t>
            </a:r>
            <a:endParaRPr lang="en-US" sz="1800" dirty="0">
              <a:latin typeface="Times New Roman" pitchFamily="18" charset="0"/>
            </a:endParaRPr>
          </a:p>
          <a:p>
            <a:pPr eaLnBrk="1" hangingPunct="1">
              <a:lnSpc>
                <a:spcPct val="8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800" dirty="0" smtClean="0">
                <a:latin typeface="Times New Roman" pitchFamily="18" charset="0"/>
              </a:rPr>
              <a:t>}</a:t>
            </a:r>
            <a:endParaRPr lang="en-US" sz="18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79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DeckTester02.java     12-26-14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This program tests the &lt;Deck02&gt; class.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This program tests the "dynamic array" Deck02 class.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********************************************************************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The "Elevens" AP Lab is created for the College Board APCS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curriculum by Michael Clancy, Robert Glen Martin and Judith Hromcik.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Leon Schram has altered this "Elevens" AP Lab file to focus on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CS topics as the "Elevens" Lab is integrated into the </a:t>
            </a:r>
            <a:r>
              <a:rPr lang="en-US" sz="2000" dirty="0" smtClean="0">
                <a:latin typeface="Times New Roman" pitchFamily="18" charset="0"/>
              </a:rPr>
              <a:t>curriculum</a:t>
            </a: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0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 smtClean="0">
                <a:latin typeface="Times New Roman" pitchFamily="18" charset="0"/>
              </a:rPr>
              <a:t>public </a:t>
            </a:r>
            <a:r>
              <a:rPr lang="en-US" sz="2000" dirty="0">
                <a:latin typeface="Times New Roman" pitchFamily="18" charset="0"/>
              </a:rPr>
              <a:t>class DeckTester02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{ 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Deck02 </a:t>
            </a:r>
            <a:r>
              <a:rPr lang="en-US" sz="2000" dirty="0">
                <a:latin typeface="Times New Roman" pitchFamily="18" charset="0"/>
              </a:rPr>
              <a:t>deck = new Deck02();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deck.add</a:t>
            </a:r>
            <a:r>
              <a:rPr lang="en-US" sz="2000" dirty="0">
                <a:latin typeface="Times New Roman" pitchFamily="18" charset="0"/>
              </a:rPr>
              <a:t>("Clubs","Three",3);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deck.add</a:t>
            </a:r>
            <a:r>
              <a:rPr lang="en-US" sz="2000" dirty="0">
                <a:latin typeface="Times New Roman" pitchFamily="18" charset="0"/>
              </a:rPr>
              <a:t>("Diamonds","Four",4);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deck.add</a:t>
            </a:r>
            <a:r>
              <a:rPr lang="en-US" sz="2000" dirty="0">
                <a:latin typeface="Times New Roman" pitchFamily="18" charset="0"/>
              </a:rPr>
              <a:t>("Hearts","Five",5);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deck.add</a:t>
            </a:r>
            <a:r>
              <a:rPr lang="en-US" sz="2000" dirty="0">
                <a:latin typeface="Times New Roman" pitchFamily="18" charset="0"/>
              </a:rPr>
              <a:t>("Spades","Six",6);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deck.display</a:t>
            </a:r>
            <a:r>
              <a:rPr lang="en-US" sz="20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System.out.println</a:t>
            </a:r>
            <a:r>
              <a:rPr lang="en-US" sz="2000" dirty="0" smtClean="0">
                <a:latin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</a:rPr>
              <a:t>deck.getSize</a:t>
            </a:r>
            <a:r>
              <a:rPr lang="en-US" sz="2000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System.out.println</a:t>
            </a:r>
            <a:r>
              <a:rPr lang="en-US" sz="2000" dirty="0" smtClean="0">
                <a:latin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</a:rPr>
              <a:t>deck.isEmpty</a:t>
            </a:r>
            <a:r>
              <a:rPr lang="en-US" sz="2000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 smtClean="0">
                <a:latin typeface="Times New Roman" pitchFamily="18" charset="0"/>
              </a:rPr>
              <a:t>}</a:t>
            </a:r>
            <a:endParaRPr lang="en-US" sz="1700" dirty="0">
              <a:latin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81600" y="3787676"/>
            <a:ext cx="3962400" cy="24929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[Clubs, Three, 3]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[Diamonds, Four, 4]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[Hearts, Five, 5]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[Spades, Six, 6]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41744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97575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Deck03.java     12-26-14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The &lt;display&gt; method is now replaced by the &lt;toString&gt; method.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This version is implemented with "dynamic arrays".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********************************************************************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The "Elevens" AP Lab is created for the College Board APCS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curriculum by Michael Clancy, Robert Glen Martin and Judith Hromcik.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Leon Schram has altered this "Elevens" AP Lab file to focus on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// CS topics as the "Elevens" Lab is integrated into the curriculum.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import java.util.ArrayList;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public class Deck03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private ArrayList&lt;Card&gt; cards;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private int size;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	public Deck03() </a:t>
            </a:r>
            <a:r>
              <a:rPr lang="en-US" sz="1700" dirty="0" smtClean="0">
                <a:latin typeface="Times New Roman" pitchFamily="18" charset="0"/>
              </a:rPr>
              <a:t>  {  cards </a:t>
            </a:r>
            <a:r>
              <a:rPr lang="en-US" sz="1700" dirty="0">
                <a:latin typeface="Times New Roman" pitchFamily="18" charset="0"/>
              </a:rPr>
              <a:t>= new ArrayList&lt;Card</a:t>
            </a:r>
            <a:r>
              <a:rPr lang="en-US" sz="1700" dirty="0" smtClean="0">
                <a:latin typeface="Times New Roman" pitchFamily="18" charset="0"/>
              </a:rPr>
              <a:t>&gt;();  size </a:t>
            </a:r>
            <a:r>
              <a:rPr lang="en-US" sz="1700" dirty="0">
                <a:latin typeface="Times New Roman" pitchFamily="18" charset="0"/>
              </a:rPr>
              <a:t>= 0</a:t>
            </a:r>
            <a:r>
              <a:rPr lang="en-US" sz="1700" dirty="0" smtClean="0">
                <a:latin typeface="Times New Roman" pitchFamily="18" charset="0"/>
              </a:rPr>
              <a:t>;  }</a:t>
            </a:r>
            <a:endParaRPr lang="en-US" sz="17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    </a:t>
            </a:r>
            <a:r>
              <a:rPr lang="en-US" sz="1600" dirty="0" smtClean="0">
                <a:latin typeface="Times New Roman" pitchFamily="18" charset="0"/>
              </a:rPr>
              <a:t>  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 smtClean="0">
                <a:solidFill>
                  <a:srgbClr val="FF0000"/>
                </a:solidFill>
                <a:latin typeface="Times New Roman" pitchFamily="18" charset="0"/>
              </a:rPr>
              <a:t>	// all other methods are the same as Deck02</a:t>
            </a:r>
            <a:endParaRPr lang="en-US" sz="1700" dirty="0">
              <a:solidFill>
                <a:srgbClr val="FF0000"/>
              </a:solidFill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b="0" dirty="0"/>
              <a:t>   </a:t>
            </a:r>
            <a:r>
              <a:rPr lang="en-US" sz="2000" b="0" dirty="0" smtClean="0"/>
              <a:t>	public </a:t>
            </a:r>
            <a:r>
              <a:rPr lang="en-US" sz="2000" b="0" dirty="0"/>
              <a:t>String toString()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b="0" dirty="0"/>
              <a:t>   </a:t>
            </a:r>
            <a:r>
              <a:rPr lang="en-US" sz="2000" b="0" dirty="0" smtClean="0"/>
              <a:t>	{</a:t>
            </a:r>
            <a:endParaRPr lang="en-US" sz="2000" b="0" dirty="0"/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b="0" dirty="0"/>
              <a:t>      </a:t>
            </a:r>
            <a:r>
              <a:rPr lang="en-US" sz="2000" b="0" dirty="0" smtClean="0"/>
              <a:t>	String </a:t>
            </a:r>
            <a:r>
              <a:rPr lang="en-US" sz="2000" b="0" dirty="0"/>
              <a:t>temp = "";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b="0" dirty="0"/>
              <a:t>      </a:t>
            </a:r>
            <a:r>
              <a:rPr lang="en-US" sz="2000" b="0" dirty="0" smtClean="0"/>
              <a:t>	for </a:t>
            </a:r>
            <a:r>
              <a:rPr lang="en-US" sz="2000" b="0" dirty="0"/>
              <a:t>(int k = 0; k &lt; size; k++)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b="0" dirty="0"/>
              <a:t>         </a:t>
            </a:r>
            <a:r>
              <a:rPr lang="en-US" sz="2000" b="0" dirty="0" smtClean="0"/>
              <a:t>	temp </a:t>
            </a:r>
            <a:r>
              <a:rPr lang="en-US" sz="2000" b="0" dirty="0"/>
              <a:t>= temp + </a:t>
            </a:r>
            <a:r>
              <a:rPr lang="en-US" sz="2000" b="0" dirty="0" err="1"/>
              <a:t>cards.get</a:t>
            </a:r>
            <a:r>
              <a:rPr lang="en-US" sz="2000" b="0" dirty="0"/>
              <a:t>(k).toString() + "\n";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b="0" dirty="0"/>
              <a:t>      </a:t>
            </a:r>
            <a:r>
              <a:rPr lang="en-US" sz="2000" b="0" dirty="0" smtClean="0"/>
              <a:t>	return </a:t>
            </a:r>
            <a:r>
              <a:rPr lang="en-US" sz="2000" b="0" dirty="0"/>
              <a:t>temp;  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b="0" dirty="0"/>
              <a:t>   </a:t>
            </a:r>
            <a:r>
              <a:rPr lang="en-US" sz="2000" b="0" dirty="0" smtClean="0"/>
              <a:t>	}</a:t>
            </a:r>
            <a:endParaRPr lang="en-US" sz="2000" b="0" dirty="0"/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700" dirty="0">
                <a:latin typeface="Times New Roman" pitchFamily="18" charset="0"/>
              </a:rPr>
              <a:t>}</a:t>
            </a:r>
          </a:p>
        </p:txBody>
      </p:sp>
      <p:pic>
        <p:nvPicPr>
          <p:cNvPr id="12290" name="Picture 2" descr="C:\Users\JohnSchram\AppData\Local\Microsoft\Windows\Temporary Internet Files\Content.IE5\FFLW5XXG\card_deck_symbols_by_blackluna-d4gvkls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305812"/>
            <a:ext cx="5029200" cy="112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28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97575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DeckTester03.java     12-26-14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This program tests the Deck03 class.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This program tests the "dynamic array" Deck03 class.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********************************************************************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The "Elevens" AP Lab is created for the College Board APCS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curriculum by Michael Clancy, Robert Glen Martin and Judith Hromcik.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Leon Schram has altered this "Elevens" AP Lab file to focus on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// CS topics as the "Elevens" Lab is integrated into the curriculum.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public class DeckTester03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{ 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Deck03 </a:t>
            </a:r>
            <a:r>
              <a:rPr lang="en-US" sz="2000" dirty="0">
                <a:latin typeface="Times New Roman" pitchFamily="18" charset="0"/>
              </a:rPr>
              <a:t>deck = new Deck03();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deck.add</a:t>
            </a:r>
            <a:r>
              <a:rPr lang="en-US" sz="2000" dirty="0">
                <a:latin typeface="Times New Roman" pitchFamily="18" charset="0"/>
              </a:rPr>
              <a:t>("Clubs","Three",3);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deck.add</a:t>
            </a:r>
            <a:r>
              <a:rPr lang="en-US" sz="2000" dirty="0">
                <a:latin typeface="Times New Roman" pitchFamily="18" charset="0"/>
              </a:rPr>
              <a:t>("Diamonds","Four",4);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deck.add</a:t>
            </a:r>
            <a:r>
              <a:rPr lang="en-US" sz="2000" dirty="0">
                <a:latin typeface="Times New Roman" pitchFamily="18" charset="0"/>
              </a:rPr>
              <a:t>("Hearts","Five",5);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deck.add</a:t>
            </a:r>
            <a:r>
              <a:rPr lang="en-US" sz="2000" dirty="0">
                <a:latin typeface="Times New Roman" pitchFamily="18" charset="0"/>
              </a:rPr>
              <a:t>("Spades","Six",6);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System.out.println</a:t>
            </a:r>
            <a:r>
              <a:rPr lang="en-US" sz="2000" dirty="0" smtClean="0">
                <a:latin typeface="Times New Roman" pitchFamily="18" charset="0"/>
              </a:rPr>
              <a:t>(deck</a:t>
            </a:r>
            <a:r>
              <a:rPr lang="en-US" sz="2000" dirty="0">
                <a:latin typeface="Times New Roman" pitchFamily="18" charset="0"/>
              </a:rPr>
              <a:t>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System.out.println</a:t>
            </a:r>
            <a:r>
              <a:rPr lang="en-US" sz="2000" dirty="0" smtClean="0">
                <a:latin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</a:rPr>
              <a:t>deck.getSize</a:t>
            </a:r>
            <a:r>
              <a:rPr lang="en-US" sz="2000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      </a:t>
            </a:r>
            <a:r>
              <a:rPr lang="en-US" sz="2000" dirty="0" smtClean="0">
                <a:latin typeface="Times New Roman" pitchFamily="18" charset="0"/>
              </a:rPr>
              <a:t>		</a:t>
            </a:r>
            <a:r>
              <a:rPr lang="en-US" sz="2000" dirty="0" err="1" smtClean="0">
                <a:latin typeface="Times New Roman" pitchFamily="18" charset="0"/>
              </a:rPr>
              <a:t>System.out.println</a:t>
            </a:r>
            <a:r>
              <a:rPr lang="en-US" sz="2000" dirty="0" smtClean="0">
                <a:latin typeface="Times New Roman" pitchFamily="18" charset="0"/>
              </a:rPr>
              <a:t>(</a:t>
            </a:r>
            <a:r>
              <a:rPr lang="en-US" sz="2000" dirty="0" err="1" smtClean="0">
                <a:latin typeface="Times New Roman" pitchFamily="18" charset="0"/>
              </a:rPr>
              <a:t>deck.isEmpty</a:t>
            </a:r>
            <a:r>
              <a:rPr lang="en-US" sz="2000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700" dirty="0">
              <a:latin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81600" y="3352800"/>
            <a:ext cx="3962400" cy="28931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[Clubs, Three, 3]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[Diamonds, Four, 4]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[Hearts, Five, 5]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[Spades, Six, 6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88564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WordArt 2"/>
          <p:cNvSpPr>
            <a:spLocks noChangeArrowheads="1" noChangeShapeType="1" noTextEdit="1"/>
          </p:cNvSpPr>
          <p:nvPr/>
        </p:nvSpPr>
        <p:spPr bwMode="auto">
          <a:xfrm>
            <a:off x="457200" y="1493520"/>
            <a:ext cx="8382000" cy="274320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   Review of the   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3251" name="WordArt 3"/>
          <p:cNvSpPr>
            <a:spLocks noChangeArrowheads="1" noChangeShapeType="1" noTextEdit="1"/>
          </p:cNvSpPr>
          <p:nvPr/>
        </p:nvSpPr>
        <p:spPr bwMode="auto">
          <a:xfrm>
            <a:off x="457200" y="3779520"/>
            <a:ext cx="8382000" cy="2926080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3600" kern="10" dirty="0" smtClean="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bg1"/>
                    </a:gs>
                    <a:gs pos="100000">
                      <a:srgbClr val="00FF00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Impact"/>
              </a:rPr>
              <a:t>Magpie Program</a:t>
            </a:r>
            <a:endParaRPr lang="en-US" sz="3600" kern="10" dirty="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bg1"/>
                  </a:gs>
                  <a:gs pos="100000">
                    <a:srgbClr val="00FF00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Impact"/>
            </a:endParaRPr>
          </a:p>
        </p:txBody>
      </p:sp>
      <p:sp>
        <p:nvSpPr>
          <p:cNvPr id="53252" name="WordArt 18"/>
          <p:cNvSpPr>
            <a:spLocks noChangeArrowheads="1" noChangeShapeType="1" noTextEdit="1"/>
          </p:cNvSpPr>
          <p:nvPr/>
        </p:nvSpPr>
        <p:spPr bwMode="auto">
          <a:xfrm>
            <a:off x="371475" y="457200"/>
            <a:ext cx="8391525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Section </a:t>
            </a:r>
            <a:r>
              <a:rPr lang="en-US" sz="3600" kern="10" dirty="0" smtClean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/>
              </a:rPr>
              <a:t>12.7</a:t>
            </a:r>
            <a:endParaRPr lang="en-US" sz="36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310314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90650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Magpie01.java     12-26-14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This "Magpie" version looks only at the "negative" response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and considers all the different cases of a "no" substring.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//****************************************************************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The "Magpie" AP Lab is created for the College Board APCS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curriculum by Laurie White.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Leon Schram has altered this "Magpie" file to focus on 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CS topics as the "Magpie" Lab is integrated into the curriculum.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 smtClean="0">
                <a:latin typeface="Times New Roman" pitchFamily="18" charset="0"/>
              </a:rPr>
              <a:t>public </a:t>
            </a:r>
            <a:r>
              <a:rPr lang="en-US" sz="1600" dirty="0">
                <a:latin typeface="Times New Roman" pitchFamily="18" charset="0"/>
              </a:rPr>
              <a:t>class Magpie01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public String </a:t>
            </a:r>
            <a:r>
              <a:rPr lang="en-US" sz="1600" dirty="0" err="1">
                <a:latin typeface="Times New Roman" pitchFamily="18" charset="0"/>
              </a:rPr>
              <a:t>getGreeting</a:t>
            </a:r>
            <a:r>
              <a:rPr lang="en-US" sz="1600" dirty="0" smtClean="0">
                <a:latin typeface="Times New Roman" pitchFamily="18" charset="0"/>
              </a:rPr>
              <a:t>()   {   return </a:t>
            </a:r>
            <a:r>
              <a:rPr lang="en-US" sz="1600" dirty="0">
                <a:latin typeface="Times New Roman" pitchFamily="18" charset="0"/>
              </a:rPr>
              <a:t>"Hello, let's talk</a:t>
            </a:r>
            <a:r>
              <a:rPr lang="en-US" sz="1600" dirty="0" smtClean="0">
                <a:latin typeface="Times New Roman" pitchFamily="18" charset="0"/>
              </a:rPr>
              <a:t>.";   }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public String </a:t>
            </a:r>
            <a:r>
              <a:rPr lang="en-US" sz="1600" dirty="0" err="1">
                <a:latin typeface="Times New Roman" pitchFamily="18" charset="0"/>
              </a:rPr>
              <a:t>getResponse</a:t>
            </a:r>
            <a:r>
              <a:rPr lang="en-US" sz="1600" dirty="0">
                <a:latin typeface="Times New Roman" pitchFamily="18" charset="0"/>
              </a:rPr>
              <a:t>(String statement)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String response = "";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if (</a:t>
            </a:r>
            <a:r>
              <a:rPr lang="en-US" sz="1600" dirty="0" err="1">
                <a:latin typeface="Times New Roman" pitchFamily="18" charset="0"/>
              </a:rPr>
              <a:t>statement.length</a:t>
            </a:r>
            <a:r>
              <a:rPr lang="en-US" sz="1600" dirty="0">
                <a:latin typeface="Times New Roman" pitchFamily="18" charset="0"/>
              </a:rPr>
              <a:t>() == 0)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response = "Say something, please.";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else if (</a:t>
            </a:r>
            <a:r>
              <a:rPr lang="en-US" sz="1600" dirty="0" err="1">
                <a:latin typeface="Times New Roman" pitchFamily="18" charset="0"/>
              </a:rPr>
              <a:t>findKeyword</a:t>
            </a:r>
            <a:r>
              <a:rPr lang="en-US" sz="1600" dirty="0">
                <a:latin typeface="Times New Roman" pitchFamily="18" charset="0"/>
              </a:rPr>
              <a:t>(statement, "no") &gt;= 0)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response = "Why so negative?";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else 		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      </a:t>
            </a:r>
            <a:r>
              <a:rPr lang="en-US" sz="1600" dirty="0" smtClean="0">
                <a:latin typeface="Times New Roman" pitchFamily="18" charset="0"/>
              </a:rPr>
              <a:t>		{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response = "I don't know what to say";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200" dirty="0">
                <a:latin typeface="Times New Roman" pitchFamily="18" charset="0"/>
              </a:rPr>
              <a:t>		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return response;</a:t>
            </a:r>
          </a:p>
          <a:p>
            <a:pPr eaLnBrk="1" hangingPunct="1">
              <a:lnSpc>
                <a:spcPct val="90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</a:rPr>
              <a:t>}</a:t>
            </a:r>
            <a:endParaRPr lang="en-US" sz="1700" dirty="0">
              <a:latin typeface="Times New Roman" pitchFamily="18" charset="0"/>
            </a:endParaRPr>
          </a:p>
        </p:txBody>
      </p:sp>
      <p:pic>
        <p:nvPicPr>
          <p:cNvPr id="7170" name="Picture 2" descr="C:\Users\JohnSchram\AppData\Local\Microsoft\Windows\Temporary Internet Files\Content.IE5\IHVDDHNW\Magpie_3296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937000"/>
            <a:ext cx="3810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348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7168886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private int </a:t>
            </a:r>
            <a:r>
              <a:rPr lang="en-US" sz="1600" dirty="0" err="1">
                <a:latin typeface="Times New Roman" pitchFamily="18" charset="0"/>
              </a:rPr>
              <a:t>findKeyword</a:t>
            </a:r>
            <a:r>
              <a:rPr lang="en-US" sz="1600" dirty="0">
                <a:latin typeface="Times New Roman" pitchFamily="18" charset="0"/>
              </a:rPr>
              <a:t>(String statement, String </a:t>
            </a:r>
            <a:r>
              <a:rPr lang="en-US" sz="1600" dirty="0" err="1">
                <a:latin typeface="Times New Roman" pitchFamily="18" charset="0"/>
              </a:rPr>
              <a:t>goal,int</a:t>
            </a:r>
            <a:r>
              <a:rPr lang="en-US" sz="1600" dirty="0">
                <a:latin typeface="Times New Roman" pitchFamily="18" charset="0"/>
              </a:rPr>
              <a:t> </a:t>
            </a:r>
            <a:r>
              <a:rPr lang="en-US" sz="1600" dirty="0" err="1">
                <a:latin typeface="Times New Roman" pitchFamily="18" charset="0"/>
              </a:rPr>
              <a:t>startPos</a:t>
            </a:r>
            <a:r>
              <a:rPr lang="en-US" sz="1600" dirty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String phrase = </a:t>
            </a:r>
            <a:r>
              <a:rPr lang="en-US" sz="1600" dirty="0" err="1">
                <a:latin typeface="Times New Roman" pitchFamily="18" charset="0"/>
              </a:rPr>
              <a:t>statement.trim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int </a:t>
            </a:r>
            <a:r>
              <a:rPr lang="en-US" sz="1600" dirty="0" err="1">
                <a:latin typeface="Times New Roman" pitchFamily="18" charset="0"/>
              </a:rPr>
              <a:t>psn</a:t>
            </a:r>
            <a:r>
              <a:rPr lang="en-US" sz="1600" dirty="0">
                <a:latin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</a:rPr>
              <a:t>phrase.toLowerCase</a:t>
            </a:r>
            <a:r>
              <a:rPr lang="en-US" sz="1600" dirty="0">
                <a:latin typeface="Times New Roman" pitchFamily="18" charset="0"/>
              </a:rPr>
              <a:t>().</a:t>
            </a:r>
            <a:r>
              <a:rPr lang="en-US" sz="1600" dirty="0" err="1">
                <a:latin typeface="Times New Roman" pitchFamily="18" charset="0"/>
              </a:rPr>
              <a:t>indexOf</a:t>
            </a:r>
            <a:r>
              <a:rPr lang="en-US" sz="1600" dirty="0">
                <a:latin typeface="Times New Roman" pitchFamily="18" charset="0"/>
              </a:rPr>
              <a:t>(</a:t>
            </a:r>
            <a:r>
              <a:rPr lang="en-US" sz="1600" dirty="0" err="1">
                <a:latin typeface="Times New Roman" pitchFamily="18" charset="0"/>
              </a:rPr>
              <a:t>goal.toLowerCase</a:t>
            </a:r>
            <a:r>
              <a:rPr lang="en-US" sz="1600" dirty="0">
                <a:latin typeface="Times New Roman" pitchFamily="18" charset="0"/>
              </a:rPr>
              <a:t>(), </a:t>
            </a:r>
            <a:r>
              <a:rPr lang="en-US" sz="1600" dirty="0" err="1">
                <a:latin typeface="Times New Roman" pitchFamily="18" charset="0"/>
              </a:rPr>
              <a:t>startPos</a:t>
            </a:r>
            <a:r>
              <a:rPr lang="en-US" sz="1600" dirty="0">
                <a:latin typeface="Times New Roman" pitchFamily="18" charset="0"/>
              </a:rPr>
              <a:t>); </a:t>
            </a:r>
            <a:endParaRPr lang="en-US" sz="1600" dirty="0" smtClean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2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while (</a:t>
            </a:r>
            <a:r>
              <a:rPr lang="en-US" sz="1600" dirty="0" err="1">
                <a:latin typeface="Times New Roman" pitchFamily="18" charset="0"/>
              </a:rPr>
              <a:t>psn</a:t>
            </a:r>
            <a:r>
              <a:rPr lang="en-US" sz="1600" dirty="0">
                <a:latin typeface="Times New Roman" pitchFamily="18" charset="0"/>
              </a:rPr>
              <a:t> &gt;= 0)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String before = " ", after = " ";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if (</a:t>
            </a:r>
            <a:r>
              <a:rPr lang="en-US" sz="1600" dirty="0" err="1">
                <a:latin typeface="Times New Roman" pitchFamily="18" charset="0"/>
              </a:rPr>
              <a:t>psn</a:t>
            </a:r>
            <a:r>
              <a:rPr lang="en-US" sz="1600" dirty="0">
                <a:latin typeface="Times New Roman" pitchFamily="18" charset="0"/>
              </a:rPr>
              <a:t> &gt; 0)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	before = </a:t>
            </a:r>
            <a:r>
              <a:rPr lang="en-US" sz="1600" dirty="0" err="1">
                <a:latin typeface="Times New Roman" pitchFamily="18" charset="0"/>
              </a:rPr>
              <a:t>phrase.substring</a:t>
            </a:r>
            <a:r>
              <a:rPr lang="en-US" sz="1600" dirty="0">
                <a:latin typeface="Times New Roman" pitchFamily="18" charset="0"/>
              </a:rPr>
              <a:t>(</a:t>
            </a:r>
            <a:r>
              <a:rPr lang="en-US" sz="1600" dirty="0" err="1">
                <a:latin typeface="Times New Roman" pitchFamily="18" charset="0"/>
              </a:rPr>
              <a:t>psn</a:t>
            </a:r>
            <a:r>
              <a:rPr lang="en-US" sz="1600" dirty="0">
                <a:latin typeface="Times New Roman" pitchFamily="18" charset="0"/>
              </a:rPr>
              <a:t> - 1, </a:t>
            </a:r>
            <a:r>
              <a:rPr lang="en-US" sz="1600" dirty="0" err="1">
                <a:latin typeface="Times New Roman" pitchFamily="18" charset="0"/>
              </a:rPr>
              <a:t>psn</a:t>
            </a:r>
            <a:r>
              <a:rPr lang="en-US" sz="1600" dirty="0">
                <a:latin typeface="Times New Roman" pitchFamily="18" charset="0"/>
              </a:rPr>
              <a:t>).</a:t>
            </a:r>
            <a:r>
              <a:rPr lang="en-US" sz="1600" dirty="0" err="1">
                <a:latin typeface="Times New Roman" pitchFamily="18" charset="0"/>
              </a:rPr>
              <a:t>toLowerCase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if (</a:t>
            </a:r>
            <a:r>
              <a:rPr lang="en-US" sz="1600" dirty="0" err="1">
                <a:latin typeface="Times New Roman" pitchFamily="18" charset="0"/>
              </a:rPr>
              <a:t>psn</a:t>
            </a:r>
            <a:r>
              <a:rPr lang="en-US" sz="1600" dirty="0">
                <a:latin typeface="Times New Roman" pitchFamily="18" charset="0"/>
              </a:rPr>
              <a:t> + </a:t>
            </a:r>
            <a:r>
              <a:rPr lang="en-US" sz="1600" dirty="0" err="1">
                <a:latin typeface="Times New Roman" pitchFamily="18" charset="0"/>
              </a:rPr>
              <a:t>goal.length</a:t>
            </a:r>
            <a:r>
              <a:rPr lang="en-US" sz="1600" dirty="0">
                <a:latin typeface="Times New Roman" pitchFamily="18" charset="0"/>
              </a:rPr>
              <a:t>() &lt; </a:t>
            </a:r>
            <a:r>
              <a:rPr lang="en-US" sz="1600" dirty="0" err="1">
                <a:latin typeface="Times New Roman" pitchFamily="18" charset="0"/>
              </a:rPr>
              <a:t>phrase.length</a:t>
            </a:r>
            <a:r>
              <a:rPr lang="en-US" sz="1600" dirty="0">
                <a:latin typeface="Times New Roman" pitchFamily="18" charset="0"/>
              </a:rPr>
              <a:t>())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	after = </a:t>
            </a:r>
            <a:r>
              <a:rPr lang="en-US" sz="1600" dirty="0" err="1">
                <a:latin typeface="Times New Roman" pitchFamily="18" charset="0"/>
              </a:rPr>
              <a:t>phrase.substring</a:t>
            </a:r>
            <a:r>
              <a:rPr lang="en-US" sz="1600" dirty="0" smtClean="0">
                <a:latin typeface="Times New Roman" pitchFamily="18" charset="0"/>
              </a:rPr>
              <a:t>(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</a:rPr>
              <a:t>					</a:t>
            </a:r>
            <a:r>
              <a:rPr lang="en-US" sz="1600" dirty="0" err="1" smtClean="0">
                <a:latin typeface="Times New Roman" pitchFamily="18" charset="0"/>
              </a:rPr>
              <a:t>psn</a:t>
            </a:r>
            <a:r>
              <a:rPr lang="en-US" sz="1600" dirty="0" smtClean="0">
                <a:latin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</a:rPr>
              <a:t>+ </a:t>
            </a:r>
            <a:r>
              <a:rPr lang="en-US" sz="1600" dirty="0" err="1">
                <a:latin typeface="Times New Roman" pitchFamily="18" charset="0"/>
              </a:rPr>
              <a:t>goal.length</a:t>
            </a:r>
            <a:r>
              <a:rPr lang="en-US" sz="1600" dirty="0">
                <a:latin typeface="Times New Roman" pitchFamily="18" charset="0"/>
              </a:rPr>
              <a:t>(),</a:t>
            </a:r>
            <a:r>
              <a:rPr lang="en-US" sz="1600" dirty="0" err="1">
                <a:latin typeface="Times New Roman" pitchFamily="18" charset="0"/>
              </a:rPr>
              <a:t>psn</a:t>
            </a:r>
            <a:r>
              <a:rPr lang="en-US" sz="1600" dirty="0">
                <a:latin typeface="Times New Roman" pitchFamily="18" charset="0"/>
              </a:rPr>
              <a:t> + </a:t>
            </a:r>
            <a:r>
              <a:rPr lang="en-US" sz="1600" dirty="0" err="1">
                <a:latin typeface="Times New Roman" pitchFamily="18" charset="0"/>
              </a:rPr>
              <a:t>goal.length</a:t>
            </a:r>
            <a:r>
              <a:rPr lang="en-US" sz="1600" dirty="0">
                <a:latin typeface="Times New Roman" pitchFamily="18" charset="0"/>
              </a:rPr>
              <a:t>() + 1).</a:t>
            </a:r>
            <a:r>
              <a:rPr lang="en-US" sz="1600" dirty="0" err="1">
                <a:latin typeface="Times New Roman" pitchFamily="18" charset="0"/>
              </a:rPr>
              <a:t>toLowerCase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if (((</a:t>
            </a:r>
            <a:r>
              <a:rPr lang="en-US" sz="1600" dirty="0" err="1">
                <a:latin typeface="Times New Roman" pitchFamily="18" charset="0"/>
              </a:rPr>
              <a:t>before.compareTo</a:t>
            </a:r>
            <a:r>
              <a:rPr lang="en-US" sz="1600" dirty="0">
                <a:latin typeface="Times New Roman" pitchFamily="18" charset="0"/>
              </a:rPr>
              <a:t>("a") &lt; 0) || (</a:t>
            </a:r>
            <a:r>
              <a:rPr lang="en-US" sz="1600" dirty="0" err="1">
                <a:latin typeface="Times New Roman" pitchFamily="18" charset="0"/>
              </a:rPr>
              <a:t>before.compareTo</a:t>
            </a:r>
            <a:r>
              <a:rPr lang="en-US" sz="1600" dirty="0">
                <a:latin typeface="Times New Roman" pitchFamily="18" charset="0"/>
              </a:rPr>
              <a:t>("z") &gt; 0)) 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		&amp;&amp; ((</a:t>
            </a:r>
            <a:r>
              <a:rPr lang="en-US" sz="1600" dirty="0" err="1">
                <a:latin typeface="Times New Roman" pitchFamily="18" charset="0"/>
              </a:rPr>
              <a:t>after.compareTo</a:t>
            </a:r>
            <a:r>
              <a:rPr lang="en-US" sz="1600" dirty="0">
                <a:latin typeface="Times New Roman" pitchFamily="18" charset="0"/>
              </a:rPr>
              <a:t>("a") &lt; 0) || (</a:t>
            </a:r>
            <a:r>
              <a:rPr lang="en-US" sz="1600" dirty="0" err="1">
                <a:latin typeface="Times New Roman" pitchFamily="18" charset="0"/>
              </a:rPr>
              <a:t>after.compareTo</a:t>
            </a:r>
            <a:r>
              <a:rPr lang="en-US" sz="1600" dirty="0">
                <a:latin typeface="Times New Roman" pitchFamily="18" charset="0"/>
              </a:rPr>
              <a:t>("z") &gt; 0)))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	return </a:t>
            </a:r>
            <a:r>
              <a:rPr lang="en-US" sz="1600" dirty="0" err="1">
                <a:latin typeface="Times New Roman" pitchFamily="18" charset="0"/>
              </a:rPr>
              <a:t>psn</a:t>
            </a:r>
            <a:r>
              <a:rPr lang="en-US" sz="1600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err="1">
                <a:latin typeface="Times New Roman" pitchFamily="18" charset="0"/>
              </a:rPr>
              <a:t>psn</a:t>
            </a:r>
            <a:r>
              <a:rPr lang="en-US" sz="1600" dirty="0">
                <a:latin typeface="Times New Roman" pitchFamily="18" charset="0"/>
              </a:rPr>
              <a:t> = </a:t>
            </a:r>
            <a:r>
              <a:rPr lang="en-US" sz="1600" dirty="0" err="1">
                <a:latin typeface="Times New Roman" pitchFamily="18" charset="0"/>
              </a:rPr>
              <a:t>phrase.indexOf</a:t>
            </a:r>
            <a:r>
              <a:rPr lang="en-US" sz="1600" dirty="0">
                <a:latin typeface="Times New Roman" pitchFamily="18" charset="0"/>
              </a:rPr>
              <a:t>(</a:t>
            </a:r>
            <a:r>
              <a:rPr lang="en-US" sz="1600" dirty="0" err="1">
                <a:latin typeface="Times New Roman" pitchFamily="18" charset="0"/>
              </a:rPr>
              <a:t>goal.toLowerCase</a:t>
            </a:r>
            <a:r>
              <a:rPr lang="en-US" sz="1600" dirty="0">
                <a:latin typeface="Times New Roman" pitchFamily="18" charset="0"/>
              </a:rPr>
              <a:t>(),</a:t>
            </a:r>
            <a:r>
              <a:rPr lang="en-US" sz="1600" dirty="0" err="1">
                <a:latin typeface="Times New Roman" pitchFamily="18" charset="0"/>
              </a:rPr>
              <a:t>psn</a:t>
            </a:r>
            <a:r>
              <a:rPr lang="en-US" sz="1600" dirty="0">
                <a:latin typeface="Times New Roman" pitchFamily="18" charset="0"/>
              </a:rPr>
              <a:t> + 1);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return -1;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private int </a:t>
            </a:r>
            <a:r>
              <a:rPr lang="en-US" sz="1600" dirty="0" err="1">
                <a:latin typeface="Times New Roman" pitchFamily="18" charset="0"/>
              </a:rPr>
              <a:t>findKeyword</a:t>
            </a:r>
            <a:r>
              <a:rPr lang="en-US" sz="1600" dirty="0">
                <a:latin typeface="Times New Roman" pitchFamily="18" charset="0"/>
              </a:rPr>
              <a:t>(String statement, String goal)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return </a:t>
            </a:r>
            <a:r>
              <a:rPr lang="en-US" sz="1600" dirty="0" err="1">
                <a:latin typeface="Times New Roman" pitchFamily="18" charset="0"/>
              </a:rPr>
              <a:t>findKeyword</a:t>
            </a:r>
            <a:r>
              <a:rPr lang="en-US" sz="1600" dirty="0">
                <a:latin typeface="Times New Roman" pitchFamily="18" charset="0"/>
              </a:rPr>
              <a:t>(statement, goal, 0);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700" dirty="0">
              <a:latin typeface="Times New Roman" pitchFamily="18" charset="0"/>
            </a:endParaRPr>
          </a:p>
        </p:txBody>
      </p:sp>
      <p:pic>
        <p:nvPicPr>
          <p:cNvPr id="3" name="Picture 3" descr="C:\Users\JohnSchram\AppData\Local\Microsoft\Windows\Temporary Internet Files\Content.IE5\FFLW5XXG\Magpie_7729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939128"/>
            <a:ext cx="3352800" cy="223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629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7025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MagpieTester01.java     12-26-14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This program tests the Magpie01 class.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***************************************************************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The "Magpie" AP Lab is created for the College Board APCS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curriculum by Laurie White.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Leon Schram has altered this "Magpie" file to focus on 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CS topics as the "Magpie" Lab is integrated into the curriculum.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import </a:t>
            </a:r>
            <a:r>
              <a:rPr lang="en-US" dirty="0" err="1">
                <a:latin typeface="Times New Roman" pitchFamily="18" charset="0"/>
              </a:rPr>
              <a:t>java.util.Scanner</a:t>
            </a:r>
            <a:r>
              <a:rPr lang="en-US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public class MagpieTester01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Magpie01 </a:t>
            </a:r>
            <a:r>
              <a:rPr lang="en-US" dirty="0" err="1">
                <a:latin typeface="Times New Roman" pitchFamily="18" charset="0"/>
              </a:rPr>
              <a:t>maggie</a:t>
            </a:r>
            <a:r>
              <a:rPr lang="en-US" dirty="0">
                <a:latin typeface="Times New Roman" pitchFamily="18" charset="0"/>
              </a:rPr>
              <a:t> = new Magpie01();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System.out.println (</a:t>
            </a:r>
            <a:r>
              <a:rPr lang="en-US" dirty="0" err="1">
                <a:latin typeface="Times New Roman" pitchFamily="18" charset="0"/>
              </a:rPr>
              <a:t>maggie.getGreeting</a:t>
            </a:r>
            <a:r>
              <a:rPr lang="en-US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Scanner in = new Scanner (System.in);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String statement = </a:t>
            </a:r>
            <a:r>
              <a:rPr lang="en-US" dirty="0" err="1">
                <a:latin typeface="Times New Roman" pitchFamily="18" charset="0"/>
              </a:rPr>
              <a:t>in.nextLine</a:t>
            </a:r>
            <a:r>
              <a:rPr lang="en-US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while (!</a:t>
            </a:r>
            <a:r>
              <a:rPr lang="en-US" dirty="0" err="1">
                <a:latin typeface="Times New Roman" pitchFamily="18" charset="0"/>
              </a:rPr>
              <a:t>statement.equals</a:t>
            </a:r>
            <a:r>
              <a:rPr lang="en-US" dirty="0">
                <a:latin typeface="Times New Roman" pitchFamily="18" charset="0"/>
              </a:rPr>
              <a:t>("Bye"))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	System.out.println (</a:t>
            </a:r>
            <a:r>
              <a:rPr lang="en-US" dirty="0" err="1">
                <a:latin typeface="Times New Roman" pitchFamily="18" charset="0"/>
              </a:rPr>
              <a:t>maggie.getResponse</a:t>
            </a:r>
            <a:r>
              <a:rPr lang="en-US" dirty="0">
                <a:latin typeface="Times New Roman" pitchFamily="18" charset="0"/>
              </a:rPr>
              <a:t>(statement));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	statement = </a:t>
            </a:r>
            <a:r>
              <a:rPr lang="en-US" dirty="0" err="1">
                <a:latin typeface="Times New Roman" pitchFamily="18" charset="0"/>
              </a:rPr>
              <a:t>in.nextLine</a:t>
            </a:r>
            <a:r>
              <a:rPr lang="en-US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700" dirty="0">
              <a:latin typeface="Times New Roman" pitchFamily="18" charset="0"/>
            </a:endParaRPr>
          </a:p>
        </p:txBody>
      </p:sp>
      <p:pic>
        <p:nvPicPr>
          <p:cNvPr id="8195" name="Picture 3" descr="C:\Users\JohnSchram\AppData\Local\Microsoft\Windows\Temporary Internet Files\Content.IE5\QPYJZ01W\Magpie_9654[1]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06" r="8572"/>
          <a:stretch/>
        </p:blipFill>
        <p:spPr bwMode="auto">
          <a:xfrm>
            <a:off x="5943600" y="2057400"/>
            <a:ext cx="3200400" cy="3226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41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005840" y="0"/>
            <a:ext cx="7132320" cy="6858000"/>
            <a:chOff x="141890" y="299545"/>
            <a:chExt cx="6463862" cy="6400800"/>
          </a:xfrm>
        </p:grpSpPr>
        <p:pic>
          <p:nvPicPr>
            <p:cNvPr id="3" name="Picture 2"/>
            <p:cNvPicPr>
              <a:picLocks/>
            </p:cNvPicPr>
            <p:nvPr/>
          </p:nvPicPr>
          <p:blipFill rotWithShape="1">
            <a:blip r:embed="rId2"/>
            <a:srcRect l="1826" t="4301" r="15009" b="46758"/>
            <a:stretch/>
          </p:blipFill>
          <p:spPr bwMode="auto">
            <a:xfrm>
              <a:off x="141890" y="299545"/>
              <a:ext cx="6463862" cy="341001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" name="Picture 3"/>
            <p:cNvPicPr>
              <a:picLocks/>
            </p:cNvPicPr>
            <p:nvPr/>
          </p:nvPicPr>
          <p:blipFill rotWithShape="1">
            <a:blip r:embed="rId2"/>
            <a:srcRect l="1826" t="52317" r="15009" b="5511"/>
            <a:stretch/>
          </p:blipFill>
          <p:spPr bwMode="auto">
            <a:xfrm>
              <a:off x="141890" y="3701672"/>
              <a:ext cx="6463862" cy="2998673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353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946517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Magpie02.java     12-26-14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This Magpie version provides the following responses: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1.  "Why so negative" when substring "no" is found.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    (This is the simplistic version for any "no" anywhere)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2.  "Tell me more about your family" when relatives are found.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3.  Otherwise one of four random responses is provided. 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//****************************************************************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The "Magpie" AP Lab is created for the College Board </a:t>
            </a:r>
            <a:r>
              <a:rPr lang="en-US" sz="1600" dirty="0" smtClean="0">
                <a:latin typeface="Times New Roman" pitchFamily="18" charset="0"/>
              </a:rPr>
              <a:t>APCS curriculum </a:t>
            </a:r>
            <a:r>
              <a:rPr lang="en-US" sz="1600" dirty="0">
                <a:latin typeface="Times New Roman" pitchFamily="18" charset="0"/>
              </a:rPr>
              <a:t>by Laurie White.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Leon Schram has altered this "Magpie" file to focus on 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// CS topics as the "Magpie" Lab is integrated into the curriculum.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 smtClean="0">
                <a:latin typeface="Times New Roman" pitchFamily="18" charset="0"/>
              </a:rPr>
              <a:t>public </a:t>
            </a:r>
            <a:r>
              <a:rPr lang="en-US" sz="1600" dirty="0">
                <a:latin typeface="Times New Roman" pitchFamily="18" charset="0"/>
              </a:rPr>
              <a:t>class Magpie02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public String </a:t>
            </a:r>
            <a:r>
              <a:rPr lang="en-US" sz="1600" dirty="0" err="1">
                <a:latin typeface="Times New Roman" pitchFamily="18" charset="0"/>
              </a:rPr>
              <a:t>getGreeting</a:t>
            </a:r>
            <a:r>
              <a:rPr lang="en-US" sz="1600" dirty="0" smtClean="0">
                <a:latin typeface="Times New Roman" pitchFamily="18" charset="0"/>
              </a:rPr>
              <a:t>()   {   return </a:t>
            </a:r>
            <a:r>
              <a:rPr lang="en-US" sz="1600" dirty="0">
                <a:latin typeface="Times New Roman" pitchFamily="18" charset="0"/>
              </a:rPr>
              <a:t>"Hello, let's talk</a:t>
            </a:r>
            <a:r>
              <a:rPr lang="en-US" sz="1600" dirty="0" smtClean="0">
                <a:latin typeface="Times New Roman" pitchFamily="18" charset="0"/>
              </a:rPr>
              <a:t>.";   }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12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public String </a:t>
            </a:r>
            <a:r>
              <a:rPr lang="en-US" sz="1600" dirty="0" err="1">
                <a:latin typeface="Times New Roman" pitchFamily="18" charset="0"/>
              </a:rPr>
              <a:t>getResponse</a:t>
            </a:r>
            <a:r>
              <a:rPr lang="en-US" sz="1600" dirty="0">
                <a:latin typeface="Times New Roman" pitchFamily="18" charset="0"/>
              </a:rPr>
              <a:t>(String statement)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String response = "";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if (</a:t>
            </a:r>
            <a:r>
              <a:rPr lang="en-US" sz="1600" dirty="0" err="1">
                <a:latin typeface="Times New Roman" pitchFamily="18" charset="0"/>
              </a:rPr>
              <a:t>statement.indexOf</a:t>
            </a:r>
            <a:r>
              <a:rPr lang="en-US" sz="1600" dirty="0">
                <a:latin typeface="Times New Roman" pitchFamily="18" charset="0"/>
              </a:rPr>
              <a:t>("no") &gt;= 0</a:t>
            </a:r>
            <a:r>
              <a:rPr lang="en-US" sz="1600" dirty="0" smtClean="0">
                <a:latin typeface="Times New Roman" pitchFamily="18" charset="0"/>
              </a:rPr>
              <a:t>) {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response = "Why so negative?";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else if (</a:t>
            </a:r>
            <a:r>
              <a:rPr lang="en-US" sz="1600" dirty="0" err="1">
                <a:latin typeface="Times New Roman" pitchFamily="18" charset="0"/>
              </a:rPr>
              <a:t>statement.indexOf</a:t>
            </a:r>
            <a:r>
              <a:rPr lang="en-US" sz="1600" dirty="0">
                <a:latin typeface="Times New Roman" pitchFamily="18" charset="0"/>
              </a:rPr>
              <a:t>("mother") &gt;= 0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smtClean="0">
                <a:latin typeface="Times New Roman" pitchFamily="18" charset="0"/>
              </a:rPr>
              <a:t>|| </a:t>
            </a:r>
            <a:r>
              <a:rPr lang="en-US" sz="1600" dirty="0" err="1">
                <a:latin typeface="Times New Roman" pitchFamily="18" charset="0"/>
              </a:rPr>
              <a:t>statement.indexOf</a:t>
            </a:r>
            <a:r>
              <a:rPr lang="en-US" sz="1600" dirty="0">
                <a:latin typeface="Times New Roman" pitchFamily="18" charset="0"/>
              </a:rPr>
              <a:t>("father") &gt;= 0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smtClean="0">
                <a:latin typeface="Times New Roman" pitchFamily="18" charset="0"/>
              </a:rPr>
              <a:t>|| </a:t>
            </a:r>
            <a:r>
              <a:rPr lang="en-US" sz="1600" dirty="0" err="1">
                <a:latin typeface="Times New Roman" pitchFamily="18" charset="0"/>
              </a:rPr>
              <a:t>statement.indexOf</a:t>
            </a:r>
            <a:r>
              <a:rPr lang="en-US" sz="1600" dirty="0">
                <a:latin typeface="Times New Roman" pitchFamily="18" charset="0"/>
              </a:rPr>
              <a:t>("sister") &gt;= 0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</a:t>
            </a:r>
            <a:r>
              <a:rPr lang="en-US" sz="1600" dirty="0" smtClean="0">
                <a:latin typeface="Times New Roman" pitchFamily="18" charset="0"/>
              </a:rPr>
              <a:t>|| </a:t>
            </a:r>
            <a:r>
              <a:rPr lang="en-US" sz="1600" dirty="0" err="1">
                <a:latin typeface="Times New Roman" pitchFamily="18" charset="0"/>
              </a:rPr>
              <a:t>statement.indexOf</a:t>
            </a:r>
            <a:r>
              <a:rPr lang="en-US" sz="1600" dirty="0">
                <a:latin typeface="Times New Roman" pitchFamily="18" charset="0"/>
              </a:rPr>
              <a:t>("brother") &gt;= 0)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response = "Tell me more about your family.";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</a:t>
            </a:r>
            <a:r>
              <a:rPr lang="en-US" sz="1600" dirty="0" smtClean="0">
                <a:latin typeface="Times New Roman" pitchFamily="18" charset="0"/>
              </a:rPr>
              <a:t>else {</a:t>
            </a:r>
            <a:endParaRPr lang="en-US" sz="16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	response = </a:t>
            </a:r>
            <a:r>
              <a:rPr lang="en-US" sz="1600" dirty="0" err="1">
                <a:latin typeface="Times New Roman" pitchFamily="18" charset="0"/>
              </a:rPr>
              <a:t>getRandomResponse</a:t>
            </a:r>
            <a:r>
              <a:rPr lang="en-US" sz="1600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	return response;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1600" dirty="0">
                <a:latin typeface="Times New Roman" pitchFamily="18" charset="0"/>
              </a:rPr>
              <a:t>	</a:t>
            </a:r>
            <a:r>
              <a:rPr lang="en-US" sz="1600" dirty="0" smtClean="0">
                <a:latin typeface="Times New Roman" pitchFamily="18" charset="0"/>
              </a:rPr>
              <a:t>}</a:t>
            </a:r>
            <a:endParaRPr lang="en-US" sz="1600" dirty="0">
              <a:latin typeface="Times New Roman" pitchFamily="18" charset="0"/>
            </a:endParaRPr>
          </a:p>
        </p:txBody>
      </p:sp>
      <p:pic>
        <p:nvPicPr>
          <p:cNvPr id="9218" name="Picture 2" descr="C:\Users\JohnSchram\AppData\Local\Microsoft\Windows\Temporary Internet Files\Content.IE5\IHVDDHNW\Magpie_3288[1]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r="19286"/>
          <a:stretch/>
        </p:blipFill>
        <p:spPr bwMode="auto">
          <a:xfrm>
            <a:off x="6019800" y="3429000"/>
            <a:ext cx="3118757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770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0" y="-1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private String </a:t>
            </a:r>
            <a:r>
              <a:rPr lang="en-US" sz="2000" dirty="0" err="1">
                <a:latin typeface="Times New Roman" pitchFamily="18" charset="0"/>
              </a:rPr>
              <a:t>getRandomResponse</a:t>
            </a:r>
            <a:r>
              <a:rPr lang="en-US" sz="2000" dirty="0">
                <a:latin typeface="Times New Roman" pitchFamily="18" charset="0"/>
              </a:rPr>
              <a:t>()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final int NUMBER_OF_RESPONSES = 4;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double r = Math.random();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int </a:t>
            </a:r>
            <a:r>
              <a:rPr lang="en-US" sz="2000" dirty="0" err="1">
                <a:latin typeface="Times New Roman" pitchFamily="18" charset="0"/>
              </a:rPr>
              <a:t>whichResponse</a:t>
            </a:r>
            <a:r>
              <a:rPr lang="en-US" sz="2000" dirty="0">
                <a:latin typeface="Times New Roman" pitchFamily="18" charset="0"/>
              </a:rPr>
              <a:t> = (int)(r * NUMBER_OF_RESPONSES);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String response = "";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sz="2000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if (</a:t>
            </a:r>
            <a:r>
              <a:rPr lang="en-US" sz="2000" dirty="0" err="1">
                <a:latin typeface="Times New Roman" pitchFamily="18" charset="0"/>
              </a:rPr>
              <a:t>whichResponse</a:t>
            </a:r>
            <a:r>
              <a:rPr lang="en-US" sz="2000" dirty="0">
                <a:latin typeface="Times New Roman" pitchFamily="18" charset="0"/>
              </a:rPr>
              <a:t> == 0)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	response = "Interesting, tell me more.";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else if (</a:t>
            </a:r>
            <a:r>
              <a:rPr lang="en-US" sz="2000" dirty="0" err="1">
                <a:latin typeface="Times New Roman" pitchFamily="18" charset="0"/>
              </a:rPr>
              <a:t>whichResponse</a:t>
            </a:r>
            <a:r>
              <a:rPr lang="en-US" sz="2000" dirty="0">
                <a:latin typeface="Times New Roman" pitchFamily="18" charset="0"/>
              </a:rPr>
              <a:t> == 1)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	response = "Hmmm.";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else if (</a:t>
            </a:r>
            <a:r>
              <a:rPr lang="en-US" sz="2000" dirty="0" err="1">
                <a:latin typeface="Times New Roman" pitchFamily="18" charset="0"/>
              </a:rPr>
              <a:t>whichResponse</a:t>
            </a:r>
            <a:r>
              <a:rPr lang="en-US" sz="2000" dirty="0">
                <a:latin typeface="Times New Roman" pitchFamily="18" charset="0"/>
              </a:rPr>
              <a:t> == 2)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	response = "Do you really think so?";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else if (</a:t>
            </a:r>
            <a:r>
              <a:rPr lang="en-US" sz="2000" dirty="0" err="1">
                <a:latin typeface="Times New Roman" pitchFamily="18" charset="0"/>
              </a:rPr>
              <a:t>whichResponse</a:t>
            </a:r>
            <a:r>
              <a:rPr lang="en-US" sz="2000" dirty="0">
                <a:latin typeface="Times New Roman" pitchFamily="18" charset="0"/>
              </a:rPr>
              <a:t> == 3)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	response = "You don't say.";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	return response;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sz="2000" dirty="0">
                <a:latin typeface="Times New Roman" pitchFamily="18" charset="0"/>
              </a:rPr>
              <a:t>}</a:t>
            </a:r>
          </a:p>
        </p:txBody>
      </p:sp>
      <p:pic>
        <p:nvPicPr>
          <p:cNvPr id="10242" name="Picture 2" descr="C:\Users\JohnSchram\AppData\Local\Microsoft\Windows\Temporary Internet Files\Content.IE5\QPYJZ01W\7340487402_3354f3e033_z[1]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05" r="18270"/>
          <a:stretch/>
        </p:blipFill>
        <p:spPr bwMode="auto">
          <a:xfrm>
            <a:off x="5791200" y="3439885"/>
            <a:ext cx="3336471" cy="3397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15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0" y="-2"/>
            <a:ext cx="9144000" cy="6858000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1pPr>
            <a:lvl2pPr marL="742950" indent="-28575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2pPr>
            <a:lvl3pPr marL="11430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3pPr>
            <a:lvl4pPr marL="16002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4pPr>
            <a:lvl5pPr marL="2057400" indent="-228600" eaLnBrk="0" hangingPunct="0"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38138" algn="l"/>
                <a:tab pos="693738" algn="l"/>
                <a:tab pos="1033463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  <a:defRPr sz="1900" b="1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MagpieTester02.java     12-26-14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This program tests the Magpie02 class.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***************************************************************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The "Magpie" AP Lab is created for the College Board APCS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curriculum by Laurie White.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Leon Schram has altered this "Magpie" file to focus on 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// CS topics as the "Magpie" Lab is integrated into the curriculum.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 smtClean="0">
                <a:latin typeface="Times New Roman" pitchFamily="18" charset="0"/>
              </a:rPr>
              <a:t>import </a:t>
            </a:r>
            <a:r>
              <a:rPr lang="en-US" dirty="0" err="1">
                <a:latin typeface="Times New Roman" pitchFamily="18" charset="0"/>
              </a:rPr>
              <a:t>java.util.Scanner</a:t>
            </a:r>
            <a:r>
              <a:rPr lang="en-US" dirty="0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public class MagpieTester02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public static void main(String[] args)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Magpie02 </a:t>
            </a:r>
            <a:r>
              <a:rPr lang="en-US" dirty="0" err="1">
                <a:latin typeface="Times New Roman" pitchFamily="18" charset="0"/>
              </a:rPr>
              <a:t>maggie</a:t>
            </a:r>
            <a:r>
              <a:rPr lang="en-US" dirty="0">
                <a:latin typeface="Times New Roman" pitchFamily="18" charset="0"/>
              </a:rPr>
              <a:t> = new Magpie02();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System.out.println (</a:t>
            </a:r>
            <a:r>
              <a:rPr lang="en-US" dirty="0" err="1">
                <a:latin typeface="Times New Roman" pitchFamily="18" charset="0"/>
              </a:rPr>
              <a:t>maggie.getGreeting</a:t>
            </a:r>
            <a:r>
              <a:rPr lang="en-US" dirty="0">
                <a:latin typeface="Times New Roman" pitchFamily="18" charset="0"/>
              </a:rPr>
              <a:t>());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Scanner in = new Scanner (System.in);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String statement = </a:t>
            </a:r>
            <a:r>
              <a:rPr lang="en-US" dirty="0" err="1">
                <a:latin typeface="Times New Roman" pitchFamily="18" charset="0"/>
              </a:rPr>
              <a:t>in.nextLine</a:t>
            </a:r>
            <a:r>
              <a:rPr lang="en-US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endParaRPr lang="en-US" dirty="0">
              <a:latin typeface="Times New Roman" pitchFamily="18" charset="0"/>
            </a:endParaRP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while (!</a:t>
            </a:r>
            <a:r>
              <a:rPr lang="en-US" dirty="0" err="1">
                <a:latin typeface="Times New Roman" pitchFamily="18" charset="0"/>
              </a:rPr>
              <a:t>statement.equals</a:t>
            </a:r>
            <a:r>
              <a:rPr lang="en-US" dirty="0">
                <a:latin typeface="Times New Roman" pitchFamily="18" charset="0"/>
              </a:rPr>
              <a:t>("Bye"))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{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	System.out.println (</a:t>
            </a:r>
            <a:r>
              <a:rPr lang="en-US" dirty="0" err="1">
                <a:latin typeface="Times New Roman" pitchFamily="18" charset="0"/>
              </a:rPr>
              <a:t>maggie.getResponse</a:t>
            </a:r>
            <a:r>
              <a:rPr lang="en-US" dirty="0">
                <a:latin typeface="Times New Roman" pitchFamily="18" charset="0"/>
              </a:rPr>
              <a:t>(statement));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	statement = </a:t>
            </a:r>
            <a:r>
              <a:rPr lang="en-US" dirty="0" err="1">
                <a:latin typeface="Times New Roman" pitchFamily="18" charset="0"/>
              </a:rPr>
              <a:t>in.nextLine</a:t>
            </a:r>
            <a:r>
              <a:rPr lang="en-US" dirty="0">
                <a:latin typeface="Times New Roman" pitchFamily="18" charset="0"/>
              </a:rPr>
              <a:t>();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	}</a:t>
            </a:r>
          </a:p>
          <a:p>
            <a:pPr eaLnBrk="1" hangingPunct="1">
              <a:lnSpc>
                <a:spcPct val="85000"/>
              </a:lnSpc>
              <a:tabLst>
                <a:tab pos="465138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</a:tabLst>
            </a:pPr>
            <a:r>
              <a:rPr lang="en-US" dirty="0">
                <a:latin typeface="Times New Roman" pitchFamily="18" charset="0"/>
              </a:rPr>
              <a:t>}</a:t>
            </a:r>
          </a:p>
        </p:txBody>
      </p:sp>
      <p:pic>
        <p:nvPicPr>
          <p:cNvPr id="11266" name="Picture 2" descr="C:\Users\JohnSchram\AppData\Local\Microsoft\Windows\Temporary Internet Files\Content.IE5\IHVDDHNW\7425718802_4106cb74d9_z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836" y="2209800"/>
            <a:ext cx="3523164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92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 rotWithShape="1">
          <a:blip r:embed="rId2"/>
          <a:srcRect l="1643" t="8805" r="7787" b="6402"/>
          <a:stretch/>
        </p:blipFill>
        <p:spPr>
          <a:xfrm>
            <a:off x="1005840" y="0"/>
            <a:ext cx="7132320" cy="686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50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Black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10051</TotalTime>
  <Words>3010</Words>
  <Application>Microsoft Office PowerPoint</Application>
  <PresentationFormat>On-screen Show (4:3)</PresentationFormat>
  <Paragraphs>960</Paragraphs>
  <Slides>50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Default Design</vt:lpstr>
      <vt:lpstr>PowerPoint Presentation</vt:lpstr>
      <vt:lpstr>PowerPoint Presentation</vt:lpstr>
      <vt:lpstr>Java Arrays</vt:lpstr>
      <vt:lpstr>PowerPoint Presentation</vt:lpstr>
      <vt:lpstr>PowerPoint Presentation</vt:lpstr>
      <vt:lpstr>ArrayList Method add</vt:lpstr>
      <vt:lpstr>Displaying ArrayList Elements</vt:lpstr>
      <vt:lpstr>PowerPoint Presentation</vt:lpstr>
      <vt:lpstr>ArrayList Method size</vt:lpstr>
      <vt:lpstr>PowerPoint Presentation</vt:lpstr>
      <vt:lpstr>ArrayList Access</vt:lpstr>
      <vt:lpstr>ArrayList Method get</vt:lpstr>
      <vt:lpstr>PowerPoint Presentation</vt:lpstr>
      <vt:lpstr>ArrayList Method set</vt:lpstr>
      <vt:lpstr>PowerPoint Presentation</vt:lpstr>
      <vt:lpstr>ArrayList Method remove</vt:lpstr>
      <vt:lpstr>PowerPoint Presentation</vt:lpstr>
      <vt:lpstr>ArrayList Method add (2nd Overloaded method)</vt:lpstr>
      <vt:lpstr>AP Exam Alert</vt:lpstr>
      <vt:lpstr>PowerPoint Presentation</vt:lpstr>
      <vt:lpstr>PowerPoint Presentation</vt:lpstr>
      <vt:lpstr>PowerPoint Presentation</vt:lpstr>
      <vt:lpstr>ArrayList and Primitive Data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Leon Schram</Manager>
  <Company>BHS-RISD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Exposure Java Slides</dc:title>
  <dc:subject>APCS1</dc:subject>
  <dc:creator>John Schram</dc:creator>
  <cp:lastModifiedBy>leonschram</cp:lastModifiedBy>
  <cp:revision>1046</cp:revision>
  <dcterms:created xsi:type="dcterms:W3CDTF">2003-07-04T03:08:29Z</dcterms:created>
  <dcterms:modified xsi:type="dcterms:W3CDTF">2015-05-16T20:31:43Z</dcterms:modified>
</cp:coreProperties>
</file>