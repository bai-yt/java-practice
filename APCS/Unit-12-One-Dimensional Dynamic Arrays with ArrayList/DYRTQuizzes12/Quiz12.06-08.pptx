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4"/>
  </p:notesMasterIdLst>
  <p:sldIdLst>
    <p:sldId id="292" r:id="rId2"/>
    <p:sldId id="257" r:id="rId3"/>
    <p:sldId id="293" r:id="rId4"/>
    <p:sldId id="308" r:id="rId5"/>
    <p:sldId id="303" r:id="rId6"/>
    <p:sldId id="306" r:id="rId7"/>
    <p:sldId id="307" r:id="rId8"/>
    <p:sldId id="294" r:id="rId9"/>
    <p:sldId id="295" r:id="rId10"/>
    <p:sldId id="305" r:id="rId11"/>
    <p:sldId id="296" r:id="rId12"/>
    <p:sldId id="309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FF00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72" y="-4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788B538-8A08-48C1-A9FC-14D183E447E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3418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8CE73B-A25E-4F59-A13D-B00BB057C925}" type="slidenum">
              <a:rPr lang="en-US" smtClean="0"/>
              <a:pPr eaLnBrk="1" hangingPunct="1"/>
              <a:t>1</a:t>
            </a:fld>
            <a:endParaRPr lang="en-US" dirty="0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555437A-184D-4D75-9309-A0EF5132D586}" type="slidenum">
              <a:rPr lang="en-US" smtClean="0"/>
              <a:pPr eaLnBrk="1" hangingPunct="1"/>
              <a:t>2</a:t>
            </a:fld>
            <a:endParaRPr lang="en-US" dirty="0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974C57-2F88-4606-8707-5D37D114B76D}" type="slidenum">
              <a:rPr lang="en-US" smtClean="0"/>
              <a:pPr eaLnBrk="1" hangingPunct="1"/>
              <a:t>3</a:t>
            </a:fld>
            <a:endParaRPr lang="en-US" dirty="0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974C57-2F88-4606-8707-5D37D114B76D}" type="slidenum">
              <a:rPr lang="en-US" smtClean="0"/>
              <a:pPr eaLnBrk="1" hangingPunct="1"/>
              <a:t>4</a:t>
            </a:fld>
            <a:endParaRPr lang="en-US" dirty="0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974C57-2F88-4606-8707-5D37D114B76D}" type="slidenum">
              <a:rPr lang="en-US" smtClean="0"/>
              <a:pPr eaLnBrk="1" hangingPunct="1"/>
              <a:t>5</a:t>
            </a:fld>
            <a:endParaRPr lang="en-US" dirty="0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974C57-2F88-4606-8707-5D37D114B76D}" type="slidenum">
              <a:rPr lang="en-US" smtClean="0"/>
              <a:pPr eaLnBrk="1" hangingPunct="1"/>
              <a:t>6</a:t>
            </a:fld>
            <a:endParaRPr lang="en-US" dirty="0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7974C57-2F88-4606-8707-5D37D114B76D}" type="slidenum">
              <a:rPr lang="en-US" smtClean="0"/>
              <a:pPr eaLnBrk="1" hangingPunct="1"/>
              <a:t>7</a:t>
            </a:fld>
            <a:endParaRPr lang="en-US" dirty="0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611AE12-5D0E-47F5-B9DB-209A3B8387C2}" type="slidenum">
              <a:rPr lang="en-US" smtClean="0"/>
              <a:pPr eaLnBrk="1" hangingPunct="1"/>
              <a:t>8</a:t>
            </a:fld>
            <a:endParaRPr lang="en-US" dirty="0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3A7BFAA-78CA-448B-908C-F7D9A3D6F717}" type="slidenum">
              <a:rPr lang="en-US" smtClean="0"/>
              <a:pPr eaLnBrk="1" hangingPunct="1"/>
              <a:t>9</a:t>
            </a:fld>
            <a:endParaRPr lang="en-US" dirty="0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3A7BFAA-78CA-448B-908C-F7D9A3D6F717}" type="slidenum">
              <a:rPr lang="en-US" smtClean="0"/>
              <a:pPr eaLnBrk="1" hangingPunct="1"/>
              <a:t>10</a:t>
            </a:fld>
            <a:endParaRPr lang="en-US" dirty="0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306DF25-869F-45C0-8503-4F5D290D9C62}" type="slidenum">
              <a:rPr lang="en-US" smtClean="0"/>
              <a:pPr eaLnBrk="1" hangingPunct="1"/>
              <a:t>11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306DF25-869F-45C0-8503-4F5D290D9C62}" type="slidenum">
              <a:rPr lang="en-US" smtClean="0"/>
              <a:pPr eaLnBrk="1" hangingPunct="1"/>
              <a:t>12</a:t>
            </a:fld>
            <a:endParaRPr lang="en-US" dirty="0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F5AA87-2494-4FCF-9790-F387B3D00EB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75345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3098D-3ADF-4D5A-B376-4377A495F14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8561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5C043-3F81-4084-9BD5-12D472AA6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66058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BA6F2C-FF28-429D-A9EB-B402DC86A7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3716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39E35-C6BA-4B72-A414-DDF09DAE82D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7641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163648-1476-4F43-8303-F44518864E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68919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9AC2A-A49A-47C0-84ED-0D88FB3EC80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75359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DE4E5-61BE-4A00-B337-6D16AC0A285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41353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EC00F6-BA7B-49DC-8092-58E94647406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47546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C40A61-BE49-4EEB-B465-EA60E5C0B51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65263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653647-73CE-4197-AEEA-FB4639E4FED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86443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5CEC360-092E-4107-974D-C3A847E7EBA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dirty="0" smtClean="0"/>
              <a:t>Take out a piece of paper and </a:t>
            </a:r>
            <a:r>
              <a:rPr lang="en-US" sz="4000" b="1" u="sng" dirty="0" smtClean="0"/>
              <a:t>PEN</a:t>
            </a:r>
            <a:r>
              <a:rPr lang="en-US" sz="4000" b="1" dirty="0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5334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</a:t>
            </a:r>
            <a:r>
              <a:rPr lang="en-US" sz="4800" b="1">
                <a:latin typeface="Arial Black" panose="020B0A04020102020204" pitchFamily="34" charset="0"/>
              </a:rPr>
              <a:t>Quiz </a:t>
            </a:r>
            <a:r>
              <a:rPr lang="en-US" sz="4800" b="1" smtClean="0">
                <a:latin typeface="Arial Black" panose="020B0A04020102020204" pitchFamily="34" charset="0"/>
              </a:rPr>
              <a:t>12.06-08 </a:t>
            </a:r>
            <a:r>
              <a:rPr lang="en-US" sz="4800" b="1" dirty="0" smtClean="0">
                <a:latin typeface="Arial Black" panose="020B0A04020102020204" pitchFamily="34" charset="0"/>
              </a:rPr>
              <a:t>Key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dirty="0" smtClean="0"/>
              <a:t>Title the quiz as shown below</a:t>
            </a:r>
            <a:br>
              <a:rPr lang="en-US" sz="4800" b="1" dirty="0" smtClean="0"/>
            </a:br>
            <a:r>
              <a:rPr lang="en-US" sz="3600" b="1" dirty="0" smtClean="0"/>
              <a:t>The quiz starts in </a:t>
            </a:r>
            <a:r>
              <a:rPr lang="en-US" sz="3600" b="1" u="sng" dirty="0" smtClean="0"/>
              <a:t>ONE</a:t>
            </a:r>
            <a:r>
              <a:rPr lang="en-US" sz="3600" b="1" dirty="0" smtClean="0"/>
              <a:t> minute.</a:t>
            </a:r>
          </a:p>
        </p:txBody>
      </p:sp>
      <p:graphicFrame>
        <p:nvGraphicFramePr>
          <p:cNvPr id="11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767891"/>
              </p:ext>
            </p:extLst>
          </p:nvPr>
        </p:nvGraphicFramePr>
        <p:xfrm>
          <a:off x="2819400" y="1676400"/>
          <a:ext cx="3581400" cy="4864100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864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	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	Quiz 12.06-08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10.</a:t>
                      </a: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01</a:t>
            </a:r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710186"/>
              </p:ext>
            </p:extLst>
          </p:nvPr>
        </p:nvGraphicFramePr>
        <p:xfrm>
          <a:off x="457200" y="1371601"/>
          <a:ext cx="8305800" cy="359054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814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Deck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dynamic array of Card objects.</a:t>
                      </a:r>
                      <a:r>
                        <a:rPr kumimoji="0" lang="en-US" sz="28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static array of Card objects.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with an array attribute, called cards.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with a Card object attribute.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50680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02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997525"/>
              </p:ext>
            </p:extLst>
          </p:nvPr>
        </p:nvGraphicFramePr>
        <p:xfrm>
          <a:off x="457200" y="1371601"/>
          <a:ext cx="8305800" cy="5181599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181599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If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card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an object of the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Card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and if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statement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System.out.println(card);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displays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[Clubs, Three, 3]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. . . that is evidence that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Card is a primitive data type like double.</a:t>
                      </a:r>
                      <a:r>
                        <a:rPr kumimoji="0" lang="en-US" sz="2800" b="0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toString is re-defined for the Card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Card is a subclass of the ArrayList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 is a subclass of the Card class.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440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03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646427"/>
              </p:ext>
            </p:extLst>
          </p:nvPr>
        </p:nvGraphicFramePr>
        <p:xfrm>
          <a:off x="152400" y="1066800"/>
          <a:ext cx="8870576" cy="5711948"/>
        </p:xfrm>
        <a:graphic>
          <a:graphicData uri="http://schemas.openxmlformats.org/drawingml/2006/table">
            <a:tbl>
              <a:tblPr/>
              <a:tblGrid>
                <a:gridCol w="4648200"/>
                <a:gridCol w="4222376"/>
              </a:tblGrid>
              <a:tr h="5029199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Consider method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display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below: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 void display()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{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for (Card card : cards)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		System.out.println(card);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display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used to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display . . .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objects in a static array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objects in a dynamic array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objects in either a static array or a dynamic array.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any type of array element, but the [ ] operators are needed with a static array. 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5179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817237"/>
              </p:ext>
            </p:extLst>
          </p:nvPr>
        </p:nvGraphicFramePr>
        <p:xfrm>
          <a:off x="152400" y="1066800"/>
          <a:ext cx="8870576" cy="5029199"/>
        </p:xfrm>
        <a:graphic>
          <a:graphicData uri="http://schemas.openxmlformats.org/drawingml/2006/table">
            <a:tbl>
              <a:tblPr/>
              <a:tblGrid>
                <a:gridCol w="5029200"/>
                <a:gridCol w="3841376"/>
              </a:tblGrid>
              <a:tr h="5029199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Consider constructor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Deck02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below: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Deck02()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	cards = new ArrayList&lt;Card&gt;();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	size = 0;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Constructor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Deck02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used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a . . .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static array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dynamic array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only.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(C)  static array or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dynamic array.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 startAt="4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Object Oriented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type of array only.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9978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17427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669093"/>
              </p:ext>
            </p:extLst>
          </p:nvPr>
        </p:nvGraphicFramePr>
        <p:xfrm>
          <a:off x="152400" y="1066800"/>
          <a:ext cx="8870576" cy="5029199"/>
        </p:xfrm>
        <a:graphic>
          <a:graphicData uri="http://schemas.openxmlformats.org/drawingml/2006/table">
            <a:tbl>
              <a:tblPr/>
              <a:tblGrid>
                <a:gridCol w="5029200"/>
                <a:gridCol w="3841376"/>
              </a:tblGrid>
              <a:tr h="5029199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Consider constructor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Deck02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below: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 Deck02()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cards = new Card[52];</a:t>
                      </a:r>
                      <a:b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size = 0;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Constructor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Deck02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used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with a . . .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static array only.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dynamic array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only.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(C)  static array or 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dynamic array.</a:t>
                      </a:r>
                    </a:p>
                    <a:p>
                      <a:pPr marL="514350" marR="0" lvl="0" indent="-5143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UcParenBoth" startAt="4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Object Oriented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type of array only.</a:t>
                      </a:r>
                    </a:p>
                  </a:txBody>
                  <a:tcPr marT="45718" marB="4571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46428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1843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218407"/>
              </p:ext>
            </p:extLst>
          </p:nvPr>
        </p:nvGraphicFramePr>
        <p:xfrm>
          <a:off x="457200" y="1371600"/>
          <a:ext cx="8305800" cy="4614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class interaction or relationship between the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Deck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and the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Card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is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inheritance.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composition.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polymorphism.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encapsulation.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 interaction at all.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91105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07</a:t>
            </a:r>
            <a:endParaRPr lang="en-US" sz="3600" b="1" dirty="0"/>
          </a:p>
        </p:txBody>
      </p:sp>
      <p:graphicFrame>
        <p:nvGraphicFramePr>
          <p:cNvPr id="12298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253103"/>
              </p:ext>
            </p:extLst>
          </p:nvPr>
        </p:nvGraphicFramePr>
        <p:xfrm>
          <a:off x="457200" y="1371600"/>
          <a:ext cx="8305800" cy="512672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1021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chatbot is a computer that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specializes in giving random responses.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 the ability to think and talk, like a person.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attempts to respond to input like a person.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 been programmed to develop a personality,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like a human being.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09582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12298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989161"/>
              </p:ext>
            </p:extLst>
          </p:nvPr>
        </p:nvGraphicFramePr>
        <p:xfrm>
          <a:off x="457200" y="1371600"/>
          <a:ext cx="8305800" cy="487069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1021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How can arrays be useful in a chatbot program?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array data structure is fundamental in AI.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Arrays help to manage random responses in an efficient manner with minimal code.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Arrays store wrong responses to help the chatbot learn.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Responses need to be stored to analyze for the future to help chatbot improve.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4576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  <p:graphicFrame>
        <p:nvGraphicFramePr>
          <p:cNvPr id="1433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925048"/>
              </p:ext>
            </p:extLst>
          </p:nvPr>
        </p:nvGraphicFramePr>
        <p:xfrm>
          <a:off x="457200" y="1371600"/>
          <a:ext cx="8305800" cy="4614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Magpie02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reviews an earlier chatbot class. In that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version how will the program respond to 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”I notice you talk a lot.”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Random, like “Do you really think so?”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“Tell me more about your family.”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“Why so negative?”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“Hello, let’s talk.”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17644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1433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448169"/>
              </p:ext>
            </p:extLst>
          </p:nvPr>
        </p:nvGraphicFramePr>
        <p:xfrm>
          <a:off x="457200" y="1371600"/>
          <a:ext cx="8305800" cy="4614672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Magpie02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reviews an earlier chatbot class. In that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version how will the program respond to 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”How is the weather today?”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Random, like “Do you really think so?”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“Tell me more about your family.”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“Why so negative?”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“Hello, let’s talk.”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sng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86593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724</TotalTime>
  <Words>540</Words>
  <Application>Microsoft Office PowerPoint</Application>
  <PresentationFormat>On-screen Show (4:3)</PresentationFormat>
  <Paragraphs>142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leonschram</cp:lastModifiedBy>
  <cp:revision>72</cp:revision>
  <dcterms:created xsi:type="dcterms:W3CDTF">2005-09-25T13:05:16Z</dcterms:created>
  <dcterms:modified xsi:type="dcterms:W3CDTF">2015-05-30T21:03:05Z</dcterms:modified>
</cp:coreProperties>
</file>