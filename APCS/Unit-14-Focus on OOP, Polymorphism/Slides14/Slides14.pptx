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789" r:id="rId3"/>
    <p:sldId id="790" r:id="rId4"/>
    <p:sldId id="749" r:id="rId5"/>
    <p:sldId id="760" r:id="rId6"/>
    <p:sldId id="792" r:id="rId7"/>
    <p:sldId id="694" r:id="rId8"/>
    <p:sldId id="794" r:id="rId9"/>
    <p:sldId id="795" r:id="rId10"/>
    <p:sldId id="796" r:id="rId11"/>
    <p:sldId id="797" r:id="rId12"/>
    <p:sldId id="798" r:id="rId13"/>
    <p:sldId id="799" r:id="rId14"/>
    <p:sldId id="872" r:id="rId15"/>
    <p:sldId id="802" r:id="rId16"/>
    <p:sldId id="710" r:id="rId17"/>
    <p:sldId id="806" r:id="rId18"/>
    <p:sldId id="807" r:id="rId19"/>
    <p:sldId id="808" r:id="rId20"/>
    <p:sldId id="809" r:id="rId21"/>
    <p:sldId id="874" r:id="rId22"/>
    <p:sldId id="875" r:id="rId23"/>
    <p:sldId id="873" r:id="rId24"/>
    <p:sldId id="880" r:id="rId25"/>
    <p:sldId id="877" r:id="rId26"/>
    <p:sldId id="878" r:id="rId27"/>
    <p:sldId id="879" r:id="rId28"/>
    <p:sldId id="876" r:id="rId29"/>
    <p:sldId id="881" r:id="rId30"/>
    <p:sldId id="882" r:id="rId31"/>
    <p:sldId id="883" r:id="rId32"/>
    <p:sldId id="884" r:id="rId33"/>
    <p:sldId id="885" r:id="rId34"/>
    <p:sldId id="886" r:id="rId35"/>
    <p:sldId id="887" r:id="rId36"/>
    <p:sldId id="888" r:id="rId37"/>
    <p:sldId id="889" r:id="rId38"/>
    <p:sldId id="819" r:id="rId39"/>
    <p:sldId id="891" r:id="rId40"/>
    <p:sldId id="892" r:id="rId41"/>
    <p:sldId id="822" r:id="rId42"/>
    <p:sldId id="824" r:id="rId43"/>
    <p:sldId id="893" r:id="rId44"/>
    <p:sldId id="894" r:id="rId45"/>
    <p:sldId id="895" r:id="rId46"/>
    <p:sldId id="896" r:id="rId47"/>
    <p:sldId id="811" r:id="rId48"/>
    <p:sldId id="804" r:id="rId49"/>
    <p:sldId id="791" r:id="rId50"/>
    <p:sldId id="899" r:id="rId51"/>
    <p:sldId id="901" r:id="rId52"/>
    <p:sldId id="900" r:id="rId53"/>
    <p:sldId id="902" r:id="rId54"/>
    <p:sldId id="903" r:id="rId55"/>
    <p:sldId id="904" r:id="rId56"/>
    <p:sldId id="905" r:id="rId57"/>
    <p:sldId id="906" r:id="rId58"/>
    <p:sldId id="812" r:id="rId59"/>
    <p:sldId id="907" r:id="rId60"/>
  </p:sldIdLst>
  <p:sldSz cx="9144000" cy="6858000" type="screen4x3"/>
  <p:notesSz cx="6858000" cy="91440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F99CC"/>
    <a:srgbClr val="00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6" autoAdjust="0"/>
    <p:restoredTop sz="94576" autoAdjust="0"/>
  </p:normalViewPr>
  <p:slideViewPr>
    <p:cSldViewPr>
      <p:cViewPr>
        <p:scale>
          <a:sx n="70" d="100"/>
          <a:sy n="70" d="100"/>
        </p:scale>
        <p:origin x="-1388" y="-43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977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EDEEDEC-86AF-4516-8CCB-38E75C9A152B}" type="slidenum">
              <a:rPr lang="en-US"/>
              <a:pPr>
                <a:defRPr/>
              </a:pPr>
              <a:t>‹#›</a:t>
            </a:fld>
            <a:endParaRPr lang="en-US"/>
          </a:p>
        </p:txBody>
      </p:sp>
    </p:spTree>
    <p:extLst>
      <p:ext uri="{BB962C8B-B14F-4D97-AF65-F5344CB8AC3E}">
        <p14:creationId xmlns:p14="http://schemas.microsoft.com/office/powerpoint/2010/main" val="30508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FAB8DDE-BAF0-4469-AE5A-F0DA8BDF16E7}" type="slidenum">
              <a:rPr lang="en-US"/>
              <a:pPr>
                <a:defRPr/>
              </a:pPr>
              <a:t>‹#›</a:t>
            </a:fld>
            <a:endParaRPr lang="en-US"/>
          </a:p>
        </p:txBody>
      </p:sp>
    </p:spTree>
    <p:extLst>
      <p:ext uri="{BB962C8B-B14F-4D97-AF65-F5344CB8AC3E}">
        <p14:creationId xmlns:p14="http://schemas.microsoft.com/office/powerpoint/2010/main" val="316317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9332074-6469-43F7-BE7B-B181C1D9BEF8}" type="slidenum">
              <a:rPr lang="en-US"/>
              <a:pPr>
                <a:defRPr/>
              </a:pPr>
              <a:t>‹#›</a:t>
            </a:fld>
            <a:endParaRPr lang="en-US"/>
          </a:p>
        </p:txBody>
      </p:sp>
    </p:spTree>
    <p:extLst>
      <p:ext uri="{BB962C8B-B14F-4D97-AF65-F5344CB8AC3E}">
        <p14:creationId xmlns:p14="http://schemas.microsoft.com/office/powerpoint/2010/main" val="255574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BDD0A09-C362-4634-84ED-9FA9F9E8E8C3}" type="slidenum">
              <a:rPr lang="en-US"/>
              <a:pPr>
                <a:defRPr/>
              </a:pPr>
              <a:t>‹#›</a:t>
            </a:fld>
            <a:endParaRPr lang="en-US"/>
          </a:p>
        </p:txBody>
      </p:sp>
    </p:spTree>
    <p:extLst>
      <p:ext uri="{BB962C8B-B14F-4D97-AF65-F5344CB8AC3E}">
        <p14:creationId xmlns:p14="http://schemas.microsoft.com/office/powerpoint/2010/main" val="2527484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18D848A-DA34-4E04-9F2D-6B8D987C2299}" type="slidenum">
              <a:rPr lang="en-US"/>
              <a:pPr>
                <a:defRPr/>
              </a:pPr>
              <a:t>‹#›</a:t>
            </a:fld>
            <a:endParaRPr lang="en-US"/>
          </a:p>
        </p:txBody>
      </p:sp>
    </p:spTree>
    <p:extLst>
      <p:ext uri="{BB962C8B-B14F-4D97-AF65-F5344CB8AC3E}">
        <p14:creationId xmlns:p14="http://schemas.microsoft.com/office/powerpoint/2010/main" val="2430338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E5149B2F-927E-495C-912D-B0B65F7EAA53}" type="slidenum">
              <a:rPr lang="en-US"/>
              <a:pPr>
                <a:defRPr/>
              </a:pPr>
              <a:t>‹#›</a:t>
            </a:fld>
            <a:endParaRPr lang="en-US"/>
          </a:p>
        </p:txBody>
      </p:sp>
    </p:spTree>
    <p:extLst>
      <p:ext uri="{BB962C8B-B14F-4D97-AF65-F5344CB8AC3E}">
        <p14:creationId xmlns:p14="http://schemas.microsoft.com/office/powerpoint/2010/main" val="3706448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EC8E4A80-E9FA-4AF2-87F9-D87989F94B62}" type="slidenum">
              <a:rPr lang="en-US"/>
              <a:pPr>
                <a:defRPr/>
              </a:pPr>
              <a:t>‹#›</a:t>
            </a:fld>
            <a:endParaRPr lang="en-US"/>
          </a:p>
        </p:txBody>
      </p:sp>
    </p:spTree>
    <p:extLst>
      <p:ext uri="{BB962C8B-B14F-4D97-AF65-F5344CB8AC3E}">
        <p14:creationId xmlns:p14="http://schemas.microsoft.com/office/powerpoint/2010/main" val="2030215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A93B3C2-64C5-42B0-9EA5-F861921A97EC}" type="slidenum">
              <a:rPr lang="en-US"/>
              <a:pPr>
                <a:defRPr/>
              </a:pPr>
              <a:t>‹#›</a:t>
            </a:fld>
            <a:endParaRPr lang="en-US"/>
          </a:p>
        </p:txBody>
      </p:sp>
    </p:spTree>
    <p:extLst>
      <p:ext uri="{BB962C8B-B14F-4D97-AF65-F5344CB8AC3E}">
        <p14:creationId xmlns:p14="http://schemas.microsoft.com/office/powerpoint/2010/main" val="75447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FCD6796-0A34-4D31-8E14-2E3C65ECBBC3}" type="slidenum">
              <a:rPr lang="en-US"/>
              <a:pPr>
                <a:defRPr/>
              </a:pPr>
              <a:t>‹#›</a:t>
            </a:fld>
            <a:endParaRPr lang="en-US"/>
          </a:p>
        </p:txBody>
      </p:sp>
    </p:spTree>
    <p:extLst>
      <p:ext uri="{BB962C8B-B14F-4D97-AF65-F5344CB8AC3E}">
        <p14:creationId xmlns:p14="http://schemas.microsoft.com/office/powerpoint/2010/main" val="491366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D93D9E4-A3E2-4218-B646-EC5B532113A4}" type="slidenum">
              <a:rPr lang="en-US"/>
              <a:pPr>
                <a:defRPr/>
              </a:pPr>
              <a:t>‹#›</a:t>
            </a:fld>
            <a:endParaRPr lang="en-US"/>
          </a:p>
        </p:txBody>
      </p:sp>
    </p:spTree>
    <p:extLst>
      <p:ext uri="{BB962C8B-B14F-4D97-AF65-F5344CB8AC3E}">
        <p14:creationId xmlns:p14="http://schemas.microsoft.com/office/powerpoint/2010/main" val="3435882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0B7D774-FB9D-411D-B63E-161CCB0DF83C}" type="slidenum">
              <a:rPr lang="en-US"/>
              <a:pPr>
                <a:defRPr/>
              </a:pPr>
              <a:t>‹#›</a:t>
            </a:fld>
            <a:endParaRPr lang="en-US"/>
          </a:p>
        </p:txBody>
      </p:sp>
    </p:spTree>
    <p:extLst>
      <p:ext uri="{BB962C8B-B14F-4D97-AF65-F5344CB8AC3E}">
        <p14:creationId xmlns:p14="http://schemas.microsoft.com/office/powerpoint/2010/main" val="1183117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pPr>
              <a:defRPr/>
            </a:pPr>
            <a:fld id="{B5B1AC73-D1D7-41CC-9366-AB1E0AC3136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image" Target="../media/image1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image" Target="../media/image11.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tile tx="0" ty="0" sx="100000" sy="100000" flip="none" algn="tl"/>
        </a:blipFill>
        <a:effectLst/>
      </p:bgPr>
    </p:bg>
    <p:spTree>
      <p:nvGrpSpPr>
        <p:cNvPr id="1" name=""/>
        <p:cNvGrpSpPr/>
        <p:nvPr/>
      </p:nvGrpSpPr>
      <p:grpSpPr>
        <a:xfrm>
          <a:off x="0" y="0"/>
          <a:ext cx="0" cy="0"/>
          <a:chOff x="0" y="0"/>
          <a:chExt cx="0" cy="0"/>
        </a:xfrm>
      </p:grpSpPr>
      <p:sp>
        <p:nvSpPr>
          <p:cNvPr id="8" name="WordArt 18"/>
          <p:cNvSpPr>
            <a:spLocks noChangeArrowheads="1" noChangeShapeType="1" noTextEdit="1"/>
          </p:cNvSpPr>
          <p:nvPr/>
        </p:nvSpPr>
        <p:spPr bwMode="auto">
          <a:xfrm>
            <a:off x="371475" y="3924300"/>
            <a:ext cx="8401050" cy="647700"/>
          </a:xfrm>
          <a:prstGeom prst="rect">
            <a:avLst/>
          </a:prstGeom>
        </p:spPr>
        <p:txBody>
          <a:bodyPr wrap="none" fromWordArt="1">
            <a:prstTxWarp prst="textPlain">
              <a:avLst>
                <a:gd name="adj" fmla="val 50000"/>
              </a:avLst>
            </a:prstTxWarp>
          </a:bodyPr>
          <a:lstStyle/>
          <a:p>
            <a:pPr algn="ctr"/>
            <a:r>
              <a:rPr lang="en-US" sz="3600" kern="10" dirty="0" smtClean="0">
                <a:ln w="9525">
                  <a:solidFill>
                    <a:srgbClr val="000000"/>
                  </a:solidFill>
                  <a:round/>
                  <a:headEnd/>
                  <a:tailEnd/>
                </a:ln>
                <a:solidFill>
                  <a:srgbClr val="FFFFFF"/>
                </a:solidFill>
                <a:latin typeface="Arial Black"/>
              </a:rPr>
              <a:t>Focus on OOP: </a:t>
            </a:r>
            <a:r>
              <a:rPr lang="en-US" sz="3600" kern="10" dirty="0">
                <a:ln w="9525">
                  <a:solidFill>
                    <a:srgbClr val="000000"/>
                  </a:solidFill>
                  <a:round/>
                  <a:headEnd/>
                  <a:tailEnd/>
                </a:ln>
                <a:solidFill>
                  <a:srgbClr val="FFFFFF"/>
                </a:solidFill>
                <a:latin typeface="Arial Black"/>
              </a:rPr>
              <a:t>Polymorphism</a:t>
            </a:r>
          </a:p>
        </p:txBody>
      </p:sp>
      <p:sp>
        <p:nvSpPr>
          <p:cNvPr id="2050" name="WordArt 6"/>
          <p:cNvSpPr>
            <a:spLocks noChangeArrowheads="1" noChangeShapeType="1" noTextEdit="1"/>
          </p:cNvSpPr>
          <p:nvPr/>
        </p:nvSpPr>
        <p:spPr bwMode="auto">
          <a:xfrm>
            <a:off x="685800" y="1654175"/>
            <a:ext cx="8077200" cy="2155825"/>
          </a:xfrm>
          <a:prstGeom prst="rect">
            <a:avLst/>
          </a:prstGeom>
        </p:spPr>
        <p:txBody>
          <a:bodyPr wrap="none" fromWordArt="1">
            <a:prstTxWarp prst="textPlain">
              <a:avLst>
                <a:gd name="adj" fmla="val 50000"/>
              </a:avLst>
            </a:prstTxWarp>
            <a:scene3d>
              <a:camera prst="legacyPerspectiveBottomRight">
                <a:rot lat="0" lon="21239990" rev="0"/>
              </a:camera>
              <a:lightRig rig="legacyHarsh3" dir="l"/>
            </a:scene3d>
            <a:sp3d extrusionH="430200" prstMaterial="legacyMatte">
              <a:extrusionClr>
                <a:srgbClr val="C0C0C0"/>
              </a:extrusionClr>
            </a:sp3d>
          </a:bodyPr>
          <a:lstStyle/>
          <a:p>
            <a:pPr algn="ctr"/>
            <a:r>
              <a:rPr lang="en-US" sz="3600" kern="10" dirty="0">
                <a:ln w="9525">
                  <a:round/>
                  <a:headEnd/>
                  <a:tailEnd/>
                </a:ln>
                <a:gradFill rotWithShape="1">
                  <a:gsLst>
                    <a:gs pos="0">
                      <a:srgbClr val="DCEBF5"/>
                    </a:gs>
                    <a:gs pos="8000">
                      <a:srgbClr val="83A7C3"/>
                    </a:gs>
                    <a:gs pos="13000">
                      <a:srgbClr val="768FB9"/>
                    </a:gs>
                    <a:gs pos="21001">
                      <a:srgbClr val="83A7C3"/>
                    </a:gs>
                    <a:gs pos="52000">
                      <a:srgbClr val="FFFFFF"/>
                    </a:gs>
                    <a:gs pos="56000">
                      <a:srgbClr val="9C6563"/>
                    </a:gs>
                    <a:gs pos="58000">
                      <a:srgbClr val="80302D"/>
                    </a:gs>
                    <a:gs pos="71001">
                      <a:srgbClr val="C0524E"/>
                    </a:gs>
                    <a:gs pos="94000">
                      <a:srgbClr val="EBDAD4"/>
                    </a:gs>
                    <a:gs pos="100000">
                      <a:srgbClr val="55261C"/>
                    </a:gs>
                  </a:gsLst>
                  <a:lin ang="5400000" scaled="1"/>
                </a:gradFill>
                <a:latin typeface="Arial Black"/>
              </a:rPr>
              <a:t>Chapter 14 Slides</a:t>
            </a:r>
          </a:p>
        </p:txBody>
      </p:sp>
      <p:sp>
        <p:nvSpPr>
          <p:cNvPr id="2051" name="WordArt 22"/>
          <p:cNvSpPr>
            <a:spLocks noChangeArrowheads="1" noChangeShapeType="1" noTextEdit="1"/>
          </p:cNvSpPr>
          <p:nvPr/>
        </p:nvSpPr>
        <p:spPr bwMode="auto">
          <a:xfrm>
            <a:off x="152400" y="152400"/>
            <a:ext cx="8915400" cy="1143000"/>
          </a:xfrm>
          <a:prstGeom prst="rect">
            <a:avLst/>
          </a:prstGeom>
        </p:spPr>
        <p:txBody>
          <a:bodyPr wrap="none" fromWordArt="1">
            <a:prstTxWarp prst="textFadeUp">
              <a:avLst>
                <a:gd name="adj" fmla="val 4954"/>
              </a:avLst>
            </a:prstTxWarp>
          </a:bodyPr>
          <a:lstStyle/>
          <a:p>
            <a:pPr algn="ctr"/>
            <a:r>
              <a:rPr lang="fr-FR" sz="7200" kern="10" dirty="0" err="1">
                <a:ln w="12700">
                  <a:solidFill>
                    <a:srgbClr val="B2B2B2"/>
                  </a:solidFill>
                  <a:round/>
                  <a:headEnd/>
                  <a:tailEnd/>
                </a:ln>
                <a:gradFill rotWithShape="1">
                  <a:gsLst>
                    <a:gs pos="0">
                      <a:srgbClr val="520402"/>
                    </a:gs>
                    <a:gs pos="50000">
                      <a:srgbClr val="FFCC00"/>
                    </a:gs>
                    <a:gs pos="100000">
                      <a:srgbClr val="520402"/>
                    </a:gs>
                  </a:gsLst>
                  <a:lin ang="5400000" scaled="1"/>
                </a:gradFill>
                <a:effectLst>
                  <a:outerShdw dist="35921" dir="2700000" sy="50000" rotWithShape="0">
                    <a:srgbClr val="875B0D">
                      <a:alpha val="70000"/>
                    </a:srgbClr>
                  </a:outerShdw>
                </a:effectLst>
                <a:latin typeface="Impact"/>
              </a:rPr>
              <a:t>Exposure</a:t>
            </a:r>
            <a:r>
              <a:rPr lang="fr-FR" sz="7200" kern="10" dirty="0">
                <a:ln w="12700">
                  <a:solidFill>
                    <a:srgbClr val="B2B2B2"/>
                  </a:solidFill>
                  <a:round/>
                  <a:headEnd/>
                  <a:tailEnd/>
                </a:ln>
                <a:gradFill rotWithShape="1">
                  <a:gsLst>
                    <a:gs pos="0">
                      <a:srgbClr val="520402"/>
                    </a:gs>
                    <a:gs pos="50000">
                      <a:srgbClr val="FFCC00"/>
                    </a:gs>
                    <a:gs pos="100000">
                      <a:srgbClr val="520402"/>
                    </a:gs>
                  </a:gsLst>
                  <a:lin ang="5400000" scaled="1"/>
                </a:gradFill>
                <a:effectLst>
                  <a:outerShdw dist="35921" dir="2700000" sy="50000" rotWithShape="0">
                    <a:srgbClr val="875B0D">
                      <a:alpha val="70000"/>
                    </a:srgbClr>
                  </a:outerShdw>
                </a:effectLst>
                <a:latin typeface="Impact"/>
              </a:rPr>
              <a:t> </a:t>
            </a:r>
            <a:r>
              <a:rPr lang="fr-FR" sz="7200" kern="10">
                <a:ln w="12700">
                  <a:solidFill>
                    <a:srgbClr val="B2B2B2"/>
                  </a:solidFill>
                  <a:round/>
                  <a:headEnd/>
                  <a:tailEnd/>
                </a:ln>
                <a:gradFill rotWithShape="1">
                  <a:gsLst>
                    <a:gs pos="0">
                      <a:srgbClr val="520402"/>
                    </a:gs>
                    <a:gs pos="50000">
                      <a:srgbClr val="FFCC00"/>
                    </a:gs>
                    <a:gs pos="100000">
                      <a:srgbClr val="520402"/>
                    </a:gs>
                  </a:gsLst>
                  <a:lin ang="5400000" scaled="1"/>
                </a:gradFill>
                <a:effectLst>
                  <a:outerShdw dist="35921" dir="2700000" sy="50000" rotWithShape="0">
                    <a:srgbClr val="875B0D">
                      <a:alpha val="70000"/>
                    </a:srgbClr>
                  </a:outerShdw>
                </a:effectLst>
                <a:latin typeface="Impact"/>
              </a:rPr>
              <a:t>Java </a:t>
            </a:r>
            <a:r>
              <a:rPr lang="fr-FR" sz="7200" kern="10" smtClean="0">
                <a:ln w="12700">
                  <a:solidFill>
                    <a:srgbClr val="B2B2B2"/>
                  </a:solidFill>
                  <a:round/>
                  <a:headEnd/>
                  <a:tailEnd/>
                </a:ln>
                <a:gradFill rotWithShape="1">
                  <a:gsLst>
                    <a:gs pos="0">
                      <a:srgbClr val="520402"/>
                    </a:gs>
                    <a:gs pos="50000">
                      <a:srgbClr val="FFCC00"/>
                    </a:gs>
                    <a:gs pos="100000">
                      <a:srgbClr val="520402"/>
                    </a:gs>
                  </a:gsLst>
                  <a:lin ang="5400000" scaled="1"/>
                </a:gradFill>
                <a:effectLst>
                  <a:outerShdw dist="35921" dir="2700000" sy="50000" rotWithShape="0">
                    <a:srgbClr val="875B0D">
                      <a:alpha val="70000"/>
                    </a:srgbClr>
                  </a:outerShdw>
                </a:effectLst>
                <a:latin typeface="Impact"/>
              </a:rPr>
              <a:t>2015</a:t>
            </a:r>
            <a:endParaRPr lang="fr-FR" sz="7200" kern="10" dirty="0">
              <a:ln w="12700">
                <a:solidFill>
                  <a:srgbClr val="B2B2B2"/>
                </a:solidFill>
                <a:round/>
                <a:headEnd/>
                <a:tailEnd/>
              </a:ln>
              <a:gradFill rotWithShape="1">
                <a:gsLst>
                  <a:gs pos="0">
                    <a:srgbClr val="520402"/>
                  </a:gs>
                  <a:gs pos="50000">
                    <a:srgbClr val="FFCC00"/>
                  </a:gs>
                  <a:gs pos="100000">
                    <a:srgbClr val="520402"/>
                  </a:gs>
                </a:gsLst>
                <a:lin ang="5400000" scaled="1"/>
              </a:gradFill>
              <a:effectLst>
                <a:outerShdw dist="35921" dir="2700000" sy="50000" rotWithShape="0">
                  <a:srgbClr val="875B0D">
                    <a:alpha val="70000"/>
                  </a:srgbClr>
                </a:outerShdw>
              </a:effectLst>
              <a:latin typeface="Impact"/>
            </a:endParaRPr>
          </a:p>
          <a:p>
            <a:pPr algn="ctr"/>
            <a:r>
              <a:rPr lang="fr-FR" sz="7200" kern="10" dirty="0" err="1">
                <a:ln w="12700">
                  <a:solidFill>
                    <a:srgbClr val="B2B2B2"/>
                  </a:solidFill>
                  <a:round/>
                  <a:headEnd/>
                  <a:tailEnd/>
                </a:ln>
                <a:gradFill rotWithShape="1">
                  <a:gsLst>
                    <a:gs pos="0">
                      <a:srgbClr val="520402"/>
                    </a:gs>
                    <a:gs pos="50000">
                      <a:srgbClr val="FFCC00"/>
                    </a:gs>
                    <a:gs pos="100000">
                      <a:srgbClr val="520402"/>
                    </a:gs>
                  </a:gsLst>
                  <a:lin ang="5400000" scaled="1"/>
                </a:gradFill>
                <a:effectLst>
                  <a:outerShdw dist="35921" dir="2700000" sy="50000" rotWithShape="0">
                    <a:srgbClr val="875B0D">
                      <a:alpha val="70000"/>
                    </a:srgbClr>
                  </a:outerShdw>
                </a:effectLst>
                <a:latin typeface="Impact"/>
              </a:rPr>
              <a:t>APCS</a:t>
            </a:r>
            <a:r>
              <a:rPr lang="fr-FR" sz="7200" kern="10" dirty="0">
                <a:ln w="12700">
                  <a:solidFill>
                    <a:srgbClr val="B2B2B2"/>
                  </a:solidFill>
                  <a:round/>
                  <a:headEnd/>
                  <a:tailEnd/>
                </a:ln>
                <a:gradFill rotWithShape="1">
                  <a:gsLst>
                    <a:gs pos="0">
                      <a:srgbClr val="520402"/>
                    </a:gs>
                    <a:gs pos="50000">
                      <a:srgbClr val="FFCC00"/>
                    </a:gs>
                    <a:gs pos="100000">
                      <a:srgbClr val="520402"/>
                    </a:gs>
                  </a:gsLst>
                  <a:lin ang="5400000" scaled="1"/>
                </a:gradFill>
                <a:effectLst>
                  <a:outerShdw dist="35921" dir="2700000" sy="50000" rotWithShape="0">
                    <a:srgbClr val="875B0D">
                      <a:alpha val="70000"/>
                    </a:srgbClr>
                  </a:outerShdw>
                </a:effectLst>
                <a:latin typeface="Impact"/>
              </a:rPr>
              <a:t> Edition</a:t>
            </a:r>
            <a:endParaRPr lang="en-US" sz="7200" kern="10" dirty="0">
              <a:ln w="12700">
                <a:solidFill>
                  <a:srgbClr val="B2B2B2"/>
                </a:solidFill>
                <a:round/>
                <a:headEnd/>
                <a:tailEnd/>
              </a:ln>
              <a:gradFill rotWithShape="1">
                <a:gsLst>
                  <a:gs pos="0">
                    <a:srgbClr val="520402"/>
                  </a:gs>
                  <a:gs pos="50000">
                    <a:srgbClr val="FFCC00"/>
                  </a:gs>
                  <a:gs pos="100000">
                    <a:srgbClr val="520402"/>
                  </a:gs>
                </a:gsLst>
                <a:lin ang="5400000" scaled="1"/>
              </a:gradFill>
              <a:effectLst>
                <a:outerShdw dist="35921" dir="2700000" sy="50000" rotWithShape="0">
                  <a:srgbClr val="875B0D">
                    <a:alpha val="70000"/>
                  </a:srgbClr>
                </a:outerShdw>
              </a:effectLst>
              <a:latin typeface="Impact"/>
            </a:endParaRPr>
          </a:p>
        </p:txBody>
      </p:sp>
      <p:sp>
        <p:nvSpPr>
          <p:cNvPr id="2052" name="WordArt 19"/>
          <p:cNvSpPr>
            <a:spLocks noChangeArrowheads="1" noChangeShapeType="1" noTextEdit="1"/>
          </p:cNvSpPr>
          <p:nvPr/>
        </p:nvSpPr>
        <p:spPr bwMode="auto">
          <a:xfrm rot="235564">
            <a:off x="1209675" y="4751388"/>
            <a:ext cx="3076575" cy="2055812"/>
          </a:xfrm>
          <a:prstGeom prst="rect">
            <a:avLst/>
          </a:prstGeom>
        </p:spPr>
        <p:txBody>
          <a:bodyPr wrap="none" fromWordArt="1">
            <a:prstTxWarp prst="textCascadeUp">
              <a:avLst>
                <a:gd name="adj" fmla="val 84639"/>
              </a:avLst>
            </a:prstTxWarp>
            <a:scene3d>
              <a:camera prst="legacyPerspectiveFront">
                <a:rot lat="20519958" lon="1080000" rev="0"/>
              </a:camera>
              <a:lightRig rig="legacyHarsh2" dir="b"/>
            </a:scene3d>
            <a:sp3d extrusionH="430200" prstMaterial="legacyMatte">
              <a:extrusionClr>
                <a:srgbClr val="FF6600"/>
              </a:extrusionClr>
            </a:sp3d>
          </a:bodyPr>
          <a:lstStyle/>
          <a:p>
            <a:pPr algn="ctr"/>
            <a:r>
              <a:rPr lang="en-US" sz="2000" kern="10">
                <a:ln w="9525">
                  <a:round/>
                  <a:headEnd/>
                  <a:tailEnd/>
                </a:ln>
                <a:gradFill rotWithShape="1">
                  <a:gsLst>
                    <a:gs pos="0">
                      <a:srgbClr val="FFE701"/>
                    </a:gs>
                    <a:gs pos="100000">
                      <a:srgbClr val="FE3E02"/>
                    </a:gs>
                  </a:gsLst>
                  <a:lin ang="5400000" scaled="1"/>
                </a:gradFill>
                <a:latin typeface="Impact"/>
              </a:rPr>
              <a:t>PowerPoint Presentation</a:t>
            </a:r>
          </a:p>
          <a:p>
            <a:pPr algn="ctr"/>
            <a:r>
              <a:rPr lang="en-US" sz="2000" kern="10">
                <a:ln w="9525">
                  <a:round/>
                  <a:headEnd/>
                  <a:tailEnd/>
                </a:ln>
                <a:gradFill rotWithShape="1">
                  <a:gsLst>
                    <a:gs pos="0">
                      <a:srgbClr val="FFE701"/>
                    </a:gs>
                    <a:gs pos="100000">
                      <a:srgbClr val="FE3E02"/>
                    </a:gs>
                  </a:gsLst>
                  <a:lin ang="5400000" scaled="1"/>
                </a:gradFill>
                <a:latin typeface="Impact"/>
              </a:rPr>
              <a:t>created by: </a:t>
            </a:r>
          </a:p>
          <a:p>
            <a:pPr algn="ctr"/>
            <a:r>
              <a:rPr lang="en-US" sz="2000" kern="10">
                <a:ln w="9525">
                  <a:round/>
                  <a:headEnd/>
                  <a:tailEnd/>
                </a:ln>
                <a:gradFill rotWithShape="1">
                  <a:gsLst>
                    <a:gs pos="0">
                      <a:srgbClr val="FFE701"/>
                    </a:gs>
                    <a:gs pos="100000">
                      <a:srgbClr val="FE3E02"/>
                    </a:gs>
                  </a:gsLst>
                  <a:lin ang="5400000" scaled="1"/>
                </a:gradFill>
                <a:latin typeface="Impact"/>
              </a:rPr>
              <a:t>Mr. John L. M. Schram</a:t>
            </a:r>
          </a:p>
          <a:p>
            <a:pPr algn="ctr"/>
            <a:r>
              <a:rPr lang="en-US" sz="2000" kern="10">
                <a:ln w="9525">
                  <a:round/>
                  <a:headEnd/>
                  <a:tailEnd/>
                </a:ln>
                <a:gradFill rotWithShape="1">
                  <a:gsLst>
                    <a:gs pos="0">
                      <a:srgbClr val="FFE701"/>
                    </a:gs>
                    <a:gs pos="100000">
                      <a:srgbClr val="FE3E02"/>
                    </a:gs>
                  </a:gsLst>
                  <a:lin ang="5400000" scaled="1"/>
                </a:gradFill>
                <a:latin typeface="Impact"/>
              </a:rPr>
              <a:t>and Mr. Leon Schram</a:t>
            </a:r>
          </a:p>
          <a:p>
            <a:pPr algn="ctr"/>
            <a:r>
              <a:rPr lang="en-US" sz="2000" kern="10">
                <a:ln w="9525">
                  <a:round/>
                  <a:headEnd/>
                  <a:tailEnd/>
                </a:ln>
                <a:gradFill rotWithShape="1">
                  <a:gsLst>
                    <a:gs pos="0">
                      <a:srgbClr val="FFE701"/>
                    </a:gs>
                    <a:gs pos="100000">
                      <a:srgbClr val="FE3E02"/>
                    </a:gs>
                  </a:gsLst>
                  <a:lin ang="5400000" scaled="1"/>
                </a:gradFill>
                <a:latin typeface="Impact"/>
              </a:rPr>
              <a:t>Authors of Exposure Java</a:t>
            </a:r>
          </a:p>
        </p:txBody>
      </p:sp>
      <p:pic>
        <p:nvPicPr>
          <p:cNvPr id="2053" name="Picture 18" descr="Schram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4784725"/>
            <a:ext cx="2743200"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82"/>
            </a:gs>
            <a:gs pos="30000">
              <a:srgbClr val="66008F"/>
            </a:gs>
            <a:gs pos="64999">
              <a:srgbClr val="BA0066"/>
            </a:gs>
            <a:gs pos="89999">
              <a:srgbClr val="FF0000"/>
            </a:gs>
            <a:gs pos="100000">
              <a:srgbClr val="FF8200"/>
            </a:gs>
          </a:gsLst>
          <a:lin ang="5400000"/>
        </a:gradFill>
        <a:effectLst/>
      </p:bgPr>
    </p:bg>
    <p:spTree>
      <p:nvGrpSpPr>
        <p:cNvPr id="1" name=""/>
        <p:cNvGrpSpPr/>
        <p:nvPr/>
      </p:nvGrpSpPr>
      <p:grpSpPr>
        <a:xfrm>
          <a:off x="0" y="0"/>
          <a:ext cx="0" cy="0"/>
          <a:chOff x="0" y="0"/>
          <a:chExt cx="0" cy="0"/>
        </a:xfrm>
      </p:grpSpPr>
      <p:sp>
        <p:nvSpPr>
          <p:cNvPr id="3074" name="WordArt 2"/>
          <p:cNvSpPr>
            <a:spLocks noChangeArrowheads="1" noChangeShapeType="1" noTextEdit="1"/>
          </p:cNvSpPr>
          <p:nvPr/>
        </p:nvSpPr>
        <p:spPr bwMode="auto">
          <a:xfrm>
            <a:off x="457200" y="2133600"/>
            <a:ext cx="8382000" cy="2895600"/>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Introduction</a:t>
            </a:r>
          </a:p>
        </p:txBody>
      </p:sp>
      <p:sp>
        <p:nvSpPr>
          <p:cNvPr id="3075"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a:ln w="9525">
                  <a:solidFill>
                    <a:srgbClr val="000000"/>
                  </a:solidFill>
                  <a:round/>
                  <a:headEnd/>
                  <a:tailEnd/>
                </a:ln>
                <a:solidFill>
                  <a:srgbClr val="FFFFFF"/>
                </a:solidFill>
                <a:latin typeface="Arial Black"/>
              </a:rPr>
              <a:t>Section 14.1</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3"/>
          <p:cNvSpPr txBox="1">
            <a:spLocks noChangeArrowheads="1"/>
          </p:cNvSpPr>
          <p:nvPr/>
        </p:nvSpPr>
        <p:spPr bwMode="auto">
          <a:xfrm>
            <a:off x="304800" y="2195513"/>
            <a:ext cx="8534400" cy="3899529"/>
          </a:xfrm>
          <a:prstGeom prst="rect">
            <a:avLst/>
          </a:prstGeom>
          <a:solidFill>
            <a:srgbClr val="00FFCC"/>
          </a:solidFill>
          <a:ln w="57150">
            <a:solidFill>
              <a:schemeClr val="tx1"/>
            </a:solidFill>
            <a:miter lim="800000"/>
            <a:headEnd/>
            <a:tailEnd/>
          </a:ln>
        </p:spPr>
        <p:txBody>
          <a:bodyPr>
            <a:spAutoFit/>
          </a:bodyPr>
          <a:lstStyle>
            <a:lvl1pPr eaLnBrk="0" hangingPunct="0">
              <a:tabLst>
                <a:tab pos="633413" algn="l"/>
              </a:tabLst>
              <a:defRPr b="1">
                <a:solidFill>
                  <a:schemeClr val="tx1"/>
                </a:solidFill>
                <a:latin typeface="Arial" charset="0"/>
              </a:defRPr>
            </a:lvl1pPr>
            <a:lvl2pPr marL="742950" indent="-285750" eaLnBrk="0" hangingPunct="0">
              <a:tabLst>
                <a:tab pos="633413" algn="l"/>
              </a:tabLst>
              <a:defRPr b="1">
                <a:solidFill>
                  <a:schemeClr val="tx1"/>
                </a:solidFill>
                <a:latin typeface="Arial" charset="0"/>
              </a:defRPr>
            </a:lvl2pPr>
            <a:lvl3pPr marL="1143000" indent="-228600" eaLnBrk="0" hangingPunct="0">
              <a:tabLst>
                <a:tab pos="633413" algn="l"/>
              </a:tabLst>
              <a:defRPr b="1">
                <a:solidFill>
                  <a:schemeClr val="tx1"/>
                </a:solidFill>
                <a:latin typeface="Arial" charset="0"/>
              </a:defRPr>
            </a:lvl3pPr>
            <a:lvl4pPr marL="1600200" indent="-228600" eaLnBrk="0" hangingPunct="0">
              <a:tabLst>
                <a:tab pos="633413" algn="l"/>
              </a:tabLst>
              <a:defRPr b="1">
                <a:solidFill>
                  <a:schemeClr val="tx1"/>
                </a:solidFill>
                <a:latin typeface="Arial" charset="0"/>
              </a:defRPr>
            </a:lvl4pPr>
            <a:lvl5pPr marL="2057400" indent="-228600" eaLnBrk="0" hangingPunct="0">
              <a:tabLst>
                <a:tab pos="633413" algn="l"/>
              </a:tabLst>
              <a:defRPr b="1">
                <a:solidFill>
                  <a:schemeClr val="tx1"/>
                </a:solidFill>
                <a:latin typeface="Arial" charset="0"/>
              </a:defRPr>
            </a:lvl5pPr>
            <a:lvl6pPr marL="2514600" indent="-228600" eaLnBrk="0" fontAlgn="base" hangingPunct="0">
              <a:spcBef>
                <a:spcPct val="0"/>
              </a:spcBef>
              <a:spcAft>
                <a:spcPct val="0"/>
              </a:spcAft>
              <a:tabLst>
                <a:tab pos="633413" algn="l"/>
              </a:tabLst>
              <a:defRPr b="1">
                <a:solidFill>
                  <a:schemeClr val="tx1"/>
                </a:solidFill>
                <a:latin typeface="Arial" charset="0"/>
              </a:defRPr>
            </a:lvl6pPr>
            <a:lvl7pPr marL="2971800" indent="-228600" eaLnBrk="0" fontAlgn="base" hangingPunct="0">
              <a:spcBef>
                <a:spcPct val="0"/>
              </a:spcBef>
              <a:spcAft>
                <a:spcPct val="0"/>
              </a:spcAft>
              <a:tabLst>
                <a:tab pos="633413" algn="l"/>
              </a:tabLst>
              <a:defRPr b="1">
                <a:solidFill>
                  <a:schemeClr val="tx1"/>
                </a:solidFill>
                <a:latin typeface="Arial" charset="0"/>
              </a:defRPr>
            </a:lvl7pPr>
            <a:lvl8pPr marL="3429000" indent="-228600" eaLnBrk="0" fontAlgn="base" hangingPunct="0">
              <a:spcBef>
                <a:spcPct val="0"/>
              </a:spcBef>
              <a:spcAft>
                <a:spcPct val="0"/>
              </a:spcAft>
              <a:tabLst>
                <a:tab pos="633413" algn="l"/>
              </a:tabLst>
              <a:defRPr b="1">
                <a:solidFill>
                  <a:schemeClr val="tx1"/>
                </a:solidFill>
                <a:latin typeface="Arial" charset="0"/>
              </a:defRPr>
            </a:lvl8pPr>
            <a:lvl9pPr marL="3886200" indent="-228600" eaLnBrk="0" fontAlgn="base" hangingPunct="0">
              <a:spcBef>
                <a:spcPct val="0"/>
              </a:spcBef>
              <a:spcAft>
                <a:spcPct val="0"/>
              </a:spcAft>
              <a:tabLst>
                <a:tab pos="633413" algn="l"/>
              </a:tabLst>
              <a:defRPr b="1">
                <a:solidFill>
                  <a:schemeClr val="tx1"/>
                </a:solidFill>
                <a:latin typeface="Arial" charset="0"/>
              </a:defRPr>
            </a:lvl9pPr>
          </a:lstStyle>
          <a:p>
            <a:pPr eaLnBrk="1" hangingPunct="1">
              <a:lnSpc>
                <a:spcPct val="110000"/>
              </a:lnSpc>
            </a:pPr>
            <a:r>
              <a:rPr lang="en-US" sz="2800" dirty="0">
                <a:sym typeface="Symbol" pitchFamily="18" charset="2"/>
              </a:rPr>
              <a:t>Object Oriented Programming (OOP) is a style of programming that incorporates these 3 features:</a:t>
            </a:r>
            <a:endParaRPr lang="en-US" sz="1600" dirty="0">
              <a:sym typeface="Symbol" pitchFamily="18" charset="2"/>
            </a:endParaRPr>
          </a:p>
          <a:p>
            <a:pPr eaLnBrk="1" hangingPunct="1">
              <a:lnSpc>
                <a:spcPct val="110000"/>
              </a:lnSpc>
            </a:pPr>
            <a:endParaRPr lang="en-US" sz="1400" dirty="0">
              <a:sym typeface="Symbol" pitchFamily="18" charset="2"/>
            </a:endParaRPr>
          </a:p>
          <a:p>
            <a:pPr algn="ctr" eaLnBrk="1" hangingPunct="1">
              <a:lnSpc>
                <a:spcPct val="110000"/>
              </a:lnSpc>
            </a:pPr>
            <a:r>
              <a:rPr lang="en-US" sz="4800" i="1" dirty="0">
                <a:cs typeface="Arial" charset="0"/>
                <a:sym typeface="Symbol" pitchFamily="18" charset="2"/>
              </a:rPr>
              <a:t>Encapsulation</a:t>
            </a:r>
          </a:p>
          <a:p>
            <a:pPr algn="ctr" eaLnBrk="1" hangingPunct="1">
              <a:lnSpc>
                <a:spcPct val="110000"/>
              </a:lnSpc>
            </a:pPr>
            <a:r>
              <a:rPr lang="en-US" sz="4800" i="1" dirty="0" smtClean="0">
                <a:cs typeface="Arial" charset="0"/>
                <a:sym typeface="Symbol" pitchFamily="18" charset="2"/>
              </a:rPr>
              <a:t>Class Interaction</a:t>
            </a:r>
          </a:p>
          <a:p>
            <a:pPr algn="ctr" eaLnBrk="1" hangingPunct="1">
              <a:lnSpc>
                <a:spcPct val="110000"/>
              </a:lnSpc>
            </a:pPr>
            <a:r>
              <a:rPr lang="en-US" sz="4800" i="1" dirty="0" smtClean="0">
                <a:cs typeface="Arial" charset="0"/>
                <a:sym typeface="Symbol" pitchFamily="18" charset="2"/>
              </a:rPr>
              <a:t>Polymorphism</a:t>
            </a:r>
            <a:endParaRPr lang="en-US" sz="4800" i="1" dirty="0">
              <a:cs typeface="Arial" charset="0"/>
              <a:sym typeface="Symbol" pitchFamily="18" charset="2"/>
            </a:endParaRPr>
          </a:p>
          <a:p>
            <a:pPr eaLnBrk="1" hangingPunct="1">
              <a:lnSpc>
                <a:spcPct val="50000"/>
              </a:lnSpc>
            </a:pPr>
            <a:endParaRPr lang="en-US" sz="2400" b="0" dirty="0">
              <a:sym typeface="Symbol" pitchFamily="18" charset="2"/>
            </a:endParaRPr>
          </a:p>
        </p:txBody>
      </p:sp>
      <p:sp>
        <p:nvSpPr>
          <p:cNvPr id="4099" name="WordArt 4"/>
          <p:cNvSpPr>
            <a:spLocks noChangeArrowheads="1" noChangeShapeType="1" noTextEdit="1"/>
          </p:cNvSpPr>
          <p:nvPr/>
        </p:nvSpPr>
        <p:spPr bwMode="auto">
          <a:xfrm>
            <a:off x="304800" y="104775"/>
            <a:ext cx="8534400" cy="1800225"/>
          </a:xfrm>
          <a:prstGeom prst="rect">
            <a:avLst/>
          </a:prstGeom>
        </p:spPr>
        <p:txBody>
          <a:bodyPr wrap="none" fromWordArt="1">
            <a:prstTxWarp prst="textSlantUp">
              <a:avLst>
                <a:gd name="adj" fmla="val 22412"/>
              </a:avLst>
            </a:prstTxWarp>
          </a:bodyPr>
          <a:lstStyle/>
          <a:p>
            <a:pPr algn="ctr"/>
            <a:r>
              <a:rPr lang="en-US" sz="9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OOP Review</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0"/>
            <a:ext cx="9144000" cy="1524000"/>
          </a:xfrm>
        </p:spPr>
        <p:txBody>
          <a:bodyPr/>
          <a:lstStyle/>
          <a:p>
            <a:pPr eaLnBrk="1" hangingPunct="1"/>
            <a:r>
              <a:rPr lang="en-US" sz="4800" smtClean="0">
                <a:latin typeface="Arial Black" pitchFamily="34" charset="0"/>
              </a:rPr>
              <a:t>Polymorphism</a:t>
            </a:r>
            <a:endParaRPr lang="en-US" smtClean="0"/>
          </a:p>
        </p:txBody>
      </p:sp>
      <p:sp>
        <p:nvSpPr>
          <p:cNvPr id="5123" name="Text Box 3"/>
          <p:cNvSpPr txBox="1">
            <a:spLocks noChangeArrowheads="1"/>
          </p:cNvSpPr>
          <p:nvPr/>
        </p:nvSpPr>
        <p:spPr bwMode="auto">
          <a:xfrm>
            <a:off x="381000" y="1828800"/>
            <a:ext cx="4038600" cy="3786188"/>
          </a:xfrm>
          <a:prstGeom prst="rect">
            <a:avLst/>
          </a:prstGeom>
          <a:solidFill>
            <a:srgbClr val="00FFCC"/>
          </a:solidFill>
          <a:ln w="57150">
            <a:solidFill>
              <a:schemeClr val="tx1"/>
            </a:solidFill>
            <a:miter lim="800000"/>
            <a:headEnd/>
            <a:tailEnd/>
          </a:ln>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r>
              <a:rPr lang="en-US" sz="3000" i="1">
                <a:cs typeface="Arial" charset="0"/>
              </a:rPr>
              <a:t>Polymorphism</a:t>
            </a:r>
            <a:r>
              <a:rPr lang="en-US" sz="3000">
                <a:cs typeface="Arial" charset="0"/>
              </a:rPr>
              <a:t> allows </a:t>
            </a:r>
            <a:r>
              <a:rPr lang="en-US" sz="3000"/>
              <a:t>something </a:t>
            </a:r>
          </a:p>
          <a:p>
            <a:pPr eaLnBrk="1" hangingPunct="1"/>
            <a:r>
              <a:rPr lang="en-US" sz="3000"/>
              <a:t>to have many forms.</a:t>
            </a:r>
          </a:p>
          <a:p>
            <a:pPr eaLnBrk="1" hangingPunct="1"/>
            <a:endParaRPr lang="en-US" sz="3000"/>
          </a:p>
          <a:p>
            <a:pPr eaLnBrk="1" hangingPunct="1"/>
            <a:r>
              <a:rPr lang="en-US" sz="3000"/>
              <a:t>It aids reliability by making every object responsible for its own actions.</a:t>
            </a:r>
            <a:endParaRPr lang="en-US" sz="3000" b="0"/>
          </a:p>
        </p:txBody>
      </p:sp>
      <p:pic>
        <p:nvPicPr>
          <p:cNvPr id="5124" name="Picture 4" descr="parrotmorph"/>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828800"/>
            <a:ext cx="4038600"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82"/>
            </a:gs>
            <a:gs pos="30000">
              <a:srgbClr val="66008F"/>
            </a:gs>
            <a:gs pos="64999">
              <a:srgbClr val="BA0066"/>
            </a:gs>
            <a:gs pos="89999">
              <a:srgbClr val="FF0000"/>
            </a:gs>
            <a:gs pos="100000">
              <a:srgbClr val="FF8200"/>
            </a:gs>
          </a:gsLst>
          <a:lin ang="5400000"/>
        </a:gradFill>
        <a:effectLst/>
      </p:bgPr>
    </p:bg>
    <p:spTree>
      <p:nvGrpSpPr>
        <p:cNvPr id="1" name=""/>
        <p:cNvGrpSpPr/>
        <p:nvPr/>
      </p:nvGrpSpPr>
      <p:grpSpPr>
        <a:xfrm>
          <a:off x="0" y="0"/>
          <a:ext cx="0" cy="0"/>
          <a:chOff x="0" y="0"/>
          <a:chExt cx="0" cy="0"/>
        </a:xfrm>
      </p:grpSpPr>
      <p:sp>
        <p:nvSpPr>
          <p:cNvPr id="7170" name="WordArt 2"/>
          <p:cNvSpPr>
            <a:spLocks noChangeArrowheads="1" noChangeShapeType="1" noTextEdit="1"/>
          </p:cNvSpPr>
          <p:nvPr/>
        </p:nvSpPr>
        <p:spPr bwMode="auto">
          <a:xfrm>
            <a:off x="381000" y="1371600"/>
            <a:ext cx="8305800" cy="2011363"/>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Overloaded</a:t>
            </a:r>
          </a:p>
        </p:txBody>
      </p:sp>
      <p:sp>
        <p:nvSpPr>
          <p:cNvPr id="7171"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a:ln w="9525">
                  <a:solidFill>
                    <a:srgbClr val="000000"/>
                  </a:solidFill>
                  <a:round/>
                  <a:headEnd/>
                  <a:tailEnd/>
                </a:ln>
                <a:solidFill>
                  <a:srgbClr val="FFFFFF"/>
                </a:solidFill>
                <a:latin typeface="Arial Black"/>
              </a:rPr>
              <a:t>Section 14.2</a:t>
            </a:r>
          </a:p>
        </p:txBody>
      </p:sp>
      <p:sp>
        <p:nvSpPr>
          <p:cNvPr id="7172" name="WordArt 2"/>
          <p:cNvSpPr>
            <a:spLocks noChangeArrowheads="1" noChangeShapeType="1" noTextEdit="1"/>
          </p:cNvSpPr>
          <p:nvPr/>
        </p:nvSpPr>
        <p:spPr bwMode="auto">
          <a:xfrm>
            <a:off x="381000" y="3124200"/>
            <a:ext cx="8305800" cy="2011363"/>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Operators</a:t>
            </a:r>
          </a:p>
        </p:txBody>
      </p:sp>
      <p:sp>
        <p:nvSpPr>
          <p:cNvPr id="7173" name="WordArt 2"/>
          <p:cNvSpPr>
            <a:spLocks noChangeArrowheads="1" noChangeShapeType="1" noTextEdit="1"/>
          </p:cNvSpPr>
          <p:nvPr/>
        </p:nvSpPr>
        <p:spPr bwMode="auto">
          <a:xfrm>
            <a:off x="381000" y="4694238"/>
            <a:ext cx="8305800" cy="2011362"/>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and Methods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1143000"/>
          </a:xfrm>
        </p:spPr>
        <p:txBody>
          <a:bodyPr/>
          <a:lstStyle/>
          <a:p>
            <a:pPr eaLnBrk="1" hangingPunct="1"/>
            <a:r>
              <a:rPr lang="en-US" sz="4800" smtClean="0">
                <a:latin typeface="Arial Black" pitchFamily="34" charset="0"/>
              </a:rPr>
              <a:t>Addition &amp; Concatenation</a:t>
            </a:r>
          </a:p>
        </p:txBody>
      </p:sp>
      <p:sp>
        <p:nvSpPr>
          <p:cNvPr id="8195" name="Text Box 3"/>
          <p:cNvSpPr txBox="1">
            <a:spLocks noChangeArrowheads="1"/>
          </p:cNvSpPr>
          <p:nvPr/>
        </p:nvSpPr>
        <p:spPr bwMode="auto">
          <a:xfrm>
            <a:off x="0" y="1184275"/>
            <a:ext cx="9144000" cy="2862263"/>
          </a:xfrm>
          <a:prstGeom prst="rect">
            <a:avLst/>
          </a:prstGeom>
          <a:solidFill>
            <a:srgbClr val="00FFCC"/>
          </a:solidFill>
          <a:ln w="57150">
            <a:solidFill>
              <a:schemeClr val="tx1"/>
            </a:solidFill>
            <a:miter lim="800000"/>
            <a:headEnd/>
            <a:tailEnd/>
          </a:ln>
        </p:spPr>
        <p:txBody>
          <a:bodyPr>
            <a:spAutoFit/>
          </a:bodyPr>
          <a:lstStyle>
            <a:lvl1pPr eaLnBrk="0" hangingPunct="0">
              <a:tabLst>
                <a:tab pos="633413" algn="l"/>
              </a:tabLst>
              <a:defRPr b="1">
                <a:solidFill>
                  <a:schemeClr val="tx1"/>
                </a:solidFill>
                <a:latin typeface="Arial" charset="0"/>
              </a:defRPr>
            </a:lvl1pPr>
            <a:lvl2pPr marL="742950" indent="-285750" eaLnBrk="0" hangingPunct="0">
              <a:tabLst>
                <a:tab pos="633413" algn="l"/>
              </a:tabLst>
              <a:defRPr b="1">
                <a:solidFill>
                  <a:schemeClr val="tx1"/>
                </a:solidFill>
                <a:latin typeface="Arial" charset="0"/>
              </a:defRPr>
            </a:lvl2pPr>
            <a:lvl3pPr marL="1143000" indent="-228600" eaLnBrk="0" hangingPunct="0">
              <a:tabLst>
                <a:tab pos="633413" algn="l"/>
              </a:tabLst>
              <a:defRPr b="1">
                <a:solidFill>
                  <a:schemeClr val="tx1"/>
                </a:solidFill>
                <a:latin typeface="Arial" charset="0"/>
              </a:defRPr>
            </a:lvl3pPr>
            <a:lvl4pPr marL="1600200" indent="-228600" eaLnBrk="0" hangingPunct="0">
              <a:tabLst>
                <a:tab pos="633413" algn="l"/>
              </a:tabLst>
              <a:defRPr b="1">
                <a:solidFill>
                  <a:schemeClr val="tx1"/>
                </a:solidFill>
                <a:latin typeface="Arial" charset="0"/>
              </a:defRPr>
            </a:lvl4pPr>
            <a:lvl5pPr marL="2057400" indent="-228600" eaLnBrk="0" hangingPunct="0">
              <a:tabLst>
                <a:tab pos="633413" algn="l"/>
              </a:tabLst>
              <a:defRPr b="1">
                <a:solidFill>
                  <a:schemeClr val="tx1"/>
                </a:solidFill>
                <a:latin typeface="Arial" charset="0"/>
              </a:defRPr>
            </a:lvl5pPr>
            <a:lvl6pPr marL="2514600" indent="-228600" eaLnBrk="0" fontAlgn="base" hangingPunct="0">
              <a:spcBef>
                <a:spcPct val="0"/>
              </a:spcBef>
              <a:spcAft>
                <a:spcPct val="0"/>
              </a:spcAft>
              <a:tabLst>
                <a:tab pos="633413" algn="l"/>
              </a:tabLst>
              <a:defRPr b="1">
                <a:solidFill>
                  <a:schemeClr val="tx1"/>
                </a:solidFill>
                <a:latin typeface="Arial" charset="0"/>
              </a:defRPr>
            </a:lvl6pPr>
            <a:lvl7pPr marL="2971800" indent="-228600" eaLnBrk="0" fontAlgn="base" hangingPunct="0">
              <a:spcBef>
                <a:spcPct val="0"/>
              </a:spcBef>
              <a:spcAft>
                <a:spcPct val="0"/>
              </a:spcAft>
              <a:tabLst>
                <a:tab pos="633413" algn="l"/>
              </a:tabLst>
              <a:defRPr b="1">
                <a:solidFill>
                  <a:schemeClr val="tx1"/>
                </a:solidFill>
                <a:latin typeface="Arial" charset="0"/>
              </a:defRPr>
            </a:lvl7pPr>
            <a:lvl8pPr marL="3429000" indent="-228600" eaLnBrk="0" fontAlgn="base" hangingPunct="0">
              <a:spcBef>
                <a:spcPct val="0"/>
              </a:spcBef>
              <a:spcAft>
                <a:spcPct val="0"/>
              </a:spcAft>
              <a:tabLst>
                <a:tab pos="633413" algn="l"/>
              </a:tabLst>
              <a:defRPr b="1">
                <a:solidFill>
                  <a:schemeClr val="tx1"/>
                </a:solidFill>
                <a:latin typeface="Arial" charset="0"/>
              </a:defRPr>
            </a:lvl8pPr>
            <a:lvl9pPr marL="3886200" indent="-228600" eaLnBrk="0" fontAlgn="base" hangingPunct="0">
              <a:spcBef>
                <a:spcPct val="0"/>
              </a:spcBef>
              <a:spcAft>
                <a:spcPct val="0"/>
              </a:spcAft>
              <a:tabLst>
                <a:tab pos="633413" algn="l"/>
              </a:tabLst>
              <a:defRPr b="1">
                <a:solidFill>
                  <a:schemeClr val="tx1"/>
                </a:solidFill>
                <a:latin typeface="Arial" charset="0"/>
              </a:defRPr>
            </a:lvl9pPr>
          </a:lstStyle>
          <a:p>
            <a:r>
              <a:rPr lang="en-US" sz="3200">
                <a:latin typeface="Arial Black" pitchFamily="34" charset="0"/>
              </a:rPr>
              <a:t>100 + 200 = 300           </a:t>
            </a:r>
            <a:r>
              <a:rPr lang="en-US" sz="3200">
                <a:latin typeface="Arial Narrow" pitchFamily="34" charset="0"/>
              </a:rPr>
              <a:t>  	    </a:t>
            </a:r>
            <a:r>
              <a:rPr lang="en-US" sz="2800">
                <a:latin typeface="Arial Narrow" pitchFamily="34" charset="0"/>
                <a:cs typeface="Arial" charset="0"/>
              </a:rPr>
              <a:t>(this is addition)</a:t>
            </a:r>
          </a:p>
          <a:p>
            <a:r>
              <a:rPr lang="en-US" sz="3200">
                <a:latin typeface="Arial Black" pitchFamily="34" charset="0"/>
              </a:rPr>
              <a:t> </a:t>
            </a:r>
          </a:p>
          <a:p>
            <a:r>
              <a:rPr lang="en-US" sz="3200">
                <a:latin typeface="Arial Black" pitchFamily="34" charset="0"/>
              </a:rPr>
              <a:t>“100” + “200” = “100200”  </a:t>
            </a:r>
            <a:r>
              <a:rPr lang="en-US" sz="2800">
                <a:latin typeface="Arial Narrow" pitchFamily="34" charset="0"/>
                <a:cs typeface="Arial" charset="0"/>
              </a:rPr>
              <a:t>(this is concatenation)</a:t>
            </a:r>
          </a:p>
          <a:p>
            <a:endParaRPr lang="en-US" sz="2800">
              <a:latin typeface="Arial Narrow" pitchFamily="34" charset="0"/>
              <a:cs typeface="Arial" charset="0"/>
            </a:endParaRPr>
          </a:p>
          <a:p>
            <a:r>
              <a:rPr lang="en-US" sz="2800">
                <a:cs typeface="Arial" charset="0"/>
              </a:rPr>
              <a:t>This shows that the plus sign ( + ) is an </a:t>
            </a:r>
            <a:r>
              <a:rPr lang="en-US" sz="2800" i="1">
                <a:cs typeface="Arial" charset="0"/>
              </a:rPr>
              <a:t>overloaded operator.</a:t>
            </a:r>
            <a:endParaRPr lang="en-US" sz="3200" i="1">
              <a:cs typeface="Arial" charset="0"/>
            </a:endParaRPr>
          </a:p>
        </p:txBody>
      </p:sp>
      <p:pic>
        <p:nvPicPr>
          <p:cNvPr id="8196" name="Picture 8" descr="C:\Users\JohnSchram\AppData\Local\Microsoft\Windows\Temporary Internet Files\Content.IE5\HBCMQ2SU\MP900432728[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4094163"/>
            <a:ext cx="419100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0" y="0"/>
            <a:ext cx="9144000" cy="7109639"/>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1900" dirty="0" smtClean="0">
                <a:latin typeface="Times New Roman" pitchFamily="18" charset="0"/>
                <a:cs typeface="Times New Roman" pitchFamily="18" charset="0"/>
              </a:rPr>
              <a:t>// Java1401.java</a:t>
            </a:r>
          </a:p>
          <a:p>
            <a:r>
              <a:rPr lang="en-US" sz="1900" dirty="0" smtClean="0">
                <a:latin typeface="Times New Roman" pitchFamily="18" charset="0"/>
                <a:cs typeface="Times New Roman" pitchFamily="18" charset="0"/>
              </a:rPr>
              <a:t>// The &lt; + &gt; operator in Java is overloaded.</a:t>
            </a:r>
          </a:p>
          <a:p>
            <a:r>
              <a:rPr lang="en-US" sz="1900" dirty="0" smtClean="0">
                <a:latin typeface="Times New Roman" pitchFamily="18" charset="0"/>
                <a:cs typeface="Times New Roman" pitchFamily="18" charset="0"/>
              </a:rPr>
              <a:t>// This program shows that the same operator can perform</a:t>
            </a:r>
          </a:p>
          <a:p>
            <a:r>
              <a:rPr lang="en-US" sz="1900" dirty="0" smtClean="0">
                <a:latin typeface="Times New Roman" pitchFamily="18" charset="0"/>
                <a:cs typeface="Times New Roman" pitchFamily="18" charset="0"/>
              </a:rPr>
              <a:t>// arithmetic addition and string concatenation.</a:t>
            </a:r>
          </a:p>
          <a:p>
            <a:endParaRPr lang="en-US" sz="1600" dirty="0" smtClean="0">
              <a:latin typeface="Times New Roman" pitchFamily="18" charset="0"/>
              <a:cs typeface="Times New Roman" pitchFamily="18" charset="0"/>
            </a:endParaRPr>
          </a:p>
          <a:p>
            <a:r>
              <a:rPr lang="en-US" sz="1900" dirty="0" smtClean="0">
                <a:latin typeface="Times New Roman" pitchFamily="18" charset="0"/>
                <a:cs typeface="Times New Roman" pitchFamily="18" charset="0"/>
              </a:rPr>
              <a:t>public class Java1401</a:t>
            </a:r>
          </a:p>
          <a:p>
            <a:r>
              <a:rPr lang="en-US" sz="1900" dirty="0" smtClean="0">
                <a:latin typeface="Times New Roman" pitchFamily="18" charset="0"/>
                <a:cs typeface="Times New Roman" pitchFamily="18" charset="0"/>
              </a:rPr>
              <a:t>{</a:t>
            </a:r>
          </a:p>
          <a:p>
            <a:r>
              <a:rPr lang="en-US" sz="1900" dirty="0" smtClean="0">
                <a:latin typeface="Times New Roman" pitchFamily="18" charset="0"/>
                <a:cs typeface="Times New Roman" pitchFamily="18" charset="0"/>
              </a:rPr>
              <a:t>	public static void main (String[] </a:t>
            </a:r>
            <a:r>
              <a:rPr lang="en-US" sz="1900" dirty="0" err="1" smtClean="0">
                <a:latin typeface="Times New Roman" pitchFamily="18" charset="0"/>
                <a:cs typeface="Times New Roman" pitchFamily="18" charset="0"/>
              </a:rPr>
              <a:t>args</a:t>
            </a:r>
            <a:r>
              <a:rPr lang="en-US" sz="1900" dirty="0" smtClean="0">
                <a:latin typeface="Times New Roman" pitchFamily="18" charset="0"/>
                <a:cs typeface="Times New Roman" pitchFamily="18" charset="0"/>
              </a:rPr>
              <a:t>)</a:t>
            </a:r>
          </a:p>
          <a:p>
            <a:r>
              <a:rPr lang="en-US" sz="1900" dirty="0" smtClean="0">
                <a:latin typeface="Times New Roman" pitchFamily="18" charset="0"/>
                <a:cs typeface="Times New Roman" pitchFamily="18" charset="0"/>
              </a:rPr>
              <a:t>	{</a:t>
            </a:r>
          </a:p>
          <a:p>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int</a:t>
            </a:r>
            <a:r>
              <a:rPr lang="en-US" sz="1900" dirty="0" smtClean="0">
                <a:latin typeface="Times New Roman" pitchFamily="18" charset="0"/>
                <a:cs typeface="Times New Roman" pitchFamily="18" charset="0"/>
              </a:rPr>
              <a:t> n1 = 1000;</a:t>
            </a:r>
          </a:p>
          <a:p>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int</a:t>
            </a:r>
            <a:r>
              <a:rPr lang="en-US" sz="1900" dirty="0" smtClean="0">
                <a:latin typeface="Times New Roman" pitchFamily="18" charset="0"/>
                <a:cs typeface="Times New Roman" pitchFamily="18" charset="0"/>
              </a:rPr>
              <a:t> n2 = 2000;</a:t>
            </a:r>
          </a:p>
          <a:p>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int</a:t>
            </a:r>
            <a:r>
              <a:rPr lang="en-US" sz="1900" dirty="0" smtClean="0">
                <a:latin typeface="Times New Roman" pitchFamily="18" charset="0"/>
                <a:cs typeface="Times New Roman" pitchFamily="18" charset="0"/>
              </a:rPr>
              <a:t> n3 = n1 + n2;</a:t>
            </a:r>
          </a:p>
          <a:p>
            <a:endParaRPr lang="en-US" sz="1600" dirty="0" smtClean="0">
              <a:latin typeface="Times New Roman" pitchFamily="18" charset="0"/>
              <a:cs typeface="Times New Roman" pitchFamily="18" charset="0"/>
            </a:endParaRPr>
          </a:p>
          <a:p>
            <a:r>
              <a:rPr lang="en-US" sz="1900" dirty="0" smtClean="0">
                <a:latin typeface="Times New Roman" pitchFamily="18" charset="0"/>
                <a:cs typeface="Times New Roman" pitchFamily="18" charset="0"/>
              </a:rPr>
              <a:t>		String s1 = "1000";</a:t>
            </a:r>
          </a:p>
          <a:p>
            <a:r>
              <a:rPr lang="en-US" sz="1900" dirty="0" smtClean="0">
                <a:latin typeface="Times New Roman" pitchFamily="18" charset="0"/>
                <a:cs typeface="Times New Roman" pitchFamily="18" charset="0"/>
              </a:rPr>
              <a:t>		String s2 = "2000";</a:t>
            </a:r>
          </a:p>
          <a:p>
            <a:r>
              <a:rPr lang="en-US" sz="1900" dirty="0" smtClean="0">
                <a:latin typeface="Times New Roman" pitchFamily="18" charset="0"/>
                <a:cs typeface="Times New Roman" pitchFamily="18" charset="0"/>
              </a:rPr>
              <a:t>		String s3 = s1 + s2;</a:t>
            </a:r>
          </a:p>
          <a:p>
            <a:endParaRPr lang="en-US" sz="1600" dirty="0" smtClean="0">
              <a:latin typeface="Times New Roman" pitchFamily="18" charset="0"/>
              <a:cs typeface="Times New Roman" pitchFamily="18" charset="0"/>
            </a:endParaRPr>
          </a:p>
          <a:p>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System.out.println</a:t>
            </a:r>
            <a:r>
              <a:rPr lang="en-US" sz="1900" dirty="0" smtClean="0">
                <a:latin typeface="Times New Roman" pitchFamily="18" charset="0"/>
                <a:cs typeface="Times New Roman" pitchFamily="18" charset="0"/>
              </a:rPr>
              <a:t>();</a:t>
            </a:r>
          </a:p>
          <a:p>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System.out.println</a:t>
            </a:r>
            <a:r>
              <a:rPr lang="en-US" sz="1900" dirty="0" smtClean="0">
                <a:latin typeface="Times New Roman" pitchFamily="18" charset="0"/>
                <a:cs typeface="Times New Roman" pitchFamily="18" charset="0"/>
              </a:rPr>
              <a:t>("n1 + n2 = " + n3);</a:t>
            </a:r>
          </a:p>
          <a:p>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System.out.println</a:t>
            </a:r>
            <a:r>
              <a:rPr lang="en-US" sz="1900" dirty="0" smtClean="0">
                <a:latin typeface="Times New Roman" pitchFamily="18" charset="0"/>
                <a:cs typeface="Times New Roman" pitchFamily="18" charset="0"/>
              </a:rPr>
              <a:t>();</a:t>
            </a:r>
          </a:p>
          <a:p>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System.out.println</a:t>
            </a:r>
            <a:r>
              <a:rPr lang="en-US" sz="1900" dirty="0" smtClean="0">
                <a:latin typeface="Times New Roman" pitchFamily="18" charset="0"/>
                <a:cs typeface="Times New Roman" pitchFamily="18" charset="0"/>
              </a:rPr>
              <a:t>("s1 + s2 = " + s3);</a:t>
            </a:r>
          </a:p>
          <a:p>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System.out.println</a:t>
            </a:r>
            <a:r>
              <a:rPr lang="en-US" sz="1900" dirty="0" smtClean="0">
                <a:latin typeface="Times New Roman" pitchFamily="18" charset="0"/>
                <a:cs typeface="Times New Roman" pitchFamily="18" charset="0"/>
              </a:rPr>
              <a:t>();</a:t>
            </a:r>
          </a:p>
          <a:p>
            <a:pPr>
              <a:lnSpc>
                <a:spcPct val="80000"/>
              </a:lnSpc>
            </a:pPr>
            <a:r>
              <a:rPr lang="en-US" sz="1900" dirty="0" smtClean="0">
                <a:latin typeface="Times New Roman" pitchFamily="18" charset="0"/>
                <a:cs typeface="Times New Roman" pitchFamily="18" charset="0"/>
              </a:rPr>
              <a:t>	}</a:t>
            </a:r>
          </a:p>
          <a:p>
            <a:pPr>
              <a:lnSpc>
                <a:spcPct val="80000"/>
              </a:lnSpc>
            </a:pPr>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p:txBody>
      </p:sp>
      <p:sp>
        <p:nvSpPr>
          <p:cNvPr id="4" name="TextBox 3"/>
          <p:cNvSpPr txBox="1"/>
          <p:nvPr/>
        </p:nvSpPr>
        <p:spPr>
          <a:xfrm>
            <a:off x="4038600" y="2743200"/>
            <a:ext cx="4371975" cy="1384995"/>
          </a:xfrm>
          <a:prstGeom prst="rect">
            <a:avLst/>
          </a:prstGeom>
          <a:solidFill>
            <a:schemeClr val="accent6">
              <a:lumMod val="20000"/>
              <a:lumOff val="80000"/>
            </a:schemeClr>
          </a:solidFill>
          <a:ln w="57150">
            <a:solidFill>
              <a:schemeClr val="tx1"/>
            </a:solidFill>
          </a:ln>
        </p:spPr>
        <p:txBody>
          <a:bodyPr wrap="square" rtlCol="0">
            <a:spAutoFit/>
          </a:bodyPr>
          <a:lstStyle/>
          <a:p>
            <a:r>
              <a:rPr lang="pt-BR" sz="2800" dirty="0">
                <a:latin typeface="Courier New" panose="02070309020205020404" pitchFamily="49" charset="0"/>
                <a:cs typeface="Courier New" panose="02070309020205020404" pitchFamily="49" charset="0"/>
              </a:rPr>
              <a:t>n1 + n2 = 3000</a:t>
            </a:r>
          </a:p>
          <a:p>
            <a:endParaRPr lang="pt-BR" sz="2800" dirty="0">
              <a:latin typeface="Courier New" panose="02070309020205020404" pitchFamily="49" charset="0"/>
              <a:cs typeface="Courier New" panose="02070309020205020404" pitchFamily="49" charset="0"/>
            </a:endParaRPr>
          </a:p>
          <a:p>
            <a:r>
              <a:rPr lang="pt-BR" sz="2800" dirty="0">
                <a:latin typeface="Courier New" panose="02070309020205020404" pitchFamily="49" charset="0"/>
                <a:cs typeface="Courier New" panose="02070309020205020404" pitchFamily="49" charset="0"/>
              </a:rPr>
              <a:t>s1 + s2 = 10002000</a:t>
            </a:r>
            <a:endParaRPr lang="en-US" sz="2800" dirty="0">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0" y="0"/>
            <a:ext cx="9144000" cy="6863417"/>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2200" dirty="0" smtClean="0">
                <a:latin typeface="Times New Roman" pitchFamily="18" charset="0"/>
                <a:cs typeface="Times New Roman" pitchFamily="18" charset="0"/>
              </a:rPr>
              <a:t>// Java1402.java</a:t>
            </a:r>
          </a:p>
          <a:p>
            <a:r>
              <a:rPr lang="en-US" sz="2200" dirty="0" smtClean="0">
                <a:latin typeface="Times New Roman" pitchFamily="18" charset="0"/>
                <a:cs typeface="Times New Roman" pitchFamily="18" charset="0"/>
              </a:rPr>
              <a:t>// This program draws four squares with four different </a:t>
            </a:r>
          </a:p>
          <a:p>
            <a:r>
              <a:rPr lang="en-US" sz="2200" dirty="0" smtClean="0">
                <a:latin typeface="Times New Roman" pitchFamily="18" charset="0"/>
                <a:cs typeface="Times New Roman" pitchFamily="18" charset="0"/>
              </a:rPr>
              <a:t>// &lt;</a:t>
            </a:r>
            <a:r>
              <a:rPr lang="en-US" sz="2200" dirty="0" err="1" smtClean="0">
                <a:latin typeface="Times New Roman" pitchFamily="18" charset="0"/>
                <a:cs typeface="Times New Roman" pitchFamily="18" charset="0"/>
              </a:rPr>
              <a:t>drawSquare</a:t>
            </a:r>
            <a:r>
              <a:rPr lang="en-US" sz="2200" dirty="0" smtClean="0">
                <a:latin typeface="Times New Roman" pitchFamily="18" charset="0"/>
                <a:cs typeface="Times New Roman" pitchFamily="18" charset="0"/>
              </a:rPr>
              <a:t>&gt; methods.</a:t>
            </a:r>
          </a:p>
          <a:p>
            <a:r>
              <a:rPr lang="en-US" sz="2200" dirty="0" smtClean="0">
                <a:latin typeface="Times New Roman" pitchFamily="18" charset="0"/>
                <a:cs typeface="Times New Roman" pitchFamily="18" charset="0"/>
              </a:rPr>
              <a:t>// There are no overloaded methods.</a:t>
            </a:r>
          </a:p>
          <a:p>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public class Java1402 extends Applet</a:t>
            </a:r>
          </a:p>
          <a:p>
            <a:r>
              <a:rPr lang="en-US" sz="2200" dirty="0" smtClean="0">
                <a:latin typeface="Times New Roman" pitchFamily="18" charset="0"/>
                <a:cs typeface="Times New Roman" pitchFamily="18" charset="0"/>
              </a:rPr>
              <a:t>{</a:t>
            </a:r>
          </a:p>
          <a:p>
            <a:r>
              <a:rPr lang="en-US" sz="2200" dirty="0" smtClean="0">
                <a:latin typeface="Times New Roman" pitchFamily="18" charset="0"/>
                <a:cs typeface="Times New Roman" pitchFamily="18" charset="0"/>
              </a:rPr>
              <a:t>	public void paint(Graphics g)</a:t>
            </a:r>
          </a:p>
          <a:p>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		drawSquare1(g);</a:t>
            </a:r>
          </a:p>
          <a:p>
            <a:r>
              <a:rPr lang="en-US" sz="2200" dirty="0" smtClean="0">
                <a:latin typeface="Times New Roman" pitchFamily="18" charset="0"/>
                <a:cs typeface="Times New Roman" pitchFamily="18" charset="0"/>
              </a:rPr>
              <a:t>		drawSquare2(g,200,300);</a:t>
            </a:r>
          </a:p>
          <a:p>
            <a:r>
              <a:rPr lang="en-US" sz="2200" dirty="0" smtClean="0">
                <a:latin typeface="Times New Roman" pitchFamily="18" charset="0"/>
                <a:cs typeface="Times New Roman" pitchFamily="18" charset="0"/>
              </a:rPr>
              <a:t>		drawSquare3(g,Color.blue,600,200);</a:t>
            </a:r>
          </a:p>
          <a:p>
            <a:r>
              <a:rPr lang="en-US" sz="2200" dirty="0" smtClean="0">
                <a:latin typeface="Times New Roman" pitchFamily="18" charset="0"/>
                <a:cs typeface="Times New Roman" pitchFamily="18" charset="0"/>
              </a:rPr>
              <a:t>		drawSquare4(g,Color.green,500,400,200);</a:t>
            </a:r>
          </a:p>
          <a:p>
            <a:r>
              <a:rPr lang="en-US" sz="2200" dirty="0" smtClean="0">
                <a:latin typeface="Times New Roman" pitchFamily="18" charset="0"/>
                <a:cs typeface="Times New Roman" pitchFamily="18" charset="0"/>
              </a:rPr>
              <a:t>	}</a:t>
            </a:r>
          </a:p>
          <a:p>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	public void drawSquare1(Graphics g)</a:t>
            </a:r>
          </a:p>
          <a:p>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g.setColor</a:t>
            </a:r>
            <a:r>
              <a:rPr lang="en-US" sz="2200" dirty="0" smtClean="0">
                <a:latin typeface="Times New Roman" pitchFamily="18" charset="0"/>
                <a:cs typeface="Times New Roman" pitchFamily="18" charset="0"/>
              </a:rPr>
              <a:t>(</a:t>
            </a:r>
            <a:r>
              <a:rPr lang="en-US" sz="2200" dirty="0" err="1" smtClean="0">
                <a:latin typeface="Times New Roman" pitchFamily="18" charset="0"/>
                <a:cs typeface="Times New Roman" pitchFamily="18" charset="0"/>
              </a:rPr>
              <a:t>Color.black</a:t>
            </a:r>
            <a:r>
              <a:rPr lang="en-US" sz="2200" dirty="0" smtClean="0">
                <a:latin typeface="Times New Roman" pitchFamily="18" charset="0"/>
                <a:cs typeface="Times New Roman" pitchFamily="18" charset="0"/>
              </a:rPr>
              <a:t>);</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g.fillRect</a:t>
            </a:r>
            <a:r>
              <a:rPr lang="en-US" sz="2200" dirty="0" smtClean="0">
                <a:latin typeface="Times New Roman" pitchFamily="18" charset="0"/>
                <a:cs typeface="Times New Roman" pitchFamily="18" charset="0"/>
              </a:rPr>
              <a:t>(100,100,150,150);</a:t>
            </a:r>
          </a:p>
          <a:p>
            <a:r>
              <a:rPr lang="en-US" sz="2200" dirty="0" smtClean="0">
                <a:latin typeface="Times New Roman" pitchFamily="18" charset="0"/>
                <a:cs typeface="Times New Roman" pitchFamily="18" charset="0"/>
              </a:rPr>
              <a:t>	}</a:t>
            </a:r>
          </a:p>
        </p:txBody>
      </p:sp>
    </p:spTree>
    <p:extLst>
      <p:ext uri="{BB962C8B-B14F-4D97-AF65-F5344CB8AC3E}">
        <p14:creationId xmlns:p14="http://schemas.microsoft.com/office/powerpoint/2010/main" val="245384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0" y="-1"/>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2200" dirty="0" smtClean="0">
                <a:latin typeface="Times New Roman" pitchFamily="18" charset="0"/>
                <a:cs typeface="Times New Roman" pitchFamily="18" charset="0"/>
              </a:rPr>
              <a:t>	public void drawSquare2(Graphics g,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x,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y)</a:t>
            </a:r>
          </a:p>
          <a:p>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g.setColor</a:t>
            </a:r>
            <a:r>
              <a:rPr lang="en-US" sz="2200" dirty="0" smtClean="0">
                <a:latin typeface="Times New Roman" pitchFamily="18" charset="0"/>
                <a:cs typeface="Times New Roman" pitchFamily="18" charset="0"/>
              </a:rPr>
              <a:t>(</a:t>
            </a:r>
            <a:r>
              <a:rPr lang="en-US" sz="2200" dirty="0" err="1" smtClean="0">
                <a:latin typeface="Times New Roman" pitchFamily="18" charset="0"/>
                <a:cs typeface="Times New Roman" pitchFamily="18" charset="0"/>
              </a:rPr>
              <a:t>Color.red</a:t>
            </a:r>
            <a:r>
              <a:rPr lang="en-US" sz="2200" dirty="0" smtClean="0">
                <a:latin typeface="Times New Roman" pitchFamily="18" charset="0"/>
                <a:cs typeface="Times New Roman" pitchFamily="18" charset="0"/>
              </a:rPr>
              <a:t>);</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g.fillRect</a:t>
            </a:r>
            <a:r>
              <a:rPr lang="en-US" sz="2200" dirty="0" smtClean="0">
                <a:latin typeface="Times New Roman" pitchFamily="18" charset="0"/>
                <a:cs typeface="Times New Roman" pitchFamily="18" charset="0"/>
              </a:rPr>
              <a:t>(x,y,150,150);</a:t>
            </a:r>
          </a:p>
          <a:p>
            <a:r>
              <a:rPr lang="en-US" sz="2200" dirty="0" smtClean="0">
                <a:latin typeface="Times New Roman" pitchFamily="18" charset="0"/>
                <a:cs typeface="Times New Roman" pitchFamily="18" charset="0"/>
              </a:rPr>
              <a:t>	}</a:t>
            </a:r>
          </a:p>
          <a:p>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	public void drawSquare3(Graphics g, Color </a:t>
            </a:r>
            <a:r>
              <a:rPr lang="en-US" sz="2200" dirty="0" err="1" smtClean="0">
                <a:latin typeface="Times New Roman" pitchFamily="18" charset="0"/>
                <a:cs typeface="Times New Roman" pitchFamily="18" charset="0"/>
              </a:rPr>
              <a:t>color</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x,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y)</a:t>
            </a:r>
          </a:p>
          <a:p>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g.setColor</a:t>
            </a:r>
            <a:r>
              <a:rPr lang="en-US" sz="2200" dirty="0" smtClean="0">
                <a:latin typeface="Times New Roman" pitchFamily="18" charset="0"/>
                <a:cs typeface="Times New Roman" pitchFamily="18" charset="0"/>
              </a:rPr>
              <a:t>(color);</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g.fillRect</a:t>
            </a:r>
            <a:r>
              <a:rPr lang="en-US" sz="2200" dirty="0" smtClean="0">
                <a:latin typeface="Times New Roman" pitchFamily="18" charset="0"/>
                <a:cs typeface="Times New Roman" pitchFamily="18" charset="0"/>
              </a:rPr>
              <a:t>(x,y,150,150);</a:t>
            </a:r>
          </a:p>
          <a:p>
            <a:r>
              <a:rPr lang="en-US" sz="2200" dirty="0" smtClean="0">
                <a:latin typeface="Times New Roman" pitchFamily="18" charset="0"/>
                <a:cs typeface="Times New Roman" pitchFamily="18" charset="0"/>
              </a:rPr>
              <a:t>	}</a:t>
            </a:r>
          </a:p>
          <a:p>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	public void drawSquare4(Graphics g, Color </a:t>
            </a:r>
            <a:r>
              <a:rPr lang="en-US" sz="2200" dirty="0" err="1" smtClean="0">
                <a:latin typeface="Times New Roman" pitchFamily="18" charset="0"/>
                <a:cs typeface="Times New Roman" pitchFamily="18" charset="0"/>
              </a:rPr>
              <a:t>color</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x,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y,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side)</a:t>
            </a:r>
          </a:p>
          <a:p>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g.setColor</a:t>
            </a:r>
            <a:r>
              <a:rPr lang="en-US" sz="2200" dirty="0" smtClean="0">
                <a:latin typeface="Times New Roman" pitchFamily="18" charset="0"/>
                <a:cs typeface="Times New Roman" pitchFamily="18" charset="0"/>
              </a:rPr>
              <a:t>(color);</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g.fillRect</a:t>
            </a:r>
            <a:r>
              <a:rPr lang="en-US" sz="2200" dirty="0" smtClean="0">
                <a:latin typeface="Times New Roman" pitchFamily="18" charset="0"/>
                <a:cs typeface="Times New Roman" pitchFamily="18" charset="0"/>
              </a:rPr>
              <a:t>(</a:t>
            </a:r>
            <a:r>
              <a:rPr lang="en-US" sz="2200" dirty="0" err="1" smtClean="0">
                <a:latin typeface="Times New Roman" pitchFamily="18" charset="0"/>
                <a:cs typeface="Times New Roman" pitchFamily="18" charset="0"/>
              </a:rPr>
              <a:t>x,y,side,side</a:t>
            </a:r>
            <a:r>
              <a:rPr lang="en-US" sz="2200" dirty="0" smtClean="0">
                <a:latin typeface="Times New Roman" pitchFamily="18" charset="0"/>
                <a:cs typeface="Times New Roman" pitchFamily="18" charset="0"/>
              </a:rPr>
              <a:t>);</a:t>
            </a:r>
          </a:p>
          <a:p>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818568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13994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0" y="0"/>
            <a:ext cx="9144000" cy="6863417"/>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2200" dirty="0" smtClean="0">
                <a:latin typeface="Times New Roman" pitchFamily="18" charset="0"/>
                <a:cs typeface="Times New Roman" pitchFamily="18" charset="0"/>
              </a:rPr>
              <a:t>// Java1403.java</a:t>
            </a:r>
          </a:p>
          <a:p>
            <a:r>
              <a:rPr lang="en-US" sz="2200" dirty="0" smtClean="0">
                <a:latin typeface="Times New Roman" pitchFamily="18" charset="0"/>
                <a:cs typeface="Times New Roman" pitchFamily="18" charset="0"/>
              </a:rPr>
              <a:t>// This program draws four different squares with the</a:t>
            </a:r>
          </a:p>
          <a:p>
            <a:r>
              <a:rPr lang="en-US" sz="2200" dirty="0" smtClean="0">
                <a:latin typeface="Times New Roman" pitchFamily="18" charset="0"/>
                <a:cs typeface="Times New Roman" pitchFamily="18" charset="0"/>
              </a:rPr>
              <a:t>// same &lt;</a:t>
            </a:r>
            <a:r>
              <a:rPr lang="en-US" sz="2200" dirty="0" err="1" smtClean="0">
                <a:latin typeface="Times New Roman" pitchFamily="18" charset="0"/>
                <a:cs typeface="Times New Roman" pitchFamily="18" charset="0"/>
              </a:rPr>
              <a:t>drawSquare</a:t>
            </a:r>
            <a:r>
              <a:rPr lang="en-US" sz="2200" dirty="0" smtClean="0">
                <a:latin typeface="Times New Roman" pitchFamily="18" charset="0"/>
                <a:cs typeface="Times New Roman" pitchFamily="18" charset="0"/>
              </a:rPr>
              <a:t>&gt; method.  Each method has a different</a:t>
            </a:r>
          </a:p>
          <a:p>
            <a:r>
              <a:rPr lang="en-US" sz="2200" dirty="0" smtClean="0">
                <a:latin typeface="Times New Roman" pitchFamily="18" charset="0"/>
                <a:cs typeface="Times New Roman" pitchFamily="18" charset="0"/>
              </a:rPr>
              <a:t>// parameter signature.  These are overloaded methods.</a:t>
            </a:r>
          </a:p>
          <a:p>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public class Java1403 extends Applet</a:t>
            </a:r>
          </a:p>
          <a:p>
            <a:r>
              <a:rPr lang="en-US" sz="2200" dirty="0" smtClean="0">
                <a:latin typeface="Times New Roman" pitchFamily="18" charset="0"/>
                <a:cs typeface="Times New Roman" pitchFamily="18" charset="0"/>
              </a:rPr>
              <a:t>{</a:t>
            </a:r>
          </a:p>
          <a:p>
            <a:r>
              <a:rPr lang="en-US" sz="2200" dirty="0" smtClean="0">
                <a:latin typeface="Times New Roman" pitchFamily="18" charset="0"/>
                <a:cs typeface="Times New Roman" pitchFamily="18" charset="0"/>
              </a:rPr>
              <a:t>	public void paint(Graphics g)</a:t>
            </a:r>
          </a:p>
          <a:p>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drawSquare</a:t>
            </a:r>
            <a:r>
              <a:rPr lang="en-US" sz="2200" dirty="0" smtClean="0">
                <a:latin typeface="Times New Roman" pitchFamily="18" charset="0"/>
                <a:cs typeface="Times New Roman" pitchFamily="18" charset="0"/>
              </a:rPr>
              <a:t>(g);</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drawSquare</a:t>
            </a:r>
            <a:r>
              <a:rPr lang="en-US" sz="2200" dirty="0" smtClean="0">
                <a:latin typeface="Times New Roman" pitchFamily="18" charset="0"/>
                <a:cs typeface="Times New Roman" pitchFamily="18" charset="0"/>
              </a:rPr>
              <a:t>(g,200,300);</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drawSquare</a:t>
            </a:r>
            <a:r>
              <a:rPr lang="en-US" sz="2200" dirty="0" smtClean="0">
                <a:latin typeface="Times New Roman" pitchFamily="18" charset="0"/>
                <a:cs typeface="Times New Roman" pitchFamily="18" charset="0"/>
              </a:rPr>
              <a:t>(g,Color.blue,600,200);</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drawSquare</a:t>
            </a:r>
            <a:r>
              <a:rPr lang="en-US" sz="2200" dirty="0" smtClean="0">
                <a:latin typeface="Times New Roman" pitchFamily="18" charset="0"/>
                <a:cs typeface="Times New Roman" pitchFamily="18" charset="0"/>
              </a:rPr>
              <a:t>(g,Color.green,500,400,200);</a:t>
            </a:r>
          </a:p>
          <a:p>
            <a:r>
              <a:rPr lang="en-US" sz="2200" dirty="0" smtClean="0">
                <a:latin typeface="Times New Roman" pitchFamily="18" charset="0"/>
                <a:cs typeface="Times New Roman" pitchFamily="18" charset="0"/>
              </a:rPr>
              <a:t>	}</a:t>
            </a:r>
          </a:p>
          <a:p>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	public void </a:t>
            </a:r>
            <a:r>
              <a:rPr lang="en-US" sz="2200" dirty="0" err="1" smtClean="0">
                <a:latin typeface="Times New Roman" pitchFamily="18" charset="0"/>
                <a:cs typeface="Times New Roman" pitchFamily="18" charset="0"/>
              </a:rPr>
              <a:t>drawSquare</a:t>
            </a:r>
            <a:r>
              <a:rPr lang="en-US" sz="2200" dirty="0" smtClean="0">
                <a:latin typeface="Times New Roman" pitchFamily="18" charset="0"/>
                <a:cs typeface="Times New Roman" pitchFamily="18" charset="0"/>
              </a:rPr>
              <a:t>(Graphics g)</a:t>
            </a:r>
          </a:p>
          <a:p>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g.setColor</a:t>
            </a:r>
            <a:r>
              <a:rPr lang="en-US" sz="2200" dirty="0" smtClean="0">
                <a:latin typeface="Times New Roman" pitchFamily="18" charset="0"/>
                <a:cs typeface="Times New Roman" pitchFamily="18" charset="0"/>
              </a:rPr>
              <a:t>(</a:t>
            </a:r>
            <a:r>
              <a:rPr lang="en-US" sz="2200" dirty="0" err="1" smtClean="0">
                <a:latin typeface="Times New Roman" pitchFamily="18" charset="0"/>
                <a:cs typeface="Times New Roman" pitchFamily="18" charset="0"/>
              </a:rPr>
              <a:t>Color.black</a:t>
            </a:r>
            <a:r>
              <a:rPr lang="en-US" sz="2200" dirty="0" smtClean="0">
                <a:latin typeface="Times New Roman" pitchFamily="18" charset="0"/>
                <a:cs typeface="Times New Roman" pitchFamily="18" charset="0"/>
              </a:rPr>
              <a:t>);</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g.fillRect</a:t>
            </a:r>
            <a:r>
              <a:rPr lang="en-US" sz="2200" dirty="0" smtClean="0">
                <a:latin typeface="Times New Roman" pitchFamily="18" charset="0"/>
                <a:cs typeface="Times New Roman" pitchFamily="18" charset="0"/>
              </a:rPr>
              <a:t>(100,100,150,150);</a:t>
            </a:r>
          </a:p>
          <a:p>
            <a:r>
              <a:rPr lang="en-US" sz="2200" dirty="0" smtClean="0">
                <a:latin typeface="Times New Roman" pitchFamily="18" charset="0"/>
                <a:cs typeface="Times New Roman" pitchFamily="18" charset="0"/>
              </a:rPr>
              <a:t>	}</a:t>
            </a:r>
          </a:p>
        </p:txBody>
      </p:sp>
    </p:spTree>
    <p:extLst>
      <p:ext uri="{BB962C8B-B14F-4D97-AF65-F5344CB8AC3E}">
        <p14:creationId xmlns:p14="http://schemas.microsoft.com/office/powerpoint/2010/main" val="14762596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0" y="-1"/>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2200" dirty="0" smtClean="0">
                <a:latin typeface="Times New Roman" pitchFamily="18" charset="0"/>
                <a:cs typeface="Times New Roman" pitchFamily="18" charset="0"/>
              </a:rPr>
              <a:t>	public void </a:t>
            </a:r>
            <a:r>
              <a:rPr lang="en-US" sz="2200" dirty="0" err="1" smtClean="0">
                <a:latin typeface="Times New Roman" pitchFamily="18" charset="0"/>
                <a:cs typeface="Times New Roman" pitchFamily="18" charset="0"/>
              </a:rPr>
              <a:t>drawSquare</a:t>
            </a:r>
            <a:r>
              <a:rPr lang="en-US" sz="2200" dirty="0" smtClean="0">
                <a:latin typeface="Times New Roman" pitchFamily="18" charset="0"/>
                <a:cs typeface="Times New Roman" pitchFamily="18" charset="0"/>
              </a:rPr>
              <a:t>(Graphics g,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x,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y)</a:t>
            </a:r>
          </a:p>
          <a:p>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g.setColor</a:t>
            </a:r>
            <a:r>
              <a:rPr lang="en-US" sz="2200" dirty="0" smtClean="0">
                <a:latin typeface="Times New Roman" pitchFamily="18" charset="0"/>
                <a:cs typeface="Times New Roman" pitchFamily="18" charset="0"/>
              </a:rPr>
              <a:t>(</a:t>
            </a:r>
            <a:r>
              <a:rPr lang="en-US" sz="2200" dirty="0" err="1" smtClean="0">
                <a:latin typeface="Times New Roman" pitchFamily="18" charset="0"/>
                <a:cs typeface="Times New Roman" pitchFamily="18" charset="0"/>
              </a:rPr>
              <a:t>Color.red</a:t>
            </a:r>
            <a:r>
              <a:rPr lang="en-US" sz="2200" dirty="0" smtClean="0">
                <a:latin typeface="Times New Roman" pitchFamily="18" charset="0"/>
                <a:cs typeface="Times New Roman" pitchFamily="18" charset="0"/>
              </a:rPr>
              <a:t>);</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g.fillRect</a:t>
            </a:r>
            <a:r>
              <a:rPr lang="en-US" sz="2200" dirty="0" smtClean="0">
                <a:latin typeface="Times New Roman" pitchFamily="18" charset="0"/>
                <a:cs typeface="Times New Roman" pitchFamily="18" charset="0"/>
              </a:rPr>
              <a:t>(x,y,150,150);</a:t>
            </a:r>
          </a:p>
          <a:p>
            <a:r>
              <a:rPr lang="en-US" sz="2200" dirty="0" smtClean="0">
                <a:latin typeface="Times New Roman" pitchFamily="18" charset="0"/>
                <a:cs typeface="Times New Roman" pitchFamily="18" charset="0"/>
              </a:rPr>
              <a:t>	}</a:t>
            </a:r>
          </a:p>
          <a:p>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	public void </a:t>
            </a:r>
            <a:r>
              <a:rPr lang="en-US" sz="2200" dirty="0" err="1" smtClean="0">
                <a:latin typeface="Times New Roman" pitchFamily="18" charset="0"/>
                <a:cs typeface="Times New Roman" pitchFamily="18" charset="0"/>
              </a:rPr>
              <a:t>drawSquare</a:t>
            </a:r>
            <a:r>
              <a:rPr lang="en-US" sz="2200" dirty="0" smtClean="0">
                <a:latin typeface="Times New Roman" pitchFamily="18" charset="0"/>
                <a:cs typeface="Times New Roman" pitchFamily="18" charset="0"/>
              </a:rPr>
              <a:t>(Graphics g, Color </a:t>
            </a:r>
            <a:r>
              <a:rPr lang="en-US" sz="2200" dirty="0" err="1" smtClean="0">
                <a:latin typeface="Times New Roman" pitchFamily="18" charset="0"/>
                <a:cs typeface="Times New Roman" pitchFamily="18" charset="0"/>
              </a:rPr>
              <a:t>color</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x,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y)</a:t>
            </a:r>
          </a:p>
          <a:p>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g.setColor</a:t>
            </a:r>
            <a:r>
              <a:rPr lang="en-US" sz="2200" dirty="0" smtClean="0">
                <a:latin typeface="Times New Roman" pitchFamily="18" charset="0"/>
                <a:cs typeface="Times New Roman" pitchFamily="18" charset="0"/>
              </a:rPr>
              <a:t>(color);</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g.fillRect</a:t>
            </a:r>
            <a:r>
              <a:rPr lang="en-US" sz="2200" dirty="0" smtClean="0">
                <a:latin typeface="Times New Roman" pitchFamily="18" charset="0"/>
                <a:cs typeface="Times New Roman" pitchFamily="18" charset="0"/>
              </a:rPr>
              <a:t>(x,y,150,150);</a:t>
            </a:r>
          </a:p>
          <a:p>
            <a:r>
              <a:rPr lang="en-US" sz="2200" dirty="0" smtClean="0">
                <a:latin typeface="Times New Roman" pitchFamily="18" charset="0"/>
                <a:cs typeface="Times New Roman" pitchFamily="18" charset="0"/>
              </a:rPr>
              <a:t>	}</a:t>
            </a:r>
          </a:p>
          <a:p>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	public void </a:t>
            </a:r>
            <a:r>
              <a:rPr lang="en-US" sz="2200" dirty="0" err="1" smtClean="0">
                <a:latin typeface="Times New Roman" pitchFamily="18" charset="0"/>
                <a:cs typeface="Times New Roman" pitchFamily="18" charset="0"/>
              </a:rPr>
              <a:t>drawSquare</a:t>
            </a:r>
            <a:r>
              <a:rPr lang="en-US" sz="2200" dirty="0" smtClean="0">
                <a:latin typeface="Times New Roman" pitchFamily="18" charset="0"/>
                <a:cs typeface="Times New Roman" pitchFamily="18" charset="0"/>
              </a:rPr>
              <a:t>(Graphics g, Color </a:t>
            </a:r>
            <a:r>
              <a:rPr lang="en-US" sz="2200" dirty="0" err="1" smtClean="0">
                <a:latin typeface="Times New Roman" pitchFamily="18" charset="0"/>
                <a:cs typeface="Times New Roman" pitchFamily="18" charset="0"/>
              </a:rPr>
              <a:t>color</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x,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y, </a:t>
            </a:r>
            <a:r>
              <a:rPr lang="en-US" sz="2200" dirty="0" err="1" smtClean="0">
                <a:latin typeface="Times New Roman" pitchFamily="18" charset="0"/>
                <a:cs typeface="Times New Roman" pitchFamily="18" charset="0"/>
              </a:rPr>
              <a:t>int</a:t>
            </a:r>
            <a:r>
              <a:rPr lang="en-US" sz="2200" dirty="0" smtClean="0">
                <a:latin typeface="Times New Roman" pitchFamily="18" charset="0"/>
                <a:cs typeface="Times New Roman" pitchFamily="18" charset="0"/>
              </a:rPr>
              <a:t> side)</a:t>
            </a:r>
          </a:p>
          <a:p>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g.setColor</a:t>
            </a:r>
            <a:r>
              <a:rPr lang="en-US" sz="2200" dirty="0" smtClean="0">
                <a:latin typeface="Times New Roman" pitchFamily="18" charset="0"/>
                <a:cs typeface="Times New Roman" pitchFamily="18" charset="0"/>
              </a:rPr>
              <a:t>(color);</a:t>
            </a:r>
          </a:p>
          <a:p>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g.fillRect</a:t>
            </a:r>
            <a:r>
              <a:rPr lang="en-US" sz="2200" dirty="0" smtClean="0">
                <a:latin typeface="Times New Roman" pitchFamily="18" charset="0"/>
                <a:cs typeface="Times New Roman" pitchFamily="18" charset="0"/>
              </a:rPr>
              <a:t>(</a:t>
            </a:r>
            <a:r>
              <a:rPr lang="en-US" sz="2200" dirty="0" err="1" smtClean="0">
                <a:latin typeface="Times New Roman" pitchFamily="18" charset="0"/>
                <a:cs typeface="Times New Roman" pitchFamily="18" charset="0"/>
              </a:rPr>
              <a:t>x,y,side,side</a:t>
            </a:r>
            <a:r>
              <a:rPr lang="en-US" sz="2200" dirty="0" smtClean="0">
                <a:latin typeface="Times New Roman" pitchFamily="18" charset="0"/>
                <a:cs typeface="Times New Roman" pitchFamily="18" charset="0"/>
              </a:rPr>
              <a:t>);</a:t>
            </a:r>
          </a:p>
          <a:p>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9736066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92351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000082"/>
            </a:gs>
            <a:gs pos="30000">
              <a:srgbClr val="66008F"/>
            </a:gs>
            <a:gs pos="64999">
              <a:srgbClr val="BA0066"/>
            </a:gs>
            <a:gs pos="89999">
              <a:srgbClr val="FF0000"/>
            </a:gs>
            <a:gs pos="100000">
              <a:srgbClr val="FF8200"/>
            </a:gs>
          </a:gsLst>
          <a:lin ang="5400000" scaled="0"/>
        </a:gradFill>
        <a:effectLst/>
      </p:bgPr>
    </p:bg>
    <p:spTree>
      <p:nvGrpSpPr>
        <p:cNvPr id="1" name=""/>
        <p:cNvGrpSpPr/>
        <p:nvPr/>
      </p:nvGrpSpPr>
      <p:grpSpPr>
        <a:xfrm>
          <a:off x="0" y="0"/>
          <a:ext cx="0" cy="0"/>
          <a:chOff x="0" y="0"/>
          <a:chExt cx="0" cy="0"/>
        </a:xfrm>
      </p:grpSpPr>
      <p:sp>
        <p:nvSpPr>
          <p:cNvPr id="6146" name="WordArt 2"/>
          <p:cNvSpPr>
            <a:spLocks noChangeArrowheads="1" noChangeShapeType="1" noTextEdit="1"/>
          </p:cNvSpPr>
          <p:nvPr/>
        </p:nvSpPr>
        <p:spPr bwMode="auto">
          <a:xfrm>
            <a:off x="304800" y="1676400"/>
            <a:ext cx="8458200" cy="2514600"/>
          </a:xfrm>
          <a:prstGeom prst="rect">
            <a:avLst/>
          </a:prstGeom>
        </p:spPr>
        <p:txBody>
          <a:bodyPr wrap="none" fromWordArt="1">
            <a:prstTxWarp prst="textSlantUp">
              <a:avLst>
                <a:gd name="adj" fmla="val 32056"/>
              </a:avLst>
            </a:prstTxWarp>
          </a:bodyPr>
          <a:lstStyle/>
          <a:p>
            <a:pPr algn="ct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Polymorphism</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
        <p:nvSpPr>
          <p:cNvPr id="6147"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14.3</a:t>
            </a:r>
            <a:endParaRPr lang="en-US" sz="3600" kern="10" dirty="0">
              <a:ln w="9525">
                <a:solidFill>
                  <a:srgbClr val="000000"/>
                </a:solidFill>
                <a:round/>
                <a:headEnd/>
                <a:tailEnd/>
              </a:ln>
              <a:solidFill>
                <a:srgbClr val="FFFFFF"/>
              </a:solidFill>
              <a:latin typeface="Arial Black"/>
            </a:endParaRPr>
          </a:p>
        </p:txBody>
      </p:sp>
      <p:sp>
        <p:nvSpPr>
          <p:cNvPr id="6148" name="WordArt 2"/>
          <p:cNvSpPr>
            <a:spLocks noChangeArrowheads="1" noChangeShapeType="1" noTextEdit="1"/>
          </p:cNvSpPr>
          <p:nvPr/>
        </p:nvSpPr>
        <p:spPr bwMode="auto">
          <a:xfrm>
            <a:off x="304800" y="3962400"/>
            <a:ext cx="8534400" cy="2438400"/>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w</a:t>
            </a: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ith an Interface</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Tree>
    <p:extLst>
      <p:ext uri="{BB962C8B-B14F-4D97-AF65-F5344CB8AC3E}">
        <p14:creationId xmlns:p14="http://schemas.microsoft.com/office/powerpoint/2010/main" val="16567713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0"/>
            <a:ext cx="9067800" cy="1524000"/>
          </a:xfrm>
        </p:spPr>
        <p:txBody>
          <a:bodyPr/>
          <a:lstStyle/>
          <a:p>
            <a:pPr eaLnBrk="1" hangingPunct="1"/>
            <a:r>
              <a:rPr lang="en-US" sz="5400" dirty="0">
                <a:latin typeface="Arial Black" pitchFamily="34" charset="0"/>
              </a:rPr>
              <a:t>Umbrella Example </a:t>
            </a:r>
            <a:r>
              <a:rPr lang="en-US" sz="5400" dirty="0" smtClean="0">
                <a:latin typeface="Arial Black" pitchFamily="34" charset="0"/>
              </a:rPr>
              <a:t>1</a:t>
            </a:r>
            <a:endParaRPr lang="en-US" sz="5200" b="1" dirty="0" smtClean="0">
              <a:latin typeface="Arial" panose="020B0604020202020204" pitchFamily="34" charset="0"/>
              <a:cs typeface="Arial" panose="020B0604020202020204" pitchFamily="34" charset="0"/>
            </a:endParaRPr>
          </a:p>
        </p:txBody>
      </p:sp>
      <p:sp>
        <p:nvSpPr>
          <p:cNvPr id="16387" name="Text Box 3"/>
          <p:cNvSpPr txBox="1">
            <a:spLocks noChangeArrowheads="1"/>
          </p:cNvSpPr>
          <p:nvPr/>
        </p:nvSpPr>
        <p:spPr bwMode="auto">
          <a:xfrm>
            <a:off x="762000" y="1676400"/>
            <a:ext cx="7620000" cy="3693319"/>
          </a:xfrm>
          <a:prstGeom prst="rect">
            <a:avLst/>
          </a:prstGeom>
          <a:solidFill>
            <a:srgbClr val="00FFCC"/>
          </a:solidFill>
          <a:ln w="57150">
            <a:solidFill>
              <a:schemeClr val="tx1"/>
            </a:solidFill>
            <a:miter lim="800000"/>
            <a:headEnd/>
            <a:tailEnd/>
          </a:ln>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endParaRPr lang="en-US" dirty="0" smtClean="0"/>
          </a:p>
          <a:p>
            <a:pPr>
              <a:lnSpc>
                <a:spcPct val="150000"/>
              </a:lnSpc>
              <a:tabLst>
                <a:tab pos="285750" algn="l"/>
              </a:tabLst>
            </a:pPr>
            <a:r>
              <a:rPr lang="en-US" sz="3200" dirty="0" smtClean="0"/>
              <a:t>	Language </a:t>
            </a:r>
            <a:r>
              <a:rPr lang="en-US" sz="3200" dirty="0"/>
              <a:t>obj1 = new English();</a:t>
            </a:r>
          </a:p>
          <a:p>
            <a:pPr>
              <a:lnSpc>
                <a:spcPct val="150000"/>
              </a:lnSpc>
              <a:tabLst>
                <a:tab pos="285750" algn="l"/>
              </a:tabLst>
            </a:pPr>
            <a:r>
              <a:rPr lang="en-US" sz="3200" dirty="0" smtClean="0"/>
              <a:t>	Language </a:t>
            </a:r>
            <a:r>
              <a:rPr lang="en-US" sz="3200" dirty="0"/>
              <a:t>obj2 = new German();</a:t>
            </a:r>
          </a:p>
          <a:p>
            <a:pPr>
              <a:lnSpc>
                <a:spcPct val="150000"/>
              </a:lnSpc>
              <a:tabLst>
                <a:tab pos="285750" algn="l"/>
              </a:tabLst>
            </a:pPr>
            <a:r>
              <a:rPr lang="en-US" sz="3200" dirty="0"/>
              <a:t>	Language obj3 = new Dutch();</a:t>
            </a:r>
          </a:p>
          <a:p>
            <a:pPr>
              <a:lnSpc>
                <a:spcPct val="150000"/>
              </a:lnSpc>
              <a:tabLst>
                <a:tab pos="285750" algn="l"/>
              </a:tabLst>
            </a:pPr>
            <a:r>
              <a:rPr lang="en-US" sz="3200" dirty="0"/>
              <a:t>	Language obj4 = new French();</a:t>
            </a:r>
          </a:p>
          <a:p>
            <a:endParaRPr lang="en-US" dirty="0"/>
          </a:p>
        </p:txBody>
      </p:sp>
      <p:pic>
        <p:nvPicPr>
          <p:cNvPr id="16388" name="Picture 4" descr="C:\Users\JohnSchram\AppData\Local\Microsoft\Windows\Temporary Internet Files\Content.IE5\6H7XVADK\MC900439827[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9440" y="1251555"/>
            <a:ext cx="2194560" cy="2194560"/>
          </a:xfrm>
          <a:prstGeom prst="rect">
            <a:avLst/>
          </a:prstGeom>
          <a:noFill/>
          <a:extLst>
            <a:ext uri="{909E8E84-426E-40DD-AFC4-6F175D3DCCD1}">
              <a14:hiddenFill xmlns:a14="http://schemas.microsoft.com/office/drawing/2010/main">
                <a:solidFill>
                  <a:srgbClr val="FFFFFF"/>
                </a:solidFill>
              </a14:hiddenFill>
            </a:ext>
          </a:extLst>
        </p:spPr>
      </p:pic>
      <p:sp>
        <p:nvSpPr>
          <p:cNvPr id="5" name="Text Box 3"/>
          <p:cNvSpPr txBox="1">
            <a:spLocks noChangeArrowheads="1"/>
          </p:cNvSpPr>
          <p:nvPr/>
        </p:nvSpPr>
        <p:spPr bwMode="auto">
          <a:xfrm>
            <a:off x="0" y="5801380"/>
            <a:ext cx="9144000" cy="523220"/>
          </a:xfrm>
          <a:prstGeom prst="rect">
            <a:avLst/>
          </a:prstGeom>
          <a:solidFill>
            <a:srgbClr val="FF99CC"/>
          </a:solidFill>
          <a:ln w="57150">
            <a:solidFill>
              <a:schemeClr val="tx1"/>
            </a:solidFill>
            <a:miter lim="800000"/>
            <a:headEnd/>
            <a:tailEnd/>
          </a:ln>
        </p:spPr>
        <p:txBody>
          <a:bodyPr wrap="square">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gn="ctr">
              <a:tabLst>
                <a:tab pos="285750" algn="l"/>
              </a:tabLst>
            </a:pPr>
            <a:r>
              <a:rPr lang="en-US" sz="2800" dirty="0" smtClean="0"/>
              <a:t>Language is an </a:t>
            </a:r>
            <a:r>
              <a:rPr lang="en-US" sz="2800" i="1" dirty="0" smtClean="0"/>
              <a:t>umbrella</a:t>
            </a:r>
            <a:r>
              <a:rPr lang="en-US" sz="2800" dirty="0" smtClean="0"/>
              <a:t> </a:t>
            </a:r>
            <a:r>
              <a:rPr lang="en-US" sz="2800" b="0" dirty="0" smtClean="0">
                <a:latin typeface="Arial Black" panose="020B0A04020102020204" pitchFamily="34" charset="0"/>
              </a:rPr>
              <a:t>interface</a:t>
            </a:r>
            <a:r>
              <a:rPr lang="en-US" sz="2800" dirty="0" smtClean="0"/>
              <a:t> in this example.</a:t>
            </a:r>
            <a:endParaRPr lang="en-US" sz="2800" dirty="0"/>
          </a:p>
        </p:txBody>
      </p:sp>
    </p:spTree>
    <p:extLst>
      <p:ext uri="{BB962C8B-B14F-4D97-AF65-F5344CB8AC3E}">
        <p14:creationId xmlns:p14="http://schemas.microsoft.com/office/powerpoint/2010/main" val="7941702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0"/>
            <a:ext cx="9067800" cy="1524000"/>
          </a:xfrm>
        </p:spPr>
        <p:txBody>
          <a:bodyPr/>
          <a:lstStyle/>
          <a:p>
            <a:pPr eaLnBrk="1" hangingPunct="1"/>
            <a:r>
              <a:rPr lang="en-US" sz="4800" dirty="0" smtClean="0">
                <a:latin typeface="Arial Black" pitchFamily="34" charset="0"/>
              </a:rPr>
              <a:t>Umbrella Example 2</a:t>
            </a:r>
          </a:p>
        </p:txBody>
      </p:sp>
      <p:sp>
        <p:nvSpPr>
          <p:cNvPr id="16387" name="Text Box 3"/>
          <p:cNvSpPr txBox="1">
            <a:spLocks noChangeArrowheads="1"/>
          </p:cNvSpPr>
          <p:nvPr/>
        </p:nvSpPr>
        <p:spPr bwMode="auto">
          <a:xfrm>
            <a:off x="762000" y="2514600"/>
            <a:ext cx="7620000" cy="1692771"/>
          </a:xfrm>
          <a:prstGeom prst="rect">
            <a:avLst/>
          </a:prstGeom>
          <a:solidFill>
            <a:srgbClr val="00FFCC"/>
          </a:solidFill>
          <a:ln w="57150">
            <a:solidFill>
              <a:schemeClr val="tx1"/>
            </a:solidFill>
            <a:miter lim="800000"/>
            <a:headEnd/>
            <a:tailEnd/>
          </a:ln>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sz="2600" i="1" dirty="0" smtClean="0"/>
              <a:t>9th </a:t>
            </a:r>
            <a:r>
              <a:rPr lang="en-US" sz="2600" i="1" dirty="0"/>
              <a:t>graders go to the gymnasium at 10:00am.</a:t>
            </a:r>
          </a:p>
          <a:p>
            <a:r>
              <a:rPr lang="en-US" sz="2600" i="1" dirty="0" smtClean="0"/>
              <a:t>10th </a:t>
            </a:r>
            <a:r>
              <a:rPr lang="en-US" sz="2600" i="1" dirty="0"/>
              <a:t>graders go to the gymnasium at 10:00am.</a:t>
            </a:r>
          </a:p>
          <a:p>
            <a:r>
              <a:rPr lang="en-US" sz="2600" i="1" dirty="0" smtClean="0"/>
              <a:t>11th </a:t>
            </a:r>
            <a:r>
              <a:rPr lang="en-US" sz="2600" i="1" dirty="0"/>
              <a:t>graders go to the gymnasium at </a:t>
            </a:r>
            <a:r>
              <a:rPr lang="en-US" sz="2600" i="1" dirty="0" smtClean="0"/>
              <a:t>10:00am</a:t>
            </a:r>
            <a:r>
              <a:rPr lang="en-US" sz="2600" i="1" dirty="0"/>
              <a:t>.</a:t>
            </a:r>
          </a:p>
          <a:p>
            <a:r>
              <a:rPr lang="en-US" sz="2600" i="1" dirty="0" smtClean="0"/>
              <a:t>12th </a:t>
            </a:r>
            <a:r>
              <a:rPr lang="en-US" sz="2600" i="1" dirty="0"/>
              <a:t>graders go to the gymnasium at 10:00am</a:t>
            </a:r>
            <a:r>
              <a:rPr lang="en-US" sz="2600" i="1" dirty="0" smtClean="0"/>
              <a:t>.</a:t>
            </a:r>
            <a:endParaRPr lang="en-US" sz="2600" i="1" dirty="0"/>
          </a:p>
        </p:txBody>
      </p:sp>
      <p:sp>
        <p:nvSpPr>
          <p:cNvPr id="7" name="Text Box 3"/>
          <p:cNvSpPr txBox="1">
            <a:spLocks noChangeArrowheads="1"/>
          </p:cNvSpPr>
          <p:nvPr/>
        </p:nvSpPr>
        <p:spPr bwMode="auto">
          <a:xfrm>
            <a:off x="762000" y="1371600"/>
            <a:ext cx="7620000" cy="914400"/>
          </a:xfrm>
          <a:prstGeom prst="rect">
            <a:avLst/>
          </a:prstGeom>
          <a:solidFill>
            <a:srgbClr val="FF99CC"/>
          </a:solidFill>
          <a:ln w="57150">
            <a:solidFill>
              <a:schemeClr val="tx1"/>
            </a:solidFill>
            <a:miter lim="800000"/>
            <a:headEnd/>
            <a:tailEnd/>
          </a:ln>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sz="2600" dirty="0" smtClean="0"/>
              <a:t>The following 4 separate announcements…</a:t>
            </a:r>
          </a:p>
          <a:p>
            <a:r>
              <a:rPr lang="en-US" sz="2600" dirty="0" smtClean="0"/>
              <a:t>being made to 4 separate classes of students:</a:t>
            </a:r>
            <a:endParaRPr lang="en-US" sz="2600" dirty="0"/>
          </a:p>
        </p:txBody>
      </p:sp>
      <p:sp>
        <p:nvSpPr>
          <p:cNvPr id="8" name="Text Box 3"/>
          <p:cNvSpPr txBox="1">
            <a:spLocks noChangeArrowheads="1"/>
          </p:cNvSpPr>
          <p:nvPr/>
        </p:nvSpPr>
        <p:spPr bwMode="auto">
          <a:xfrm>
            <a:off x="762000" y="4572000"/>
            <a:ext cx="7620000" cy="914400"/>
          </a:xfrm>
          <a:prstGeom prst="rect">
            <a:avLst/>
          </a:prstGeom>
          <a:solidFill>
            <a:srgbClr val="FF99CC"/>
          </a:solidFill>
          <a:ln w="57150">
            <a:solidFill>
              <a:schemeClr val="tx1"/>
            </a:solidFill>
            <a:miter lim="800000"/>
            <a:headEnd/>
            <a:tailEnd/>
          </a:ln>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sz="2600" dirty="0" smtClean="0"/>
              <a:t>could be reduced to 1 announcement…</a:t>
            </a:r>
          </a:p>
          <a:p>
            <a:r>
              <a:rPr lang="en-US" sz="2600" dirty="0" smtClean="0"/>
              <a:t>with 1 </a:t>
            </a:r>
            <a:r>
              <a:rPr lang="en-US" sz="2600" i="1" dirty="0" smtClean="0"/>
              <a:t>Umbrella</a:t>
            </a:r>
            <a:r>
              <a:rPr lang="en-US" sz="2600" dirty="0" smtClean="0"/>
              <a:t>: </a:t>
            </a:r>
            <a:r>
              <a:rPr lang="en-US" sz="2600" b="0" dirty="0" smtClean="0">
                <a:latin typeface="Arial Black" pitchFamily="34" charset="0"/>
              </a:rPr>
              <a:t>students</a:t>
            </a:r>
            <a:endParaRPr lang="en-US" sz="2600" b="0" dirty="0">
              <a:latin typeface="Arial Black" pitchFamily="34" charset="0"/>
            </a:endParaRPr>
          </a:p>
        </p:txBody>
      </p:sp>
      <p:sp>
        <p:nvSpPr>
          <p:cNvPr id="9" name="Text Box 3"/>
          <p:cNvSpPr txBox="1">
            <a:spLocks noChangeArrowheads="1"/>
          </p:cNvSpPr>
          <p:nvPr/>
        </p:nvSpPr>
        <p:spPr bwMode="auto">
          <a:xfrm>
            <a:off x="762000" y="5715000"/>
            <a:ext cx="7620000" cy="492443"/>
          </a:xfrm>
          <a:prstGeom prst="rect">
            <a:avLst/>
          </a:prstGeom>
          <a:solidFill>
            <a:srgbClr val="00FFCC"/>
          </a:solidFill>
          <a:ln w="57150">
            <a:solidFill>
              <a:schemeClr val="tx1"/>
            </a:solidFill>
            <a:miter lim="800000"/>
            <a:headEnd/>
            <a:tailEnd/>
          </a:ln>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sz="2600" i="1" dirty="0" smtClean="0"/>
              <a:t>All </a:t>
            </a:r>
            <a:r>
              <a:rPr lang="en-US" sz="2600" b="0" i="1" dirty="0" smtClean="0">
                <a:latin typeface="Arial Black" pitchFamily="34" charset="0"/>
              </a:rPr>
              <a:t>students </a:t>
            </a:r>
            <a:r>
              <a:rPr lang="en-US" sz="2600" i="1" dirty="0" smtClean="0"/>
              <a:t>go </a:t>
            </a:r>
            <a:r>
              <a:rPr lang="en-US" sz="2600" i="1" dirty="0"/>
              <a:t>to the gymnasium at 10:00am</a:t>
            </a:r>
            <a:r>
              <a:rPr lang="en-US" sz="2600" i="1" dirty="0" smtClean="0"/>
              <a:t>.</a:t>
            </a:r>
            <a:endParaRPr lang="en-US" sz="2600" i="1" dirty="0"/>
          </a:p>
        </p:txBody>
      </p:sp>
      <p:pic>
        <p:nvPicPr>
          <p:cNvPr id="16390" name="Picture 6" descr="C:\Users\JohnSchram\AppData\Local\Microsoft\Windows\Temporary Internet Files\Content.IE5\4IKOJ3QF\MC900383842[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62800" y="4556455"/>
            <a:ext cx="930859" cy="9299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1"/>
            <a:ext cx="9144000" cy="6829434"/>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96000"/>
              </a:lnSpc>
            </a:pPr>
            <a:r>
              <a:rPr lang="en-US" sz="2400" dirty="0">
                <a:latin typeface="Times New Roman" panose="02020603050405020304" pitchFamily="18" charset="0"/>
                <a:cs typeface="Times New Roman" panose="02020603050405020304" pitchFamily="18" charset="0"/>
              </a:rPr>
              <a:t>// Java1404.java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This program displays the output of four different classes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with the same &lt;greeting&gt; method.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This program uses neither inheritance nor polymorphism.</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public class Java1404</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public static void main (String[ ]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English g1 = new English();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German g2 = new German();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Dutch g3 = new Dutch();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French g4 = new French();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g1.greeting();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g2.greeting();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g3.greeting();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g4.greeting();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endParaRPr lang="en-US" sz="2000" dirty="0">
              <a:latin typeface="Times New Roman" pitchFamily="18" charset="0"/>
              <a:cs typeface="Times New Roman" pitchFamily="18" charset="0"/>
            </a:endParaRPr>
          </a:p>
        </p:txBody>
      </p:sp>
      <p:sp>
        <p:nvSpPr>
          <p:cNvPr id="4" name="TextBox 3"/>
          <p:cNvSpPr txBox="1"/>
          <p:nvPr/>
        </p:nvSpPr>
        <p:spPr>
          <a:xfrm>
            <a:off x="3429000" y="4831140"/>
            <a:ext cx="5257800" cy="1569660"/>
          </a:xfrm>
          <a:prstGeom prst="rect">
            <a:avLst/>
          </a:prstGeom>
          <a:solidFill>
            <a:schemeClr val="accent6">
              <a:lumMod val="20000"/>
              <a:lumOff val="80000"/>
            </a:schemeClr>
          </a:solidFill>
          <a:ln w="57150">
            <a:solidFill>
              <a:schemeClr val="tx1"/>
            </a:solidFill>
          </a:ln>
        </p:spPr>
        <p:txBody>
          <a:bodyPr wrap="square" rtlCol="0">
            <a:spAutoFit/>
          </a:bodyPr>
          <a:lstStyle/>
          <a:p>
            <a:r>
              <a:rPr lang="en-US" sz="2400" dirty="0">
                <a:latin typeface="Courier New" panose="02070309020205020404" pitchFamily="49" charset="0"/>
                <a:cs typeface="Courier New" panose="02070309020205020404" pitchFamily="49" charset="0"/>
              </a:rPr>
              <a:t>In English you say Good Day</a:t>
            </a:r>
          </a:p>
          <a:p>
            <a:r>
              <a:rPr lang="en-US" sz="2400" dirty="0">
                <a:latin typeface="Courier New" panose="02070309020205020404" pitchFamily="49" charset="0"/>
                <a:cs typeface="Courier New" panose="02070309020205020404" pitchFamily="49" charset="0"/>
              </a:rPr>
              <a:t>In German you say </a:t>
            </a:r>
            <a:r>
              <a:rPr lang="en-US" sz="2400" dirty="0" err="1">
                <a:latin typeface="Courier New" panose="02070309020205020404" pitchFamily="49" charset="0"/>
                <a:cs typeface="Courier New" panose="02070309020205020404" pitchFamily="49" charset="0"/>
              </a:rPr>
              <a:t>Guten</a:t>
            </a:r>
            <a:r>
              <a:rPr lang="en-US" sz="2400" dirty="0">
                <a:latin typeface="Courier New" panose="02070309020205020404" pitchFamily="49" charset="0"/>
                <a:cs typeface="Courier New" panose="02070309020205020404" pitchFamily="49" charset="0"/>
              </a:rPr>
              <a:t> Tag</a:t>
            </a:r>
          </a:p>
          <a:p>
            <a:r>
              <a:rPr lang="en-US" sz="2400" dirty="0">
                <a:latin typeface="Courier New" panose="02070309020205020404" pitchFamily="49" charset="0"/>
                <a:cs typeface="Courier New" panose="02070309020205020404" pitchFamily="49" charset="0"/>
              </a:rPr>
              <a:t>In Dutch you say </a:t>
            </a:r>
            <a:r>
              <a:rPr lang="en-US" sz="2400" dirty="0" err="1">
                <a:latin typeface="Courier New" panose="02070309020205020404" pitchFamily="49" charset="0"/>
                <a:cs typeface="Courier New" panose="02070309020205020404" pitchFamily="49" charset="0"/>
              </a:rPr>
              <a:t>Goeden</a:t>
            </a:r>
            <a:r>
              <a:rPr lang="en-US" sz="2400" dirty="0">
                <a:latin typeface="Courier New" panose="02070309020205020404" pitchFamily="49" charset="0"/>
                <a:cs typeface="Courier New" panose="02070309020205020404" pitchFamily="49" charset="0"/>
              </a:rPr>
              <a:t> Dag</a:t>
            </a:r>
          </a:p>
          <a:p>
            <a:r>
              <a:rPr lang="en-US" sz="2400" dirty="0">
                <a:latin typeface="Courier New" panose="02070309020205020404" pitchFamily="49" charset="0"/>
                <a:cs typeface="Courier New" panose="02070309020205020404" pitchFamily="49" charset="0"/>
              </a:rPr>
              <a:t>In French you say Bonjour</a:t>
            </a:r>
          </a:p>
        </p:txBody>
      </p:sp>
    </p:spTree>
    <p:extLst>
      <p:ext uri="{BB962C8B-B14F-4D97-AF65-F5344CB8AC3E}">
        <p14:creationId xmlns:p14="http://schemas.microsoft.com/office/powerpoint/2010/main" val="2047841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80000"/>
              </a:lnSpc>
            </a:pPr>
            <a:r>
              <a:rPr lang="en-US" dirty="0" smtClean="0">
                <a:latin typeface="Times New Roman" pitchFamily="18" charset="0"/>
                <a:cs typeface="Times New Roman" pitchFamily="18" charset="0"/>
              </a:rPr>
              <a:t>class </a:t>
            </a:r>
            <a:r>
              <a:rPr lang="en-US" dirty="0">
                <a:latin typeface="Times New Roman" pitchFamily="18" charset="0"/>
                <a:cs typeface="Times New Roman" pitchFamily="18" charset="0"/>
              </a:rPr>
              <a:t>English</a:t>
            </a:r>
          </a:p>
          <a:p>
            <a:pPr>
              <a:lnSpc>
                <a:spcPct val="80000"/>
              </a:lnSpc>
            </a:pPr>
            <a:r>
              <a:rPr lang="en-US" dirty="0">
                <a:latin typeface="Times New Roman" pitchFamily="18" charset="0"/>
                <a:cs typeface="Times New Roman" pitchFamily="18" charset="0"/>
              </a:rPr>
              <a:t>{</a:t>
            </a:r>
          </a:p>
          <a:p>
            <a:pPr>
              <a:lnSpc>
                <a:spcPct val="80000"/>
              </a:lnSpc>
            </a:pPr>
            <a:r>
              <a:rPr lang="en-US" dirty="0">
                <a:latin typeface="Times New Roman" pitchFamily="18" charset="0"/>
                <a:cs typeface="Times New Roman" pitchFamily="18" charset="0"/>
              </a:rPr>
              <a:t>	public void greeting</a:t>
            </a:r>
            <a:r>
              <a:rPr lang="en-US" dirty="0" smtClean="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System.out.println</a:t>
            </a:r>
            <a:r>
              <a:rPr lang="en-US" dirty="0">
                <a:latin typeface="Times New Roman" pitchFamily="18" charset="0"/>
                <a:cs typeface="Times New Roman" pitchFamily="18" charset="0"/>
              </a:rPr>
              <a:t>("In English you say Good Day</a:t>
            </a:r>
            <a:r>
              <a:rPr lang="en-US" dirty="0" smtClean="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a:lnSpc>
                <a:spcPct val="80000"/>
              </a:lnSpc>
            </a:pPr>
            <a:r>
              <a:rPr lang="en-US" dirty="0">
                <a:latin typeface="Times New Roman" pitchFamily="18" charset="0"/>
                <a:cs typeface="Times New Roman" pitchFamily="18" charset="0"/>
              </a:rPr>
              <a:t>}</a:t>
            </a:r>
          </a:p>
          <a:p>
            <a:pPr>
              <a:lnSpc>
                <a:spcPct val="80000"/>
              </a:lnSpc>
            </a:pPr>
            <a:r>
              <a:rPr lang="en-US" sz="1600" dirty="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class German</a:t>
            </a:r>
          </a:p>
          <a:p>
            <a:pPr>
              <a:lnSpc>
                <a:spcPct val="80000"/>
              </a:lnSpc>
            </a:pPr>
            <a:r>
              <a:rPr lang="en-US" dirty="0">
                <a:latin typeface="Times New Roman" pitchFamily="18" charset="0"/>
                <a:cs typeface="Times New Roman" pitchFamily="18" charset="0"/>
              </a:rPr>
              <a:t>{</a:t>
            </a:r>
          </a:p>
          <a:p>
            <a:pPr>
              <a:lnSpc>
                <a:spcPct val="80000"/>
              </a:lnSpc>
            </a:pPr>
            <a:r>
              <a:rPr lang="en-US" dirty="0">
                <a:latin typeface="Times New Roman" pitchFamily="18" charset="0"/>
                <a:cs typeface="Times New Roman" pitchFamily="18" charset="0"/>
              </a:rPr>
              <a:t>	public void greeting</a:t>
            </a:r>
            <a:r>
              <a:rPr lang="en-US" dirty="0" smtClean="0">
                <a:latin typeface="Times New Roman" pitchFamily="18" charset="0"/>
                <a:cs typeface="Times New Roman" pitchFamily="18" charset="0"/>
              </a:rPr>
              <a:t>()</a:t>
            </a:r>
          </a:p>
          <a:p>
            <a:pPr>
              <a:lnSpc>
                <a:spcPct val="80000"/>
              </a:lnSpc>
            </a:pPr>
            <a:r>
              <a:rPr lang="en-US" dirty="0" smtClean="0">
                <a:latin typeface="Times New Roman" pitchFamily="18" charset="0"/>
                <a:cs typeface="Times New Roman" pitchFamily="18" charset="0"/>
              </a:rPr>
              <a:t>	{</a:t>
            </a:r>
          </a:p>
          <a:p>
            <a:pPr>
              <a:lnSpc>
                <a:spcPct val="80000"/>
              </a:lnSpc>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German you say </a:t>
            </a:r>
            <a:r>
              <a:rPr lang="en-US" dirty="0" err="1" smtClean="0">
                <a:latin typeface="Times New Roman" pitchFamily="18" charset="0"/>
                <a:cs typeface="Times New Roman" pitchFamily="18" charset="0"/>
              </a:rPr>
              <a:t>Guten</a:t>
            </a:r>
            <a:r>
              <a:rPr lang="en-US" dirty="0" smtClean="0">
                <a:latin typeface="Times New Roman" pitchFamily="18" charset="0"/>
                <a:cs typeface="Times New Roman" pitchFamily="18" charset="0"/>
              </a:rPr>
              <a:t> Tag");</a:t>
            </a:r>
          </a:p>
          <a:p>
            <a:pPr>
              <a:lnSpc>
                <a:spcPct val="80000"/>
              </a:lnSpc>
            </a:pPr>
            <a:r>
              <a:rPr lang="en-US" dirty="0" smtClean="0">
                <a:latin typeface="Times New Roman" pitchFamily="18" charset="0"/>
                <a:cs typeface="Times New Roman" pitchFamily="18" charset="0"/>
              </a:rPr>
              <a:t>	}</a:t>
            </a:r>
          </a:p>
          <a:p>
            <a:pPr>
              <a:lnSpc>
                <a:spcPct val="80000"/>
              </a:lnSpc>
            </a:pP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a:lnSpc>
                <a:spcPct val="80000"/>
              </a:lnSpc>
            </a:pPr>
            <a:r>
              <a:rPr lang="en-US" sz="1600" dirty="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class Dutch</a:t>
            </a:r>
          </a:p>
          <a:p>
            <a:pPr>
              <a:lnSpc>
                <a:spcPct val="80000"/>
              </a:lnSpc>
            </a:pPr>
            <a:r>
              <a:rPr lang="en-US" dirty="0">
                <a:latin typeface="Times New Roman" pitchFamily="18" charset="0"/>
                <a:cs typeface="Times New Roman" pitchFamily="18" charset="0"/>
              </a:rPr>
              <a:t>{</a:t>
            </a:r>
          </a:p>
          <a:p>
            <a:pPr>
              <a:lnSpc>
                <a:spcPct val="80000"/>
              </a:lnSpc>
            </a:pPr>
            <a:r>
              <a:rPr lang="en-US" dirty="0">
                <a:latin typeface="Times New Roman" pitchFamily="18" charset="0"/>
                <a:cs typeface="Times New Roman" pitchFamily="18" charset="0"/>
              </a:rPr>
              <a:t>	public void greeting</a:t>
            </a:r>
            <a:r>
              <a:rPr lang="en-US" dirty="0" smtClean="0">
                <a:latin typeface="Times New Roman" pitchFamily="18" charset="0"/>
                <a:cs typeface="Times New Roman" pitchFamily="18" charset="0"/>
              </a:rPr>
              <a:t>()</a:t>
            </a:r>
          </a:p>
          <a:p>
            <a:pPr>
              <a:lnSpc>
                <a:spcPct val="80000"/>
              </a:lnSpc>
            </a:pPr>
            <a:r>
              <a:rPr lang="en-US" dirty="0" smtClean="0">
                <a:latin typeface="Times New Roman" pitchFamily="18" charset="0"/>
                <a:cs typeface="Times New Roman" pitchFamily="18" charset="0"/>
              </a:rPr>
              <a:t>	{</a:t>
            </a:r>
          </a:p>
          <a:p>
            <a:pPr>
              <a:lnSpc>
                <a:spcPct val="80000"/>
              </a:lnSpc>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Dutch you say </a:t>
            </a:r>
            <a:r>
              <a:rPr lang="en-US" dirty="0" err="1" smtClean="0">
                <a:latin typeface="Times New Roman" pitchFamily="18" charset="0"/>
                <a:cs typeface="Times New Roman" pitchFamily="18" charset="0"/>
              </a:rPr>
              <a:t>Goeden</a:t>
            </a:r>
            <a:r>
              <a:rPr lang="en-US" dirty="0" smtClean="0">
                <a:latin typeface="Times New Roman" pitchFamily="18" charset="0"/>
                <a:cs typeface="Times New Roman" pitchFamily="18" charset="0"/>
              </a:rPr>
              <a:t> Dag");</a:t>
            </a:r>
          </a:p>
          <a:p>
            <a:pPr>
              <a:lnSpc>
                <a:spcPct val="80000"/>
              </a:lnSpc>
            </a:pPr>
            <a:r>
              <a:rPr lang="en-US" dirty="0" smtClean="0">
                <a:latin typeface="Times New Roman" pitchFamily="18" charset="0"/>
                <a:cs typeface="Times New Roman" pitchFamily="18" charset="0"/>
              </a:rPr>
              <a:t>	}</a:t>
            </a:r>
          </a:p>
          <a:p>
            <a:pPr>
              <a:lnSpc>
                <a:spcPct val="80000"/>
              </a:lnSpc>
            </a:pP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a:lnSpc>
                <a:spcPct val="80000"/>
              </a:lnSpc>
            </a:pPr>
            <a:r>
              <a:rPr lang="en-US" sz="1600" dirty="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class </a:t>
            </a:r>
            <a:r>
              <a:rPr lang="en-US" dirty="0" smtClean="0">
                <a:latin typeface="Times New Roman" pitchFamily="18" charset="0"/>
                <a:cs typeface="Times New Roman" pitchFamily="18" charset="0"/>
              </a:rPr>
              <a:t>French</a:t>
            </a:r>
          </a:p>
          <a:p>
            <a:pPr>
              <a:lnSpc>
                <a:spcPct val="80000"/>
              </a:lnSpc>
            </a:pPr>
            <a:r>
              <a:rPr lang="en-US" dirty="0" smtClean="0">
                <a:latin typeface="Times New Roman" pitchFamily="18" charset="0"/>
                <a:cs typeface="Times New Roman" pitchFamily="18" charset="0"/>
              </a:rPr>
              <a:t>{</a:t>
            </a:r>
          </a:p>
          <a:p>
            <a:pPr>
              <a:lnSpc>
                <a:spcPct val="80000"/>
              </a:lnSpc>
            </a:pPr>
            <a:r>
              <a:rPr lang="en-US" dirty="0">
                <a:latin typeface="Times New Roman" pitchFamily="18" charset="0"/>
                <a:cs typeface="Times New Roman" pitchFamily="18" charset="0"/>
              </a:rPr>
              <a:t>	public void greeting()</a:t>
            </a:r>
          </a:p>
          <a:p>
            <a:pPr>
              <a:lnSpc>
                <a:spcPct val="80000"/>
              </a:lnSpc>
            </a:pPr>
            <a:r>
              <a:rPr lang="en-US" dirty="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System.out.println</a:t>
            </a:r>
            <a:r>
              <a:rPr lang="en-US" dirty="0">
                <a:latin typeface="Times New Roman" pitchFamily="18" charset="0"/>
                <a:cs typeface="Times New Roman" pitchFamily="18" charset="0"/>
              </a:rPr>
              <a:t>("In French you say Bonjour");</a:t>
            </a:r>
          </a:p>
          <a:p>
            <a:pPr>
              <a:lnSpc>
                <a:spcPct val="80000"/>
              </a:lnSpc>
            </a:pPr>
            <a:r>
              <a:rPr lang="en-US" dirty="0">
                <a:latin typeface="Times New Roman" pitchFamily="18" charset="0"/>
                <a:cs typeface="Times New Roman" pitchFamily="18" charset="0"/>
              </a:rPr>
              <a:t>	}</a:t>
            </a:r>
          </a:p>
          <a:p>
            <a:pPr>
              <a:lnSpc>
                <a:spcPct val="80000"/>
              </a:lnSpc>
            </a:pP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pic>
        <p:nvPicPr>
          <p:cNvPr id="94210" name="Picture 2" descr="C:\Users\JohnSchram\AppData\Local\Microsoft\Windows\Temporary Internet Files\Content.IE5\U7LLF55W\MP900362767[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75120" y="3474720"/>
            <a:ext cx="2468880" cy="1645920"/>
          </a:xfrm>
          <a:prstGeom prst="rect">
            <a:avLst/>
          </a:prstGeom>
          <a:noFill/>
          <a:extLst>
            <a:ext uri="{909E8E84-426E-40DD-AFC4-6F175D3DCCD1}">
              <a14:hiddenFill xmlns:a14="http://schemas.microsoft.com/office/drawing/2010/main">
                <a:solidFill>
                  <a:srgbClr val="FFFFFF"/>
                </a:solidFill>
              </a14:hiddenFill>
            </a:ext>
          </a:extLst>
        </p:spPr>
      </p:pic>
      <p:pic>
        <p:nvPicPr>
          <p:cNvPr id="94211" name="Picture 3" descr="C:\Users\JohnSchram\AppData\Local\Microsoft\Windows\Temporary Internet Files\Content.IE5\HBCMQ2SU\MP900362676[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120" y="5212080"/>
            <a:ext cx="2475068" cy="1645920"/>
          </a:xfrm>
          <a:prstGeom prst="rect">
            <a:avLst/>
          </a:prstGeom>
          <a:noFill/>
          <a:extLst>
            <a:ext uri="{909E8E84-426E-40DD-AFC4-6F175D3DCCD1}">
              <a14:hiddenFill xmlns:a14="http://schemas.microsoft.com/office/drawing/2010/main">
                <a:solidFill>
                  <a:srgbClr val="FFFFFF"/>
                </a:solidFill>
              </a14:hiddenFill>
            </a:ext>
          </a:extLst>
        </p:spPr>
      </p:pic>
      <p:pic>
        <p:nvPicPr>
          <p:cNvPr id="94212" name="Picture 4" descr="C:\Users\JohnSchram\AppData\Local\Microsoft\Windows\Temporary Internet Files\Content.IE5\6H7XVADK\MP900362682[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5120" y="1737360"/>
            <a:ext cx="2471970" cy="1645920"/>
          </a:xfrm>
          <a:prstGeom prst="rect">
            <a:avLst/>
          </a:prstGeom>
          <a:noFill/>
          <a:extLst>
            <a:ext uri="{909E8E84-426E-40DD-AFC4-6F175D3DCCD1}">
              <a14:hiddenFill xmlns:a14="http://schemas.microsoft.com/office/drawing/2010/main">
                <a:solidFill>
                  <a:srgbClr val="FFFFFF"/>
                </a:solidFill>
              </a14:hiddenFill>
            </a:ext>
          </a:extLst>
        </p:spPr>
      </p:pic>
      <p:pic>
        <p:nvPicPr>
          <p:cNvPr id="94214" name="Picture 6" descr="C:\Users\JohnSchram\AppData\Local\Microsoft\Windows\Temporary Internet Files\Content.IE5\HBCMQ2SU\MC900001022[1].wmf"/>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20438"/>
          <a:stretch/>
        </p:blipFill>
        <p:spPr bwMode="auto">
          <a:xfrm>
            <a:off x="6675120" y="0"/>
            <a:ext cx="2468880" cy="1645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7565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3"/>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2400" dirty="0">
                <a:latin typeface="Times New Roman" pitchFamily="18" charset="0"/>
                <a:cs typeface="Times New Roman" pitchFamily="18" charset="0"/>
              </a:rPr>
              <a:t>// Java1405.java</a:t>
            </a:r>
          </a:p>
          <a:p>
            <a:r>
              <a:rPr lang="en-US" sz="2400" dirty="0">
                <a:latin typeface="Times New Roman" pitchFamily="18" charset="0"/>
                <a:cs typeface="Times New Roman" pitchFamily="18" charset="0"/>
              </a:rPr>
              <a:t>// This program uses a &lt;Language&gt; interface</a:t>
            </a:r>
          </a:p>
          <a:p>
            <a:r>
              <a:rPr lang="en-US" sz="2400" dirty="0">
                <a:latin typeface="Times New Roman" pitchFamily="18" charset="0"/>
                <a:cs typeface="Times New Roman" pitchFamily="18" charset="0"/>
              </a:rPr>
              <a:t>// with four implementing classes.</a:t>
            </a:r>
          </a:p>
          <a:p>
            <a:endParaRPr lang="en-US" sz="2800" dirty="0">
              <a:latin typeface="Times New Roman" pitchFamily="18" charset="0"/>
              <a:cs typeface="Times New Roman" pitchFamily="18" charset="0"/>
            </a:endParaRPr>
          </a:p>
          <a:p>
            <a:r>
              <a:rPr lang="en-US" sz="2400" dirty="0">
                <a:latin typeface="Times New Roman" pitchFamily="18" charset="0"/>
                <a:cs typeface="Times New Roman" pitchFamily="18" charset="0"/>
              </a:rPr>
              <a:t>public class Java1405</a:t>
            </a:r>
          </a:p>
          <a:p>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public static void main (String[] </a:t>
            </a:r>
            <a:r>
              <a:rPr lang="en-US" sz="2400" dirty="0" err="1">
                <a:latin typeface="Times New Roman" pitchFamily="18" charset="0"/>
                <a:cs typeface="Times New Roman" pitchFamily="18" charset="0"/>
              </a:rPr>
              <a:t>args</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English </a:t>
            </a:r>
            <a:r>
              <a:rPr lang="en-US" sz="2400" dirty="0">
                <a:latin typeface="Times New Roman" pitchFamily="18" charset="0"/>
                <a:cs typeface="Times New Roman" pitchFamily="18" charset="0"/>
              </a:rPr>
              <a:t>g1 = new English();</a:t>
            </a:r>
          </a:p>
          <a:p>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German </a:t>
            </a:r>
            <a:r>
              <a:rPr lang="en-US" sz="2400" dirty="0">
                <a:latin typeface="Times New Roman" pitchFamily="18" charset="0"/>
                <a:cs typeface="Times New Roman" pitchFamily="18" charset="0"/>
              </a:rPr>
              <a:t>g2 = new German();</a:t>
            </a:r>
          </a:p>
          <a:p>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Dutch </a:t>
            </a:r>
            <a:r>
              <a:rPr lang="en-US" sz="2400" dirty="0">
                <a:latin typeface="Times New Roman" pitchFamily="18" charset="0"/>
                <a:cs typeface="Times New Roman" pitchFamily="18" charset="0"/>
              </a:rPr>
              <a:t>g3 = new Dutch();</a:t>
            </a:r>
          </a:p>
          <a:p>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French </a:t>
            </a:r>
            <a:r>
              <a:rPr lang="en-US" sz="2400" dirty="0">
                <a:latin typeface="Times New Roman" pitchFamily="18" charset="0"/>
                <a:cs typeface="Times New Roman" pitchFamily="18" charset="0"/>
              </a:rPr>
              <a:t>g4 = new French();</a:t>
            </a:r>
          </a:p>
          <a:p>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g1.greeting</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g2.greeting</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g3.greeting</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g4.greeting</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a:t>
            </a:r>
          </a:p>
        </p:txBody>
      </p:sp>
      <p:sp>
        <p:nvSpPr>
          <p:cNvPr id="4" name="TextBox 3"/>
          <p:cNvSpPr txBox="1"/>
          <p:nvPr/>
        </p:nvSpPr>
        <p:spPr>
          <a:xfrm>
            <a:off x="3429000" y="4831140"/>
            <a:ext cx="5257800" cy="1569660"/>
          </a:xfrm>
          <a:prstGeom prst="rect">
            <a:avLst/>
          </a:prstGeom>
          <a:solidFill>
            <a:schemeClr val="accent6">
              <a:lumMod val="20000"/>
              <a:lumOff val="80000"/>
            </a:schemeClr>
          </a:solidFill>
          <a:ln w="57150">
            <a:solidFill>
              <a:schemeClr val="tx1"/>
            </a:solidFill>
          </a:ln>
        </p:spPr>
        <p:txBody>
          <a:bodyPr wrap="square" rtlCol="0">
            <a:spAutoFit/>
          </a:bodyPr>
          <a:lstStyle/>
          <a:p>
            <a:r>
              <a:rPr lang="en-US" sz="2400" dirty="0">
                <a:latin typeface="Courier New" panose="02070309020205020404" pitchFamily="49" charset="0"/>
                <a:cs typeface="Courier New" panose="02070309020205020404" pitchFamily="49" charset="0"/>
              </a:rPr>
              <a:t>In English you say Good Day</a:t>
            </a:r>
          </a:p>
          <a:p>
            <a:r>
              <a:rPr lang="en-US" sz="2400" dirty="0">
                <a:latin typeface="Courier New" panose="02070309020205020404" pitchFamily="49" charset="0"/>
                <a:cs typeface="Courier New" panose="02070309020205020404" pitchFamily="49" charset="0"/>
              </a:rPr>
              <a:t>In German you say </a:t>
            </a:r>
            <a:r>
              <a:rPr lang="en-US" sz="2400" dirty="0" err="1">
                <a:latin typeface="Courier New" panose="02070309020205020404" pitchFamily="49" charset="0"/>
                <a:cs typeface="Courier New" panose="02070309020205020404" pitchFamily="49" charset="0"/>
              </a:rPr>
              <a:t>Guten</a:t>
            </a:r>
            <a:r>
              <a:rPr lang="en-US" sz="2400" dirty="0">
                <a:latin typeface="Courier New" panose="02070309020205020404" pitchFamily="49" charset="0"/>
                <a:cs typeface="Courier New" panose="02070309020205020404" pitchFamily="49" charset="0"/>
              </a:rPr>
              <a:t> Tag</a:t>
            </a:r>
          </a:p>
          <a:p>
            <a:r>
              <a:rPr lang="en-US" sz="2400" dirty="0">
                <a:latin typeface="Courier New" panose="02070309020205020404" pitchFamily="49" charset="0"/>
                <a:cs typeface="Courier New" panose="02070309020205020404" pitchFamily="49" charset="0"/>
              </a:rPr>
              <a:t>In Dutch you say </a:t>
            </a:r>
            <a:r>
              <a:rPr lang="en-US" sz="2400" dirty="0" err="1">
                <a:latin typeface="Courier New" panose="02070309020205020404" pitchFamily="49" charset="0"/>
                <a:cs typeface="Courier New" panose="02070309020205020404" pitchFamily="49" charset="0"/>
              </a:rPr>
              <a:t>Goeden</a:t>
            </a:r>
            <a:r>
              <a:rPr lang="en-US" sz="2400" dirty="0">
                <a:latin typeface="Courier New" panose="02070309020205020404" pitchFamily="49" charset="0"/>
                <a:cs typeface="Courier New" panose="02070309020205020404" pitchFamily="49" charset="0"/>
              </a:rPr>
              <a:t> Dag</a:t>
            </a:r>
          </a:p>
          <a:p>
            <a:r>
              <a:rPr lang="en-US" sz="2400" dirty="0">
                <a:latin typeface="Courier New" panose="02070309020205020404" pitchFamily="49" charset="0"/>
                <a:cs typeface="Courier New" panose="02070309020205020404" pitchFamily="49" charset="0"/>
              </a:rPr>
              <a:t>In French you say Bonjour</a:t>
            </a:r>
          </a:p>
        </p:txBody>
      </p:sp>
    </p:spTree>
    <p:extLst>
      <p:ext uri="{BB962C8B-B14F-4D97-AF65-F5344CB8AC3E}">
        <p14:creationId xmlns:p14="http://schemas.microsoft.com/office/powerpoint/2010/main" val="29499134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0"/>
            <a:ext cx="9144000" cy="683264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2000" b="0" dirty="0">
                <a:latin typeface="Arial Black" panose="020B0A04020102020204" pitchFamily="34" charset="0"/>
                <a:cs typeface="Times New Roman" pitchFamily="18" charset="0"/>
              </a:rPr>
              <a:t>abstract interface Language</a:t>
            </a:r>
          </a:p>
          <a:p>
            <a:r>
              <a:rPr lang="en-US" sz="2000" b="0" dirty="0">
                <a:latin typeface="Arial Black" panose="020B0A04020102020204" pitchFamily="34" charset="0"/>
                <a:cs typeface="Times New Roman" pitchFamily="18" charset="0"/>
              </a:rPr>
              <a:t>{</a:t>
            </a:r>
          </a:p>
          <a:p>
            <a:r>
              <a:rPr lang="en-US" sz="2000" b="0" dirty="0">
                <a:latin typeface="Arial Black" panose="020B0A04020102020204" pitchFamily="34" charset="0"/>
                <a:cs typeface="Times New Roman" pitchFamily="18" charset="0"/>
              </a:rPr>
              <a:t>	public abstract void greeting();</a:t>
            </a:r>
          </a:p>
          <a:p>
            <a:r>
              <a:rPr lang="en-US" sz="2000" b="0" dirty="0" smtClean="0">
                <a:latin typeface="Arial Black" panose="020B0A04020102020204" pitchFamily="34" charset="0"/>
                <a:cs typeface="Times New Roman" pitchFamily="18" charset="0"/>
              </a:rPr>
              <a:t>}</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class English </a:t>
            </a:r>
            <a:r>
              <a:rPr lang="en-US" b="0" dirty="0" smtClean="0">
                <a:latin typeface="Arial Black" panose="020B0A04020102020204" pitchFamily="34" charset="0"/>
                <a:cs typeface="Times New Roman" pitchFamily="18" charset="0"/>
              </a:rPr>
              <a:t>implements Language</a:t>
            </a:r>
          </a:p>
          <a:p>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English you say Good Day");   }</a:t>
            </a:r>
          </a:p>
          <a:p>
            <a:r>
              <a:rPr lang="en-US"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class German </a:t>
            </a:r>
            <a:r>
              <a:rPr lang="en-US" b="0" dirty="0">
                <a:latin typeface="Arial Black" panose="020B0A04020102020204" pitchFamily="34" charset="0"/>
                <a:cs typeface="Times New Roman" pitchFamily="18" charset="0"/>
              </a:rPr>
              <a:t>implements Language</a:t>
            </a:r>
          </a:p>
          <a:p>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German you say </a:t>
            </a:r>
            <a:r>
              <a:rPr lang="en-US" dirty="0" err="1" smtClean="0">
                <a:latin typeface="Times New Roman" pitchFamily="18" charset="0"/>
                <a:cs typeface="Times New Roman" pitchFamily="18" charset="0"/>
              </a:rPr>
              <a:t>Guten</a:t>
            </a:r>
            <a:r>
              <a:rPr lang="en-US" dirty="0" smtClean="0">
                <a:latin typeface="Times New Roman" pitchFamily="18" charset="0"/>
                <a:cs typeface="Times New Roman" pitchFamily="18" charset="0"/>
              </a:rPr>
              <a:t> Tag");   }</a:t>
            </a:r>
          </a:p>
          <a:p>
            <a:r>
              <a:rPr lang="en-US"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class Dutch </a:t>
            </a:r>
            <a:r>
              <a:rPr lang="en-US" b="0" dirty="0">
                <a:latin typeface="Arial Black" panose="020B0A04020102020204" pitchFamily="34" charset="0"/>
                <a:cs typeface="Times New Roman" pitchFamily="18" charset="0"/>
              </a:rPr>
              <a:t>implements Language</a:t>
            </a:r>
          </a:p>
          <a:p>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Dutch you say </a:t>
            </a:r>
            <a:r>
              <a:rPr lang="en-US" dirty="0" err="1" smtClean="0">
                <a:latin typeface="Times New Roman" pitchFamily="18" charset="0"/>
                <a:cs typeface="Times New Roman" pitchFamily="18" charset="0"/>
              </a:rPr>
              <a:t>Goeden</a:t>
            </a:r>
            <a:r>
              <a:rPr lang="en-US" dirty="0" smtClean="0">
                <a:latin typeface="Times New Roman" pitchFamily="18" charset="0"/>
                <a:cs typeface="Times New Roman" pitchFamily="18" charset="0"/>
              </a:rPr>
              <a:t> Dag");   }</a:t>
            </a:r>
          </a:p>
          <a:p>
            <a:r>
              <a:rPr lang="en-US"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class French </a:t>
            </a:r>
            <a:r>
              <a:rPr lang="en-US" b="0" dirty="0">
                <a:latin typeface="Arial Black" panose="020B0A04020102020204" pitchFamily="34" charset="0"/>
                <a:cs typeface="Times New Roman" pitchFamily="18" charset="0"/>
              </a:rPr>
              <a:t>implements Language</a:t>
            </a:r>
          </a:p>
          <a:p>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French you say Bonjour");   }</a:t>
            </a:r>
          </a:p>
          <a:p>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264908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3"/>
            <a:ext cx="9144000" cy="6863417"/>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 Java1406.java</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 In this program a very convoluted </a:t>
            </a:r>
            <a:endParaRPr lang="en-US" sz="2000" dirty="0" smtClean="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smtClean="0">
                <a:latin typeface="Times New Roman" pitchFamily="18" charset="0"/>
                <a:cs typeface="Times New Roman" pitchFamily="18" charset="0"/>
              </a:rPr>
              <a:t>// method is used to print the greeting </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smtClean="0">
                <a:latin typeface="Times New Roman" pitchFamily="18" charset="0"/>
                <a:cs typeface="Times New Roman" pitchFamily="18" charset="0"/>
              </a:rPr>
              <a:t>// for </a:t>
            </a:r>
            <a:r>
              <a:rPr lang="en-US" sz="2000" dirty="0">
                <a:latin typeface="Times New Roman" pitchFamily="18" charset="0"/>
                <a:cs typeface="Times New Roman" pitchFamily="18" charset="0"/>
              </a:rPr>
              <a:t>each language.</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endParaRPr lang="en-US" sz="2000"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smtClean="0">
                <a:latin typeface="Times New Roman" pitchFamily="18" charset="0"/>
                <a:cs typeface="Times New Roman" pitchFamily="18" charset="0"/>
              </a:rPr>
              <a:t>public </a:t>
            </a:r>
            <a:r>
              <a:rPr lang="en-US" sz="2000" dirty="0">
                <a:latin typeface="Times New Roman" pitchFamily="18" charset="0"/>
                <a:cs typeface="Times New Roman" pitchFamily="18" charset="0"/>
              </a:rPr>
              <a:t>class Java1406</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spc="-30" dirty="0">
                <a:latin typeface="Times New Roman" pitchFamily="18" charset="0"/>
                <a:cs typeface="Times New Roman" pitchFamily="18" charset="0"/>
              </a:rPr>
              <a:t>	public static void main (String[] </a:t>
            </a:r>
            <a:r>
              <a:rPr lang="en-US" sz="2000" spc="-30" dirty="0" err="1">
                <a:latin typeface="Times New Roman" pitchFamily="18" charset="0"/>
                <a:cs typeface="Times New Roman" pitchFamily="18" charset="0"/>
              </a:rPr>
              <a:t>args</a:t>
            </a:r>
            <a:r>
              <a:rPr lang="en-US" sz="2000" spc="-30"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	{</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English </a:t>
            </a:r>
            <a:r>
              <a:rPr lang="en-US" sz="2000" dirty="0">
                <a:latin typeface="Times New Roman" pitchFamily="18" charset="0"/>
                <a:cs typeface="Times New Roman" pitchFamily="18" charset="0"/>
              </a:rPr>
              <a:t>g1 = new English();</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German </a:t>
            </a:r>
            <a:r>
              <a:rPr lang="en-US" sz="2000" dirty="0">
                <a:latin typeface="Times New Roman" pitchFamily="18" charset="0"/>
                <a:cs typeface="Times New Roman" pitchFamily="18" charset="0"/>
              </a:rPr>
              <a:t>g2 = new German();</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Dutch </a:t>
            </a:r>
            <a:r>
              <a:rPr lang="en-US" sz="2000" dirty="0">
                <a:latin typeface="Times New Roman" pitchFamily="18" charset="0"/>
                <a:cs typeface="Times New Roman" pitchFamily="18" charset="0"/>
              </a:rPr>
              <a:t>g3 = new Dutch();</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French </a:t>
            </a:r>
            <a:r>
              <a:rPr lang="en-US" sz="2000" dirty="0">
                <a:latin typeface="Times New Roman" pitchFamily="18" charset="0"/>
                <a:cs typeface="Times New Roman" pitchFamily="18" charset="0"/>
              </a:rPr>
              <a:t>g4 = new French();</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printGreeting</a:t>
            </a:r>
            <a:r>
              <a:rPr lang="en-US" sz="2000" dirty="0" smtClean="0">
                <a:latin typeface="Times New Roman" pitchFamily="18" charset="0"/>
                <a:cs typeface="Times New Roman" pitchFamily="18" charset="0"/>
              </a:rPr>
              <a:t>(g1</a:t>
            </a:r>
            <a:r>
              <a:rPr lang="en-US" sz="2000"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printGreeting</a:t>
            </a:r>
            <a:r>
              <a:rPr lang="en-US" sz="2000" dirty="0" smtClean="0">
                <a:latin typeface="Times New Roman" pitchFamily="18" charset="0"/>
                <a:cs typeface="Times New Roman" pitchFamily="18" charset="0"/>
              </a:rPr>
              <a:t>(g2</a:t>
            </a:r>
            <a:r>
              <a:rPr lang="en-US" sz="2000"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printGreeting</a:t>
            </a:r>
            <a:r>
              <a:rPr lang="en-US" sz="2000" dirty="0" smtClean="0">
                <a:latin typeface="Times New Roman" pitchFamily="18" charset="0"/>
                <a:cs typeface="Times New Roman" pitchFamily="18" charset="0"/>
              </a:rPr>
              <a:t>(g3</a:t>
            </a:r>
            <a:r>
              <a:rPr lang="en-US" sz="2000"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printGreeting</a:t>
            </a:r>
            <a:r>
              <a:rPr lang="en-US" sz="2000" dirty="0" smtClean="0">
                <a:latin typeface="Times New Roman" pitchFamily="18" charset="0"/>
                <a:cs typeface="Times New Roman" pitchFamily="18" charset="0"/>
              </a:rPr>
              <a:t>(g4</a:t>
            </a:r>
            <a:r>
              <a:rPr lang="en-US" sz="2000"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endParaRPr lang="en-US" sz="2000"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endParaRPr lang="en-US" sz="2000" dirty="0" smtClean="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a:t>
            </a:r>
          </a:p>
        </p:txBody>
      </p:sp>
      <p:sp>
        <p:nvSpPr>
          <p:cNvPr id="5" name="Text Box 2"/>
          <p:cNvSpPr txBox="1">
            <a:spLocks noChangeArrowheads="1"/>
          </p:cNvSpPr>
          <p:nvPr/>
        </p:nvSpPr>
        <p:spPr bwMode="auto">
          <a:xfrm>
            <a:off x="4572000" y="0"/>
            <a:ext cx="4572000" cy="6851106"/>
          </a:xfrm>
          <a:prstGeom prst="rect">
            <a:avLst/>
          </a:prstGeom>
          <a:solidFill>
            <a:srgbClr val="FFFF99"/>
          </a:solidFill>
          <a:ln w="57150">
            <a:solidFill>
              <a:schemeClr val="tx1"/>
            </a:solidFill>
            <a:miter lim="800000"/>
            <a:headEnd/>
            <a:tailEnd/>
          </a:ln>
        </p:spPr>
        <p:txBody>
          <a:bodyPr wrap="square">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140000"/>
              </a:lnSpc>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pc="-30" dirty="0" smtClean="0">
                <a:latin typeface="Times New Roman" pitchFamily="18" charset="0"/>
                <a:cs typeface="Times New Roman" pitchFamily="18" charset="0"/>
              </a:rPr>
              <a:t>   	public </a:t>
            </a:r>
            <a:r>
              <a:rPr lang="en-US" spc="-30" dirty="0">
                <a:latin typeface="Times New Roman" pitchFamily="18" charset="0"/>
                <a:cs typeface="Times New Roman" pitchFamily="18" charset="0"/>
              </a:rPr>
              <a:t>static void </a:t>
            </a:r>
            <a:r>
              <a:rPr lang="en-US" spc="-30" dirty="0" err="1">
                <a:latin typeface="Times New Roman" pitchFamily="18" charset="0"/>
                <a:cs typeface="Times New Roman" pitchFamily="18" charset="0"/>
              </a:rPr>
              <a:t>printGreeting</a:t>
            </a:r>
            <a:r>
              <a:rPr lang="en-US" spc="-30" dirty="0">
                <a:latin typeface="Times New Roman" pitchFamily="18" charset="0"/>
                <a:cs typeface="Times New Roman" pitchFamily="18" charset="0"/>
              </a:rPr>
              <a:t>(Object g)</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if </a:t>
            </a:r>
            <a:r>
              <a:rPr lang="en-US" dirty="0">
                <a:latin typeface="Times New Roman" pitchFamily="18" charset="0"/>
                <a:cs typeface="Times New Roman" pitchFamily="18" charset="0"/>
              </a:rPr>
              <a:t>(g </a:t>
            </a:r>
            <a:r>
              <a:rPr lang="en-US" dirty="0" err="1">
                <a:latin typeface="Times New Roman" pitchFamily="18" charset="0"/>
                <a:cs typeface="Times New Roman" pitchFamily="18" charset="0"/>
              </a:rPr>
              <a:t>instanceof</a:t>
            </a:r>
            <a:r>
              <a:rPr lang="en-US" dirty="0">
                <a:latin typeface="Times New Roman" pitchFamily="18" charset="0"/>
                <a:cs typeface="Times New Roman" pitchFamily="18" charset="0"/>
              </a:rPr>
              <a:t> English)</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English </a:t>
            </a:r>
            <a:r>
              <a:rPr lang="en-US" dirty="0">
                <a:latin typeface="Times New Roman" pitchFamily="18" charset="0"/>
                <a:cs typeface="Times New Roman" pitchFamily="18" charset="0"/>
              </a:rPr>
              <a:t>temp = (English) g;</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temp.greeting</a:t>
            </a:r>
            <a:r>
              <a:rPr lang="en-US"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else </a:t>
            </a:r>
            <a:r>
              <a:rPr lang="en-US" dirty="0">
                <a:latin typeface="Times New Roman" pitchFamily="18" charset="0"/>
                <a:cs typeface="Times New Roman" pitchFamily="18" charset="0"/>
              </a:rPr>
              <a:t>if (g </a:t>
            </a:r>
            <a:r>
              <a:rPr lang="en-US" dirty="0" err="1">
                <a:latin typeface="Times New Roman" pitchFamily="18" charset="0"/>
                <a:cs typeface="Times New Roman" pitchFamily="18" charset="0"/>
              </a:rPr>
              <a:t>instanceof</a:t>
            </a:r>
            <a:r>
              <a:rPr lang="en-US" dirty="0">
                <a:latin typeface="Times New Roman" pitchFamily="18" charset="0"/>
                <a:cs typeface="Times New Roman" pitchFamily="18" charset="0"/>
              </a:rPr>
              <a:t> German)</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German </a:t>
            </a:r>
            <a:r>
              <a:rPr lang="en-US" dirty="0">
                <a:latin typeface="Times New Roman" pitchFamily="18" charset="0"/>
                <a:cs typeface="Times New Roman" pitchFamily="18" charset="0"/>
              </a:rPr>
              <a:t>temp = (German) g;</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temp.greeting</a:t>
            </a:r>
            <a:r>
              <a:rPr lang="en-US"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      </a:t>
            </a:r>
            <a:endParaRPr lang="en-US"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else </a:t>
            </a:r>
            <a:r>
              <a:rPr lang="en-US" dirty="0">
                <a:latin typeface="Times New Roman" pitchFamily="18" charset="0"/>
                <a:cs typeface="Times New Roman" pitchFamily="18" charset="0"/>
              </a:rPr>
              <a:t>if (g </a:t>
            </a:r>
            <a:r>
              <a:rPr lang="en-US" dirty="0" err="1">
                <a:latin typeface="Times New Roman" pitchFamily="18" charset="0"/>
                <a:cs typeface="Times New Roman" pitchFamily="18" charset="0"/>
              </a:rPr>
              <a:t>instanceof</a:t>
            </a:r>
            <a:r>
              <a:rPr lang="en-US" dirty="0">
                <a:latin typeface="Times New Roman" pitchFamily="18" charset="0"/>
                <a:cs typeface="Times New Roman" pitchFamily="18" charset="0"/>
              </a:rPr>
              <a:t> Dutch)</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Dutch </a:t>
            </a:r>
            <a:r>
              <a:rPr lang="en-US" dirty="0">
                <a:latin typeface="Times New Roman" pitchFamily="18" charset="0"/>
                <a:cs typeface="Times New Roman" pitchFamily="18" charset="0"/>
              </a:rPr>
              <a:t>temp = (Dutch) g;</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temp.greeting</a:t>
            </a:r>
            <a:r>
              <a:rPr lang="en-US"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      </a:t>
            </a:r>
            <a:endParaRPr lang="en-US"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else </a:t>
            </a:r>
            <a:r>
              <a:rPr lang="en-US" dirty="0">
                <a:latin typeface="Times New Roman" pitchFamily="18" charset="0"/>
                <a:cs typeface="Times New Roman" pitchFamily="18" charset="0"/>
              </a:rPr>
              <a:t>if (g </a:t>
            </a:r>
            <a:r>
              <a:rPr lang="en-US" dirty="0" err="1">
                <a:latin typeface="Times New Roman" pitchFamily="18" charset="0"/>
                <a:cs typeface="Times New Roman" pitchFamily="18" charset="0"/>
              </a:rPr>
              <a:t>instanceof</a:t>
            </a:r>
            <a:r>
              <a:rPr lang="en-US" dirty="0">
                <a:latin typeface="Times New Roman" pitchFamily="18" charset="0"/>
                <a:cs typeface="Times New Roman" pitchFamily="18" charset="0"/>
              </a:rPr>
              <a:t> French)</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French </a:t>
            </a:r>
            <a:r>
              <a:rPr lang="en-US" dirty="0">
                <a:latin typeface="Times New Roman" pitchFamily="18" charset="0"/>
                <a:cs typeface="Times New Roman" pitchFamily="18" charset="0"/>
              </a:rPr>
              <a:t>temp = (French) g;</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temp.greeting</a:t>
            </a:r>
            <a:r>
              <a:rPr lang="en-US"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            </a:t>
            </a:r>
            <a:endParaRPr lang="en-US"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a:t>
            </a:r>
          </a:p>
        </p:txBody>
      </p:sp>
      <p:sp>
        <p:nvSpPr>
          <p:cNvPr id="6" name="TextBox 5"/>
          <p:cNvSpPr txBox="1"/>
          <p:nvPr/>
        </p:nvSpPr>
        <p:spPr>
          <a:xfrm>
            <a:off x="-9525" y="5657671"/>
            <a:ext cx="4124325" cy="1200329"/>
          </a:xfrm>
          <a:prstGeom prst="rect">
            <a:avLst/>
          </a:prstGeom>
          <a:solidFill>
            <a:schemeClr val="accent6">
              <a:lumMod val="20000"/>
              <a:lumOff val="80000"/>
            </a:schemeClr>
          </a:solidFill>
          <a:ln w="57150">
            <a:solidFill>
              <a:schemeClr val="tx1"/>
            </a:solidFill>
          </a:ln>
        </p:spPr>
        <p:txBody>
          <a:bodyPr wrap="square" rtlCol="0">
            <a:spAutoFit/>
          </a:bodyPr>
          <a:lstStyle/>
          <a:p>
            <a:r>
              <a:rPr lang="en-US" dirty="0">
                <a:latin typeface="Courier New" panose="02070309020205020404" pitchFamily="49" charset="0"/>
                <a:cs typeface="Courier New" panose="02070309020205020404" pitchFamily="49" charset="0"/>
              </a:rPr>
              <a:t>In English you say Good Day</a:t>
            </a:r>
          </a:p>
          <a:p>
            <a:r>
              <a:rPr lang="en-US" dirty="0">
                <a:latin typeface="Courier New" panose="02070309020205020404" pitchFamily="49" charset="0"/>
                <a:cs typeface="Courier New" panose="02070309020205020404" pitchFamily="49" charset="0"/>
              </a:rPr>
              <a:t>In German you say </a:t>
            </a:r>
            <a:r>
              <a:rPr lang="en-US" dirty="0" err="1">
                <a:latin typeface="Courier New" panose="02070309020205020404" pitchFamily="49" charset="0"/>
                <a:cs typeface="Courier New" panose="02070309020205020404" pitchFamily="49" charset="0"/>
              </a:rPr>
              <a:t>Guten</a:t>
            </a:r>
            <a:r>
              <a:rPr lang="en-US" dirty="0">
                <a:latin typeface="Courier New" panose="02070309020205020404" pitchFamily="49" charset="0"/>
                <a:cs typeface="Courier New" panose="02070309020205020404" pitchFamily="49" charset="0"/>
              </a:rPr>
              <a:t> Tag</a:t>
            </a:r>
          </a:p>
          <a:p>
            <a:r>
              <a:rPr lang="en-US" dirty="0">
                <a:latin typeface="Courier New" panose="02070309020205020404" pitchFamily="49" charset="0"/>
                <a:cs typeface="Courier New" panose="02070309020205020404" pitchFamily="49" charset="0"/>
              </a:rPr>
              <a:t>In Dutch you say </a:t>
            </a:r>
            <a:r>
              <a:rPr lang="en-US" dirty="0" err="1">
                <a:latin typeface="Courier New" panose="02070309020205020404" pitchFamily="49" charset="0"/>
                <a:cs typeface="Courier New" panose="02070309020205020404" pitchFamily="49" charset="0"/>
              </a:rPr>
              <a:t>Goeden</a:t>
            </a:r>
            <a:r>
              <a:rPr lang="en-US" dirty="0">
                <a:latin typeface="Courier New" panose="02070309020205020404" pitchFamily="49" charset="0"/>
                <a:cs typeface="Courier New" panose="02070309020205020404" pitchFamily="49" charset="0"/>
              </a:rPr>
              <a:t> Dag</a:t>
            </a:r>
          </a:p>
          <a:p>
            <a:r>
              <a:rPr lang="en-US" dirty="0">
                <a:latin typeface="Courier New" panose="02070309020205020404" pitchFamily="49" charset="0"/>
                <a:cs typeface="Courier New" panose="02070309020205020404" pitchFamily="49" charset="0"/>
              </a:rPr>
              <a:t>In French you say Bonjour</a:t>
            </a:r>
          </a:p>
        </p:txBody>
      </p:sp>
    </p:spTree>
    <p:extLst>
      <p:ext uri="{BB962C8B-B14F-4D97-AF65-F5344CB8AC3E}">
        <p14:creationId xmlns:p14="http://schemas.microsoft.com/office/powerpoint/2010/main" val="9152376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80000"/>
              </a:lnSpc>
            </a:pPr>
            <a:r>
              <a:rPr lang="en-US" dirty="0" smtClean="0">
                <a:latin typeface="Times New Roman" pitchFamily="18" charset="0"/>
                <a:cs typeface="Times New Roman" pitchFamily="18" charset="0"/>
              </a:rPr>
              <a:t>class </a:t>
            </a:r>
            <a:r>
              <a:rPr lang="en-US" dirty="0">
                <a:latin typeface="Times New Roman" pitchFamily="18" charset="0"/>
                <a:cs typeface="Times New Roman" pitchFamily="18" charset="0"/>
              </a:rPr>
              <a:t>English</a:t>
            </a:r>
          </a:p>
          <a:p>
            <a:pPr>
              <a:lnSpc>
                <a:spcPct val="80000"/>
              </a:lnSpc>
            </a:pPr>
            <a:r>
              <a:rPr lang="en-US" dirty="0">
                <a:latin typeface="Times New Roman" pitchFamily="18" charset="0"/>
                <a:cs typeface="Times New Roman" pitchFamily="18" charset="0"/>
              </a:rPr>
              <a:t>{</a:t>
            </a:r>
          </a:p>
          <a:p>
            <a:pPr>
              <a:lnSpc>
                <a:spcPct val="80000"/>
              </a:lnSpc>
            </a:pPr>
            <a:r>
              <a:rPr lang="en-US" dirty="0">
                <a:latin typeface="Times New Roman" pitchFamily="18" charset="0"/>
                <a:cs typeface="Times New Roman" pitchFamily="18" charset="0"/>
              </a:rPr>
              <a:t>	public void greeting</a:t>
            </a:r>
            <a:r>
              <a:rPr lang="en-US" dirty="0" smtClean="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System.out.println</a:t>
            </a:r>
            <a:r>
              <a:rPr lang="en-US" dirty="0">
                <a:latin typeface="Times New Roman" pitchFamily="18" charset="0"/>
                <a:cs typeface="Times New Roman" pitchFamily="18" charset="0"/>
              </a:rPr>
              <a:t>("In English you say Good Day</a:t>
            </a:r>
            <a:r>
              <a:rPr lang="en-US" dirty="0" smtClean="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a:lnSpc>
                <a:spcPct val="80000"/>
              </a:lnSpc>
            </a:pPr>
            <a:r>
              <a:rPr lang="en-US" dirty="0">
                <a:latin typeface="Times New Roman" pitchFamily="18" charset="0"/>
                <a:cs typeface="Times New Roman" pitchFamily="18" charset="0"/>
              </a:rPr>
              <a:t>}</a:t>
            </a:r>
          </a:p>
          <a:p>
            <a:pPr>
              <a:lnSpc>
                <a:spcPct val="80000"/>
              </a:lnSpc>
            </a:pPr>
            <a:r>
              <a:rPr lang="en-US" sz="1600" dirty="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class German</a:t>
            </a:r>
          </a:p>
          <a:p>
            <a:pPr>
              <a:lnSpc>
                <a:spcPct val="80000"/>
              </a:lnSpc>
            </a:pPr>
            <a:r>
              <a:rPr lang="en-US" dirty="0">
                <a:latin typeface="Times New Roman" pitchFamily="18" charset="0"/>
                <a:cs typeface="Times New Roman" pitchFamily="18" charset="0"/>
              </a:rPr>
              <a:t>{</a:t>
            </a:r>
          </a:p>
          <a:p>
            <a:pPr>
              <a:lnSpc>
                <a:spcPct val="80000"/>
              </a:lnSpc>
            </a:pPr>
            <a:r>
              <a:rPr lang="en-US" dirty="0">
                <a:latin typeface="Times New Roman" pitchFamily="18" charset="0"/>
                <a:cs typeface="Times New Roman" pitchFamily="18" charset="0"/>
              </a:rPr>
              <a:t>	public void greeting</a:t>
            </a:r>
            <a:r>
              <a:rPr lang="en-US" dirty="0" smtClean="0">
                <a:latin typeface="Times New Roman" pitchFamily="18" charset="0"/>
                <a:cs typeface="Times New Roman" pitchFamily="18" charset="0"/>
              </a:rPr>
              <a:t>()</a:t>
            </a:r>
          </a:p>
          <a:p>
            <a:pPr>
              <a:lnSpc>
                <a:spcPct val="80000"/>
              </a:lnSpc>
            </a:pPr>
            <a:r>
              <a:rPr lang="en-US" dirty="0" smtClean="0">
                <a:latin typeface="Times New Roman" pitchFamily="18" charset="0"/>
                <a:cs typeface="Times New Roman" pitchFamily="18" charset="0"/>
              </a:rPr>
              <a:t>	{</a:t>
            </a:r>
          </a:p>
          <a:p>
            <a:pPr>
              <a:lnSpc>
                <a:spcPct val="80000"/>
              </a:lnSpc>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German you say </a:t>
            </a:r>
            <a:r>
              <a:rPr lang="en-US" dirty="0" err="1" smtClean="0">
                <a:latin typeface="Times New Roman" pitchFamily="18" charset="0"/>
                <a:cs typeface="Times New Roman" pitchFamily="18" charset="0"/>
              </a:rPr>
              <a:t>Guten</a:t>
            </a:r>
            <a:r>
              <a:rPr lang="en-US" dirty="0" smtClean="0">
                <a:latin typeface="Times New Roman" pitchFamily="18" charset="0"/>
                <a:cs typeface="Times New Roman" pitchFamily="18" charset="0"/>
              </a:rPr>
              <a:t> Tag");</a:t>
            </a:r>
          </a:p>
          <a:p>
            <a:pPr>
              <a:lnSpc>
                <a:spcPct val="80000"/>
              </a:lnSpc>
            </a:pPr>
            <a:r>
              <a:rPr lang="en-US" dirty="0" smtClean="0">
                <a:latin typeface="Times New Roman" pitchFamily="18" charset="0"/>
                <a:cs typeface="Times New Roman" pitchFamily="18" charset="0"/>
              </a:rPr>
              <a:t>	}</a:t>
            </a:r>
          </a:p>
          <a:p>
            <a:pPr>
              <a:lnSpc>
                <a:spcPct val="80000"/>
              </a:lnSpc>
            </a:pP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a:lnSpc>
                <a:spcPct val="80000"/>
              </a:lnSpc>
            </a:pPr>
            <a:r>
              <a:rPr lang="en-US" sz="1600" dirty="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class Dutch</a:t>
            </a:r>
          </a:p>
          <a:p>
            <a:pPr>
              <a:lnSpc>
                <a:spcPct val="80000"/>
              </a:lnSpc>
            </a:pPr>
            <a:r>
              <a:rPr lang="en-US" dirty="0">
                <a:latin typeface="Times New Roman" pitchFamily="18" charset="0"/>
                <a:cs typeface="Times New Roman" pitchFamily="18" charset="0"/>
              </a:rPr>
              <a:t>{</a:t>
            </a:r>
          </a:p>
          <a:p>
            <a:pPr>
              <a:lnSpc>
                <a:spcPct val="80000"/>
              </a:lnSpc>
            </a:pPr>
            <a:r>
              <a:rPr lang="en-US" dirty="0">
                <a:latin typeface="Times New Roman" pitchFamily="18" charset="0"/>
                <a:cs typeface="Times New Roman" pitchFamily="18" charset="0"/>
              </a:rPr>
              <a:t>	public void greeting</a:t>
            </a:r>
            <a:r>
              <a:rPr lang="en-US" dirty="0" smtClean="0">
                <a:latin typeface="Times New Roman" pitchFamily="18" charset="0"/>
                <a:cs typeface="Times New Roman" pitchFamily="18" charset="0"/>
              </a:rPr>
              <a:t>()</a:t>
            </a:r>
          </a:p>
          <a:p>
            <a:pPr>
              <a:lnSpc>
                <a:spcPct val="80000"/>
              </a:lnSpc>
            </a:pPr>
            <a:r>
              <a:rPr lang="en-US" dirty="0" smtClean="0">
                <a:latin typeface="Times New Roman" pitchFamily="18" charset="0"/>
                <a:cs typeface="Times New Roman" pitchFamily="18" charset="0"/>
              </a:rPr>
              <a:t>	{</a:t>
            </a:r>
          </a:p>
          <a:p>
            <a:pPr>
              <a:lnSpc>
                <a:spcPct val="80000"/>
              </a:lnSpc>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Dutch you say </a:t>
            </a:r>
            <a:r>
              <a:rPr lang="en-US" dirty="0" err="1" smtClean="0">
                <a:latin typeface="Times New Roman" pitchFamily="18" charset="0"/>
                <a:cs typeface="Times New Roman" pitchFamily="18" charset="0"/>
              </a:rPr>
              <a:t>Goeden</a:t>
            </a:r>
            <a:r>
              <a:rPr lang="en-US" dirty="0" smtClean="0">
                <a:latin typeface="Times New Roman" pitchFamily="18" charset="0"/>
                <a:cs typeface="Times New Roman" pitchFamily="18" charset="0"/>
              </a:rPr>
              <a:t> Dag");</a:t>
            </a:r>
          </a:p>
          <a:p>
            <a:pPr>
              <a:lnSpc>
                <a:spcPct val="80000"/>
              </a:lnSpc>
            </a:pPr>
            <a:r>
              <a:rPr lang="en-US" dirty="0" smtClean="0">
                <a:latin typeface="Times New Roman" pitchFamily="18" charset="0"/>
                <a:cs typeface="Times New Roman" pitchFamily="18" charset="0"/>
              </a:rPr>
              <a:t>	}</a:t>
            </a:r>
          </a:p>
          <a:p>
            <a:pPr>
              <a:lnSpc>
                <a:spcPct val="80000"/>
              </a:lnSpc>
            </a:pP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a:lnSpc>
                <a:spcPct val="80000"/>
              </a:lnSpc>
            </a:pPr>
            <a:r>
              <a:rPr lang="en-US" sz="1600" dirty="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class </a:t>
            </a:r>
            <a:r>
              <a:rPr lang="en-US" dirty="0" smtClean="0">
                <a:latin typeface="Times New Roman" pitchFamily="18" charset="0"/>
                <a:cs typeface="Times New Roman" pitchFamily="18" charset="0"/>
              </a:rPr>
              <a:t>French</a:t>
            </a:r>
          </a:p>
          <a:p>
            <a:pPr>
              <a:lnSpc>
                <a:spcPct val="80000"/>
              </a:lnSpc>
            </a:pPr>
            <a:r>
              <a:rPr lang="en-US" dirty="0" smtClean="0">
                <a:latin typeface="Times New Roman" pitchFamily="18" charset="0"/>
                <a:cs typeface="Times New Roman" pitchFamily="18" charset="0"/>
              </a:rPr>
              <a:t>{</a:t>
            </a:r>
          </a:p>
          <a:p>
            <a:pPr>
              <a:lnSpc>
                <a:spcPct val="80000"/>
              </a:lnSpc>
            </a:pPr>
            <a:r>
              <a:rPr lang="en-US" dirty="0">
                <a:latin typeface="Times New Roman" pitchFamily="18" charset="0"/>
                <a:cs typeface="Times New Roman" pitchFamily="18" charset="0"/>
              </a:rPr>
              <a:t>	public void greeting()</a:t>
            </a:r>
          </a:p>
          <a:p>
            <a:pPr>
              <a:lnSpc>
                <a:spcPct val="80000"/>
              </a:lnSpc>
            </a:pPr>
            <a:r>
              <a:rPr lang="en-US" dirty="0">
                <a:latin typeface="Times New Roman" pitchFamily="18" charset="0"/>
                <a:cs typeface="Times New Roman" pitchFamily="18" charset="0"/>
              </a:rPr>
              <a:t>	{</a:t>
            </a:r>
          </a:p>
          <a:p>
            <a:pPr>
              <a:lnSpc>
                <a:spcPct val="80000"/>
              </a:lnSpc>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System.out.println</a:t>
            </a:r>
            <a:r>
              <a:rPr lang="en-US" dirty="0">
                <a:latin typeface="Times New Roman" pitchFamily="18" charset="0"/>
                <a:cs typeface="Times New Roman" pitchFamily="18" charset="0"/>
              </a:rPr>
              <a:t>("In French you say Bonjour");</a:t>
            </a:r>
          </a:p>
          <a:p>
            <a:pPr>
              <a:lnSpc>
                <a:spcPct val="80000"/>
              </a:lnSpc>
            </a:pPr>
            <a:r>
              <a:rPr lang="en-US" dirty="0">
                <a:latin typeface="Times New Roman" pitchFamily="18" charset="0"/>
                <a:cs typeface="Times New Roman" pitchFamily="18" charset="0"/>
              </a:rPr>
              <a:t>	}</a:t>
            </a:r>
          </a:p>
          <a:p>
            <a:pPr>
              <a:lnSpc>
                <a:spcPct val="80000"/>
              </a:lnSpc>
            </a:pP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pic>
        <p:nvPicPr>
          <p:cNvPr id="94210" name="Picture 2" descr="C:\Users\JohnSchram\AppData\Local\Microsoft\Windows\Temporary Internet Files\Content.IE5\U7LLF55W\MP900362767[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75120" y="3474720"/>
            <a:ext cx="2468880" cy="1645920"/>
          </a:xfrm>
          <a:prstGeom prst="rect">
            <a:avLst/>
          </a:prstGeom>
          <a:noFill/>
          <a:extLst>
            <a:ext uri="{909E8E84-426E-40DD-AFC4-6F175D3DCCD1}">
              <a14:hiddenFill xmlns:a14="http://schemas.microsoft.com/office/drawing/2010/main">
                <a:solidFill>
                  <a:srgbClr val="FFFFFF"/>
                </a:solidFill>
              </a14:hiddenFill>
            </a:ext>
          </a:extLst>
        </p:spPr>
      </p:pic>
      <p:pic>
        <p:nvPicPr>
          <p:cNvPr id="94211" name="Picture 3" descr="C:\Users\JohnSchram\AppData\Local\Microsoft\Windows\Temporary Internet Files\Content.IE5\HBCMQ2SU\MP900362676[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120" y="5212080"/>
            <a:ext cx="2475068" cy="1645920"/>
          </a:xfrm>
          <a:prstGeom prst="rect">
            <a:avLst/>
          </a:prstGeom>
          <a:noFill/>
          <a:extLst>
            <a:ext uri="{909E8E84-426E-40DD-AFC4-6F175D3DCCD1}">
              <a14:hiddenFill xmlns:a14="http://schemas.microsoft.com/office/drawing/2010/main">
                <a:solidFill>
                  <a:srgbClr val="FFFFFF"/>
                </a:solidFill>
              </a14:hiddenFill>
            </a:ext>
          </a:extLst>
        </p:spPr>
      </p:pic>
      <p:pic>
        <p:nvPicPr>
          <p:cNvPr id="94212" name="Picture 4" descr="C:\Users\JohnSchram\AppData\Local\Microsoft\Windows\Temporary Internet Files\Content.IE5\6H7XVADK\MP900362682[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5120" y="1737360"/>
            <a:ext cx="2471970" cy="1645920"/>
          </a:xfrm>
          <a:prstGeom prst="rect">
            <a:avLst/>
          </a:prstGeom>
          <a:noFill/>
          <a:extLst>
            <a:ext uri="{909E8E84-426E-40DD-AFC4-6F175D3DCCD1}">
              <a14:hiddenFill xmlns:a14="http://schemas.microsoft.com/office/drawing/2010/main">
                <a:solidFill>
                  <a:srgbClr val="FFFFFF"/>
                </a:solidFill>
              </a14:hiddenFill>
            </a:ext>
          </a:extLst>
        </p:spPr>
      </p:pic>
      <p:pic>
        <p:nvPicPr>
          <p:cNvPr id="94214" name="Picture 6" descr="C:\Users\JohnSchram\AppData\Local\Microsoft\Windows\Temporary Internet Files\Content.IE5\HBCMQ2SU\MC900001022[1].wmf"/>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20438"/>
          <a:stretch/>
        </p:blipFill>
        <p:spPr bwMode="auto">
          <a:xfrm>
            <a:off x="6675120" y="0"/>
            <a:ext cx="2468880" cy="1645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10969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4"/>
            <a:ext cx="9144000" cy="7001917"/>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1900" dirty="0">
                <a:latin typeface="Times New Roman" pitchFamily="18" charset="0"/>
                <a:cs typeface="Times New Roman" pitchFamily="18" charset="0"/>
              </a:rPr>
              <a:t>// Java1407.java</a:t>
            </a:r>
          </a:p>
          <a:p>
            <a:r>
              <a:rPr lang="en-US" sz="1900" dirty="0">
                <a:latin typeface="Times New Roman" pitchFamily="18" charset="0"/>
                <a:cs typeface="Times New Roman" pitchFamily="18" charset="0"/>
              </a:rPr>
              <a:t>// This program uses polymorphism with a </a:t>
            </a:r>
            <a:r>
              <a:rPr lang="en-US" sz="1900" dirty="0" smtClean="0">
                <a:latin typeface="Times New Roman" pitchFamily="18" charset="0"/>
                <a:cs typeface="Times New Roman" pitchFamily="18" charset="0"/>
              </a:rPr>
              <a:t>very simple </a:t>
            </a:r>
            <a:r>
              <a:rPr lang="en-US" sz="1900" dirty="0">
                <a:latin typeface="Times New Roman" pitchFamily="18" charset="0"/>
                <a:cs typeface="Times New Roman" pitchFamily="18" charset="0"/>
              </a:rPr>
              <a:t>&lt;</a:t>
            </a:r>
            <a:r>
              <a:rPr lang="en-US" sz="1900" dirty="0" err="1">
                <a:latin typeface="Times New Roman" pitchFamily="18" charset="0"/>
                <a:cs typeface="Times New Roman" pitchFamily="18" charset="0"/>
              </a:rPr>
              <a:t>printGreeting</a:t>
            </a:r>
            <a:r>
              <a:rPr lang="en-US" sz="1900" dirty="0">
                <a:latin typeface="Times New Roman" pitchFamily="18" charset="0"/>
                <a:cs typeface="Times New Roman" pitchFamily="18" charset="0"/>
              </a:rPr>
              <a:t>&gt; method.</a:t>
            </a:r>
          </a:p>
          <a:p>
            <a:r>
              <a:rPr lang="en-US" sz="1900" dirty="0">
                <a:latin typeface="Times New Roman" pitchFamily="18" charset="0"/>
                <a:cs typeface="Times New Roman" pitchFamily="18" charset="0"/>
              </a:rPr>
              <a:t>// The &lt;Language&gt; interface is the "umbrella".</a:t>
            </a:r>
          </a:p>
          <a:p>
            <a:endParaRPr lang="en-US" sz="1600" dirty="0">
              <a:latin typeface="Times New Roman" pitchFamily="18" charset="0"/>
              <a:cs typeface="Times New Roman" pitchFamily="18" charset="0"/>
            </a:endParaRPr>
          </a:p>
          <a:p>
            <a:r>
              <a:rPr lang="en-US" sz="1900" dirty="0" smtClean="0">
                <a:latin typeface="Times New Roman" pitchFamily="18" charset="0"/>
                <a:cs typeface="Times New Roman" pitchFamily="18" charset="0"/>
              </a:rPr>
              <a:t>public </a:t>
            </a:r>
            <a:r>
              <a:rPr lang="en-US" sz="1900" dirty="0">
                <a:latin typeface="Times New Roman" pitchFamily="18" charset="0"/>
                <a:cs typeface="Times New Roman" pitchFamily="18" charset="0"/>
              </a:rPr>
              <a:t>class Java1407</a:t>
            </a:r>
          </a:p>
          <a:p>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public static void main (String[] </a:t>
            </a:r>
            <a:r>
              <a:rPr lang="en-US" sz="1900" dirty="0" err="1">
                <a:latin typeface="Times New Roman" pitchFamily="18" charset="0"/>
                <a:cs typeface="Times New Roman" pitchFamily="18" charset="0"/>
              </a:rPr>
              <a:t>args</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Language </a:t>
            </a:r>
            <a:r>
              <a:rPr lang="en-US" sz="1900" dirty="0">
                <a:latin typeface="Times New Roman" pitchFamily="18" charset="0"/>
                <a:cs typeface="Times New Roman" pitchFamily="18" charset="0"/>
              </a:rPr>
              <a:t>g1 = new English();</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Language </a:t>
            </a:r>
            <a:r>
              <a:rPr lang="en-US" sz="1900" dirty="0">
                <a:latin typeface="Times New Roman" pitchFamily="18" charset="0"/>
                <a:cs typeface="Times New Roman" pitchFamily="18" charset="0"/>
              </a:rPr>
              <a:t>g2 = new German();</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Language </a:t>
            </a:r>
            <a:r>
              <a:rPr lang="en-US" sz="1900" dirty="0">
                <a:latin typeface="Times New Roman" pitchFamily="18" charset="0"/>
                <a:cs typeface="Times New Roman" pitchFamily="18" charset="0"/>
              </a:rPr>
              <a:t>g3 = new Dutch();</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Language </a:t>
            </a:r>
            <a:r>
              <a:rPr lang="en-US" sz="1900" dirty="0">
                <a:latin typeface="Times New Roman" pitchFamily="18" charset="0"/>
                <a:cs typeface="Times New Roman" pitchFamily="18" charset="0"/>
              </a:rPr>
              <a:t>g4 = new French();</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printGreeting</a:t>
            </a:r>
            <a:r>
              <a:rPr lang="en-US" sz="1900" dirty="0" smtClean="0">
                <a:latin typeface="Times New Roman" pitchFamily="18" charset="0"/>
                <a:cs typeface="Times New Roman" pitchFamily="18" charset="0"/>
              </a:rPr>
              <a:t>(g1</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printGreeting</a:t>
            </a:r>
            <a:r>
              <a:rPr lang="en-US" sz="1900" dirty="0" smtClean="0">
                <a:latin typeface="Times New Roman" pitchFamily="18" charset="0"/>
                <a:cs typeface="Times New Roman" pitchFamily="18" charset="0"/>
              </a:rPr>
              <a:t>(g2</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printGreeting</a:t>
            </a:r>
            <a:r>
              <a:rPr lang="en-US" sz="1900" dirty="0" smtClean="0">
                <a:latin typeface="Times New Roman" pitchFamily="18" charset="0"/>
                <a:cs typeface="Times New Roman" pitchFamily="18" charset="0"/>
              </a:rPr>
              <a:t>(g3</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printGreeting</a:t>
            </a:r>
            <a:r>
              <a:rPr lang="en-US" sz="1900" dirty="0" smtClean="0">
                <a:latin typeface="Times New Roman" pitchFamily="18" charset="0"/>
                <a:cs typeface="Times New Roman" pitchFamily="18" charset="0"/>
              </a:rPr>
              <a:t>(g4</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p>
          <a:p>
            <a:endParaRPr lang="en-US" sz="1600" dirty="0">
              <a:latin typeface="Times New Roman" pitchFamily="18" charset="0"/>
              <a:cs typeface="Times New Roman" pitchFamily="18" charset="0"/>
            </a:endParaRPr>
          </a:p>
          <a:p>
            <a:r>
              <a:rPr lang="en-US" sz="2200" b="0" dirty="0">
                <a:latin typeface="Arial Black" panose="020B0A04020102020204" pitchFamily="34" charset="0"/>
                <a:cs typeface="Times New Roman" pitchFamily="18" charset="0"/>
              </a:rPr>
              <a:t>   </a:t>
            </a:r>
            <a:r>
              <a:rPr lang="en-US" sz="2200" b="0" dirty="0" smtClean="0">
                <a:latin typeface="Arial Black" panose="020B0A04020102020204" pitchFamily="34" charset="0"/>
                <a:cs typeface="Times New Roman" pitchFamily="18" charset="0"/>
              </a:rPr>
              <a:t>	public </a:t>
            </a:r>
            <a:r>
              <a:rPr lang="en-US" sz="2200" b="0" dirty="0">
                <a:latin typeface="Arial Black" panose="020B0A04020102020204" pitchFamily="34" charset="0"/>
                <a:cs typeface="Times New Roman" pitchFamily="18" charset="0"/>
              </a:rPr>
              <a:t>static void </a:t>
            </a:r>
            <a:r>
              <a:rPr lang="en-US" sz="2200" b="0" dirty="0" err="1">
                <a:latin typeface="Arial Black" panose="020B0A04020102020204" pitchFamily="34" charset="0"/>
                <a:cs typeface="Times New Roman" pitchFamily="18" charset="0"/>
              </a:rPr>
              <a:t>printGreeting</a:t>
            </a:r>
            <a:r>
              <a:rPr lang="en-US" sz="2200" b="0" dirty="0">
                <a:latin typeface="Arial Black" panose="020B0A04020102020204" pitchFamily="34" charset="0"/>
                <a:cs typeface="Times New Roman" pitchFamily="18" charset="0"/>
              </a:rPr>
              <a:t>(Language </a:t>
            </a:r>
            <a:r>
              <a:rPr lang="en-US" sz="2200" b="0" dirty="0" err="1">
                <a:latin typeface="Arial Black" panose="020B0A04020102020204" pitchFamily="34" charset="0"/>
                <a:cs typeface="Times New Roman" pitchFamily="18" charset="0"/>
              </a:rPr>
              <a:t>obj</a:t>
            </a:r>
            <a:r>
              <a:rPr lang="en-US" sz="2200" b="0" dirty="0">
                <a:latin typeface="Arial Black" panose="020B0A04020102020204" pitchFamily="34" charset="0"/>
                <a:cs typeface="Times New Roman" pitchFamily="18" charset="0"/>
              </a:rPr>
              <a:t>)</a:t>
            </a:r>
          </a:p>
          <a:p>
            <a:r>
              <a:rPr lang="en-US" sz="2200" b="0" dirty="0">
                <a:latin typeface="Arial Black" panose="020B0A04020102020204" pitchFamily="34" charset="0"/>
                <a:cs typeface="Times New Roman" pitchFamily="18" charset="0"/>
              </a:rPr>
              <a:t>   </a:t>
            </a:r>
            <a:r>
              <a:rPr lang="en-US" sz="2200" b="0" dirty="0" smtClean="0">
                <a:latin typeface="Arial Black" panose="020B0A04020102020204" pitchFamily="34" charset="0"/>
                <a:cs typeface="Times New Roman" pitchFamily="18" charset="0"/>
              </a:rPr>
              <a:t>	{</a:t>
            </a:r>
            <a:endParaRPr lang="en-US" sz="2200" b="0" dirty="0">
              <a:latin typeface="Arial Black" panose="020B0A04020102020204" pitchFamily="34" charset="0"/>
              <a:cs typeface="Times New Roman" pitchFamily="18" charset="0"/>
            </a:endParaRPr>
          </a:p>
          <a:p>
            <a:r>
              <a:rPr lang="en-US" sz="2200" b="0" dirty="0">
                <a:latin typeface="Arial Black" panose="020B0A04020102020204" pitchFamily="34" charset="0"/>
                <a:cs typeface="Times New Roman" pitchFamily="18" charset="0"/>
              </a:rPr>
              <a:t>      	</a:t>
            </a:r>
            <a:r>
              <a:rPr lang="en-US" sz="2200" b="0" dirty="0" err="1" smtClean="0">
                <a:latin typeface="Arial Black" panose="020B0A04020102020204" pitchFamily="34" charset="0"/>
                <a:cs typeface="Times New Roman" pitchFamily="18" charset="0"/>
              </a:rPr>
              <a:t>obj.greeting</a:t>
            </a:r>
            <a:r>
              <a:rPr lang="en-US" sz="2200" b="0" dirty="0">
                <a:latin typeface="Arial Black" panose="020B0A04020102020204" pitchFamily="34" charset="0"/>
                <a:cs typeface="Times New Roman" pitchFamily="18" charset="0"/>
              </a:rPr>
              <a:t>();</a:t>
            </a:r>
          </a:p>
          <a:p>
            <a:r>
              <a:rPr lang="en-US" sz="2200" b="0" dirty="0">
                <a:latin typeface="Arial Black" panose="020B0A04020102020204" pitchFamily="34" charset="0"/>
                <a:cs typeface="Times New Roman" pitchFamily="18" charset="0"/>
              </a:rPr>
              <a:t>   </a:t>
            </a:r>
            <a:r>
              <a:rPr lang="en-US" sz="2200" b="0" dirty="0" smtClean="0">
                <a:latin typeface="Arial Black" panose="020B0A04020102020204" pitchFamily="34" charset="0"/>
                <a:cs typeface="Times New Roman" pitchFamily="18" charset="0"/>
              </a:rPr>
              <a:t>	}</a:t>
            </a:r>
            <a:endParaRPr lang="en-US" sz="2200" b="0" dirty="0">
              <a:latin typeface="Arial Black" panose="020B0A04020102020204" pitchFamily="34" charset="0"/>
              <a:cs typeface="Times New Roman" pitchFamily="18" charset="0"/>
            </a:endParaRPr>
          </a:p>
          <a:p>
            <a:r>
              <a:rPr lang="en-US" sz="1900" dirty="0">
                <a:latin typeface="Times New Roman" pitchFamily="18" charset="0"/>
                <a:cs typeface="Times New Roman" pitchFamily="18" charset="0"/>
              </a:rPr>
              <a:t>}</a:t>
            </a:r>
          </a:p>
        </p:txBody>
      </p:sp>
      <p:sp>
        <p:nvSpPr>
          <p:cNvPr id="4" name="TextBox 3"/>
          <p:cNvSpPr txBox="1"/>
          <p:nvPr/>
        </p:nvSpPr>
        <p:spPr>
          <a:xfrm>
            <a:off x="4419600" y="2334161"/>
            <a:ext cx="4572000" cy="1323439"/>
          </a:xfrm>
          <a:prstGeom prst="rect">
            <a:avLst/>
          </a:prstGeom>
          <a:solidFill>
            <a:schemeClr val="accent6">
              <a:lumMod val="20000"/>
              <a:lumOff val="80000"/>
            </a:schemeClr>
          </a:solidFill>
          <a:ln w="57150">
            <a:solidFill>
              <a:schemeClr val="tx1"/>
            </a:solidFill>
          </a:ln>
        </p:spPr>
        <p:txBody>
          <a:bodyPr wrap="square" rtlCol="0">
            <a:spAutoFit/>
          </a:bodyPr>
          <a:lstStyle/>
          <a:p>
            <a:r>
              <a:rPr lang="en-US" sz="2000" dirty="0">
                <a:latin typeface="Courier New" panose="02070309020205020404" pitchFamily="49" charset="0"/>
                <a:cs typeface="Courier New" panose="02070309020205020404" pitchFamily="49" charset="0"/>
              </a:rPr>
              <a:t>In English you say Good Day</a:t>
            </a:r>
          </a:p>
          <a:p>
            <a:r>
              <a:rPr lang="en-US" sz="2000" dirty="0">
                <a:latin typeface="Courier New" panose="02070309020205020404" pitchFamily="49" charset="0"/>
                <a:cs typeface="Courier New" panose="02070309020205020404" pitchFamily="49" charset="0"/>
              </a:rPr>
              <a:t>In German you say </a:t>
            </a:r>
            <a:r>
              <a:rPr lang="en-US" sz="2000" dirty="0" err="1">
                <a:latin typeface="Courier New" panose="02070309020205020404" pitchFamily="49" charset="0"/>
                <a:cs typeface="Courier New" panose="02070309020205020404" pitchFamily="49" charset="0"/>
              </a:rPr>
              <a:t>Guten</a:t>
            </a:r>
            <a:r>
              <a:rPr lang="en-US" sz="2000" dirty="0">
                <a:latin typeface="Courier New" panose="02070309020205020404" pitchFamily="49" charset="0"/>
                <a:cs typeface="Courier New" panose="02070309020205020404" pitchFamily="49" charset="0"/>
              </a:rPr>
              <a:t> Tag</a:t>
            </a:r>
          </a:p>
          <a:p>
            <a:r>
              <a:rPr lang="en-US" sz="2000" dirty="0">
                <a:latin typeface="Courier New" panose="02070309020205020404" pitchFamily="49" charset="0"/>
                <a:cs typeface="Courier New" panose="02070309020205020404" pitchFamily="49" charset="0"/>
              </a:rPr>
              <a:t>In Dutch you say </a:t>
            </a:r>
            <a:r>
              <a:rPr lang="en-US" sz="2000" dirty="0" err="1">
                <a:latin typeface="Courier New" panose="02070309020205020404" pitchFamily="49" charset="0"/>
                <a:cs typeface="Courier New" panose="02070309020205020404" pitchFamily="49" charset="0"/>
              </a:rPr>
              <a:t>Goeden</a:t>
            </a:r>
            <a:r>
              <a:rPr lang="en-US" sz="2000" dirty="0">
                <a:latin typeface="Courier New" panose="02070309020205020404" pitchFamily="49" charset="0"/>
                <a:cs typeface="Courier New" panose="02070309020205020404" pitchFamily="49" charset="0"/>
              </a:rPr>
              <a:t> Dag</a:t>
            </a:r>
          </a:p>
          <a:p>
            <a:r>
              <a:rPr lang="en-US" sz="2000" dirty="0">
                <a:latin typeface="Courier New" panose="02070309020205020404" pitchFamily="49" charset="0"/>
                <a:cs typeface="Courier New" panose="02070309020205020404" pitchFamily="49" charset="0"/>
              </a:rPr>
              <a:t>In French you say Bonjour</a:t>
            </a:r>
          </a:p>
        </p:txBody>
      </p:sp>
    </p:spTree>
    <p:extLst>
      <p:ext uri="{BB962C8B-B14F-4D97-AF65-F5344CB8AC3E}">
        <p14:creationId xmlns:p14="http://schemas.microsoft.com/office/powerpoint/2010/main" val="103677748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0"/>
            <a:ext cx="9144000" cy="683264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dirty="0">
                <a:latin typeface="Times New Roman" panose="02020603050405020304" pitchFamily="18" charset="0"/>
                <a:cs typeface="Times New Roman" panose="02020603050405020304" pitchFamily="18" charset="0"/>
              </a:rPr>
              <a:t>abstract interface Language</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public abstract void greeting();</a:t>
            </a:r>
          </a:p>
          <a:p>
            <a:r>
              <a:rPr lang="en-US" dirty="0" smtClean="0">
                <a:latin typeface="Times New Roman" panose="02020603050405020304" pitchFamily="18" charset="0"/>
                <a:cs typeface="Times New Roman" panose="02020603050405020304" pitchFamily="18" charset="0"/>
              </a:rPr>
              <a:t>}</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class English implements Language</a:t>
            </a:r>
          </a:p>
          <a:p>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English you say Good Day");   }</a:t>
            </a:r>
          </a:p>
          <a:p>
            <a:r>
              <a:rPr lang="en-US"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class German </a:t>
            </a:r>
            <a:r>
              <a:rPr lang="en-US" dirty="0">
                <a:latin typeface="Times New Roman" panose="02020603050405020304" pitchFamily="18" charset="0"/>
                <a:cs typeface="Times New Roman" panose="02020603050405020304" pitchFamily="18" charset="0"/>
              </a:rPr>
              <a:t>implements Language</a:t>
            </a:r>
          </a:p>
          <a:p>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German you say </a:t>
            </a:r>
            <a:r>
              <a:rPr lang="en-US" dirty="0" err="1" smtClean="0">
                <a:latin typeface="Times New Roman" pitchFamily="18" charset="0"/>
                <a:cs typeface="Times New Roman" pitchFamily="18" charset="0"/>
              </a:rPr>
              <a:t>Guten</a:t>
            </a:r>
            <a:r>
              <a:rPr lang="en-US" dirty="0" smtClean="0">
                <a:latin typeface="Times New Roman" pitchFamily="18" charset="0"/>
                <a:cs typeface="Times New Roman" pitchFamily="18" charset="0"/>
              </a:rPr>
              <a:t> Tag");   }</a:t>
            </a:r>
          </a:p>
          <a:p>
            <a:r>
              <a:rPr lang="en-US"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class Dutch </a:t>
            </a:r>
            <a:r>
              <a:rPr lang="en-US" dirty="0">
                <a:latin typeface="Times New Roman" panose="02020603050405020304" pitchFamily="18" charset="0"/>
                <a:cs typeface="Times New Roman" panose="02020603050405020304" pitchFamily="18" charset="0"/>
              </a:rPr>
              <a:t>implements Language</a:t>
            </a:r>
          </a:p>
          <a:p>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Dutch you say </a:t>
            </a:r>
            <a:r>
              <a:rPr lang="en-US" dirty="0" err="1" smtClean="0">
                <a:latin typeface="Times New Roman" pitchFamily="18" charset="0"/>
                <a:cs typeface="Times New Roman" pitchFamily="18" charset="0"/>
              </a:rPr>
              <a:t>Goeden</a:t>
            </a:r>
            <a:r>
              <a:rPr lang="en-US" dirty="0" smtClean="0">
                <a:latin typeface="Times New Roman" pitchFamily="18" charset="0"/>
                <a:cs typeface="Times New Roman" pitchFamily="18" charset="0"/>
              </a:rPr>
              <a:t> Dag");   }</a:t>
            </a:r>
          </a:p>
          <a:p>
            <a:r>
              <a:rPr lang="en-US"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class French </a:t>
            </a:r>
            <a:r>
              <a:rPr lang="en-US" dirty="0">
                <a:latin typeface="Times New Roman" panose="02020603050405020304" pitchFamily="18" charset="0"/>
                <a:cs typeface="Times New Roman" panose="02020603050405020304" pitchFamily="18" charset="0"/>
              </a:rPr>
              <a:t>implements Language</a:t>
            </a:r>
          </a:p>
          <a:p>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French you say Bonjour");   }</a:t>
            </a:r>
          </a:p>
          <a:p>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2298210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4"/>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Java1408.java</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This program uses polymorphism in a different way.</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The "umbrella"  &lt;Language&gt; is now used as </a:t>
            </a: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element for an &lt;</a:t>
            </a:r>
            <a:r>
              <a:rPr lang="en-US" dirty="0" err="1">
                <a:latin typeface="Times New Roman" pitchFamily="18" charset="0"/>
                <a:cs typeface="Times New Roman" pitchFamily="18" charset="0"/>
              </a:rPr>
              <a:t>ArrayList</a:t>
            </a:r>
            <a:r>
              <a:rPr lang="en-US" dirty="0">
                <a:latin typeface="Times New Roman" pitchFamily="18" charset="0"/>
                <a:cs typeface="Times New Roman" pitchFamily="18" charset="0"/>
              </a:rPr>
              <a:t>&gt; object.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import </a:t>
            </a:r>
            <a:r>
              <a:rPr lang="en-US" dirty="0" err="1">
                <a:latin typeface="Times New Roman" pitchFamily="18" charset="0"/>
                <a:cs typeface="Times New Roman" pitchFamily="18" charset="0"/>
              </a:rPr>
              <a:t>java.util.ArrayList</a:t>
            </a:r>
            <a:r>
              <a:rPr lang="en-US"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public class Java1408</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public static void main (String[] </a:t>
            </a:r>
            <a:r>
              <a:rPr lang="en-US" dirty="0" err="1">
                <a:latin typeface="Times New Roman" pitchFamily="18" charset="0"/>
                <a:cs typeface="Times New Roman" pitchFamily="18" charset="0"/>
              </a:rPr>
              <a:t>args</a:t>
            </a:r>
            <a:r>
              <a:rPr lang="en-US"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Language </a:t>
            </a:r>
            <a:r>
              <a:rPr lang="en-US" dirty="0">
                <a:latin typeface="Times New Roman" pitchFamily="18" charset="0"/>
                <a:cs typeface="Times New Roman" pitchFamily="18" charset="0"/>
              </a:rPr>
              <a:t>g1 = new English();</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Language </a:t>
            </a:r>
            <a:r>
              <a:rPr lang="en-US" dirty="0">
                <a:latin typeface="Times New Roman" pitchFamily="18" charset="0"/>
                <a:cs typeface="Times New Roman" pitchFamily="18" charset="0"/>
              </a:rPr>
              <a:t>g2 = new German();</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Language </a:t>
            </a:r>
            <a:r>
              <a:rPr lang="en-US" dirty="0">
                <a:latin typeface="Times New Roman" pitchFamily="18" charset="0"/>
                <a:cs typeface="Times New Roman" pitchFamily="18" charset="0"/>
              </a:rPr>
              <a:t>g3 = new Dutch();</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Language </a:t>
            </a:r>
            <a:r>
              <a:rPr lang="en-US" dirty="0">
                <a:latin typeface="Times New Roman" pitchFamily="18" charset="0"/>
                <a:cs typeface="Times New Roman" pitchFamily="18" charset="0"/>
              </a:rPr>
              <a:t>g4 = new French();</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1900" b="0" dirty="0">
                <a:latin typeface="Arial Black" panose="020B0A04020102020204" pitchFamily="34" charset="0"/>
                <a:cs typeface="Times New Roman" pitchFamily="18" charset="0"/>
              </a:rPr>
              <a:t>  </a:t>
            </a:r>
            <a:r>
              <a:rPr lang="en-US" sz="1900" b="0" dirty="0" smtClean="0">
                <a:latin typeface="Arial Black" panose="020B0A04020102020204" pitchFamily="34" charset="0"/>
                <a:cs typeface="Times New Roman" pitchFamily="18" charset="0"/>
              </a:rPr>
              <a:t>		</a:t>
            </a:r>
            <a:r>
              <a:rPr lang="en-US" sz="1900" b="0" spc="-10" dirty="0" err="1" smtClean="0">
                <a:latin typeface="Arial Black" panose="020B0A04020102020204" pitchFamily="34" charset="0"/>
                <a:cs typeface="Times New Roman" pitchFamily="18" charset="0"/>
              </a:rPr>
              <a:t>ArrayList</a:t>
            </a:r>
            <a:r>
              <a:rPr lang="en-US" sz="1900" b="0" spc="-10" dirty="0" smtClean="0">
                <a:latin typeface="Arial Black" panose="020B0A04020102020204" pitchFamily="34" charset="0"/>
                <a:cs typeface="Times New Roman" pitchFamily="18" charset="0"/>
              </a:rPr>
              <a:t>&lt;Language</a:t>
            </a:r>
            <a:r>
              <a:rPr lang="en-US" sz="1900" b="0" spc="-10" dirty="0">
                <a:latin typeface="Arial Black" panose="020B0A04020102020204" pitchFamily="34" charset="0"/>
                <a:cs typeface="Times New Roman" pitchFamily="18" charset="0"/>
              </a:rPr>
              <a:t>&gt; languages = new </a:t>
            </a:r>
            <a:r>
              <a:rPr lang="en-US" sz="1900" b="0" spc="-10" dirty="0" err="1">
                <a:latin typeface="Arial Black" panose="020B0A04020102020204" pitchFamily="34" charset="0"/>
                <a:cs typeface="Times New Roman" pitchFamily="18" charset="0"/>
              </a:rPr>
              <a:t>ArrayList</a:t>
            </a:r>
            <a:r>
              <a:rPr lang="en-US" sz="1900" b="0" spc="-10" dirty="0">
                <a:latin typeface="Arial Black" panose="020B0A04020102020204" pitchFamily="34" charset="0"/>
                <a:cs typeface="Times New Roman" pitchFamily="18" charset="0"/>
              </a:rPr>
              <a:t>&lt;Language&gt;();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languages.add</a:t>
            </a:r>
            <a:r>
              <a:rPr lang="en-US" dirty="0" smtClean="0">
                <a:latin typeface="Times New Roman" pitchFamily="18" charset="0"/>
                <a:cs typeface="Times New Roman" pitchFamily="18" charset="0"/>
              </a:rPr>
              <a:t>(g1</a:t>
            </a:r>
            <a:r>
              <a:rPr lang="en-US"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languages.add</a:t>
            </a:r>
            <a:r>
              <a:rPr lang="en-US" dirty="0" smtClean="0">
                <a:latin typeface="Times New Roman" pitchFamily="18" charset="0"/>
                <a:cs typeface="Times New Roman" pitchFamily="18" charset="0"/>
              </a:rPr>
              <a:t>(g2</a:t>
            </a:r>
            <a:r>
              <a:rPr lang="en-US" dirty="0">
                <a:latin typeface="Times New Roman" pitchFamily="18" charset="0"/>
                <a:cs typeface="Times New Roman" pitchFamily="18" charset="0"/>
              </a:rPr>
              <a:t>);      </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languages.add</a:t>
            </a:r>
            <a:r>
              <a:rPr lang="en-US" dirty="0" smtClean="0">
                <a:latin typeface="Times New Roman" pitchFamily="18" charset="0"/>
                <a:cs typeface="Times New Roman" pitchFamily="18" charset="0"/>
              </a:rPr>
              <a:t>(g3</a:t>
            </a:r>
            <a:r>
              <a:rPr lang="en-US" dirty="0">
                <a:latin typeface="Times New Roman" pitchFamily="18" charset="0"/>
                <a:cs typeface="Times New Roman" pitchFamily="18" charset="0"/>
              </a:rPr>
              <a:t>);      </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languages.add</a:t>
            </a:r>
            <a:r>
              <a:rPr lang="en-US" dirty="0" smtClean="0">
                <a:latin typeface="Times New Roman" pitchFamily="18" charset="0"/>
                <a:cs typeface="Times New Roman" pitchFamily="18" charset="0"/>
              </a:rPr>
              <a:t>(g4</a:t>
            </a:r>
            <a:r>
              <a:rPr lang="en-US" dirty="0">
                <a:latin typeface="Times New Roman" pitchFamily="18" charset="0"/>
                <a:cs typeface="Times New Roman" pitchFamily="18" charset="0"/>
              </a:rPr>
              <a:t>);</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b="0" dirty="0">
                <a:latin typeface="Arial Black" panose="020B0A04020102020204" pitchFamily="34" charset="0"/>
                <a:cs typeface="Times New Roman" pitchFamily="18" charset="0"/>
              </a:rPr>
              <a:t>      </a:t>
            </a:r>
            <a:r>
              <a:rPr lang="en-US" sz="2000" b="0" dirty="0" smtClean="0">
                <a:latin typeface="Arial Black" panose="020B0A04020102020204" pitchFamily="34" charset="0"/>
                <a:cs typeface="Times New Roman" pitchFamily="18" charset="0"/>
              </a:rPr>
              <a:t>	for </a:t>
            </a:r>
            <a:r>
              <a:rPr lang="en-US" sz="2000" b="0" dirty="0">
                <a:latin typeface="Arial Black" panose="020B0A04020102020204" pitchFamily="34" charset="0"/>
                <a:cs typeface="Times New Roman" pitchFamily="18" charset="0"/>
              </a:rPr>
              <a:t>(Language </a:t>
            </a:r>
            <a:r>
              <a:rPr lang="en-US" sz="2000" b="0" dirty="0" err="1">
                <a:latin typeface="Arial Black" panose="020B0A04020102020204" pitchFamily="34" charset="0"/>
                <a:cs typeface="Times New Roman" pitchFamily="18" charset="0"/>
              </a:rPr>
              <a:t>language</a:t>
            </a:r>
            <a:r>
              <a:rPr lang="en-US" sz="2000" b="0" dirty="0">
                <a:latin typeface="Arial Black" panose="020B0A04020102020204" pitchFamily="34" charset="0"/>
                <a:cs typeface="Times New Roman" pitchFamily="18" charset="0"/>
              </a:rPr>
              <a:t> : languages)</a:t>
            </a:r>
          </a:p>
          <a:p>
            <a:pPr>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sz="2000" b="0" dirty="0">
                <a:latin typeface="Arial Black" panose="020B0A04020102020204" pitchFamily="34" charset="0"/>
                <a:cs typeface="Times New Roman" pitchFamily="18" charset="0"/>
              </a:rPr>
              <a:t>         </a:t>
            </a:r>
            <a:r>
              <a:rPr lang="en-US" sz="2000" b="0" dirty="0" smtClean="0">
                <a:latin typeface="Arial Black" panose="020B0A04020102020204" pitchFamily="34" charset="0"/>
                <a:cs typeface="Times New Roman" pitchFamily="18" charset="0"/>
              </a:rPr>
              <a:t>	</a:t>
            </a:r>
            <a:r>
              <a:rPr lang="en-US" sz="2000" b="0" dirty="0" err="1" smtClean="0">
                <a:latin typeface="Arial Black" panose="020B0A04020102020204" pitchFamily="34" charset="0"/>
                <a:cs typeface="Times New Roman" pitchFamily="18" charset="0"/>
              </a:rPr>
              <a:t>language.greeting</a:t>
            </a:r>
            <a:r>
              <a:rPr lang="en-US" sz="2000" b="0" dirty="0">
                <a:latin typeface="Arial Black" panose="020B0A04020102020204" pitchFamily="34" charset="0"/>
                <a:cs typeface="Times New Roman" pitchFamily="18" charset="0"/>
              </a:rPr>
              <a:t>();  </a:t>
            </a:r>
            <a:r>
              <a:rPr lang="en-US" dirty="0">
                <a:latin typeface="Times New Roman" pitchFamily="18" charset="0"/>
                <a:cs typeface="Times New Roman" pitchFamily="18" charset="0"/>
              </a:rPr>
              <a:t>	</a:t>
            </a:r>
          </a:p>
          <a:p>
            <a:pPr>
              <a:lnSpc>
                <a:spcPct val="80000"/>
              </a:lnSpc>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a:lnSpc>
                <a:spcPct val="80000"/>
              </a:lnSpc>
              <a:tabLst>
                <a:tab pos="342900" algn="l"/>
                <a:tab pos="685800" algn="l"/>
                <a:tab pos="10287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a:t>
            </a:r>
          </a:p>
        </p:txBody>
      </p:sp>
      <p:sp>
        <p:nvSpPr>
          <p:cNvPr id="4" name="TextBox 3"/>
          <p:cNvSpPr txBox="1"/>
          <p:nvPr/>
        </p:nvSpPr>
        <p:spPr>
          <a:xfrm>
            <a:off x="4419600" y="1219200"/>
            <a:ext cx="4572000" cy="1323439"/>
          </a:xfrm>
          <a:prstGeom prst="rect">
            <a:avLst/>
          </a:prstGeom>
          <a:solidFill>
            <a:schemeClr val="accent6">
              <a:lumMod val="20000"/>
              <a:lumOff val="80000"/>
            </a:schemeClr>
          </a:solidFill>
          <a:ln w="57150">
            <a:solidFill>
              <a:schemeClr val="tx1"/>
            </a:solidFill>
          </a:ln>
        </p:spPr>
        <p:txBody>
          <a:bodyPr wrap="square" rtlCol="0">
            <a:spAutoFit/>
          </a:bodyPr>
          <a:lstStyle/>
          <a:p>
            <a:r>
              <a:rPr lang="en-US" sz="2000" dirty="0">
                <a:latin typeface="Courier New" panose="02070309020205020404" pitchFamily="49" charset="0"/>
                <a:cs typeface="Courier New" panose="02070309020205020404" pitchFamily="49" charset="0"/>
              </a:rPr>
              <a:t>In English you say Good Day</a:t>
            </a:r>
          </a:p>
          <a:p>
            <a:r>
              <a:rPr lang="en-US" sz="2000" dirty="0">
                <a:latin typeface="Courier New" panose="02070309020205020404" pitchFamily="49" charset="0"/>
                <a:cs typeface="Courier New" panose="02070309020205020404" pitchFamily="49" charset="0"/>
              </a:rPr>
              <a:t>In German you say </a:t>
            </a:r>
            <a:r>
              <a:rPr lang="en-US" sz="2000" dirty="0" err="1">
                <a:latin typeface="Courier New" panose="02070309020205020404" pitchFamily="49" charset="0"/>
                <a:cs typeface="Courier New" panose="02070309020205020404" pitchFamily="49" charset="0"/>
              </a:rPr>
              <a:t>Guten</a:t>
            </a:r>
            <a:r>
              <a:rPr lang="en-US" sz="2000" dirty="0">
                <a:latin typeface="Courier New" panose="02070309020205020404" pitchFamily="49" charset="0"/>
                <a:cs typeface="Courier New" panose="02070309020205020404" pitchFamily="49" charset="0"/>
              </a:rPr>
              <a:t> Tag</a:t>
            </a:r>
          </a:p>
          <a:p>
            <a:r>
              <a:rPr lang="en-US" sz="2000" dirty="0">
                <a:latin typeface="Courier New" panose="02070309020205020404" pitchFamily="49" charset="0"/>
                <a:cs typeface="Courier New" panose="02070309020205020404" pitchFamily="49" charset="0"/>
              </a:rPr>
              <a:t>In Dutch you say </a:t>
            </a:r>
            <a:r>
              <a:rPr lang="en-US" sz="2000" dirty="0" err="1">
                <a:latin typeface="Courier New" panose="02070309020205020404" pitchFamily="49" charset="0"/>
                <a:cs typeface="Courier New" panose="02070309020205020404" pitchFamily="49" charset="0"/>
              </a:rPr>
              <a:t>Goeden</a:t>
            </a:r>
            <a:r>
              <a:rPr lang="en-US" sz="2000" dirty="0">
                <a:latin typeface="Courier New" panose="02070309020205020404" pitchFamily="49" charset="0"/>
                <a:cs typeface="Courier New" panose="02070309020205020404" pitchFamily="49" charset="0"/>
              </a:rPr>
              <a:t> Dag</a:t>
            </a:r>
          </a:p>
          <a:p>
            <a:r>
              <a:rPr lang="en-US" sz="2000" dirty="0">
                <a:latin typeface="Courier New" panose="02070309020205020404" pitchFamily="49" charset="0"/>
                <a:cs typeface="Courier New" panose="02070309020205020404" pitchFamily="49" charset="0"/>
              </a:rPr>
              <a:t>In French you say Bonjour</a:t>
            </a:r>
          </a:p>
        </p:txBody>
      </p:sp>
    </p:spTree>
    <p:extLst>
      <p:ext uri="{BB962C8B-B14F-4D97-AF65-F5344CB8AC3E}">
        <p14:creationId xmlns:p14="http://schemas.microsoft.com/office/powerpoint/2010/main" val="27049932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000082"/>
            </a:gs>
            <a:gs pos="30000">
              <a:srgbClr val="66008F"/>
            </a:gs>
            <a:gs pos="64999">
              <a:srgbClr val="BA0066"/>
            </a:gs>
            <a:gs pos="89999">
              <a:srgbClr val="FF0000"/>
            </a:gs>
            <a:gs pos="100000">
              <a:srgbClr val="FF8200"/>
            </a:gs>
          </a:gsLst>
          <a:lin ang="5400000" scaled="0"/>
        </a:gradFill>
        <a:effectLst/>
      </p:bgPr>
    </p:bg>
    <p:spTree>
      <p:nvGrpSpPr>
        <p:cNvPr id="1" name=""/>
        <p:cNvGrpSpPr/>
        <p:nvPr/>
      </p:nvGrpSpPr>
      <p:grpSpPr>
        <a:xfrm>
          <a:off x="0" y="0"/>
          <a:ext cx="0" cy="0"/>
          <a:chOff x="0" y="0"/>
          <a:chExt cx="0" cy="0"/>
        </a:xfrm>
      </p:grpSpPr>
      <p:sp>
        <p:nvSpPr>
          <p:cNvPr id="6146" name="WordArt 2"/>
          <p:cNvSpPr>
            <a:spLocks noChangeArrowheads="1" noChangeShapeType="1" noTextEdit="1"/>
          </p:cNvSpPr>
          <p:nvPr/>
        </p:nvSpPr>
        <p:spPr bwMode="auto">
          <a:xfrm>
            <a:off x="304800" y="1676400"/>
            <a:ext cx="8458200" cy="2514600"/>
          </a:xfrm>
          <a:prstGeom prst="rect">
            <a:avLst/>
          </a:prstGeom>
        </p:spPr>
        <p:txBody>
          <a:bodyPr wrap="none" fromWordArt="1">
            <a:prstTxWarp prst="textSlantUp">
              <a:avLst>
                <a:gd name="adj" fmla="val 32056"/>
              </a:avLst>
            </a:prstTxWarp>
          </a:bodyPr>
          <a:lstStyle/>
          <a:p>
            <a:pPr algn="ct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Polymorphism</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
        <p:nvSpPr>
          <p:cNvPr id="6147"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14.4</a:t>
            </a:r>
            <a:endParaRPr lang="en-US" sz="3600" kern="10" dirty="0">
              <a:ln w="9525">
                <a:solidFill>
                  <a:srgbClr val="000000"/>
                </a:solidFill>
                <a:round/>
                <a:headEnd/>
                <a:tailEnd/>
              </a:ln>
              <a:solidFill>
                <a:srgbClr val="FFFFFF"/>
              </a:solidFill>
              <a:latin typeface="Arial Black"/>
            </a:endParaRPr>
          </a:p>
        </p:txBody>
      </p:sp>
      <p:sp>
        <p:nvSpPr>
          <p:cNvPr id="6148" name="WordArt 2"/>
          <p:cNvSpPr>
            <a:spLocks noChangeArrowheads="1" noChangeShapeType="1" noTextEdit="1"/>
          </p:cNvSpPr>
          <p:nvPr/>
        </p:nvSpPr>
        <p:spPr bwMode="auto">
          <a:xfrm>
            <a:off x="304800" y="3962400"/>
            <a:ext cx="8534400" cy="2438400"/>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w</a:t>
            </a: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ith a Superclass</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Tree>
    <p:extLst>
      <p:ext uri="{BB962C8B-B14F-4D97-AF65-F5344CB8AC3E}">
        <p14:creationId xmlns:p14="http://schemas.microsoft.com/office/powerpoint/2010/main" val="951352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4"/>
            <a:ext cx="9144000" cy="695575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1900" dirty="0">
                <a:latin typeface="Times New Roman" pitchFamily="18" charset="0"/>
                <a:cs typeface="Times New Roman" pitchFamily="18" charset="0"/>
              </a:rPr>
              <a:t>// Java1409.java</a:t>
            </a:r>
          </a:p>
          <a:p>
            <a:r>
              <a:rPr lang="en-US" sz="1900" dirty="0">
                <a:latin typeface="Times New Roman" pitchFamily="18" charset="0"/>
                <a:cs typeface="Times New Roman" pitchFamily="18" charset="0"/>
              </a:rPr>
              <a:t>// In this program polymorphism is achieved</a:t>
            </a:r>
          </a:p>
          <a:p>
            <a:r>
              <a:rPr lang="en-US" sz="1900" dirty="0">
                <a:latin typeface="Times New Roman" pitchFamily="18" charset="0"/>
                <a:cs typeface="Times New Roman" pitchFamily="18" charset="0"/>
              </a:rPr>
              <a:t>// using an abstract superclass as the umbrella.</a:t>
            </a:r>
          </a:p>
          <a:p>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public class </a:t>
            </a:r>
            <a:r>
              <a:rPr lang="en-US" sz="1900" dirty="0" smtClean="0">
                <a:latin typeface="Times New Roman" pitchFamily="18" charset="0"/>
                <a:cs typeface="Times New Roman" pitchFamily="18" charset="0"/>
              </a:rPr>
              <a:t>Java1409</a:t>
            </a:r>
          </a:p>
          <a:p>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	public static void main (String[] </a:t>
            </a:r>
            <a:r>
              <a:rPr lang="en-US" sz="1900" dirty="0" err="1">
                <a:latin typeface="Times New Roman" pitchFamily="18" charset="0"/>
                <a:cs typeface="Times New Roman" pitchFamily="18" charset="0"/>
              </a:rPr>
              <a:t>args</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Language </a:t>
            </a:r>
            <a:r>
              <a:rPr lang="en-US" sz="1900" dirty="0">
                <a:latin typeface="Times New Roman" pitchFamily="18" charset="0"/>
                <a:cs typeface="Times New Roman" pitchFamily="18" charset="0"/>
              </a:rPr>
              <a:t>g1 = new English();</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Language </a:t>
            </a:r>
            <a:r>
              <a:rPr lang="en-US" sz="1900" dirty="0">
                <a:latin typeface="Times New Roman" pitchFamily="18" charset="0"/>
                <a:cs typeface="Times New Roman" pitchFamily="18" charset="0"/>
              </a:rPr>
              <a:t>g2 = new German();</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Language </a:t>
            </a:r>
            <a:r>
              <a:rPr lang="en-US" sz="1900" dirty="0">
                <a:latin typeface="Times New Roman" pitchFamily="18" charset="0"/>
                <a:cs typeface="Times New Roman" pitchFamily="18" charset="0"/>
              </a:rPr>
              <a:t>g3 = new Dutch();</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Language </a:t>
            </a:r>
            <a:r>
              <a:rPr lang="en-US" sz="1900" dirty="0">
                <a:latin typeface="Times New Roman" pitchFamily="18" charset="0"/>
                <a:cs typeface="Times New Roman" pitchFamily="18" charset="0"/>
              </a:rPr>
              <a:t>g4 = new French();</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printGreeting</a:t>
            </a:r>
            <a:r>
              <a:rPr lang="en-US" sz="1900" dirty="0" smtClean="0">
                <a:latin typeface="Times New Roman" pitchFamily="18" charset="0"/>
                <a:cs typeface="Times New Roman" pitchFamily="18" charset="0"/>
              </a:rPr>
              <a:t>(g1</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printGreeting</a:t>
            </a:r>
            <a:r>
              <a:rPr lang="en-US" sz="1900" dirty="0" smtClean="0">
                <a:latin typeface="Times New Roman" pitchFamily="18" charset="0"/>
                <a:cs typeface="Times New Roman" pitchFamily="18" charset="0"/>
              </a:rPr>
              <a:t>(g2</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printGreeting</a:t>
            </a:r>
            <a:r>
              <a:rPr lang="en-US" sz="1900" dirty="0" smtClean="0">
                <a:latin typeface="Times New Roman" pitchFamily="18" charset="0"/>
                <a:cs typeface="Times New Roman" pitchFamily="18" charset="0"/>
              </a:rPr>
              <a:t>(g3</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printGreeting</a:t>
            </a:r>
            <a:r>
              <a:rPr lang="en-US" sz="1900" dirty="0" smtClean="0">
                <a:latin typeface="Times New Roman" pitchFamily="18" charset="0"/>
                <a:cs typeface="Times New Roman" pitchFamily="18" charset="0"/>
              </a:rPr>
              <a:t>(g4</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p>
          <a:p>
            <a:endParaRPr lang="en-US" sz="1600" dirty="0">
              <a:latin typeface="Times New Roman" pitchFamily="18" charset="0"/>
              <a:cs typeface="Times New Roman" pitchFamily="18" charset="0"/>
            </a:endParaRPr>
          </a:p>
          <a:p>
            <a:r>
              <a:rPr lang="en-US" sz="2200" b="0" dirty="0">
                <a:latin typeface="Arial Black" panose="020B0A04020102020204" pitchFamily="34" charset="0"/>
                <a:cs typeface="Times New Roman" pitchFamily="18" charset="0"/>
              </a:rPr>
              <a:t>   </a:t>
            </a:r>
            <a:r>
              <a:rPr lang="en-US" sz="2200" b="0" dirty="0" smtClean="0">
                <a:latin typeface="Arial Black" panose="020B0A04020102020204" pitchFamily="34" charset="0"/>
                <a:cs typeface="Times New Roman" pitchFamily="18" charset="0"/>
              </a:rPr>
              <a:t>	public </a:t>
            </a:r>
            <a:r>
              <a:rPr lang="en-US" sz="2200" b="0" dirty="0">
                <a:latin typeface="Arial Black" panose="020B0A04020102020204" pitchFamily="34" charset="0"/>
                <a:cs typeface="Times New Roman" pitchFamily="18" charset="0"/>
              </a:rPr>
              <a:t>static void </a:t>
            </a:r>
            <a:r>
              <a:rPr lang="en-US" sz="2200" b="0" dirty="0" err="1">
                <a:latin typeface="Arial Black" panose="020B0A04020102020204" pitchFamily="34" charset="0"/>
                <a:cs typeface="Times New Roman" pitchFamily="18" charset="0"/>
              </a:rPr>
              <a:t>printGreeting</a:t>
            </a:r>
            <a:r>
              <a:rPr lang="en-US" sz="2200" b="0" dirty="0">
                <a:latin typeface="Arial Black" panose="020B0A04020102020204" pitchFamily="34" charset="0"/>
                <a:cs typeface="Times New Roman" pitchFamily="18" charset="0"/>
              </a:rPr>
              <a:t>(Language </a:t>
            </a:r>
            <a:r>
              <a:rPr lang="en-US" sz="2200" b="0" dirty="0" err="1">
                <a:latin typeface="Arial Black" panose="020B0A04020102020204" pitchFamily="34" charset="0"/>
                <a:cs typeface="Times New Roman" pitchFamily="18" charset="0"/>
              </a:rPr>
              <a:t>obj</a:t>
            </a:r>
            <a:r>
              <a:rPr lang="en-US" sz="2200" b="0" dirty="0">
                <a:latin typeface="Arial Black" panose="020B0A04020102020204" pitchFamily="34" charset="0"/>
                <a:cs typeface="Times New Roman" pitchFamily="18" charset="0"/>
              </a:rPr>
              <a:t>)</a:t>
            </a:r>
          </a:p>
          <a:p>
            <a:r>
              <a:rPr lang="en-US" sz="2200" b="0" dirty="0">
                <a:latin typeface="Arial Black" panose="020B0A04020102020204" pitchFamily="34" charset="0"/>
                <a:cs typeface="Times New Roman" pitchFamily="18" charset="0"/>
              </a:rPr>
              <a:t>   </a:t>
            </a:r>
            <a:r>
              <a:rPr lang="en-US" sz="2200" b="0" dirty="0" smtClean="0">
                <a:latin typeface="Arial Black" panose="020B0A04020102020204" pitchFamily="34" charset="0"/>
                <a:cs typeface="Times New Roman" pitchFamily="18" charset="0"/>
              </a:rPr>
              <a:t>	{</a:t>
            </a:r>
            <a:endParaRPr lang="en-US" sz="2200" b="0" dirty="0">
              <a:latin typeface="Arial Black" panose="020B0A04020102020204" pitchFamily="34" charset="0"/>
              <a:cs typeface="Times New Roman" pitchFamily="18" charset="0"/>
            </a:endParaRPr>
          </a:p>
          <a:p>
            <a:r>
              <a:rPr lang="en-US" sz="2200" b="0" dirty="0">
                <a:latin typeface="Arial Black" panose="020B0A04020102020204" pitchFamily="34" charset="0"/>
                <a:cs typeface="Times New Roman" pitchFamily="18" charset="0"/>
              </a:rPr>
              <a:t>      	</a:t>
            </a:r>
            <a:r>
              <a:rPr lang="en-US" sz="2200" b="0" dirty="0" err="1" smtClean="0">
                <a:latin typeface="Arial Black" panose="020B0A04020102020204" pitchFamily="34" charset="0"/>
                <a:cs typeface="Times New Roman" pitchFamily="18" charset="0"/>
              </a:rPr>
              <a:t>obj.greeting</a:t>
            </a:r>
            <a:r>
              <a:rPr lang="en-US" sz="2200" b="0" dirty="0">
                <a:latin typeface="Arial Black" panose="020B0A04020102020204" pitchFamily="34" charset="0"/>
                <a:cs typeface="Times New Roman" pitchFamily="18" charset="0"/>
              </a:rPr>
              <a:t>();</a:t>
            </a:r>
          </a:p>
          <a:p>
            <a:r>
              <a:rPr lang="en-US" sz="2200" b="0" dirty="0">
                <a:latin typeface="Arial Black" panose="020B0A04020102020204" pitchFamily="34" charset="0"/>
                <a:cs typeface="Times New Roman" pitchFamily="18" charset="0"/>
              </a:rPr>
              <a:t>   </a:t>
            </a:r>
            <a:r>
              <a:rPr lang="en-US" sz="2200" b="0" dirty="0" smtClean="0">
                <a:latin typeface="Arial Black" panose="020B0A04020102020204" pitchFamily="34" charset="0"/>
                <a:cs typeface="Times New Roman" pitchFamily="18" charset="0"/>
              </a:rPr>
              <a:t>	}</a:t>
            </a:r>
            <a:endParaRPr lang="en-US" sz="2200" b="0" dirty="0">
              <a:latin typeface="Arial Black" panose="020B0A04020102020204" pitchFamily="34" charset="0"/>
              <a:cs typeface="Times New Roman" pitchFamily="18" charset="0"/>
            </a:endParaRPr>
          </a:p>
          <a:p>
            <a:r>
              <a:rPr lang="en-US" sz="1900" dirty="0">
                <a:latin typeface="Times New Roman" pitchFamily="18" charset="0"/>
                <a:cs typeface="Times New Roman" pitchFamily="18" charset="0"/>
              </a:rPr>
              <a:t>}</a:t>
            </a:r>
          </a:p>
        </p:txBody>
      </p:sp>
      <p:sp>
        <p:nvSpPr>
          <p:cNvPr id="4" name="TextBox 3"/>
          <p:cNvSpPr txBox="1"/>
          <p:nvPr/>
        </p:nvSpPr>
        <p:spPr>
          <a:xfrm>
            <a:off x="4419600" y="2334161"/>
            <a:ext cx="4572000" cy="1323439"/>
          </a:xfrm>
          <a:prstGeom prst="rect">
            <a:avLst/>
          </a:prstGeom>
          <a:solidFill>
            <a:schemeClr val="accent6">
              <a:lumMod val="20000"/>
              <a:lumOff val="80000"/>
            </a:schemeClr>
          </a:solidFill>
          <a:ln w="57150">
            <a:solidFill>
              <a:schemeClr val="tx1"/>
            </a:solidFill>
          </a:ln>
        </p:spPr>
        <p:txBody>
          <a:bodyPr wrap="square" rtlCol="0">
            <a:spAutoFit/>
          </a:bodyPr>
          <a:lstStyle/>
          <a:p>
            <a:r>
              <a:rPr lang="en-US" sz="2000" dirty="0">
                <a:latin typeface="Courier New" panose="02070309020205020404" pitchFamily="49" charset="0"/>
                <a:cs typeface="Courier New" panose="02070309020205020404" pitchFamily="49" charset="0"/>
              </a:rPr>
              <a:t>In English you say Good Day</a:t>
            </a:r>
          </a:p>
          <a:p>
            <a:r>
              <a:rPr lang="en-US" sz="2000" dirty="0">
                <a:latin typeface="Courier New" panose="02070309020205020404" pitchFamily="49" charset="0"/>
                <a:cs typeface="Courier New" panose="02070309020205020404" pitchFamily="49" charset="0"/>
              </a:rPr>
              <a:t>In German you say </a:t>
            </a:r>
            <a:r>
              <a:rPr lang="en-US" sz="2000" dirty="0" err="1">
                <a:latin typeface="Courier New" panose="02070309020205020404" pitchFamily="49" charset="0"/>
                <a:cs typeface="Courier New" panose="02070309020205020404" pitchFamily="49" charset="0"/>
              </a:rPr>
              <a:t>Guten</a:t>
            </a:r>
            <a:r>
              <a:rPr lang="en-US" sz="2000" dirty="0">
                <a:latin typeface="Courier New" panose="02070309020205020404" pitchFamily="49" charset="0"/>
                <a:cs typeface="Courier New" panose="02070309020205020404" pitchFamily="49" charset="0"/>
              </a:rPr>
              <a:t> Tag</a:t>
            </a:r>
          </a:p>
          <a:p>
            <a:r>
              <a:rPr lang="en-US" sz="2000" dirty="0">
                <a:latin typeface="Courier New" panose="02070309020205020404" pitchFamily="49" charset="0"/>
                <a:cs typeface="Courier New" panose="02070309020205020404" pitchFamily="49" charset="0"/>
              </a:rPr>
              <a:t>In Dutch you say </a:t>
            </a:r>
            <a:r>
              <a:rPr lang="en-US" sz="2000" dirty="0" err="1">
                <a:latin typeface="Courier New" panose="02070309020205020404" pitchFamily="49" charset="0"/>
                <a:cs typeface="Courier New" panose="02070309020205020404" pitchFamily="49" charset="0"/>
              </a:rPr>
              <a:t>Goeden</a:t>
            </a:r>
            <a:r>
              <a:rPr lang="en-US" sz="2000" dirty="0">
                <a:latin typeface="Courier New" panose="02070309020205020404" pitchFamily="49" charset="0"/>
                <a:cs typeface="Courier New" panose="02070309020205020404" pitchFamily="49" charset="0"/>
              </a:rPr>
              <a:t> Dag</a:t>
            </a:r>
          </a:p>
          <a:p>
            <a:r>
              <a:rPr lang="en-US" sz="2000" dirty="0">
                <a:latin typeface="Courier New" panose="02070309020205020404" pitchFamily="49" charset="0"/>
                <a:cs typeface="Courier New" panose="02070309020205020404" pitchFamily="49" charset="0"/>
              </a:rPr>
              <a:t>In French you say Bonjour</a:t>
            </a:r>
          </a:p>
        </p:txBody>
      </p:sp>
    </p:spTree>
    <p:extLst>
      <p:ext uri="{BB962C8B-B14F-4D97-AF65-F5344CB8AC3E}">
        <p14:creationId xmlns:p14="http://schemas.microsoft.com/office/powerpoint/2010/main" val="84516587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0"/>
            <a:ext cx="9144000" cy="683264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dirty="0">
                <a:latin typeface="Times New Roman" panose="02020603050405020304" pitchFamily="18" charset="0"/>
                <a:cs typeface="Times New Roman" panose="02020603050405020304" pitchFamily="18" charset="0"/>
              </a:rPr>
              <a:t>abstract </a:t>
            </a:r>
            <a:r>
              <a:rPr lang="en-US" sz="2000" b="0" dirty="0" smtClean="0">
                <a:latin typeface="Arial Black" panose="020B0A04020102020204" pitchFamily="34" charset="0"/>
                <a:cs typeface="Times New Roman" panose="02020603050405020304" pitchFamily="18" charset="0"/>
              </a:rPr>
              <a:t>class</a:t>
            </a:r>
            <a:r>
              <a:rPr lang="en-US" sz="2000"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Language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public abstract void greeting();</a:t>
            </a:r>
          </a:p>
          <a:p>
            <a:r>
              <a:rPr lang="en-US" dirty="0" smtClean="0">
                <a:latin typeface="Times New Roman" panose="02020603050405020304" pitchFamily="18" charset="0"/>
                <a:cs typeface="Times New Roman" panose="02020603050405020304" pitchFamily="18" charset="0"/>
              </a:rPr>
              <a:t>}</a:t>
            </a:r>
          </a:p>
          <a:p>
            <a:endParaRPr lang="en-US" sz="1600"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class English </a:t>
            </a:r>
            <a:r>
              <a:rPr lang="en-US" sz="2000" b="0" dirty="0" smtClean="0">
                <a:latin typeface="Arial Black" panose="020B0A04020102020204" pitchFamily="34" charset="0"/>
                <a:cs typeface="Times New Roman" panose="02020603050405020304" pitchFamily="18" charset="0"/>
              </a:rPr>
              <a:t>extends</a:t>
            </a:r>
            <a:r>
              <a:rPr lang="en-US" sz="2000"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Language</a:t>
            </a:r>
          </a:p>
          <a:p>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English you say Good Day");   }</a:t>
            </a:r>
          </a:p>
          <a:p>
            <a:r>
              <a:rPr lang="en-US" dirty="0" smtClean="0">
                <a:latin typeface="Times New Roman" pitchFamily="18" charset="0"/>
                <a:cs typeface="Times New Roman" pitchFamily="18" charset="0"/>
              </a:rPr>
              <a:t>}</a:t>
            </a:r>
          </a:p>
          <a:p>
            <a:endParaRPr lang="en-US" sz="1600"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class German </a:t>
            </a:r>
            <a:r>
              <a:rPr lang="en-US" sz="2000" b="0" dirty="0">
                <a:latin typeface="Arial Black" panose="020B0A04020102020204" pitchFamily="34" charset="0"/>
                <a:cs typeface="Times New Roman" panose="02020603050405020304" pitchFamily="18" charset="0"/>
              </a:rPr>
              <a:t>extends</a:t>
            </a: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Language</a:t>
            </a:r>
          </a:p>
          <a:p>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German you say </a:t>
            </a:r>
            <a:r>
              <a:rPr lang="en-US" dirty="0" err="1" smtClean="0">
                <a:latin typeface="Times New Roman" pitchFamily="18" charset="0"/>
                <a:cs typeface="Times New Roman" pitchFamily="18" charset="0"/>
              </a:rPr>
              <a:t>Guten</a:t>
            </a:r>
            <a:r>
              <a:rPr lang="en-US" dirty="0" smtClean="0">
                <a:latin typeface="Times New Roman" pitchFamily="18" charset="0"/>
                <a:cs typeface="Times New Roman" pitchFamily="18" charset="0"/>
              </a:rPr>
              <a:t> Tag");   }</a:t>
            </a:r>
          </a:p>
          <a:p>
            <a:r>
              <a:rPr lang="en-US" dirty="0" smtClean="0">
                <a:latin typeface="Times New Roman" pitchFamily="18" charset="0"/>
                <a:cs typeface="Times New Roman" pitchFamily="18" charset="0"/>
              </a:rPr>
              <a:t>}</a:t>
            </a:r>
          </a:p>
          <a:p>
            <a:endParaRPr lang="en-US" sz="1600"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class Dutch </a:t>
            </a:r>
            <a:r>
              <a:rPr lang="en-US" sz="2000" b="0" dirty="0">
                <a:latin typeface="Arial Black" panose="020B0A04020102020204" pitchFamily="34" charset="0"/>
                <a:cs typeface="Times New Roman" panose="02020603050405020304" pitchFamily="18" charset="0"/>
              </a:rPr>
              <a:t>extends</a:t>
            </a: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Language</a:t>
            </a:r>
          </a:p>
          <a:p>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Dutch you say </a:t>
            </a:r>
            <a:r>
              <a:rPr lang="en-US" dirty="0" err="1" smtClean="0">
                <a:latin typeface="Times New Roman" pitchFamily="18" charset="0"/>
                <a:cs typeface="Times New Roman" pitchFamily="18" charset="0"/>
              </a:rPr>
              <a:t>Goeden</a:t>
            </a:r>
            <a:r>
              <a:rPr lang="en-US" dirty="0" smtClean="0">
                <a:latin typeface="Times New Roman" pitchFamily="18" charset="0"/>
                <a:cs typeface="Times New Roman" pitchFamily="18" charset="0"/>
              </a:rPr>
              <a:t> Dag");   }</a:t>
            </a:r>
          </a:p>
          <a:p>
            <a:r>
              <a:rPr lang="en-US" dirty="0" smtClean="0">
                <a:latin typeface="Times New Roman" pitchFamily="18" charset="0"/>
                <a:cs typeface="Times New Roman" pitchFamily="18" charset="0"/>
              </a:rPr>
              <a:t>}</a:t>
            </a:r>
          </a:p>
          <a:p>
            <a:endParaRPr lang="en-US" sz="1600"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class French </a:t>
            </a:r>
            <a:r>
              <a:rPr lang="en-US" sz="2000" b="0" dirty="0">
                <a:latin typeface="Arial Black" panose="020B0A04020102020204" pitchFamily="34" charset="0"/>
                <a:cs typeface="Times New Roman" panose="02020603050405020304" pitchFamily="18" charset="0"/>
              </a:rPr>
              <a:t>extends</a:t>
            </a: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Language</a:t>
            </a:r>
          </a:p>
          <a:p>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French you say Bonjour");   }</a:t>
            </a:r>
          </a:p>
          <a:p>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3429594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4"/>
            <a:ext cx="9144000" cy="695575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1900" dirty="0">
                <a:latin typeface="Times New Roman" pitchFamily="18" charset="0"/>
                <a:cs typeface="Times New Roman" pitchFamily="18" charset="0"/>
              </a:rPr>
              <a:t>// Java1410.java</a:t>
            </a:r>
          </a:p>
          <a:p>
            <a:r>
              <a:rPr lang="en-US" sz="1900" dirty="0">
                <a:latin typeface="Times New Roman" pitchFamily="18" charset="0"/>
                <a:cs typeface="Times New Roman" pitchFamily="18" charset="0"/>
              </a:rPr>
              <a:t>// In this program polymorphism is achieved</a:t>
            </a:r>
          </a:p>
          <a:p>
            <a:r>
              <a:rPr lang="en-US" sz="1900" dirty="0">
                <a:latin typeface="Times New Roman" pitchFamily="18" charset="0"/>
                <a:cs typeface="Times New Roman" pitchFamily="18" charset="0"/>
              </a:rPr>
              <a:t>// using a superclass as the umbrella.</a:t>
            </a:r>
          </a:p>
          <a:p>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public class </a:t>
            </a:r>
            <a:r>
              <a:rPr lang="en-US" sz="1900" dirty="0" smtClean="0">
                <a:latin typeface="Times New Roman" pitchFamily="18" charset="0"/>
                <a:cs typeface="Times New Roman" pitchFamily="18" charset="0"/>
              </a:rPr>
              <a:t>Java1410</a:t>
            </a:r>
          </a:p>
          <a:p>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	public static void main (String[] </a:t>
            </a:r>
            <a:r>
              <a:rPr lang="en-US" sz="1900" dirty="0" err="1">
                <a:latin typeface="Times New Roman" pitchFamily="18" charset="0"/>
                <a:cs typeface="Times New Roman" pitchFamily="18" charset="0"/>
              </a:rPr>
              <a:t>args</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Language </a:t>
            </a:r>
            <a:r>
              <a:rPr lang="en-US" sz="1900" dirty="0">
                <a:latin typeface="Times New Roman" pitchFamily="18" charset="0"/>
                <a:cs typeface="Times New Roman" pitchFamily="18" charset="0"/>
              </a:rPr>
              <a:t>g1 = new English();</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Language </a:t>
            </a:r>
            <a:r>
              <a:rPr lang="en-US" sz="1900" dirty="0">
                <a:latin typeface="Times New Roman" pitchFamily="18" charset="0"/>
                <a:cs typeface="Times New Roman" pitchFamily="18" charset="0"/>
              </a:rPr>
              <a:t>g2 = new German();</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Language </a:t>
            </a:r>
            <a:r>
              <a:rPr lang="en-US" sz="1900" dirty="0">
                <a:latin typeface="Times New Roman" pitchFamily="18" charset="0"/>
                <a:cs typeface="Times New Roman" pitchFamily="18" charset="0"/>
              </a:rPr>
              <a:t>g3 = new Dutch();</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Language </a:t>
            </a:r>
            <a:r>
              <a:rPr lang="en-US" sz="1900" dirty="0">
                <a:latin typeface="Times New Roman" pitchFamily="18" charset="0"/>
                <a:cs typeface="Times New Roman" pitchFamily="18" charset="0"/>
              </a:rPr>
              <a:t>g4 = new French();</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printGreeting</a:t>
            </a:r>
            <a:r>
              <a:rPr lang="en-US" sz="1900" dirty="0" smtClean="0">
                <a:latin typeface="Times New Roman" pitchFamily="18" charset="0"/>
                <a:cs typeface="Times New Roman" pitchFamily="18" charset="0"/>
              </a:rPr>
              <a:t>(g1</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printGreeting</a:t>
            </a:r>
            <a:r>
              <a:rPr lang="en-US" sz="1900" dirty="0" smtClean="0">
                <a:latin typeface="Times New Roman" pitchFamily="18" charset="0"/>
                <a:cs typeface="Times New Roman" pitchFamily="18" charset="0"/>
              </a:rPr>
              <a:t>(g2</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printGreeting</a:t>
            </a:r>
            <a:r>
              <a:rPr lang="en-US" sz="1900" dirty="0" smtClean="0">
                <a:latin typeface="Times New Roman" pitchFamily="18" charset="0"/>
                <a:cs typeface="Times New Roman" pitchFamily="18" charset="0"/>
              </a:rPr>
              <a:t>(g3</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printGreeting</a:t>
            </a:r>
            <a:r>
              <a:rPr lang="en-US" sz="1900" dirty="0" smtClean="0">
                <a:latin typeface="Times New Roman" pitchFamily="18" charset="0"/>
                <a:cs typeface="Times New Roman" pitchFamily="18" charset="0"/>
              </a:rPr>
              <a:t>(g4</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p>
          <a:p>
            <a:endParaRPr lang="en-US" sz="1600" dirty="0">
              <a:latin typeface="Times New Roman" pitchFamily="18" charset="0"/>
              <a:cs typeface="Times New Roman" pitchFamily="18" charset="0"/>
            </a:endParaRPr>
          </a:p>
          <a:p>
            <a:r>
              <a:rPr lang="en-US" sz="2200" b="0" dirty="0">
                <a:latin typeface="Arial Black" panose="020B0A04020102020204" pitchFamily="34" charset="0"/>
                <a:cs typeface="Times New Roman" pitchFamily="18" charset="0"/>
              </a:rPr>
              <a:t>   </a:t>
            </a:r>
            <a:r>
              <a:rPr lang="en-US" sz="2200" b="0" dirty="0" smtClean="0">
                <a:latin typeface="Arial Black" panose="020B0A04020102020204" pitchFamily="34" charset="0"/>
                <a:cs typeface="Times New Roman" pitchFamily="18" charset="0"/>
              </a:rPr>
              <a:t>	public </a:t>
            </a:r>
            <a:r>
              <a:rPr lang="en-US" sz="2200" b="0" dirty="0">
                <a:latin typeface="Arial Black" panose="020B0A04020102020204" pitchFamily="34" charset="0"/>
                <a:cs typeface="Times New Roman" pitchFamily="18" charset="0"/>
              </a:rPr>
              <a:t>static void </a:t>
            </a:r>
            <a:r>
              <a:rPr lang="en-US" sz="2200" b="0" dirty="0" err="1">
                <a:latin typeface="Arial Black" panose="020B0A04020102020204" pitchFamily="34" charset="0"/>
                <a:cs typeface="Times New Roman" pitchFamily="18" charset="0"/>
              </a:rPr>
              <a:t>printGreeting</a:t>
            </a:r>
            <a:r>
              <a:rPr lang="en-US" sz="2200" b="0" dirty="0">
                <a:latin typeface="Arial Black" panose="020B0A04020102020204" pitchFamily="34" charset="0"/>
                <a:cs typeface="Times New Roman" pitchFamily="18" charset="0"/>
              </a:rPr>
              <a:t>(Language </a:t>
            </a:r>
            <a:r>
              <a:rPr lang="en-US" sz="2200" b="0" dirty="0" err="1">
                <a:latin typeface="Arial Black" panose="020B0A04020102020204" pitchFamily="34" charset="0"/>
                <a:cs typeface="Times New Roman" pitchFamily="18" charset="0"/>
              </a:rPr>
              <a:t>obj</a:t>
            </a:r>
            <a:r>
              <a:rPr lang="en-US" sz="2200" b="0" dirty="0">
                <a:latin typeface="Arial Black" panose="020B0A04020102020204" pitchFamily="34" charset="0"/>
                <a:cs typeface="Times New Roman" pitchFamily="18" charset="0"/>
              </a:rPr>
              <a:t>)</a:t>
            </a:r>
          </a:p>
          <a:p>
            <a:r>
              <a:rPr lang="en-US" sz="2200" b="0" dirty="0">
                <a:latin typeface="Arial Black" panose="020B0A04020102020204" pitchFamily="34" charset="0"/>
                <a:cs typeface="Times New Roman" pitchFamily="18" charset="0"/>
              </a:rPr>
              <a:t>   </a:t>
            </a:r>
            <a:r>
              <a:rPr lang="en-US" sz="2200" b="0" dirty="0" smtClean="0">
                <a:latin typeface="Arial Black" panose="020B0A04020102020204" pitchFamily="34" charset="0"/>
                <a:cs typeface="Times New Roman" pitchFamily="18" charset="0"/>
              </a:rPr>
              <a:t>	{</a:t>
            </a:r>
            <a:endParaRPr lang="en-US" sz="2200" b="0" dirty="0">
              <a:latin typeface="Arial Black" panose="020B0A04020102020204" pitchFamily="34" charset="0"/>
              <a:cs typeface="Times New Roman" pitchFamily="18" charset="0"/>
            </a:endParaRPr>
          </a:p>
          <a:p>
            <a:r>
              <a:rPr lang="en-US" sz="2200" b="0" dirty="0">
                <a:latin typeface="Arial Black" panose="020B0A04020102020204" pitchFamily="34" charset="0"/>
                <a:cs typeface="Times New Roman" pitchFamily="18" charset="0"/>
              </a:rPr>
              <a:t>      	</a:t>
            </a:r>
            <a:r>
              <a:rPr lang="en-US" sz="2200" b="0" dirty="0" err="1" smtClean="0">
                <a:latin typeface="Arial Black" panose="020B0A04020102020204" pitchFamily="34" charset="0"/>
                <a:cs typeface="Times New Roman" pitchFamily="18" charset="0"/>
              </a:rPr>
              <a:t>obj.greeting</a:t>
            </a:r>
            <a:r>
              <a:rPr lang="en-US" sz="2200" b="0" dirty="0">
                <a:latin typeface="Arial Black" panose="020B0A04020102020204" pitchFamily="34" charset="0"/>
                <a:cs typeface="Times New Roman" pitchFamily="18" charset="0"/>
              </a:rPr>
              <a:t>();</a:t>
            </a:r>
          </a:p>
          <a:p>
            <a:r>
              <a:rPr lang="en-US" sz="2200" b="0" dirty="0">
                <a:latin typeface="Arial Black" panose="020B0A04020102020204" pitchFamily="34" charset="0"/>
                <a:cs typeface="Times New Roman" pitchFamily="18" charset="0"/>
              </a:rPr>
              <a:t>   </a:t>
            </a:r>
            <a:r>
              <a:rPr lang="en-US" sz="2200" b="0" dirty="0" smtClean="0">
                <a:latin typeface="Arial Black" panose="020B0A04020102020204" pitchFamily="34" charset="0"/>
                <a:cs typeface="Times New Roman" pitchFamily="18" charset="0"/>
              </a:rPr>
              <a:t>	}</a:t>
            </a:r>
            <a:endParaRPr lang="en-US" sz="2200" b="0" dirty="0">
              <a:latin typeface="Arial Black" panose="020B0A04020102020204" pitchFamily="34" charset="0"/>
              <a:cs typeface="Times New Roman" pitchFamily="18" charset="0"/>
            </a:endParaRPr>
          </a:p>
          <a:p>
            <a:r>
              <a:rPr lang="en-US" sz="1900" dirty="0">
                <a:latin typeface="Times New Roman" pitchFamily="18" charset="0"/>
                <a:cs typeface="Times New Roman" pitchFamily="18" charset="0"/>
              </a:rPr>
              <a:t>}</a:t>
            </a:r>
          </a:p>
        </p:txBody>
      </p:sp>
      <p:sp>
        <p:nvSpPr>
          <p:cNvPr id="4" name="TextBox 3"/>
          <p:cNvSpPr txBox="1"/>
          <p:nvPr/>
        </p:nvSpPr>
        <p:spPr>
          <a:xfrm>
            <a:off x="4419600" y="2334161"/>
            <a:ext cx="4572000" cy="1323439"/>
          </a:xfrm>
          <a:prstGeom prst="rect">
            <a:avLst/>
          </a:prstGeom>
          <a:solidFill>
            <a:schemeClr val="accent6">
              <a:lumMod val="20000"/>
              <a:lumOff val="80000"/>
            </a:schemeClr>
          </a:solidFill>
          <a:ln w="57150">
            <a:solidFill>
              <a:schemeClr val="tx1"/>
            </a:solidFill>
          </a:ln>
        </p:spPr>
        <p:txBody>
          <a:bodyPr wrap="square" rtlCol="0">
            <a:spAutoFit/>
          </a:bodyPr>
          <a:lstStyle/>
          <a:p>
            <a:r>
              <a:rPr lang="en-US" sz="2000" dirty="0">
                <a:latin typeface="Courier New" panose="02070309020205020404" pitchFamily="49" charset="0"/>
                <a:cs typeface="Courier New" panose="02070309020205020404" pitchFamily="49" charset="0"/>
              </a:rPr>
              <a:t>In English you say Good Day</a:t>
            </a:r>
          </a:p>
          <a:p>
            <a:r>
              <a:rPr lang="en-US" sz="2000" dirty="0">
                <a:latin typeface="Courier New" panose="02070309020205020404" pitchFamily="49" charset="0"/>
                <a:cs typeface="Courier New" panose="02070309020205020404" pitchFamily="49" charset="0"/>
              </a:rPr>
              <a:t>In German you say </a:t>
            </a:r>
            <a:r>
              <a:rPr lang="en-US" sz="2000" dirty="0" err="1">
                <a:latin typeface="Courier New" panose="02070309020205020404" pitchFamily="49" charset="0"/>
                <a:cs typeface="Courier New" panose="02070309020205020404" pitchFamily="49" charset="0"/>
              </a:rPr>
              <a:t>Guten</a:t>
            </a:r>
            <a:r>
              <a:rPr lang="en-US" sz="2000" dirty="0">
                <a:latin typeface="Courier New" panose="02070309020205020404" pitchFamily="49" charset="0"/>
                <a:cs typeface="Courier New" panose="02070309020205020404" pitchFamily="49" charset="0"/>
              </a:rPr>
              <a:t> Tag</a:t>
            </a:r>
          </a:p>
          <a:p>
            <a:r>
              <a:rPr lang="en-US" sz="2000" dirty="0">
                <a:latin typeface="Courier New" panose="02070309020205020404" pitchFamily="49" charset="0"/>
                <a:cs typeface="Courier New" panose="02070309020205020404" pitchFamily="49" charset="0"/>
              </a:rPr>
              <a:t>In Dutch you say </a:t>
            </a:r>
            <a:r>
              <a:rPr lang="en-US" sz="2000" dirty="0" err="1">
                <a:latin typeface="Courier New" panose="02070309020205020404" pitchFamily="49" charset="0"/>
                <a:cs typeface="Courier New" panose="02070309020205020404" pitchFamily="49" charset="0"/>
              </a:rPr>
              <a:t>Goeden</a:t>
            </a:r>
            <a:r>
              <a:rPr lang="en-US" sz="2000" dirty="0">
                <a:latin typeface="Courier New" panose="02070309020205020404" pitchFamily="49" charset="0"/>
                <a:cs typeface="Courier New" panose="02070309020205020404" pitchFamily="49" charset="0"/>
              </a:rPr>
              <a:t> Dag</a:t>
            </a:r>
          </a:p>
          <a:p>
            <a:r>
              <a:rPr lang="en-US" sz="2000" dirty="0">
                <a:latin typeface="Courier New" panose="02070309020205020404" pitchFamily="49" charset="0"/>
                <a:cs typeface="Courier New" panose="02070309020205020404" pitchFamily="49" charset="0"/>
              </a:rPr>
              <a:t>In French you say Bonjour</a:t>
            </a:r>
          </a:p>
        </p:txBody>
      </p:sp>
    </p:spTree>
    <p:extLst>
      <p:ext uri="{BB962C8B-B14F-4D97-AF65-F5344CB8AC3E}">
        <p14:creationId xmlns:p14="http://schemas.microsoft.com/office/powerpoint/2010/main" val="3212541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2000" b="0" dirty="0">
                <a:latin typeface="Arial Black" panose="020B0A04020102020204" pitchFamily="34" charset="0"/>
                <a:cs typeface="Times New Roman" panose="02020603050405020304" pitchFamily="18" charset="0"/>
              </a:rPr>
              <a:t>class Language</a:t>
            </a:r>
          </a:p>
          <a:p>
            <a:pPr>
              <a:lnSpc>
                <a:spcPct val="88000"/>
              </a:lnSpc>
            </a:pPr>
            <a:r>
              <a:rPr lang="en-US" sz="2000" b="0" dirty="0">
                <a:latin typeface="Arial Black" panose="020B0A04020102020204" pitchFamily="34" charset="0"/>
                <a:cs typeface="Times New Roman" panose="02020603050405020304" pitchFamily="18" charset="0"/>
              </a:rPr>
              <a:t>{</a:t>
            </a:r>
          </a:p>
          <a:p>
            <a:pPr>
              <a:lnSpc>
                <a:spcPct val="88000"/>
              </a:lnSpc>
            </a:pPr>
            <a:r>
              <a:rPr lang="en-US" sz="2000" b="0" dirty="0" smtClean="0">
                <a:latin typeface="Arial Black" panose="020B0A04020102020204" pitchFamily="34" charset="0"/>
                <a:cs typeface="Times New Roman" panose="02020603050405020304" pitchFamily="18" charset="0"/>
              </a:rPr>
              <a:t>	public </a:t>
            </a:r>
            <a:r>
              <a:rPr lang="en-US" sz="2000" b="0" dirty="0">
                <a:latin typeface="Arial Black" panose="020B0A04020102020204" pitchFamily="34" charset="0"/>
                <a:cs typeface="Times New Roman" panose="02020603050405020304" pitchFamily="18" charset="0"/>
              </a:rPr>
              <a:t>void greeting</a:t>
            </a:r>
            <a:r>
              <a:rPr lang="en-US" sz="2000" b="0" dirty="0" smtClean="0">
                <a:latin typeface="Arial Black" panose="020B0A04020102020204" pitchFamily="34" charset="0"/>
                <a:cs typeface="Times New Roman" panose="02020603050405020304" pitchFamily="18" charset="0"/>
              </a:rPr>
              <a:t>()   </a:t>
            </a:r>
          </a:p>
          <a:p>
            <a:pPr>
              <a:lnSpc>
                <a:spcPct val="88000"/>
              </a:lnSpc>
            </a:pPr>
            <a:r>
              <a:rPr lang="en-US" sz="2000" b="0" dirty="0">
                <a:latin typeface="Arial Black" panose="020B0A04020102020204" pitchFamily="34" charset="0"/>
                <a:cs typeface="Times New Roman" panose="02020603050405020304" pitchFamily="18" charset="0"/>
              </a:rPr>
              <a:t>	</a:t>
            </a:r>
            <a:r>
              <a:rPr lang="en-US" sz="2000" b="0" dirty="0" smtClean="0">
                <a:latin typeface="Arial Black" panose="020B0A04020102020204" pitchFamily="34" charset="0"/>
                <a:cs typeface="Times New Roman" panose="02020603050405020304" pitchFamily="18" charset="0"/>
              </a:rPr>
              <a:t>{   </a:t>
            </a:r>
          </a:p>
          <a:p>
            <a:pPr>
              <a:lnSpc>
                <a:spcPct val="88000"/>
              </a:lnSpc>
            </a:pPr>
            <a:r>
              <a:rPr lang="en-US" sz="2000" b="0" dirty="0">
                <a:latin typeface="Arial Black" panose="020B0A04020102020204" pitchFamily="34" charset="0"/>
                <a:cs typeface="Times New Roman" panose="02020603050405020304" pitchFamily="18" charset="0"/>
              </a:rPr>
              <a:t>	</a:t>
            </a:r>
            <a:r>
              <a:rPr lang="en-US" sz="2000" b="0" dirty="0" smtClean="0">
                <a:latin typeface="Arial Black" panose="020B0A04020102020204" pitchFamily="34" charset="0"/>
                <a:cs typeface="Times New Roman" panose="02020603050405020304" pitchFamily="18" charset="0"/>
              </a:rPr>
              <a:t>	</a:t>
            </a:r>
            <a:r>
              <a:rPr lang="en-US" sz="2000" b="0" dirty="0" err="1" smtClean="0">
                <a:latin typeface="Arial Black" panose="020B0A04020102020204" pitchFamily="34" charset="0"/>
                <a:cs typeface="Times New Roman" panose="02020603050405020304" pitchFamily="18" charset="0"/>
              </a:rPr>
              <a:t>System.out.println</a:t>
            </a:r>
            <a:r>
              <a:rPr lang="en-US" sz="2000" b="0" dirty="0">
                <a:latin typeface="Arial Black" panose="020B0A04020102020204" pitchFamily="34" charset="0"/>
                <a:cs typeface="Times New Roman" panose="02020603050405020304" pitchFamily="18" charset="0"/>
              </a:rPr>
              <a:t>("Every language has a greeting</a:t>
            </a:r>
            <a:r>
              <a:rPr lang="en-US" sz="2000" b="0" dirty="0" smtClean="0">
                <a:latin typeface="Arial Black" panose="020B0A04020102020204" pitchFamily="34" charset="0"/>
                <a:cs typeface="Times New Roman" panose="02020603050405020304" pitchFamily="18" charset="0"/>
              </a:rPr>
              <a:t>.");   </a:t>
            </a:r>
          </a:p>
          <a:p>
            <a:pPr>
              <a:lnSpc>
                <a:spcPct val="88000"/>
              </a:lnSpc>
            </a:pPr>
            <a:r>
              <a:rPr lang="en-US" sz="2000" b="0" dirty="0">
                <a:latin typeface="Arial Black" panose="020B0A04020102020204" pitchFamily="34" charset="0"/>
                <a:cs typeface="Times New Roman" panose="02020603050405020304" pitchFamily="18" charset="0"/>
              </a:rPr>
              <a:t>	</a:t>
            </a:r>
            <a:r>
              <a:rPr lang="en-US" sz="2000" b="0" dirty="0" smtClean="0">
                <a:latin typeface="Arial Black" panose="020B0A04020102020204" pitchFamily="34" charset="0"/>
                <a:cs typeface="Times New Roman" panose="02020603050405020304" pitchFamily="18" charset="0"/>
              </a:rPr>
              <a:t>}</a:t>
            </a:r>
            <a:endParaRPr lang="en-US" sz="2000" b="0" dirty="0">
              <a:latin typeface="Arial Black" panose="020B0A04020102020204" pitchFamily="34" charset="0"/>
              <a:cs typeface="Times New Roman" panose="02020603050405020304" pitchFamily="18" charset="0"/>
            </a:endParaRPr>
          </a:p>
          <a:p>
            <a:pPr>
              <a:lnSpc>
                <a:spcPct val="88000"/>
              </a:lnSpc>
            </a:pPr>
            <a:r>
              <a:rPr lang="en-US" sz="2000" b="0" dirty="0" smtClean="0">
                <a:latin typeface="Arial Black" panose="020B0A04020102020204" pitchFamily="34" charset="0"/>
                <a:cs typeface="Times New Roman" panose="02020603050405020304" pitchFamily="18" charset="0"/>
              </a:rPr>
              <a:t>}</a:t>
            </a:r>
          </a:p>
          <a:p>
            <a:pPr>
              <a:lnSpc>
                <a:spcPct val="88000"/>
              </a:lnSpc>
            </a:pPr>
            <a:endParaRPr lang="en-US" sz="1600" dirty="0" smtClean="0">
              <a:latin typeface="Times New Roman" panose="02020603050405020304" pitchFamily="18" charset="0"/>
              <a:cs typeface="Times New Roman" panose="02020603050405020304" pitchFamily="18" charset="0"/>
            </a:endParaRPr>
          </a:p>
          <a:p>
            <a:pPr>
              <a:lnSpc>
                <a:spcPct val="88000"/>
              </a:lnSpc>
            </a:pPr>
            <a:r>
              <a:rPr lang="en-US" dirty="0" smtClean="0">
                <a:latin typeface="Times New Roman" panose="02020603050405020304" pitchFamily="18" charset="0"/>
                <a:cs typeface="Times New Roman" panose="02020603050405020304" pitchFamily="18" charset="0"/>
              </a:rPr>
              <a:t>class English </a:t>
            </a:r>
            <a:r>
              <a:rPr lang="en-US" sz="2000" b="0" dirty="0" smtClean="0">
                <a:latin typeface="Arial Black" panose="020B0A04020102020204" pitchFamily="34" charset="0"/>
                <a:cs typeface="Times New Roman" panose="02020603050405020304" pitchFamily="18" charset="0"/>
              </a:rPr>
              <a:t>extends</a:t>
            </a:r>
            <a:r>
              <a:rPr lang="en-US" sz="2000"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Language</a:t>
            </a:r>
          </a:p>
          <a:p>
            <a:pPr>
              <a:lnSpc>
                <a:spcPct val="88000"/>
              </a:lnSpc>
            </a:pPr>
            <a:r>
              <a:rPr lang="en-US" dirty="0" smtClean="0">
                <a:latin typeface="Times New Roman" panose="02020603050405020304" pitchFamily="18" charset="0"/>
                <a:cs typeface="Times New Roman" panose="02020603050405020304" pitchFamily="18" charset="0"/>
              </a:rPr>
              <a:t>{</a:t>
            </a:r>
          </a:p>
          <a:p>
            <a:pPr>
              <a:lnSpc>
                <a:spcPct val="88000"/>
              </a:lnSpc>
            </a:pPr>
            <a:r>
              <a:rPr lang="en-US" dirty="0" smtClean="0">
                <a:latin typeface="Times New Roman" panose="02020603050405020304" pitchFamily="18" charset="0"/>
                <a:cs typeface="Times New Roman" panose="02020603050405020304"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English you say Good Day");   }</a:t>
            </a:r>
          </a:p>
          <a:p>
            <a:pPr>
              <a:lnSpc>
                <a:spcPct val="88000"/>
              </a:lnSpc>
            </a:pPr>
            <a:r>
              <a:rPr lang="en-US" dirty="0" smtClean="0">
                <a:latin typeface="Times New Roman" pitchFamily="18" charset="0"/>
                <a:cs typeface="Times New Roman" pitchFamily="18" charset="0"/>
              </a:rPr>
              <a:t>}</a:t>
            </a:r>
          </a:p>
          <a:p>
            <a:pPr>
              <a:lnSpc>
                <a:spcPct val="88000"/>
              </a:lnSpc>
            </a:pPr>
            <a:endParaRPr lang="en-US" sz="1600" dirty="0" smtClean="0">
              <a:latin typeface="Times New Roman" pitchFamily="18" charset="0"/>
              <a:cs typeface="Times New Roman" pitchFamily="18" charset="0"/>
            </a:endParaRPr>
          </a:p>
          <a:p>
            <a:pPr>
              <a:lnSpc>
                <a:spcPct val="88000"/>
              </a:lnSpc>
            </a:pPr>
            <a:r>
              <a:rPr lang="en-US" dirty="0" smtClean="0">
                <a:latin typeface="Times New Roman" pitchFamily="18" charset="0"/>
                <a:cs typeface="Times New Roman" pitchFamily="18" charset="0"/>
              </a:rPr>
              <a:t>class German </a:t>
            </a:r>
            <a:r>
              <a:rPr lang="en-US" sz="2000" b="0" dirty="0">
                <a:latin typeface="Arial Black" panose="020B0A04020102020204" pitchFamily="34" charset="0"/>
                <a:cs typeface="Times New Roman" panose="02020603050405020304" pitchFamily="18" charset="0"/>
              </a:rPr>
              <a:t>extends</a:t>
            </a: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Language</a:t>
            </a:r>
          </a:p>
          <a:p>
            <a:pPr>
              <a:lnSpc>
                <a:spcPct val="88000"/>
              </a:lnSpc>
            </a:pPr>
            <a:r>
              <a:rPr lang="en-US" dirty="0" smtClean="0">
                <a:latin typeface="Times New Roman" pitchFamily="18" charset="0"/>
                <a:cs typeface="Times New Roman" pitchFamily="18" charset="0"/>
              </a:rPr>
              <a:t>{</a:t>
            </a:r>
          </a:p>
          <a:p>
            <a:pPr>
              <a:lnSpc>
                <a:spcPct val="88000"/>
              </a:lnSpc>
            </a:pPr>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German you say </a:t>
            </a:r>
            <a:r>
              <a:rPr lang="en-US" dirty="0" err="1" smtClean="0">
                <a:latin typeface="Times New Roman" pitchFamily="18" charset="0"/>
                <a:cs typeface="Times New Roman" pitchFamily="18" charset="0"/>
              </a:rPr>
              <a:t>Guten</a:t>
            </a:r>
            <a:r>
              <a:rPr lang="en-US" dirty="0" smtClean="0">
                <a:latin typeface="Times New Roman" pitchFamily="18" charset="0"/>
                <a:cs typeface="Times New Roman" pitchFamily="18" charset="0"/>
              </a:rPr>
              <a:t> Tag");   }</a:t>
            </a:r>
          </a:p>
          <a:p>
            <a:pPr>
              <a:lnSpc>
                <a:spcPct val="88000"/>
              </a:lnSpc>
            </a:pPr>
            <a:r>
              <a:rPr lang="en-US" dirty="0" smtClean="0">
                <a:latin typeface="Times New Roman" pitchFamily="18" charset="0"/>
                <a:cs typeface="Times New Roman" pitchFamily="18" charset="0"/>
              </a:rPr>
              <a:t>}</a:t>
            </a:r>
          </a:p>
          <a:p>
            <a:pPr>
              <a:lnSpc>
                <a:spcPct val="88000"/>
              </a:lnSpc>
            </a:pPr>
            <a:endParaRPr lang="en-US" sz="1600" dirty="0" smtClean="0">
              <a:latin typeface="Times New Roman" pitchFamily="18" charset="0"/>
              <a:cs typeface="Times New Roman" pitchFamily="18" charset="0"/>
            </a:endParaRPr>
          </a:p>
          <a:p>
            <a:pPr>
              <a:lnSpc>
                <a:spcPct val="88000"/>
              </a:lnSpc>
            </a:pPr>
            <a:r>
              <a:rPr lang="en-US" dirty="0" smtClean="0">
                <a:latin typeface="Times New Roman" pitchFamily="18" charset="0"/>
                <a:cs typeface="Times New Roman" pitchFamily="18" charset="0"/>
              </a:rPr>
              <a:t>class Dutch </a:t>
            </a:r>
            <a:r>
              <a:rPr lang="en-US" sz="2000" b="0" dirty="0">
                <a:latin typeface="Arial Black" panose="020B0A04020102020204" pitchFamily="34" charset="0"/>
                <a:cs typeface="Times New Roman" panose="02020603050405020304" pitchFamily="18" charset="0"/>
              </a:rPr>
              <a:t>extends</a:t>
            </a: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Language</a:t>
            </a:r>
          </a:p>
          <a:p>
            <a:pPr>
              <a:lnSpc>
                <a:spcPct val="88000"/>
              </a:lnSpc>
            </a:pPr>
            <a:r>
              <a:rPr lang="en-US" dirty="0" smtClean="0">
                <a:latin typeface="Times New Roman" pitchFamily="18" charset="0"/>
                <a:cs typeface="Times New Roman" pitchFamily="18" charset="0"/>
              </a:rPr>
              <a:t>{</a:t>
            </a:r>
          </a:p>
          <a:p>
            <a:pPr>
              <a:lnSpc>
                <a:spcPct val="88000"/>
              </a:lnSpc>
            </a:pPr>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Dutch you say </a:t>
            </a:r>
            <a:r>
              <a:rPr lang="en-US" dirty="0" err="1" smtClean="0">
                <a:latin typeface="Times New Roman" pitchFamily="18" charset="0"/>
                <a:cs typeface="Times New Roman" pitchFamily="18" charset="0"/>
              </a:rPr>
              <a:t>Goeden</a:t>
            </a:r>
            <a:r>
              <a:rPr lang="en-US" dirty="0" smtClean="0">
                <a:latin typeface="Times New Roman" pitchFamily="18" charset="0"/>
                <a:cs typeface="Times New Roman" pitchFamily="18" charset="0"/>
              </a:rPr>
              <a:t> Dag");   }</a:t>
            </a:r>
          </a:p>
          <a:p>
            <a:pPr>
              <a:lnSpc>
                <a:spcPct val="88000"/>
              </a:lnSpc>
            </a:pPr>
            <a:r>
              <a:rPr lang="en-US" dirty="0" smtClean="0">
                <a:latin typeface="Times New Roman" pitchFamily="18" charset="0"/>
                <a:cs typeface="Times New Roman" pitchFamily="18" charset="0"/>
              </a:rPr>
              <a:t>}</a:t>
            </a:r>
          </a:p>
          <a:p>
            <a:pPr>
              <a:lnSpc>
                <a:spcPct val="88000"/>
              </a:lnSpc>
            </a:pPr>
            <a:endParaRPr lang="en-US" sz="1600" dirty="0" smtClean="0">
              <a:latin typeface="Times New Roman" pitchFamily="18" charset="0"/>
              <a:cs typeface="Times New Roman" pitchFamily="18" charset="0"/>
            </a:endParaRPr>
          </a:p>
          <a:p>
            <a:pPr>
              <a:lnSpc>
                <a:spcPct val="88000"/>
              </a:lnSpc>
            </a:pPr>
            <a:r>
              <a:rPr lang="en-US" dirty="0" smtClean="0">
                <a:latin typeface="Times New Roman" pitchFamily="18" charset="0"/>
                <a:cs typeface="Times New Roman" pitchFamily="18" charset="0"/>
              </a:rPr>
              <a:t>class French </a:t>
            </a:r>
            <a:r>
              <a:rPr lang="en-US" sz="2000" b="0" dirty="0">
                <a:latin typeface="Arial Black" panose="020B0A04020102020204" pitchFamily="34" charset="0"/>
                <a:cs typeface="Times New Roman" panose="02020603050405020304" pitchFamily="18" charset="0"/>
              </a:rPr>
              <a:t>extends</a:t>
            </a: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Language</a:t>
            </a:r>
          </a:p>
          <a:p>
            <a:pPr>
              <a:lnSpc>
                <a:spcPct val="88000"/>
              </a:lnSpc>
            </a:pPr>
            <a:r>
              <a:rPr lang="en-US" dirty="0" smtClean="0">
                <a:latin typeface="Times New Roman" pitchFamily="18" charset="0"/>
                <a:cs typeface="Times New Roman" pitchFamily="18" charset="0"/>
              </a:rPr>
              <a:t>{</a:t>
            </a:r>
          </a:p>
          <a:p>
            <a:pPr>
              <a:lnSpc>
                <a:spcPct val="88000"/>
              </a:lnSpc>
            </a:pPr>
            <a:r>
              <a:rPr lang="en-US" dirty="0" smtClean="0">
                <a:latin typeface="Times New Roman" pitchFamily="18" charset="0"/>
                <a:cs typeface="Times New Roman" pitchFamily="18" charset="0"/>
              </a:rPr>
              <a:t>	public void greeting()   {   </a:t>
            </a:r>
            <a:r>
              <a:rPr lang="en-US" dirty="0" err="1" smtClean="0">
                <a:latin typeface="Times New Roman" pitchFamily="18" charset="0"/>
                <a:cs typeface="Times New Roman" pitchFamily="18" charset="0"/>
              </a:rPr>
              <a:t>System.out.println</a:t>
            </a:r>
            <a:r>
              <a:rPr lang="en-US" dirty="0" smtClean="0">
                <a:latin typeface="Times New Roman" pitchFamily="18" charset="0"/>
                <a:cs typeface="Times New Roman" pitchFamily="18" charset="0"/>
              </a:rPr>
              <a:t>("In French you say Bonjour");   }</a:t>
            </a:r>
          </a:p>
          <a:p>
            <a:pPr>
              <a:lnSpc>
                <a:spcPct val="88000"/>
              </a:lnSpc>
            </a:pP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18795141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rgbClr val="000082"/>
            </a:gs>
            <a:gs pos="30000">
              <a:srgbClr val="66008F"/>
            </a:gs>
            <a:gs pos="64999">
              <a:srgbClr val="BA0066"/>
            </a:gs>
            <a:gs pos="89999">
              <a:srgbClr val="FF0000"/>
            </a:gs>
            <a:gs pos="100000">
              <a:srgbClr val="FF8200"/>
            </a:gs>
          </a:gsLst>
          <a:lin ang="5400000" scaled="0"/>
        </a:gradFill>
        <a:effectLst/>
      </p:bgPr>
    </p:bg>
    <p:spTree>
      <p:nvGrpSpPr>
        <p:cNvPr id="1" name=""/>
        <p:cNvGrpSpPr/>
        <p:nvPr/>
      </p:nvGrpSpPr>
      <p:grpSpPr>
        <a:xfrm>
          <a:off x="0" y="0"/>
          <a:ext cx="0" cy="0"/>
          <a:chOff x="0" y="0"/>
          <a:chExt cx="0" cy="0"/>
        </a:xfrm>
      </p:grpSpPr>
      <p:sp>
        <p:nvSpPr>
          <p:cNvPr id="6146" name="WordArt 2"/>
          <p:cNvSpPr>
            <a:spLocks noChangeArrowheads="1" noChangeShapeType="1" noTextEdit="1"/>
          </p:cNvSpPr>
          <p:nvPr/>
        </p:nvSpPr>
        <p:spPr bwMode="auto">
          <a:xfrm>
            <a:off x="304800" y="1600200"/>
            <a:ext cx="8458200" cy="2362200"/>
          </a:xfrm>
          <a:prstGeom prst="rect">
            <a:avLst/>
          </a:prstGeom>
        </p:spPr>
        <p:txBody>
          <a:bodyPr wrap="none" fromWordArt="1">
            <a:prstTxWarp prst="textSlantUp">
              <a:avLst>
                <a:gd name="adj" fmla="val 32056"/>
              </a:avLst>
            </a:prstTxWarp>
          </a:bodyPr>
          <a:lstStyle/>
          <a:p>
            <a:pPr algn="ct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 Interface or </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
        <p:nvSpPr>
          <p:cNvPr id="6147"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14.5</a:t>
            </a:r>
            <a:endParaRPr lang="en-US" sz="3600" kern="10" dirty="0">
              <a:ln w="9525">
                <a:solidFill>
                  <a:srgbClr val="000000"/>
                </a:solidFill>
                <a:round/>
                <a:headEnd/>
                <a:tailEnd/>
              </a:ln>
              <a:solidFill>
                <a:srgbClr val="FFFFFF"/>
              </a:solidFill>
              <a:latin typeface="Arial Black"/>
            </a:endParaRPr>
          </a:p>
        </p:txBody>
      </p:sp>
      <p:sp>
        <p:nvSpPr>
          <p:cNvPr id="6148" name="WordArt 2"/>
          <p:cNvSpPr>
            <a:spLocks noChangeArrowheads="1" noChangeShapeType="1" noTextEdit="1"/>
          </p:cNvSpPr>
          <p:nvPr/>
        </p:nvSpPr>
        <p:spPr bwMode="auto">
          <a:xfrm>
            <a:off x="304800" y="3810000"/>
            <a:ext cx="8534400" cy="2514600"/>
          </a:xfrm>
          <a:prstGeom prst="rect">
            <a:avLst/>
          </a:prstGeom>
        </p:spPr>
        <p:txBody>
          <a:bodyPr wrap="none" fromWordArt="1">
            <a:prstTxWarp prst="textSlantUp">
              <a:avLst>
                <a:gd name="adj" fmla="val 32056"/>
              </a:avLst>
            </a:prstTxWarp>
          </a:bodyPr>
          <a:lstStyle/>
          <a:p>
            <a:pPr algn="ct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Superclass?</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Tree>
    <p:extLst>
      <p:ext uri="{BB962C8B-B14F-4D97-AF65-F5344CB8AC3E}">
        <p14:creationId xmlns:p14="http://schemas.microsoft.com/office/powerpoint/2010/main" val="94051318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5"/>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1900" dirty="0">
                <a:latin typeface="Times New Roman" pitchFamily="18" charset="0"/>
                <a:cs typeface="Times New Roman" pitchFamily="18" charset="0"/>
              </a:rPr>
              <a:t>// Java1411.java</a:t>
            </a:r>
          </a:p>
          <a:p>
            <a:r>
              <a:rPr lang="en-US" sz="1900" dirty="0">
                <a:latin typeface="Times New Roman" pitchFamily="18" charset="0"/>
                <a:cs typeface="Times New Roman" pitchFamily="18" charset="0"/>
              </a:rPr>
              <a:t>// This program shows a type of polymorphism that</a:t>
            </a:r>
          </a:p>
          <a:p>
            <a:r>
              <a:rPr lang="en-US" sz="1900" dirty="0">
                <a:latin typeface="Times New Roman" pitchFamily="18" charset="0"/>
                <a:cs typeface="Times New Roman" pitchFamily="18" charset="0"/>
              </a:rPr>
              <a:t>// cannot be done with an interface umbrella.</a:t>
            </a:r>
          </a:p>
          <a:p>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public class Java1411</a:t>
            </a:r>
          </a:p>
          <a:p>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public static void main (String[] </a:t>
            </a:r>
            <a:r>
              <a:rPr lang="en-US" sz="1900" dirty="0" err="1">
                <a:latin typeface="Times New Roman" pitchFamily="18" charset="0"/>
                <a:cs typeface="Times New Roman" pitchFamily="18" charset="0"/>
              </a:rPr>
              <a:t>args</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Actor </a:t>
            </a:r>
            <a:r>
              <a:rPr lang="en-US" sz="1900" dirty="0">
                <a:latin typeface="Times New Roman" pitchFamily="18" charset="0"/>
                <a:cs typeface="Times New Roman" pitchFamily="18" charset="0"/>
              </a:rPr>
              <a:t>belle = new Belle();</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Actor </a:t>
            </a:r>
            <a:r>
              <a:rPr lang="en-US" sz="1900" dirty="0" err="1">
                <a:latin typeface="Times New Roman" pitchFamily="18" charset="0"/>
                <a:cs typeface="Times New Roman" pitchFamily="18" charset="0"/>
              </a:rPr>
              <a:t>maurice</a:t>
            </a:r>
            <a:r>
              <a:rPr lang="en-US" sz="1900" dirty="0">
                <a:latin typeface="Times New Roman" pitchFamily="18" charset="0"/>
                <a:cs typeface="Times New Roman" pitchFamily="18" charset="0"/>
              </a:rPr>
              <a:t> = new Maurice();</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Actor </a:t>
            </a:r>
            <a:r>
              <a:rPr lang="en-US" sz="1900" dirty="0" err="1">
                <a:latin typeface="Times New Roman" pitchFamily="18" charset="0"/>
                <a:cs typeface="Times New Roman" pitchFamily="18" charset="0"/>
              </a:rPr>
              <a:t>gaston</a:t>
            </a:r>
            <a:r>
              <a:rPr lang="en-US" sz="1900" dirty="0">
                <a:latin typeface="Times New Roman" pitchFamily="18" charset="0"/>
                <a:cs typeface="Times New Roman" pitchFamily="18" charset="0"/>
              </a:rPr>
              <a:t> = new Gaston();</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Actor </a:t>
            </a:r>
            <a:r>
              <a:rPr lang="en-US" sz="1900" dirty="0">
                <a:latin typeface="Times New Roman" pitchFamily="18" charset="0"/>
                <a:cs typeface="Times New Roman" pitchFamily="18" charset="0"/>
              </a:rPr>
              <a:t>beast = new Beast</a:t>
            </a:r>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actDetails</a:t>
            </a:r>
            <a:r>
              <a:rPr lang="en-US" sz="1900" dirty="0" smtClean="0">
                <a:latin typeface="Times New Roman" pitchFamily="18" charset="0"/>
                <a:cs typeface="Times New Roman" pitchFamily="18" charset="0"/>
              </a:rPr>
              <a:t>(belle</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actDetails</a:t>
            </a:r>
            <a:r>
              <a:rPr lang="en-US" sz="1900" dirty="0" smtClean="0">
                <a:latin typeface="Times New Roman" pitchFamily="18" charset="0"/>
                <a:cs typeface="Times New Roman" pitchFamily="18" charset="0"/>
              </a:rPr>
              <a:t>(</a:t>
            </a:r>
            <a:r>
              <a:rPr lang="en-US" sz="1900" dirty="0" err="1" smtClean="0">
                <a:latin typeface="Times New Roman" pitchFamily="18" charset="0"/>
                <a:cs typeface="Times New Roman" pitchFamily="18" charset="0"/>
              </a:rPr>
              <a:t>maurice</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actDetails</a:t>
            </a:r>
            <a:r>
              <a:rPr lang="en-US" sz="1900" dirty="0" smtClean="0">
                <a:latin typeface="Times New Roman" pitchFamily="18" charset="0"/>
                <a:cs typeface="Times New Roman" pitchFamily="18" charset="0"/>
              </a:rPr>
              <a:t>(</a:t>
            </a:r>
            <a:r>
              <a:rPr lang="en-US" sz="1900" dirty="0" err="1" smtClean="0">
                <a:latin typeface="Times New Roman" pitchFamily="18" charset="0"/>
                <a:cs typeface="Times New Roman" pitchFamily="18" charset="0"/>
              </a:rPr>
              <a:t>gaston</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actDetails</a:t>
            </a:r>
            <a:r>
              <a:rPr lang="en-US" sz="1900" dirty="0" smtClean="0">
                <a:latin typeface="Times New Roman" pitchFamily="18" charset="0"/>
                <a:cs typeface="Times New Roman" pitchFamily="18" charset="0"/>
              </a:rPr>
              <a:t>(beast</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p>
          <a:p>
            <a:r>
              <a:rPr lang="en-US" sz="1900" dirty="0">
                <a:latin typeface="Times New Roman" pitchFamily="18" charset="0"/>
                <a:cs typeface="Times New Roman" pitchFamily="18" charset="0"/>
              </a:rPr>
              <a:t>   </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public </a:t>
            </a:r>
            <a:r>
              <a:rPr lang="en-US" sz="1900" dirty="0">
                <a:latin typeface="Times New Roman" pitchFamily="18" charset="0"/>
                <a:cs typeface="Times New Roman" pitchFamily="18" charset="0"/>
              </a:rPr>
              <a:t>static void </a:t>
            </a:r>
            <a:r>
              <a:rPr lang="en-US" sz="1900" dirty="0" err="1">
                <a:latin typeface="Times New Roman" pitchFamily="18" charset="0"/>
                <a:cs typeface="Times New Roman" pitchFamily="18" charset="0"/>
              </a:rPr>
              <a:t>actDetails</a:t>
            </a:r>
            <a:r>
              <a:rPr lang="en-US" sz="1900" dirty="0">
                <a:latin typeface="Times New Roman" pitchFamily="18" charset="0"/>
                <a:cs typeface="Times New Roman" pitchFamily="18" charset="0"/>
              </a:rPr>
              <a:t>(Actor </a:t>
            </a:r>
            <a:r>
              <a:rPr lang="en-US" sz="1900" dirty="0" err="1">
                <a:latin typeface="Times New Roman" pitchFamily="18" charset="0"/>
                <a:cs typeface="Times New Roman" pitchFamily="18" charset="0"/>
              </a:rPr>
              <a:t>obj</a:t>
            </a:r>
            <a:r>
              <a:rPr lang="en-US" sz="1900" dirty="0" smtClean="0">
                <a:latin typeface="Times New Roman" pitchFamily="18" charset="0"/>
                <a:cs typeface="Times New Roman" pitchFamily="18" charset="0"/>
              </a:rPr>
              <a:t>)   </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a:t>
            </a:r>
          </a:p>
          <a:p>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obj.act</a:t>
            </a:r>
            <a:r>
              <a:rPr lang="en-US" sz="1900" dirty="0">
                <a:latin typeface="Times New Roman" pitchFamily="18" charset="0"/>
                <a:cs typeface="Times New Roman" pitchFamily="18" charset="0"/>
              </a:rPr>
              <a:t>();</a:t>
            </a:r>
          </a:p>
          <a:p>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endParaRPr lang="en-US" sz="1900" dirty="0">
              <a:latin typeface="Times New Roman" pitchFamily="18" charset="0"/>
              <a:cs typeface="Times New Roman" pitchFamily="18" charset="0"/>
            </a:endParaRPr>
          </a:p>
          <a:p>
            <a:r>
              <a:rPr lang="en-US" sz="1900" dirty="0">
                <a:latin typeface="Times New Roman" pitchFamily="18" charset="0"/>
                <a:cs typeface="Times New Roman" pitchFamily="18" charset="0"/>
              </a:rPr>
              <a:t>}</a:t>
            </a:r>
          </a:p>
        </p:txBody>
      </p:sp>
    </p:spTree>
    <p:extLst>
      <p:ext uri="{BB962C8B-B14F-4D97-AF65-F5344CB8AC3E}">
        <p14:creationId xmlns:p14="http://schemas.microsoft.com/office/powerpoint/2010/main" val="1412109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0"/>
            <a:ext cx="9144000" cy="6971139"/>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90000"/>
              </a:lnSpc>
            </a:pPr>
            <a:r>
              <a:rPr lang="en-US" sz="1600" dirty="0">
                <a:latin typeface="Times New Roman" panose="02020603050405020304" pitchFamily="18" charset="0"/>
                <a:cs typeface="Times New Roman" panose="02020603050405020304" pitchFamily="18" charset="0"/>
              </a:rPr>
              <a:t>class Actor</a:t>
            </a:r>
          </a:p>
          <a:p>
            <a:pPr>
              <a:lnSpc>
                <a:spcPct val="90000"/>
              </a:lnSpc>
            </a:pPr>
            <a:r>
              <a:rPr lang="en-US" sz="1600" dirty="0">
                <a:latin typeface="Times New Roman" panose="02020603050405020304" pitchFamily="18" charset="0"/>
                <a:cs typeface="Times New Roman" panose="02020603050405020304" pitchFamily="18" charset="0"/>
              </a:rPr>
              <a:t>{</a:t>
            </a:r>
          </a:p>
          <a:p>
            <a:pPr>
              <a:lnSpc>
                <a:spcPct val="90000"/>
              </a:lnSpc>
            </a:pPr>
            <a:r>
              <a:rPr lang="en-US" b="0" dirty="0">
                <a:latin typeface="Arial Black" panose="020B0A04020102020204" pitchFamily="34" charset="0"/>
                <a:cs typeface="Times New Roman" panose="02020603050405020304" pitchFamily="18" charset="0"/>
              </a:rPr>
              <a:t>	public void act()</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("Every actor needs a costume.");</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("Every actor also enters and exits the stage.");</a:t>
            </a:r>
          </a:p>
          <a:p>
            <a:pPr>
              <a:lnSpc>
                <a:spcPct val="70000"/>
              </a:lnSpc>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nSpc>
                <a:spcPct val="70000"/>
              </a:lnSpc>
            </a:pPr>
            <a:r>
              <a:rPr lang="en-US" sz="1600" dirty="0">
                <a:latin typeface="Times New Roman" panose="02020603050405020304" pitchFamily="18" charset="0"/>
                <a:cs typeface="Times New Roman" panose="02020603050405020304" pitchFamily="18" charset="0"/>
              </a:rPr>
              <a:t>}</a:t>
            </a:r>
          </a:p>
          <a:p>
            <a:pPr>
              <a:lnSpc>
                <a:spcPct val="90000"/>
              </a:lnSpc>
            </a:pPr>
            <a:endParaRPr lang="en-US" sz="1400" dirty="0">
              <a:latin typeface="Times New Roman" panose="02020603050405020304" pitchFamily="18" charset="0"/>
              <a:cs typeface="Times New Roman" panose="02020603050405020304" pitchFamily="18" charset="0"/>
            </a:endParaRPr>
          </a:p>
          <a:p>
            <a:pPr>
              <a:lnSpc>
                <a:spcPct val="90000"/>
              </a:lnSpc>
            </a:pPr>
            <a:r>
              <a:rPr lang="en-US" sz="1600" dirty="0">
                <a:latin typeface="Times New Roman" panose="02020603050405020304" pitchFamily="18" charset="0"/>
                <a:cs typeface="Times New Roman" panose="02020603050405020304" pitchFamily="18" charset="0"/>
              </a:rPr>
              <a:t>class Belle extends Actor</a:t>
            </a:r>
          </a:p>
          <a:p>
            <a:pPr>
              <a:lnSpc>
                <a:spcPct val="90000"/>
              </a:lnSpc>
            </a:pPr>
            <a:r>
              <a:rPr lang="en-US" sz="1600" dirty="0">
                <a:latin typeface="Times New Roman" panose="02020603050405020304" pitchFamily="18" charset="0"/>
                <a:cs typeface="Times New Roman" panose="02020603050405020304" pitchFamily="18" charset="0"/>
              </a:rPr>
              <a:t>{</a:t>
            </a:r>
          </a:p>
          <a:p>
            <a:pPr>
              <a:lnSpc>
                <a:spcPct val="90000"/>
              </a:lnSpc>
            </a:pPr>
            <a:r>
              <a:rPr lang="en-US" sz="1600" dirty="0">
                <a:latin typeface="Times New Roman" panose="02020603050405020304" pitchFamily="18" charset="0"/>
                <a:cs typeface="Times New Roman" panose="02020603050405020304" pitchFamily="18" charset="0"/>
              </a:rPr>
              <a:t>	public void act()</a:t>
            </a:r>
          </a:p>
          <a:p>
            <a:pPr>
              <a:lnSpc>
                <a:spcPct val="90000"/>
              </a:lnSpc>
            </a:pPr>
            <a:r>
              <a:rPr lang="en-US" sz="1600" dirty="0">
                <a:latin typeface="Times New Roman" panose="02020603050405020304" pitchFamily="18" charset="0"/>
                <a:cs typeface="Times New Roman" panose="02020603050405020304" pitchFamily="18" charset="0"/>
              </a:rPr>
              <a:t>	{</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r>
              <a:rPr lang="en-US" b="0" dirty="0" err="1" smtClean="0">
                <a:latin typeface="Arial Black" panose="020B0A04020102020204" pitchFamily="34" charset="0"/>
                <a:cs typeface="Times New Roman" panose="02020603050405020304" pitchFamily="18" charset="0"/>
              </a:rPr>
              <a:t>super.act</a:t>
            </a:r>
            <a:r>
              <a:rPr lang="en-US" b="0" dirty="0">
                <a:latin typeface="Arial Black" panose="020B0A04020102020204" pitchFamily="34" charset="0"/>
                <a:cs typeface="Times New Roman" panose="02020603050405020304" pitchFamily="18" charset="0"/>
              </a:rPr>
              <a:t>();</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("Belle is spirited and head strong.");</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("Belle likes to read books.");</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("She does not like Gaston.");</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("She learns to like Beast.");</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a:t>
            </a:r>
          </a:p>
          <a:p>
            <a:pPr>
              <a:lnSpc>
                <a:spcPct val="70000"/>
              </a:lnSpc>
            </a:pPr>
            <a:r>
              <a:rPr lang="en-US" sz="1600" dirty="0">
                <a:latin typeface="Times New Roman" panose="02020603050405020304" pitchFamily="18" charset="0"/>
                <a:cs typeface="Times New Roman" panose="02020603050405020304" pitchFamily="18" charset="0"/>
              </a:rPr>
              <a:t>	}</a:t>
            </a:r>
          </a:p>
          <a:p>
            <a:pPr>
              <a:lnSpc>
                <a:spcPct val="70000"/>
              </a:lnSpc>
            </a:pPr>
            <a:r>
              <a:rPr lang="en-US" sz="1600" dirty="0">
                <a:latin typeface="Times New Roman" panose="02020603050405020304" pitchFamily="18" charset="0"/>
                <a:cs typeface="Times New Roman" panose="02020603050405020304" pitchFamily="18" charset="0"/>
              </a:rPr>
              <a:t>}</a:t>
            </a:r>
          </a:p>
          <a:p>
            <a:pPr>
              <a:lnSpc>
                <a:spcPct val="90000"/>
              </a:lnSpc>
            </a:pPr>
            <a:endParaRPr lang="en-US" sz="1400" dirty="0">
              <a:latin typeface="Times New Roman" panose="02020603050405020304" pitchFamily="18" charset="0"/>
              <a:cs typeface="Times New Roman" panose="02020603050405020304" pitchFamily="18" charset="0"/>
            </a:endParaRPr>
          </a:p>
          <a:p>
            <a:pPr>
              <a:lnSpc>
                <a:spcPct val="90000"/>
              </a:lnSpc>
            </a:pPr>
            <a:r>
              <a:rPr lang="en-US" sz="1600" dirty="0">
                <a:latin typeface="Times New Roman" panose="02020603050405020304" pitchFamily="18" charset="0"/>
                <a:cs typeface="Times New Roman" panose="02020603050405020304" pitchFamily="18" charset="0"/>
              </a:rPr>
              <a:t>class Maurice extends Actor</a:t>
            </a:r>
          </a:p>
          <a:p>
            <a:pPr>
              <a:lnSpc>
                <a:spcPct val="90000"/>
              </a:lnSpc>
            </a:pPr>
            <a:r>
              <a:rPr lang="en-US" sz="1600" dirty="0">
                <a:latin typeface="Times New Roman" panose="02020603050405020304" pitchFamily="18" charset="0"/>
                <a:cs typeface="Times New Roman" panose="02020603050405020304" pitchFamily="18" charset="0"/>
              </a:rPr>
              <a:t>{</a:t>
            </a:r>
          </a:p>
          <a:p>
            <a:pPr>
              <a:lnSpc>
                <a:spcPct val="90000"/>
              </a:lnSpc>
            </a:pPr>
            <a:r>
              <a:rPr lang="en-US" sz="1600" dirty="0">
                <a:latin typeface="Times New Roman" panose="02020603050405020304" pitchFamily="18" charset="0"/>
                <a:cs typeface="Times New Roman" panose="02020603050405020304" pitchFamily="18" charset="0"/>
              </a:rPr>
              <a:t>	public void act()</a:t>
            </a:r>
          </a:p>
          <a:p>
            <a:pPr>
              <a:lnSpc>
                <a:spcPct val="90000"/>
              </a:lnSpc>
            </a:pPr>
            <a:r>
              <a:rPr lang="en-US" sz="1600" dirty="0">
                <a:latin typeface="Times New Roman" panose="02020603050405020304" pitchFamily="18" charset="0"/>
                <a:cs typeface="Times New Roman" panose="02020603050405020304" pitchFamily="18" charset="0"/>
              </a:rPr>
              <a:t>	{</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r>
              <a:rPr lang="en-US" b="0" dirty="0" err="1" smtClean="0">
                <a:latin typeface="Arial Black" panose="020B0A04020102020204" pitchFamily="34" charset="0"/>
                <a:cs typeface="Times New Roman" panose="02020603050405020304" pitchFamily="18" charset="0"/>
              </a:rPr>
              <a:t>super.act</a:t>
            </a:r>
            <a:r>
              <a:rPr lang="en-US" b="0" dirty="0">
                <a:latin typeface="Arial Black" panose="020B0A04020102020204" pitchFamily="34" charset="0"/>
                <a:cs typeface="Times New Roman" panose="02020603050405020304" pitchFamily="18" charset="0"/>
              </a:rPr>
              <a:t>();</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("Maurice is Belle's father.");</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("He is also a scientist.");</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a:t>
            </a:r>
          </a:p>
          <a:p>
            <a:pPr>
              <a:lnSpc>
                <a:spcPct val="70000"/>
              </a:lnSpc>
            </a:pPr>
            <a:r>
              <a:rPr lang="en-US" sz="1600" dirty="0">
                <a:latin typeface="Times New Roman" panose="02020603050405020304" pitchFamily="18" charset="0"/>
                <a:cs typeface="Times New Roman" panose="02020603050405020304" pitchFamily="18" charset="0"/>
              </a:rPr>
              <a:t>	}</a:t>
            </a:r>
          </a:p>
          <a:p>
            <a:pPr>
              <a:lnSpc>
                <a:spcPct val="70000"/>
              </a:lnSpc>
            </a:pP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3479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dirty="0" smtClean="0">
                <a:latin typeface="Times New Roman" panose="02020603050405020304" pitchFamily="18" charset="0"/>
                <a:cs typeface="Times New Roman" panose="02020603050405020304" pitchFamily="18" charset="0"/>
              </a:rPr>
              <a:t>class </a:t>
            </a:r>
            <a:r>
              <a:rPr lang="en-US" dirty="0">
                <a:latin typeface="Times New Roman" panose="02020603050405020304" pitchFamily="18" charset="0"/>
                <a:cs typeface="Times New Roman" panose="02020603050405020304" pitchFamily="18" charset="0"/>
              </a:rPr>
              <a:t>Gaston extends Actor</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public void act()</a:t>
            </a:r>
          </a:p>
          <a:p>
            <a:r>
              <a:rPr lang="en-US" dirty="0">
                <a:latin typeface="Times New Roman" panose="02020603050405020304" pitchFamily="18" charset="0"/>
                <a:cs typeface="Times New Roman" panose="02020603050405020304" pitchFamily="18" charset="0"/>
              </a:rPr>
              <a:t>	{</a:t>
            </a:r>
          </a:p>
          <a:p>
            <a:r>
              <a:rPr lang="en-US" sz="2000" dirty="0">
                <a:latin typeface="Arial Black" panose="020B0A04020102020204" pitchFamily="34" charset="0"/>
                <a:cs typeface="Times New Roman" panose="02020603050405020304" pitchFamily="18" charset="0"/>
              </a:rPr>
              <a:t>      </a:t>
            </a:r>
            <a:r>
              <a:rPr lang="en-US" sz="2000" dirty="0" smtClean="0">
                <a:latin typeface="Arial Black" panose="020B0A04020102020204" pitchFamily="34" charset="0"/>
                <a:cs typeface="Times New Roman" panose="02020603050405020304" pitchFamily="18" charset="0"/>
              </a:rPr>
              <a:t>	</a:t>
            </a:r>
            <a:r>
              <a:rPr lang="en-US" sz="2000" dirty="0" err="1" smtClean="0">
                <a:latin typeface="Arial Black" panose="020B0A04020102020204" pitchFamily="34" charset="0"/>
                <a:cs typeface="Times New Roman" panose="02020603050405020304" pitchFamily="18" charset="0"/>
              </a:rPr>
              <a:t>super.act</a:t>
            </a:r>
            <a:r>
              <a:rPr lang="en-US" sz="2000" dirty="0">
                <a:latin typeface="Arial Black" panose="020B0A04020102020204" pitchFamily="34"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("Gaston likes to show off his muscles.");</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("He wants to marry Belle.");</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("He tries to kill Beast.");</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p>
          <a:p>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class Beast extends Actor</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public void act()</a:t>
            </a:r>
          </a:p>
          <a:p>
            <a:r>
              <a:rPr lang="en-US" dirty="0">
                <a:latin typeface="Times New Roman" panose="02020603050405020304" pitchFamily="18" charset="0"/>
                <a:cs typeface="Times New Roman" panose="02020603050405020304" pitchFamily="18" charset="0"/>
              </a:rPr>
              <a:t>	{</a:t>
            </a:r>
          </a:p>
          <a:p>
            <a:r>
              <a:rPr lang="en-US" sz="2000" dirty="0">
                <a:latin typeface="Arial Black" panose="020B0A04020102020204" pitchFamily="34" charset="0"/>
                <a:cs typeface="Times New Roman" panose="02020603050405020304" pitchFamily="18" charset="0"/>
              </a:rPr>
              <a:t> 	</a:t>
            </a:r>
            <a:r>
              <a:rPr lang="en-US" sz="2000" dirty="0" smtClean="0">
                <a:latin typeface="Arial Black" panose="020B0A04020102020204" pitchFamily="34" charset="0"/>
                <a:cs typeface="Times New Roman" panose="02020603050405020304" pitchFamily="18" charset="0"/>
              </a:rPr>
              <a:t>	</a:t>
            </a:r>
            <a:r>
              <a:rPr lang="en-US" sz="2000" dirty="0" err="1" smtClean="0">
                <a:latin typeface="Arial Black" panose="020B0A04020102020204" pitchFamily="34" charset="0"/>
                <a:cs typeface="Times New Roman" panose="02020603050405020304" pitchFamily="18" charset="0"/>
              </a:rPr>
              <a:t>super.act</a:t>
            </a:r>
            <a:r>
              <a:rPr lang="en-US" sz="2000" dirty="0" smtClean="0">
                <a:latin typeface="Arial Black" panose="020B0A04020102020204" pitchFamily="34" charset="0"/>
                <a:cs typeface="Times New Roman" panose="02020603050405020304" pitchFamily="18" charset="0"/>
              </a:rPr>
              <a:t>();</a:t>
            </a:r>
          </a:p>
          <a:p>
            <a:r>
              <a:rPr lang="en-US" dirty="0">
                <a:latin typeface="Arial Black" panose="020B0A04020102020204" pitchFamily="34"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("Beast lives alone in a castle.");</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("He keeps Belle at the castle and dances with her.");</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("Beast falls in love with Belle.");</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p>
          <a:p>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29883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1"/>
            <a:ext cx="9144000" cy="6858000"/>
          </a:xfrm>
          <a:prstGeom prst="rect">
            <a:avLst/>
          </a:prstGeom>
          <a:solidFill>
            <a:schemeClr val="accent6">
              <a:lumMod val="20000"/>
              <a:lumOff val="80000"/>
            </a:schemeClr>
          </a:solidFill>
          <a:ln w="57150">
            <a:solidFill>
              <a:schemeClr val="tx1"/>
            </a:solidFill>
          </a:ln>
        </p:spPr>
        <p:txBody>
          <a:bodyPr wrap="square" rtlCol="0">
            <a:spAutoFit/>
          </a:bodyPr>
          <a:lstStyle/>
          <a:p>
            <a:r>
              <a:rPr lang="en-US" sz="1900" dirty="0">
                <a:latin typeface="Courier New" panose="02070309020205020404" pitchFamily="49" charset="0"/>
                <a:cs typeface="Courier New" panose="02070309020205020404" pitchFamily="49" charset="0"/>
              </a:rPr>
              <a:t>Every actor needs a costume.</a:t>
            </a:r>
          </a:p>
          <a:p>
            <a:r>
              <a:rPr lang="en-US" sz="1900" dirty="0">
                <a:latin typeface="Courier New" panose="02070309020205020404" pitchFamily="49" charset="0"/>
                <a:cs typeface="Courier New" panose="02070309020205020404" pitchFamily="49" charset="0"/>
              </a:rPr>
              <a:t>Every actor also enters and exits the stage.</a:t>
            </a:r>
          </a:p>
          <a:p>
            <a:r>
              <a:rPr lang="en-US" sz="1900" dirty="0">
                <a:latin typeface="Courier New" panose="02070309020205020404" pitchFamily="49" charset="0"/>
                <a:cs typeface="Courier New" panose="02070309020205020404" pitchFamily="49" charset="0"/>
              </a:rPr>
              <a:t>Belle is spirited and head strong.</a:t>
            </a:r>
          </a:p>
          <a:p>
            <a:r>
              <a:rPr lang="en-US" sz="1900" dirty="0">
                <a:latin typeface="Courier New" panose="02070309020205020404" pitchFamily="49" charset="0"/>
                <a:cs typeface="Courier New" panose="02070309020205020404" pitchFamily="49" charset="0"/>
              </a:rPr>
              <a:t>Belle likes to read books.</a:t>
            </a:r>
          </a:p>
          <a:p>
            <a:r>
              <a:rPr lang="en-US" sz="1900" dirty="0">
                <a:latin typeface="Courier New" panose="02070309020205020404" pitchFamily="49" charset="0"/>
                <a:cs typeface="Courier New" panose="02070309020205020404" pitchFamily="49" charset="0"/>
              </a:rPr>
              <a:t>She does not like Gaston.</a:t>
            </a:r>
          </a:p>
          <a:p>
            <a:r>
              <a:rPr lang="en-US" sz="1900" dirty="0">
                <a:latin typeface="Courier New" panose="02070309020205020404" pitchFamily="49" charset="0"/>
                <a:cs typeface="Courier New" panose="02070309020205020404" pitchFamily="49" charset="0"/>
              </a:rPr>
              <a:t>She learns to like Beast.</a:t>
            </a:r>
          </a:p>
          <a:p>
            <a:endParaRPr lang="en-US" sz="1900" dirty="0">
              <a:latin typeface="Courier New" panose="02070309020205020404" pitchFamily="49" charset="0"/>
              <a:cs typeface="Courier New" panose="02070309020205020404" pitchFamily="49" charset="0"/>
            </a:endParaRPr>
          </a:p>
          <a:p>
            <a:r>
              <a:rPr lang="en-US" sz="1900" dirty="0">
                <a:latin typeface="Courier New" panose="02070309020205020404" pitchFamily="49" charset="0"/>
                <a:cs typeface="Courier New" panose="02070309020205020404" pitchFamily="49" charset="0"/>
              </a:rPr>
              <a:t>Every actor needs a costume.</a:t>
            </a:r>
          </a:p>
          <a:p>
            <a:r>
              <a:rPr lang="en-US" sz="1900" dirty="0">
                <a:latin typeface="Courier New" panose="02070309020205020404" pitchFamily="49" charset="0"/>
                <a:cs typeface="Courier New" panose="02070309020205020404" pitchFamily="49" charset="0"/>
              </a:rPr>
              <a:t>Every actor also enters and exits the stage.</a:t>
            </a:r>
          </a:p>
          <a:p>
            <a:r>
              <a:rPr lang="en-US" sz="1900" dirty="0">
                <a:latin typeface="Courier New" panose="02070309020205020404" pitchFamily="49" charset="0"/>
                <a:cs typeface="Courier New" panose="02070309020205020404" pitchFamily="49" charset="0"/>
              </a:rPr>
              <a:t>Maurice is Belle's father.</a:t>
            </a:r>
          </a:p>
          <a:p>
            <a:r>
              <a:rPr lang="en-US" sz="1900" dirty="0">
                <a:latin typeface="Courier New" panose="02070309020205020404" pitchFamily="49" charset="0"/>
                <a:cs typeface="Courier New" panose="02070309020205020404" pitchFamily="49" charset="0"/>
              </a:rPr>
              <a:t>He is also a scientist.</a:t>
            </a:r>
          </a:p>
          <a:p>
            <a:endParaRPr lang="en-US" sz="1900" dirty="0">
              <a:latin typeface="Courier New" panose="02070309020205020404" pitchFamily="49" charset="0"/>
              <a:cs typeface="Courier New" panose="02070309020205020404" pitchFamily="49" charset="0"/>
            </a:endParaRPr>
          </a:p>
          <a:p>
            <a:r>
              <a:rPr lang="en-US" sz="1900" dirty="0">
                <a:latin typeface="Courier New" panose="02070309020205020404" pitchFamily="49" charset="0"/>
                <a:cs typeface="Courier New" panose="02070309020205020404" pitchFamily="49" charset="0"/>
              </a:rPr>
              <a:t>Every actor needs a costume.</a:t>
            </a:r>
          </a:p>
          <a:p>
            <a:r>
              <a:rPr lang="en-US" sz="1900" dirty="0">
                <a:latin typeface="Courier New" panose="02070309020205020404" pitchFamily="49" charset="0"/>
                <a:cs typeface="Courier New" panose="02070309020205020404" pitchFamily="49" charset="0"/>
              </a:rPr>
              <a:t>Every actor also enters and exits the stage.</a:t>
            </a:r>
          </a:p>
          <a:p>
            <a:r>
              <a:rPr lang="en-US" sz="1900" dirty="0">
                <a:latin typeface="Courier New" panose="02070309020205020404" pitchFamily="49" charset="0"/>
                <a:cs typeface="Courier New" panose="02070309020205020404" pitchFamily="49" charset="0"/>
              </a:rPr>
              <a:t>Gaston likes to show off his muscles.</a:t>
            </a:r>
          </a:p>
          <a:p>
            <a:r>
              <a:rPr lang="en-US" sz="1900" dirty="0">
                <a:latin typeface="Courier New" panose="02070309020205020404" pitchFamily="49" charset="0"/>
                <a:cs typeface="Courier New" panose="02070309020205020404" pitchFamily="49" charset="0"/>
              </a:rPr>
              <a:t>He wants to marry Belle.</a:t>
            </a:r>
          </a:p>
          <a:p>
            <a:r>
              <a:rPr lang="en-US" sz="1900" dirty="0">
                <a:latin typeface="Courier New" panose="02070309020205020404" pitchFamily="49" charset="0"/>
                <a:cs typeface="Courier New" panose="02070309020205020404" pitchFamily="49" charset="0"/>
              </a:rPr>
              <a:t>He tries to kill Beast.</a:t>
            </a:r>
          </a:p>
          <a:p>
            <a:endParaRPr lang="en-US" sz="1900" dirty="0">
              <a:latin typeface="Courier New" panose="02070309020205020404" pitchFamily="49" charset="0"/>
              <a:cs typeface="Courier New" panose="02070309020205020404" pitchFamily="49" charset="0"/>
            </a:endParaRPr>
          </a:p>
          <a:p>
            <a:r>
              <a:rPr lang="en-US" sz="1900" dirty="0">
                <a:latin typeface="Courier New" panose="02070309020205020404" pitchFamily="49" charset="0"/>
                <a:cs typeface="Courier New" panose="02070309020205020404" pitchFamily="49" charset="0"/>
              </a:rPr>
              <a:t>Every actor needs a costume.</a:t>
            </a:r>
          </a:p>
          <a:p>
            <a:r>
              <a:rPr lang="en-US" sz="1900" dirty="0">
                <a:latin typeface="Courier New" panose="02070309020205020404" pitchFamily="49" charset="0"/>
                <a:cs typeface="Courier New" panose="02070309020205020404" pitchFamily="49" charset="0"/>
              </a:rPr>
              <a:t>Every actor also enters and exits the stage.</a:t>
            </a:r>
          </a:p>
          <a:p>
            <a:r>
              <a:rPr lang="en-US" sz="1900" dirty="0">
                <a:latin typeface="Courier New" panose="02070309020205020404" pitchFamily="49" charset="0"/>
                <a:cs typeface="Courier New" panose="02070309020205020404" pitchFamily="49" charset="0"/>
              </a:rPr>
              <a:t>Beast lives alone in a castle.</a:t>
            </a:r>
          </a:p>
          <a:p>
            <a:r>
              <a:rPr lang="en-US" sz="1900" dirty="0">
                <a:latin typeface="Courier New" panose="02070309020205020404" pitchFamily="49" charset="0"/>
                <a:cs typeface="Courier New" panose="02070309020205020404" pitchFamily="49" charset="0"/>
              </a:rPr>
              <a:t>He keeps Belle at the castle and dances with her.</a:t>
            </a:r>
          </a:p>
          <a:p>
            <a:r>
              <a:rPr lang="en-US" sz="1900" dirty="0">
                <a:latin typeface="Courier New" panose="02070309020205020404" pitchFamily="49" charset="0"/>
                <a:cs typeface="Courier New" panose="02070309020205020404" pitchFamily="49" charset="0"/>
              </a:rPr>
              <a:t>Beast falls in love with Belle</a:t>
            </a:r>
            <a:r>
              <a:rPr lang="en-US" sz="1900" dirty="0" smtClean="0">
                <a:latin typeface="Courier New" panose="02070309020205020404" pitchFamily="49" charset="0"/>
                <a:cs typeface="Courier New" panose="02070309020205020404" pitchFamily="49" charset="0"/>
              </a:rPr>
              <a:t>.</a:t>
            </a:r>
            <a:endParaRPr lang="en-US" sz="19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9066804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0"/>
            <a:ext cx="9144000" cy="6986528"/>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dirty="0">
                <a:latin typeface="Times New Roman" panose="02020603050405020304" pitchFamily="18" charset="0"/>
                <a:cs typeface="Times New Roman" panose="02020603050405020304" pitchFamily="18" charset="0"/>
              </a:rPr>
              <a:t>// Java1412.java</a:t>
            </a:r>
          </a:p>
          <a:p>
            <a:r>
              <a:rPr lang="en-US" dirty="0">
                <a:latin typeface="Times New Roman" panose="02020603050405020304" pitchFamily="18" charset="0"/>
                <a:cs typeface="Times New Roman" panose="02020603050405020304" pitchFamily="18" charset="0"/>
              </a:rPr>
              <a:t>// The &lt;act&gt; method is now called from a loop that</a:t>
            </a:r>
          </a:p>
          <a:p>
            <a:r>
              <a:rPr lang="en-US" dirty="0">
                <a:latin typeface="Times New Roman" panose="02020603050405020304" pitchFamily="18" charset="0"/>
                <a:cs typeface="Times New Roman" panose="02020603050405020304" pitchFamily="18" charset="0"/>
              </a:rPr>
              <a:t>// traverses an array with the umbrella &lt;Actor&gt; superclass. </a:t>
            </a:r>
          </a:p>
          <a:p>
            <a:endParaRPr lang="en-US" sz="16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import </a:t>
            </a:r>
            <a:r>
              <a:rPr lang="en-US" dirty="0" err="1">
                <a:latin typeface="Times New Roman" panose="02020603050405020304" pitchFamily="18" charset="0"/>
                <a:cs typeface="Times New Roman" panose="02020603050405020304" pitchFamily="18" charset="0"/>
              </a:rPr>
              <a:t>java.util.ArrayList</a:t>
            </a:r>
            <a:r>
              <a:rPr lang="en-US" dirty="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public class Java1412</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public static void main (String[]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p>
          <a:p>
            <a:r>
              <a:rPr lang="en-US" sz="2000" b="0" dirty="0">
                <a:latin typeface="Arial Black" panose="020B0A04020102020204" pitchFamily="34" charset="0"/>
                <a:cs typeface="Times New Roman" panose="02020603050405020304" pitchFamily="18" charset="0"/>
              </a:rPr>
              <a:t>      </a:t>
            </a:r>
            <a:r>
              <a:rPr lang="en-US" sz="2000" b="0" dirty="0" smtClean="0">
                <a:latin typeface="Arial Black" panose="020B0A04020102020204" pitchFamily="34" charset="0"/>
                <a:cs typeface="Times New Roman" panose="02020603050405020304" pitchFamily="18" charset="0"/>
              </a:rPr>
              <a:t>	</a:t>
            </a:r>
            <a:r>
              <a:rPr lang="en-US" sz="2000" b="0" dirty="0" err="1" smtClean="0">
                <a:latin typeface="Arial Black" panose="020B0A04020102020204" pitchFamily="34" charset="0"/>
                <a:cs typeface="Times New Roman" panose="02020603050405020304" pitchFamily="18" charset="0"/>
              </a:rPr>
              <a:t>ArrayList</a:t>
            </a:r>
            <a:r>
              <a:rPr lang="en-US" sz="2000" b="0" dirty="0" smtClean="0">
                <a:latin typeface="Arial Black" panose="020B0A04020102020204" pitchFamily="34" charset="0"/>
                <a:cs typeface="Times New Roman" panose="02020603050405020304" pitchFamily="18" charset="0"/>
              </a:rPr>
              <a:t>&lt;Actor</a:t>
            </a:r>
            <a:r>
              <a:rPr lang="en-US" sz="2000" b="0" dirty="0">
                <a:latin typeface="Arial Black" panose="020B0A04020102020204" pitchFamily="34" charset="0"/>
                <a:cs typeface="Times New Roman" panose="02020603050405020304" pitchFamily="18" charset="0"/>
              </a:rPr>
              <a:t>&gt; actors = new </a:t>
            </a:r>
            <a:r>
              <a:rPr lang="en-US" sz="2000" b="0" dirty="0" err="1">
                <a:latin typeface="Arial Black" panose="020B0A04020102020204" pitchFamily="34" charset="0"/>
                <a:cs typeface="Times New Roman" panose="02020603050405020304" pitchFamily="18" charset="0"/>
              </a:rPr>
              <a:t>ArrayList</a:t>
            </a:r>
            <a:r>
              <a:rPr lang="en-US" sz="2000" b="0" dirty="0">
                <a:latin typeface="Arial Black" panose="020B0A04020102020204" pitchFamily="34" charset="0"/>
                <a:cs typeface="Times New Roman" panose="02020603050405020304" pitchFamily="18" charset="0"/>
              </a:rPr>
              <a:t>&lt;Actor&gt;();</a:t>
            </a:r>
          </a:p>
          <a:p>
            <a:r>
              <a:rPr lang="en-US" sz="1200"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Actor </a:t>
            </a:r>
            <a:r>
              <a:rPr lang="en-US" dirty="0">
                <a:latin typeface="Times New Roman" panose="02020603050405020304" pitchFamily="18" charset="0"/>
                <a:cs typeface="Times New Roman" panose="02020603050405020304" pitchFamily="18" charset="0"/>
              </a:rPr>
              <a:t>belle = new Belle();</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Actor </a:t>
            </a:r>
            <a:r>
              <a:rPr lang="en-US" dirty="0" err="1">
                <a:latin typeface="Times New Roman" panose="02020603050405020304" pitchFamily="18" charset="0"/>
                <a:cs typeface="Times New Roman" panose="02020603050405020304" pitchFamily="18" charset="0"/>
              </a:rPr>
              <a:t>maurice</a:t>
            </a:r>
            <a:r>
              <a:rPr lang="en-US" dirty="0">
                <a:latin typeface="Times New Roman" panose="02020603050405020304" pitchFamily="18" charset="0"/>
                <a:cs typeface="Times New Roman" panose="02020603050405020304" pitchFamily="18" charset="0"/>
              </a:rPr>
              <a:t> = new Maurice();</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Actor </a:t>
            </a:r>
            <a:r>
              <a:rPr lang="en-US" dirty="0" err="1">
                <a:latin typeface="Times New Roman" panose="02020603050405020304" pitchFamily="18" charset="0"/>
                <a:cs typeface="Times New Roman" panose="02020603050405020304" pitchFamily="18" charset="0"/>
              </a:rPr>
              <a:t>gaston</a:t>
            </a:r>
            <a:r>
              <a:rPr lang="en-US" dirty="0">
                <a:latin typeface="Times New Roman" panose="02020603050405020304" pitchFamily="18" charset="0"/>
                <a:cs typeface="Times New Roman" panose="02020603050405020304" pitchFamily="18" charset="0"/>
              </a:rPr>
              <a:t> = new Gaston();</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Actor </a:t>
            </a:r>
            <a:r>
              <a:rPr lang="en-US" dirty="0">
                <a:latin typeface="Times New Roman" panose="02020603050405020304" pitchFamily="18" charset="0"/>
                <a:cs typeface="Times New Roman" panose="02020603050405020304" pitchFamily="18" charset="0"/>
              </a:rPr>
              <a:t>beast = new Beast</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actors.add</a:t>
            </a:r>
            <a:r>
              <a:rPr lang="en-US" dirty="0" smtClean="0">
                <a:latin typeface="Times New Roman" panose="02020603050405020304" pitchFamily="18" charset="0"/>
                <a:cs typeface="Times New Roman" panose="02020603050405020304" pitchFamily="18" charset="0"/>
              </a:rPr>
              <a:t>(belle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actors.add</a:t>
            </a:r>
            <a:r>
              <a:rPr lang="en-US" dirty="0" smtClean="0">
                <a:latin typeface="Times New Roman" panose="02020603050405020304" pitchFamily="18" charset="0"/>
                <a:cs typeface="Times New Roman" panose="02020603050405020304" pitchFamily="18" charset="0"/>
              </a:rPr>
              <a:t>(</a:t>
            </a:r>
            <a:r>
              <a:rPr lang="en-US" dirty="0" err="1" smtClean="0">
                <a:latin typeface="Times New Roman" panose="02020603050405020304" pitchFamily="18" charset="0"/>
                <a:cs typeface="Times New Roman" panose="02020603050405020304" pitchFamily="18" charset="0"/>
              </a:rPr>
              <a:t>maurice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actors.add</a:t>
            </a:r>
            <a:r>
              <a:rPr lang="en-US" dirty="0" smtClean="0">
                <a:latin typeface="Times New Roman" panose="02020603050405020304" pitchFamily="18" charset="0"/>
                <a:cs typeface="Times New Roman" panose="02020603050405020304" pitchFamily="18" charset="0"/>
              </a:rPr>
              <a:t>(</a:t>
            </a:r>
            <a:r>
              <a:rPr lang="en-US" dirty="0" err="1" smtClean="0">
                <a:latin typeface="Times New Roman" panose="02020603050405020304" pitchFamily="18" charset="0"/>
                <a:cs typeface="Times New Roman" panose="02020603050405020304" pitchFamily="18" charset="0"/>
              </a:rPr>
              <a:t>gaston</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actors.add</a:t>
            </a:r>
            <a:r>
              <a:rPr lang="en-US" dirty="0" smtClean="0">
                <a:latin typeface="Times New Roman" panose="02020603050405020304" pitchFamily="18" charset="0"/>
                <a:cs typeface="Times New Roman" panose="02020603050405020304" pitchFamily="18" charset="0"/>
              </a:rPr>
              <a:t>(beast</a:t>
            </a:r>
            <a:r>
              <a:rPr lang="en-US"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t>
            </a:r>
          </a:p>
          <a:p>
            <a:r>
              <a:rPr lang="en-US" sz="2000" b="0" dirty="0">
                <a:latin typeface="Arial Black" panose="020B0A04020102020204" pitchFamily="34" charset="0"/>
                <a:cs typeface="Times New Roman" panose="02020603050405020304" pitchFamily="18" charset="0"/>
              </a:rPr>
              <a:t>      </a:t>
            </a:r>
            <a:r>
              <a:rPr lang="en-US" sz="2000" b="0" dirty="0" smtClean="0">
                <a:latin typeface="Arial Black" panose="020B0A04020102020204" pitchFamily="34" charset="0"/>
                <a:cs typeface="Times New Roman" panose="02020603050405020304" pitchFamily="18" charset="0"/>
              </a:rPr>
              <a:t>	for </a:t>
            </a:r>
            <a:r>
              <a:rPr lang="en-US" sz="2000" b="0" dirty="0">
                <a:latin typeface="Arial Black" panose="020B0A04020102020204" pitchFamily="34" charset="0"/>
                <a:cs typeface="Times New Roman" panose="02020603050405020304" pitchFamily="18" charset="0"/>
              </a:rPr>
              <a:t>(Actor </a:t>
            </a:r>
            <a:r>
              <a:rPr lang="en-US" sz="2000" b="0" dirty="0" err="1">
                <a:latin typeface="Arial Black" panose="020B0A04020102020204" pitchFamily="34" charset="0"/>
                <a:cs typeface="Times New Roman" panose="02020603050405020304" pitchFamily="18" charset="0"/>
              </a:rPr>
              <a:t>actor</a:t>
            </a:r>
            <a:r>
              <a:rPr lang="en-US" sz="2000" b="0" dirty="0">
                <a:latin typeface="Arial Black" panose="020B0A04020102020204" pitchFamily="34" charset="0"/>
                <a:cs typeface="Times New Roman" panose="02020603050405020304" pitchFamily="18" charset="0"/>
              </a:rPr>
              <a:t> : actors)</a:t>
            </a:r>
          </a:p>
          <a:p>
            <a:r>
              <a:rPr lang="en-US" sz="2000" b="0" dirty="0">
                <a:latin typeface="Arial Black" panose="020B0A04020102020204" pitchFamily="34" charset="0"/>
                <a:cs typeface="Times New Roman" panose="02020603050405020304" pitchFamily="18" charset="0"/>
              </a:rPr>
              <a:t>         </a:t>
            </a:r>
            <a:r>
              <a:rPr lang="en-US" sz="2000" b="0" dirty="0" smtClean="0">
                <a:latin typeface="Arial Black" panose="020B0A04020102020204" pitchFamily="34" charset="0"/>
                <a:cs typeface="Times New Roman" panose="02020603050405020304" pitchFamily="18" charset="0"/>
              </a:rPr>
              <a:t>		</a:t>
            </a:r>
            <a:r>
              <a:rPr lang="en-US" sz="2000" b="0" dirty="0" err="1" smtClean="0">
                <a:latin typeface="Arial Black" panose="020B0A04020102020204" pitchFamily="34" charset="0"/>
                <a:cs typeface="Times New Roman" panose="02020603050405020304" pitchFamily="18" charset="0"/>
              </a:rPr>
              <a:t>actor.act</a:t>
            </a:r>
            <a:r>
              <a:rPr lang="en-US" sz="2000" b="0" dirty="0">
                <a:latin typeface="Arial Black" panose="020B0A04020102020204" pitchFamily="34"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73613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1295400"/>
          </a:xfrm>
        </p:spPr>
        <p:txBody>
          <a:bodyPr/>
          <a:lstStyle/>
          <a:p>
            <a:pPr eaLnBrk="1" hangingPunct="1"/>
            <a:r>
              <a:rPr lang="en-US" sz="4800" dirty="0" smtClean="0">
                <a:latin typeface="Arial Black" pitchFamily="34" charset="0"/>
              </a:rPr>
              <a:t>Interface or Superclass?</a:t>
            </a:r>
          </a:p>
        </p:txBody>
      </p:sp>
      <p:sp>
        <p:nvSpPr>
          <p:cNvPr id="6147" name="Text Box 3"/>
          <p:cNvSpPr txBox="1">
            <a:spLocks noChangeArrowheads="1"/>
          </p:cNvSpPr>
          <p:nvPr/>
        </p:nvSpPr>
        <p:spPr bwMode="auto">
          <a:xfrm>
            <a:off x="457200" y="1295400"/>
            <a:ext cx="8229600" cy="4524315"/>
          </a:xfrm>
          <a:prstGeom prst="rect">
            <a:avLst/>
          </a:prstGeom>
          <a:solidFill>
            <a:srgbClr val="00FFCC"/>
          </a:solidFill>
          <a:ln w="57150">
            <a:solidFill>
              <a:schemeClr val="tx1"/>
            </a:solidFill>
            <a:miter lim="800000"/>
            <a:headEnd/>
            <a:tailEnd/>
          </a:ln>
        </p:spPr>
        <p:txBody>
          <a:bodyPr wrap="square">
            <a:spAutoFit/>
          </a:bodyPr>
          <a:lstStyle>
            <a:lvl1pPr eaLnBrk="0" hangingPunct="0">
              <a:tabLst>
                <a:tab pos="633413" algn="l"/>
              </a:tabLst>
              <a:defRPr b="1">
                <a:solidFill>
                  <a:schemeClr val="tx1"/>
                </a:solidFill>
                <a:latin typeface="Arial" charset="0"/>
              </a:defRPr>
            </a:lvl1pPr>
            <a:lvl2pPr marL="742950" indent="-285750" eaLnBrk="0" hangingPunct="0">
              <a:tabLst>
                <a:tab pos="633413" algn="l"/>
              </a:tabLst>
              <a:defRPr b="1">
                <a:solidFill>
                  <a:schemeClr val="tx1"/>
                </a:solidFill>
                <a:latin typeface="Arial" charset="0"/>
              </a:defRPr>
            </a:lvl2pPr>
            <a:lvl3pPr marL="1143000" indent="-228600" eaLnBrk="0" hangingPunct="0">
              <a:tabLst>
                <a:tab pos="633413" algn="l"/>
              </a:tabLst>
              <a:defRPr b="1">
                <a:solidFill>
                  <a:schemeClr val="tx1"/>
                </a:solidFill>
                <a:latin typeface="Arial" charset="0"/>
              </a:defRPr>
            </a:lvl3pPr>
            <a:lvl4pPr marL="1600200" indent="-228600" eaLnBrk="0" hangingPunct="0">
              <a:tabLst>
                <a:tab pos="633413" algn="l"/>
              </a:tabLst>
              <a:defRPr b="1">
                <a:solidFill>
                  <a:schemeClr val="tx1"/>
                </a:solidFill>
                <a:latin typeface="Arial" charset="0"/>
              </a:defRPr>
            </a:lvl4pPr>
            <a:lvl5pPr marL="2057400" indent="-228600" eaLnBrk="0" hangingPunct="0">
              <a:tabLst>
                <a:tab pos="633413" algn="l"/>
              </a:tabLst>
              <a:defRPr b="1">
                <a:solidFill>
                  <a:schemeClr val="tx1"/>
                </a:solidFill>
                <a:latin typeface="Arial" charset="0"/>
              </a:defRPr>
            </a:lvl5pPr>
            <a:lvl6pPr marL="2514600" indent="-228600" eaLnBrk="0" fontAlgn="base" hangingPunct="0">
              <a:spcBef>
                <a:spcPct val="0"/>
              </a:spcBef>
              <a:spcAft>
                <a:spcPct val="0"/>
              </a:spcAft>
              <a:tabLst>
                <a:tab pos="633413" algn="l"/>
              </a:tabLst>
              <a:defRPr b="1">
                <a:solidFill>
                  <a:schemeClr val="tx1"/>
                </a:solidFill>
                <a:latin typeface="Arial" charset="0"/>
              </a:defRPr>
            </a:lvl6pPr>
            <a:lvl7pPr marL="2971800" indent="-228600" eaLnBrk="0" fontAlgn="base" hangingPunct="0">
              <a:spcBef>
                <a:spcPct val="0"/>
              </a:spcBef>
              <a:spcAft>
                <a:spcPct val="0"/>
              </a:spcAft>
              <a:tabLst>
                <a:tab pos="633413" algn="l"/>
              </a:tabLst>
              <a:defRPr b="1">
                <a:solidFill>
                  <a:schemeClr val="tx1"/>
                </a:solidFill>
                <a:latin typeface="Arial" charset="0"/>
              </a:defRPr>
            </a:lvl7pPr>
            <a:lvl8pPr marL="3429000" indent="-228600" eaLnBrk="0" fontAlgn="base" hangingPunct="0">
              <a:spcBef>
                <a:spcPct val="0"/>
              </a:spcBef>
              <a:spcAft>
                <a:spcPct val="0"/>
              </a:spcAft>
              <a:tabLst>
                <a:tab pos="633413" algn="l"/>
              </a:tabLst>
              <a:defRPr b="1">
                <a:solidFill>
                  <a:schemeClr val="tx1"/>
                </a:solidFill>
                <a:latin typeface="Arial" charset="0"/>
              </a:defRPr>
            </a:lvl8pPr>
            <a:lvl9pPr marL="3886200" indent="-228600" eaLnBrk="0" fontAlgn="base" hangingPunct="0">
              <a:spcBef>
                <a:spcPct val="0"/>
              </a:spcBef>
              <a:spcAft>
                <a:spcPct val="0"/>
              </a:spcAft>
              <a:tabLst>
                <a:tab pos="633413" algn="l"/>
              </a:tabLst>
              <a:defRPr b="1">
                <a:solidFill>
                  <a:schemeClr val="tx1"/>
                </a:solidFill>
                <a:latin typeface="Arial" charset="0"/>
              </a:defRPr>
            </a:lvl9pPr>
          </a:lstStyle>
          <a:p>
            <a:pPr eaLnBrk="1" hangingPunct="1"/>
            <a:r>
              <a:rPr lang="en-US" sz="3200" dirty="0" smtClean="0">
                <a:cs typeface="Arial" charset="0"/>
              </a:rPr>
              <a:t>If the </a:t>
            </a:r>
            <a:r>
              <a:rPr lang="en-US" sz="3200" i="1" dirty="0" smtClean="0">
                <a:cs typeface="Arial" charset="0"/>
              </a:rPr>
              <a:t>umbrella</a:t>
            </a:r>
            <a:r>
              <a:rPr lang="en-US" sz="3200" dirty="0" smtClean="0">
                <a:cs typeface="Arial" charset="0"/>
              </a:rPr>
              <a:t> (interface or superclass) has no legitimate functionality  </a:t>
            </a:r>
          </a:p>
          <a:p>
            <a:pPr eaLnBrk="1" hangingPunct="1"/>
            <a:r>
              <a:rPr lang="en-US" sz="3200" dirty="0" smtClean="0">
                <a:cs typeface="Arial" charset="0"/>
              </a:rPr>
              <a:t>(Example: </a:t>
            </a:r>
            <a:r>
              <a:rPr lang="en-US" sz="3200" b="0" dirty="0" smtClean="0">
                <a:latin typeface="Arial Black" panose="020B0A04020102020204" pitchFamily="34" charset="0"/>
                <a:cs typeface="Arial" charset="0"/>
              </a:rPr>
              <a:t>Language</a:t>
            </a:r>
            <a:r>
              <a:rPr lang="en-US" sz="3200" dirty="0" smtClean="0">
                <a:cs typeface="Arial" charset="0"/>
              </a:rPr>
              <a:t>) </a:t>
            </a:r>
          </a:p>
          <a:p>
            <a:pPr eaLnBrk="1" hangingPunct="1"/>
            <a:r>
              <a:rPr lang="en-US" sz="3200" dirty="0" smtClean="0">
                <a:cs typeface="Arial" charset="0"/>
              </a:rPr>
              <a:t>then use an interface.  </a:t>
            </a:r>
          </a:p>
          <a:p>
            <a:pPr eaLnBrk="1" hangingPunct="1"/>
            <a:endParaRPr lang="en-US" sz="3200" dirty="0" smtClean="0">
              <a:cs typeface="Arial" charset="0"/>
            </a:endParaRPr>
          </a:p>
          <a:p>
            <a:pPr eaLnBrk="1" hangingPunct="1"/>
            <a:r>
              <a:rPr lang="en-US" sz="3200" dirty="0" smtClean="0">
                <a:cs typeface="Arial" charset="0"/>
              </a:rPr>
              <a:t>If there is a common functionality shared by all classes </a:t>
            </a:r>
            <a:r>
              <a:rPr lang="en-US" sz="3200" i="1" dirty="0" smtClean="0">
                <a:cs typeface="Arial" charset="0"/>
              </a:rPr>
              <a:t>under the umbrella</a:t>
            </a:r>
            <a:r>
              <a:rPr lang="en-US" sz="3200" dirty="0">
                <a:cs typeface="Arial" charset="0"/>
              </a:rPr>
              <a:t> </a:t>
            </a:r>
            <a:endParaRPr lang="en-US" sz="3200" dirty="0" smtClean="0">
              <a:cs typeface="Arial" charset="0"/>
            </a:endParaRPr>
          </a:p>
          <a:p>
            <a:pPr eaLnBrk="1" hangingPunct="1"/>
            <a:r>
              <a:rPr lang="en-US" sz="3200" dirty="0" smtClean="0">
                <a:cs typeface="Arial" charset="0"/>
              </a:rPr>
              <a:t>(</a:t>
            </a:r>
            <a:r>
              <a:rPr lang="en-US" sz="3200" dirty="0">
                <a:cs typeface="Arial" charset="0"/>
              </a:rPr>
              <a:t>Example: </a:t>
            </a:r>
            <a:r>
              <a:rPr lang="en-US" sz="3200" b="0" dirty="0" smtClean="0">
                <a:latin typeface="Arial Black" panose="020B0A04020102020204" pitchFamily="34" charset="0"/>
                <a:cs typeface="Arial" charset="0"/>
              </a:rPr>
              <a:t>Actor</a:t>
            </a:r>
            <a:r>
              <a:rPr lang="en-US" sz="3200" dirty="0" smtClean="0">
                <a:cs typeface="Arial" charset="0"/>
              </a:rPr>
              <a:t>) </a:t>
            </a:r>
          </a:p>
          <a:p>
            <a:pPr eaLnBrk="1" hangingPunct="1"/>
            <a:r>
              <a:rPr lang="en-US" sz="3200" dirty="0" smtClean="0">
                <a:cs typeface="Arial" charset="0"/>
              </a:rPr>
              <a:t>then use a superclass.</a:t>
            </a:r>
            <a:endParaRPr lang="en-US" sz="3200" dirty="0">
              <a:cs typeface="Arial" charset="0"/>
            </a:endParaRPr>
          </a:p>
        </p:txBody>
      </p:sp>
    </p:spTree>
    <p:extLst>
      <p:ext uri="{BB962C8B-B14F-4D97-AF65-F5344CB8AC3E}">
        <p14:creationId xmlns:p14="http://schemas.microsoft.com/office/powerpoint/2010/main" val="422001345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rgbClr val="000082"/>
            </a:gs>
            <a:gs pos="30000">
              <a:srgbClr val="66008F"/>
            </a:gs>
            <a:gs pos="64999">
              <a:srgbClr val="BA0066"/>
            </a:gs>
            <a:gs pos="89999">
              <a:srgbClr val="FF0000"/>
            </a:gs>
            <a:gs pos="100000">
              <a:srgbClr val="FF8200"/>
            </a:gs>
          </a:gsLst>
          <a:lin ang="5400000" scaled="0"/>
        </a:gradFill>
        <a:effectLst/>
      </p:bgPr>
    </p:bg>
    <p:spTree>
      <p:nvGrpSpPr>
        <p:cNvPr id="1" name=""/>
        <p:cNvGrpSpPr/>
        <p:nvPr/>
      </p:nvGrpSpPr>
      <p:grpSpPr>
        <a:xfrm>
          <a:off x="0" y="0"/>
          <a:ext cx="0" cy="0"/>
          <a:chOff x="0" y="0"/>
          <a:chExt cx="0" cy="0"/>
        </a:xfrm>
      </p:grpSpPr>
      <p:sp>
        <p:nvSpPr>
          <p:cNvPr id="6146" name="WordArt 2"/>
          <p:cNvSpPr>
            <a:spLocks noChangeArrowheads="1" noChangeShapeType="1" noTextEdit="1"/>
          </p:cNvSpPr>
          <p:nvPr/>
        </p:nvSpPr>
        <p:spPr bwMode="auto">
          <a:xfrm>
            <a:off x="381000" y="1447800"/>
            <a:ext cx="8382000" cy="2438400"/>
          </a:xfrm>
          <a:prstGeom prst="rect">
            <a:avLst/>
          </a:prstGeom>
        </p:spPr>
        <p:txBody>
          <a:bodyPr wrap="none" fromWordArt="1">
            <a:prstTxWarp prst="textSlantUp">
              <a:avLst>
                <a:gd name="adj" fmla="val 32056"/>
              </a:avLst>
            </a:prstTxWarp>
          </a:bodyPr>
          <a:lstStyle/>
          <a:p>
            <a:pPr algn="ct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           How does           </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
        <p:nvSpPr>
          <p:cNvPr id="6147"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14.6</a:t>
            </a:r>
            <a:endParaRPr lang="en-US" sz="3600" kern="10" dirty="0">
              <a:ln w="9525">
                <a:solidFill>
                  <a:srgbClr val="000000"/>
                </a:solidFill>
                <a:round/>
                <a:headEnd/>
                <a:tailEnd/>
              </a:ln>
              <a:solidFill>
                <a:srgbClr val="FFFFFF"/>
              </a:solidFill>
              <a:latin typeface="Arial Black"/>
            </a:endParaRPr>
          </a:p>
        </p:txBody>
      </p:sp>
      <p:sp>
        <p:nvSpPr>
          <p:cNvPr id="6" name="WordArt 2"/>
          <p:cNvSpPr>
            <a:spLocks noChangeArrowheads="1" noChangeShapeType="1" noTextEdit="1"/>
          </p:cNvSpPr>
          <p:nvPr/>
        </p:nvSpPr>
        <p:spPr bwMode="auto">
          <a:xfrm>
            <a:off x="381000" y="3581400"/>
            <a:ext cx="8382000" cy="2667000"/>
          </a:xfrm>
          <a:prstGeom prst="rect">
            <a:avLst/>
          </a:prstGeom>
        </p:spPr>
        <p:txBody>
          <a:bodyPr wrap="none" fromWordArt="1">
            <a:prstTxWarp prst="textSlantUp">
              <a:avLst>
                <a:gd name="adj" fmla="val 32056"/>
              </a:avLst>
            </a:prstTxWarp>
          </a:bodyPr>
          <a:lstStyle/>
          <a:p>
            <a:pPr algn="ct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Polymorphism work?</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Tree>
    <p:extLst>
      <p:ext uri="{BB962C8B-B14F-4D97-AF65-F5344CB8AC3E}">
        <p14:creationId xmlns:p14="http://schemas.microsoft.com/office/powerpoint/2010/main" val="249468830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2"/>
            <a:ext cx="9144000" cy="2556571"/>
          </a:xfrm>
        </p:spPr>
        <p:txBody>
          <a:bodyPr/>
          <a:lstStyle/>
          <a:p>
            <a:pPr eaLnBrk="1" hangingPunct="1"/>
            <a:r>
              <a:rPr lang="en-US" sz="4800" dirty="0" smtClean="0">
                <a:latin typeface="Arial Black" pitchFamily="34" charset="0"/>
              </a:rPr>
              <a:t>Quote from</a:t>
            </a:r>
            <a:br>
              <a:rPr lang="en-US" sz="4800" dirty="0" smtClean="0">
                <a:latin typeface="Arial Black" pitchFamily="34" charset="0"/>
              </a:rPr>
            </a:br>
            <a:r>
              <a:rPr lang="en-US" sz="4800" b="1" i="1" dirty="0" smtClean="0">
                <a:latin typeface="Arial Narrow" panose="020B0606020202030204" pitchFamily="34" charset="0"/>
              </a:rPr>
              <a:t>An Introduction to Polymorphism</a:t>
            </a:r>
            <a:r>
              <a:rPr lang="en-US" sz="4800" i="1" dirty="0" smtClean="0">
                <a:latin typeface="Arial Black" pitchFamily="34" charset="0"/>
              </a:rPr>
              <a:t/>
            </a:r>
            <a:br>
              <a:rPr lang="en-US" sz="4800" i="1" dirty="0" smtClean="0">
                <a:latin typeface="Arial Black" pitchFamily="34" charset="0"/>
              </a:rPr>
            </a:br>
            <a:r>
              <a:rPr lang="en-US" sz="4800" dirty="0" smtClean="0">
                <a:latin typeface="Arial Black" pitchFamily="34" charset="0"/>
              </a:rPr>
              <a:t>by Dan </a:t>
            </a:r>
            <a:r>
              <a:rPr lang="en-US" sz="4800" dirty="0" err="1" smtClean="0">
                <a:latin typeface="Arial Black" pitchFamily="34" charset="0"/>
              </a:rPr>
              <a:t>Umbarger</a:t>
            </a:r>
            <a:endParaRPr lang="en-US" sz="4800" dirty="0" smtClean="0">
              <a:latin typeface="Arial Black" pitchFamily="34" charset="0"/>
            </a:endParaRPr>
          </a:p>
        </p:txBody>
      </p:sp>
      <p:sp>
        <p:nvSpPr>
          <p:cNvPr id="6147" name="Text Box 3"/>
          <p:cNvSpPr txBox="1">
            <a:spLocks noChangeArrowheads="1"/>
          </p:cNvSpPr>
          <p:nvPr/>
        </p:nvSpPr>
        <p:spPr bwMode="auto">
          <a:xfrm>
            <a:off x="381000" y="2556570"/>
            <a:ext cx="8382000" cy="3539430"/>
          </a:xfrm>
          <a:prstGeom prst="rect">
            <a:avLst/>
          </a:prstGeom>
          <a:solidFill>
            <a:srgbClr val="00FFCC"/>
          </a:solidFill>
          <a:ln w="57150">
            <a:solidFill>
              <a:schemeClr val="tx1"/>
            </a:solidFill>
            <a:miter lim="800000"/>
            <a:headEnd/>
            <a:tailEnd/>
          </a:ln>
        </p:spPr>
        <p:txBody>
          <a:bodyPr wrap="square">
            <a:spAutoFit/>
          </a:bodyPr>
          <a:lstStyle>
            <a:lvl1pPr eaLnBrk="0" hangingPunct="0">
              <a:tabLst>
                <a:tab pos="633413" algn="l"/>
              </a:tabLst>
              <a:defRPr b="1">
                <a:solidFill>
                  <a:schemeClr val="tx1"/>
                </a:solidFill>
                <a:latin typeface="Arial" charset="0"/>
              </a:defRPr>
            </a:lvl1pPr>
            <a:lvl2pPr marL="742950" indent="-285750" eaLnBrk="0" hangingPunct="0">
              <a:tabLst>
                <a:tab pos="633413" algn="l"/>
              </a:tabLst>
              <a:defRPr b="1">
                <a:solidFill>
                  <a:schemeClr val="tx1"/>
                </a:solidFill>
                <a:latin typeface="Arial" charset="0"/>
              </a:defRPr>
            </a:lvl2pPr>
            <a:lvl3pPr marL="1143000" indent="-228600" eaLnBrk="0" hangingPunct="0">
              <a:tabLst>
                <a:tab pos="633413" algn="l"/>
              </a:tabLst>
              <a:defRPr b="1">
                <a:solidFill>
                  <a:schemeClr val="tx1"/>
                </a:solidFill>
                <a:latin typeface="Arial" charset="0"/>
              </a:defRPr>
            </a:lvl3pPr>
            <a:lvl4pPr marL="1600200" indent="-228600" eaLnBrk="0" hangingPunct="0">
              <a:tabLst>
                <a:tab pos="633413" algn="l"/>
              </a:tabLst>
              <a:defRPr b="1">
                <a:solidFill>
                  <a:schemeClr val="tx1"/>
                </a:solidFill>
                <a:latin typeface="Arial" charset="0"/>
              </a:defRPr>
            </a:lvl4pPr>
            <a:lvl5pPr marL="2057400" indent="-228600" eaLnBrk="0" hangingPunct="0">
              <a:tabLst>
                <a:tab pos="633413" algn="l"/>
              </a:tabLst>
              <a:defRPr b="1">
                <a:solidFill>
                  <a:schemeClr val="tx1"/>
                </a:solidFill>
                <a:latin typeface="Arial" charset="0"/>
              </a:defRPr>
            </a:lvl5pPr>
            <a:lvl6pPr marL="2514600" indent="-228600" eaLnBrk="0" fontAlgn="base" hangingPunct="0">
              <a:spcBef>
                <a:spcPct val="0"/>
              </a:spcBef>
              <a:spcAft>
                <a:spcPct val="0"/>
              </a:spcAft>
              <a:tabLst>
                <a:tab pos="633413" algn="l"/>
              </a:tabLst>
              <a:defRPr b="1">
                <a:solidFill>
                  <a:schemeClr val="tx1"/>
                </a:solidFill>
                <a:latin typeface="Arial" charset="0"/>
              </a:defRPr>
            </a:lvl6pPr>
            <a:lvl7pPr marL="2971800" indent="-228600" eaLnBrk="0" fontAlgn="base" hangingPunct="0">
              <a:spcBef>
                <a:spcPct val="0"/>
              </a:spcBef>
              <a:spcAft>
                <a:spcPct val="0"/>
              </a:spcAft>
              <a:tabLst>
                <a:tab pos="633413" algn="l"/>
              </a:tabLst>
              <a:defRPr b="1">
                <a:solidFill>
                  <a:schemeClr val="tx1"/>
                </a:solidFill>
                <a:latin typeface="Arial" charset="0"/>
              </a:defRPr>
            </a:lvl7pPr>
            <a:lvl8pPr marL="3429000" indent="-228600" eaLnBrk="0" fontAlgn="base" hangingPunct="0">
              <a:spcBef>
                <a:spcPct val="0"/>
              </a:spcBef>
              <a:spcAft>
                <a:spcPct val="0"/>
              </a:spcAft>
              <a:tabLst>
                <a:tab pos="633413" algn="l"/>
              </a:tabLst>
              <a:defRPr b="1">
                <a:solidFill>
                  <a:schemeClr val="tx1"/>
                </a:solidFill>
                <a:latin typeface="Arial" charset="0"/>
              </a:defRPr>
            </a:lvl8pPr>
            <a:lvl9pPr marL="3886200" indent="-228600" eaLnBrk="0" fontAlgn="base" hangingPunct="0">
              <a:spcBef>
                <a:spcPct val="0"/>
              </a:spcBef>
              <a:spcAft>
                <a:spcPct val="0"/>
              </a:spcAft>
              <a:tabLst>
                <a:tab pos="633413" algn="l"/>
              </a:tabLst>
              <a:defRPr b="1">
                <a:solidFill>
                  <a:schemeClr val="tx1"/>
                </a:solidFill>
                <a:latin typeface="Arial" charset="0"/>
              </a:defRPr>
            </a:lvl9pPr>
          </a:lstStyle>
          <a:p>
            <a:r>
              <a:rPr lang="en-US" sz="3200" i="1" dirty="0"/>
              <a:t>The term </a:t>
            </a:r>
            <a:r>
              <a:rPr lang="en-US" sz="3200" i="1" dirty="0">
                <a:latin typeface="Arial Rounded MT Bold" panose="020F0704030504030204" pitchFamily="34" charset="0"/>
              </a:rPr>
              <a:t>homonym</a:t>
            </a:r>
            <a:r>
              <a:rPr lang="en-US" sz="3200" i="1" dirty="0"/>
              <a:t> means "a word the same as another in sound and spelling but with different meaning. The term </a:t>
            </a:r>
            <a:r>
              <a:rPr lang="en-US" sz="3200" i="1" dirty="0">
                <a:latin typeface="Arial Rounded MT Bold" panose="020F0704030504030204" pitchFamily="34" charset="0"/>
              </a:rPr>
              <a:t>bear</a:t>
            </a:r>
            <a:r>
              <a:rPr lang="en-US" sz="3200" i="1" dirty="0"/>
              <a:t> could be a verb (to carry a burden) or it could be a noun (a large hairy mammal). One can distinguish between the two usages through the use of context clues.</a:t>
            </a:r>
            <a:endParaRPr lang="en-US" sz="3200" dirty="0"/>
          </a:p>
        </p:txBody>
      </p:sp>
    </p:spTree>
    <p:extLst>
      <p:ext uri="{BB962C8B-B14F-4D97-AF65-F5344CB8AC3E}">
        <p14:creationId xmlns:p14="http://schemas.microsoft.com/office/powerpoint/2010/main" val="427465218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2"/>
            <a:ext cx="9144000" cy="1600201"/>
          </a:xfrm>
        </p:spPr>
        <p:txBody>
          <a:bodyPr/>
          <a:lstStyle/>
          <a:p>
            <a:pPr eaLnBrk="1" hangingPunct="1"/>
            <a:r>
              <a:rPr lang="en-US" sz="4800" i="1" dirty="0" smtClean="0">
                <a:latin typeface="Arial Black" pitchFamily="34" charset="0"/>
              </a:rPr>
              <a:t>Elegant </a:t>
            </a:r>
            <a:r>
              <a:rPr lang="en-US" sz="4800" dirty="0" smtClean="0">
                <a:latin typeface="Arial Black" pitchFamily="34" charset="0"/>
              </a:rPr>
              <a:t>Polymorphic Code</a:t>
            </a:r>
            <a:endParaRPr lang="en-US" sz="4800" i="1" dirty="0" smtClean="0">
              <a:latin typeface="Arial Black" pitchFamily="34" charset="0"/>
            </a:endParaRPr>
          </a:p>
        </p:txBody>
      </p:sp>
      <p:sp>
        <p:nvSpPr>
          <p:cNvPr id="6147" name="Text Box 3"/>
          <p:cNvSpPr txBox="1">
            <a:spLocks noChangeArrowheads="1"/>
          </p:cNvSpPr>
          <p:nvPr/>
        </p:nvSpPr>
        <p:spPr bwMode="auto">
          <a:xfrm>
            <a:off x="914400" y="1600200"/>
            <a:ext cx="7315200" cy="2185214"/>
          </a:xfrm>
          <a:prstGeom prst="rect">
            <a:avLst/>
          </a:prstGeom>
          <a:solidFill>
            <a:srgbClr val="FFFF99"/>
          </a:solidFill>
          <a:ln w="57150">
            <a:solidFill>
              <a:schemeClr val="tx1"/>
            </a:solidFill>
            <a:miter lim="800000"/>
            <a:headEnd/>
            <a:tailEnd/>
          </a:ln>
        </p:spPr>
        <p:txBody>
          <a:bodyPr wrap="square">
            <a:spAutoFit/>
          </a:bodyPr>
          <a:lstStyle>
            <a:lvl1pPr eaLnBrk="0" hangingPunct="0">
              <a:tabLst>
                <a:tab pos="633413" algn="l"/>
              </a:tabLst>
              <a:defRPr b="1">
                <a:solidFill>
                  <a:schemeClr val="tx1"/>
                </a:solidFill>
                <a:latin typeface="Arial" charset="0"/>
              </a:defRPr>
            </a:lvl1pPr>
            <a:lvl2pPr marL="742950" indent="-285750" eaLnBrk="0" hangingPunct="0">
              <a:tabLst>
                <a:tab pos="633413" algn="l"/>
              </a:tabLst>
              <a:defRPr b="1">
                <a:solidFill>
                  <a:schemeClr val="tx1"/>
                </a:solidFill>
                <a:latin typeface="Arial" charset="0"/>
              </a:defRPr>
            </a:lvl2pPr>
            <a:lvl3pPr marL="1143000" indent="-228600" eaLnBrk="0" hangingPunct="0">
              <a:tabLst>
                <a:tab pos="633413" algn="l"/>
              </a:tabLst>
              <a:defRPr b="1">
                <a:solidFill>
                  <a:schemeClr val="tx1"/>
                </a:solidFill>
                <a:latin typeface="Arial" charset="0"/>
              </a:defRPr>
            </a:lvl3pPr>
            <a:lvl4pPr marL="1600200" indent="-228600" eaLnBrk="0" hangingPunct="0">
              <a:tabLst>
                <a:tab pos="633413" algn="l"/>
              </a:tabLst>
              <a:defRPr b="1">
                <a:solidFill>
                  <a:schemeClr val="tx1"/>
                </a:solidFill>
                <a:latin typeface="Arial" charset="0"/>
              </a:defRPr>
            </a:lvl4pPr>
            <a:lvl5pPr marL="2057400" indent="-228600" eaLnBrk="0" hangingPunct="0">
              <a:tabLst>
                <a:tab pos="633413" algn="l"/>
              </a:tabLst>
              <a:defRPr b="1">
                <a:solidFill>
                  <a:schemeClr val="tx1"/>
                </a:solidFill>
                <a:latin typeface="Arial" charset="0"/>
              </a:defRPr>
            </a:lvl5pPr>
            <a:lvl6pPr marL="2514600" indent="-228600" eaLnBrk="0" fontAlgn="base" hangingPunct="0">
              <a:spcBef>
                <a:spcPct val="0"/>
              </a:spcBef>
              <a:spcAft>
                <a:spcPct val="0"/>
              </a:spcAft>
              <a:tabLst>
                <a:tab pos="633413" algn="l"/>
              </a:tabLst>
              <a:defRPr b="1">
                <a:solidFill>
                  <a:schemeClr val="tx1"/>
                </a:solidFill>
                <a:latin typeface="Arial" charset="0"/>
              </a:defRPr>
            </a:lvl6pPr>
            <a:lvl7pPr marL="2971800" indent="-228600" eaLnBrk="0" fontAlgn="base" hangingPunct="0">
              <a:spcBef>
                <a:spcPct val="0"/>
              </a:spcBef>
              <a:spcAft>
                <a:spcPct val="0"/>
              </a:spcAft>
              <a:tabLst>
                <a:tab pos="633413" algn="l"/>
              </a:tabLst>
              <a:defRPr b="1">
                <a:solidFill>
                  <a:schemeClr val="tx1"/>
                </a:solidFill>
                <a:latin typeface="Arial" charset="0"/>
              </a:defRPr>
            </a:lvl7pPr>
            <a:lvl8pPr marL="3429000" indent="-228600" eaLnBrk="0" fontAlgn="base" hangingPunct="0">
              <a:spcBef>
                <a:spcPct val="0"/>
              </a:spcBef>
              <a:spcAft>
                <a:spcPct val="0"/>
              </a:spcAft>
              <a:tabLst>
                <a:tab pos="633413" algn="l"/>
              </a:tabLst>
              <a:defRPr b="1">
                <a:solidFill>
                  <a:schemeClr val="tx1"/>
                </a:solidFill>
                <a:latin typeface="Arial" charset="0"/>
              </a:defRPr>
            </a:lvl8pPr>
            <a:lvl9pPr marL="3886200" indent="-228600" eaLnBrk="0" fontAlgn="base" hangingPunct="0">
              <a:spcBef>
                <a:spcPct val="0"/>
              </a:spcBef>
              <a:spcAft>
                <a:spcPct val="0"/>
              </a:spcAft>
              <a:tabLst>
                <a:tab pos="633413" algn="l"/>
              </a:tabLst>
              <a:defRPr b="1">
                <a:solidFill>
                  <a:schemeClr val="tx1"/>
                </a:solidFill>
                <a:latin typeface="Arial" charset="0"/>
              </a:defRPr>
            </a:lvl9pPr>
          </a:lstStyle>
          <a:p>
            <a:endParaRPr lang="en-US" sz="2800" dirty="0" smtClean="0"/>
          </a:p>
          <a:p>
            <a:r>
              <a:rPr lang="en-US" sz="4000" dirty="0" smtClean="0"/>
              <a:t>	for </a:t>
            </a:r>
            <a:r>
              <a:rPr lang="en-US" sz="4000" dirty="0"/>
              <a:t>(Actor </a:t>
            </a:r>
            <a:r>
              <a:rPr lang="en-US" sz="4000" dirty="0" err="1"/>
              <a:t>actor</a:t>
            </a:r>
            <a:r>
              <a:rPr lang="en-US" sz="4000" dirty="0"/>
              <a:t> : actors)</a:t>
            </a:r>
            <a:br>
              <a:rPr lang="en-US" sz="4000" dirty="0"/>
            </a:br>
            <a:r>
              <a:rPr lang="en-US" sz="4000" dirty="0"/>
              <a:t>        </a:t>
            </a:r>
            <a:r>
              <a:rPr lang="en-US" sz="4000" dirty="0" smtClean="0"/>
              <a:t>	 </a:t>
            </a:r>
            <a:r>
              <a:rPr lang="en-US" sz="4000" dirty="0" err="1"/>
              <a:t>actor.</a:t>
            </a:r>
            <a:r>
              <a:rPr lang="en-US" sz="4000" b="0" dirty="0" err="1">
                <a:latin typeface="Arial Black" panose="020B0A04020102020204" pitchFamily="34" charset="0"/>
              </a:rPr>
              <a:t>act</a:t>
            </a:r>
            <a:r>
              <a:rPr lang="en-US" sz="4000" dirty="0" smtClean="0"/>
              <a:t>();</a:t>
            </a:r>
          </a:p>
          <a:p>
            <a:endParaRPr lang="en-US" sz="2800" dirty="0"/>
          </a:p>
        </p:txBody>
      </p:sp>
    </p:spTree>
    <p:extLst>
      <p:ext uri="{BB962C8B-B14F-4D97-AF65-F5344CB8AC3E}">
        <p14:creationId xmlns:p14="http://schemas.microsoft.com/office/powerpoint/2010/main" val="365140943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0"/>
            <a:ext cx="9067800" cy="990600"/>
          </a:xfrm>
        </p:spPr>
        <p:txBody>
          <a:bodyPr/>
          <a:lstStyle/>
          <a:p>
            <a:pPr eaLnBrk="1" hangingPunct="1"/>
            <a:r>
              <a:rPr lang="en-US" sz="4600" dirty="0" smtClean="0">
                <a:latin typeface="Arial Black" pitchFamily="34" charset="0"/>
              </a:rPr>
              <a:t>Polymorphism &amp; Reliability</a:t>
            </a:r>
          </a:p>
        </p:txBody>
      </p:sp>
      <p:sp>
        <p:nvSpPr>
          <p:cNvPr id="20483" name="Text Box 3"/>
          <p:cNvSpPr txBox="1">
            <a:spLocks noChangeArrowheads="1"/>
          </p:cNvSpPr>
          <p:nvPr/>
        </p:nvSpPr>
        <p:spPr bwMode="auto">
          <a:xfrm>
            <a:off x="762000" y="990600"/>
            <a:ext cx="7620000" cy="5693866"/>
          </a:xfrm>
          <a:prstGeom prst="rect">
            <a:avLst/>
          </a:prstGeom>
          <a:solidFill>
            <a:srgbClr val="00FFCC"/>
          </a:solidFill>
          <a:ln w="57150">
            <a:solidFill>
              <a:schemeClr val="tx1"/>
            </a:solidFill>
            <a:miter lim="800000"/>
            <a:headEnd/>
            <a:tailEnd/>
          </a:ln>
        </p:spPr>
        <p:txBody>
          <a:bodyPr wrap="square">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sz="2600" dirty="0"/>
              <a:t>In a complex program with hundreds or more classes and many, many similar, but different actions it is very easy to get confused and instruct some object to behave incorrectly.</a:t>
            </a:r>
          </a:p>
          <a:p>
            <a:r>
              <a:rPr lang="en-US" sz="2600" dirty="0"/>
              <a:t> </a:t>
            </a:r>
          </a:p>
          <a:p>
            <a:r>
              <a:rPr lang="en-US" sz="2600" dirty="0"/>
              <a:t>This will not happen if each object carries its own set of instructions and is told to act, to display, to compute, etc</a:t>
            </a:r>
            <a:r>
              <a:rPr lang="en-US" sz="2600" dirty="0" smtClean="0"/>
              <a:t>.</a:t>
            </a:r>
          </a:p>
          <a:p>
            <a:endParaRPr lang="en-US" sz="2600" dirty="0"/>
          </a:p>
          <a:p>
            <a:r>
              <a:rPr lang="en-US" sz="2600" dirty="0"/>
              <a:t>T</a:t>
            </a:r>
            <a:r>
              <a:rPr lang="en-US" sz="2600" dirty="0" smtClean="0"/>
              <a:t>his </a:t>
            </a:r>
            <a:r>
              <a:rPr lang="en-US" sz="2600" dirty="0"/>
              <a:t>specific set of instructions is not selected until runtime when the method is called and a connection is made between the method and the class where it is re-defined in a process that is called late-binding</a:t>
            </a:r>
            <a:r>
              <a:rPr lang="en-US" sz="2600" dirty="0" smtClean="0"/>
              <a:t>.</a:t>
            </a:r>
            <a:endParaRPr lang="en-US" sz="2800" dirty="0"/>
          </a:p>
        </p:txBody>
      </p:sp>
    </p:spTree>
    <p:extLst>
      <p:ext uri="{BB962C8B-B14F-4D97-AF65-F5344CB8AC3E}">
        <p14:creationId xmlns:p14="http://schemas.microsoft.com/office/powerpoint/2010/main" val="428254418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0"/>
            <a:ext cx="9067800" cy="762000"/>
          </a:xfrm>
        </p:spPr>
        <p:txBody>
          <a:bodyPr/>
          <a:lstStyle/>
          <a:p>
            <a:pPr eaLnBrk="1" hangingPunct="1"/>
            <a:r>
              <a:rPr lang="en-US" sz="4800" dirty="0" smtClean="0">
                <a:latin typeface="Arial Black" pitchFamily="34" charset="0"/>
              </a:rPr>
              <a:t>Cookies &amp; Polymorphism</a:t>
            </a:r>
          </a:p>
        </p:txBody>
      </p:sp>
      <p:sp>
        <p:nvSpPr>
          <p:cNvPr id="20483" name="Text Box 3"/>
          <p:cNvSpPr txBox="1">
            <a:spLocks noChangeArrowheads="1"/>
          </p:cNvSpPr>
          <p:nvPr/>
        </p:nvSpPr>
        <p:spPr bwMode="auto">
          <a:xfrm>
            <a:off x="228600" y="762000"/>
            <a:ext cx="8686800" cy="6001643"/>
          </a:xfrm>
          <a:prstGeom prst="rect">
            <a:avLst/>
          </a:prstGeom>
          <a:solidFill>
            <a:srgbClr val="00FFCC"/>
          </a:solidFill>
          <a:ln w="57150">
            <a:solidFill>
              <a:schemeClr val="tx1"/>
            </a:solidFill>
            <a:miter lim="800000"/>
            <a:headEnd/>
            <a:tailEnd/>
          </a:ln>
        </p:spPr>
        <p:txBody>
          <a:bodyPr wrap="square">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sz="2400" dirty="0"/>
              <a:t>In our technology world polymorphism is very much alive and few people know that it exists or how it works.</a:t>
            </a:r>
          </a:p>
          <a:p>
            <a:r>
              <a:rPr lang="en-US" sz="2400" dirty="0"/>
              <a:t> </a:t>
            </a:r>
          </a:p>
          <a:p>
            <a:r>
              <a:rPr lang="en-US" sz="2400" dirty="0"/>
              <a:t>Suppose that you browse on Amazon.com and you do some searches on Star Wars movies and novels.  You make no purchases and you leave the site.</a:t>
            </a:r>
          </a:p>
          <a:p>
            <a:r>
              <a:rPr lang="en-US" sz="2400" dirty="0"/>
              <a:t> </a:t>
            </a:r>
          </a:p>
          <a:p>
            <a:r>
              <a:rPr lang="en-US" sz="2400" dirty="0"/>
              <a:t>A week later you return to Amazon and magically some suggestions pop up about the latest Star wars novels and newly enhanced movies you can purchase.</a:t>
            </a:r>
          </a:p>
          <a:p>
            <a:r>
              <a:rPr lang="en-US" sz="2400" dirty="0"/>
              <a:t> </a:t>
            </a:r>
          </a:p>
          <a:p>
            <a:r>
              <a:rPr lang="en-US" sz="2400" dirty="0"/>
              <a:t>How does Amazon know who you are and what you like?  Yes you can be a regular customer and you may have logged in, which then brings up a profile, but thousands, if not millions of customers do not immediately create a profile and use logins.</a:t>
            </a:r>
          </a:p>
        </p:txBody>
      </p:sp>
    </p:spTree>
    <p:extLst>
      <p:ext uri="{BB962C8B-B14F-4D97-AF65-F5344CB8AC3E}">
        <p14:creationId xmlns:p14="http://schemas.microsoft.com/office/powerpoint/2010/main" val="3577356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0"/>
            <a:ext cx="9067800" cy="762000"/>
          </a:xfrm>
        </p:spPr>
        <p:txBody>
          <a:bodyPr/>
          <a:lstStyle/>
          <a:p>
            <a:pPr eaLnBrk="1" hangingPunct="1"/>
            <a:r>
              <a:rPr lang="en-US" sz="4800" dirty="0" smtClean="0">
                <a:latin typeface="Arial Black" pitchFamily="34" charset="0"/>
              </a:rPr>
              <a:t>Cookies &amp; Polymorphism </a:t>
            </a:r>
          </a:p>
        </p:txBody>
      </p:sp>
      <p:sp>
        <p:nvSpPr>
          <p:cNvPr id="20483" name="Text Box 3"/>
          <p:cNvSpPr txBox="1">
            <a:spLocks noChangeArrowheads="1"/>
          </p:cNvSpPr>
          <p:nvPr/>
        </p:nvSpPr>
        <p:spPr bwMode="auto">
          <a:xfrm>
            <a:off x="228600" y="762000"/>
            <a:ext cx="8686800" cy="6001643"/>
          </a:xfrm>
          <a:prstGeom prst="rect">
            <a:avLst/>
          </a:prstGeom>
          <a:solidFill>
            <a:srgbClr val="00FFCC"/>
          </a:solidFill>
          <a:ln w="57150">
            <a:solidFill>
              <a:schemeClr val="tx1"/>
            </a:solidFill>
            <a:miter lim="800000"/>
            <a:headEnd/>
            <a:tailEnd/>
          </a:ln>
        </p:spPr>
        <p:txBody>
          <a:bodyPr wrap="square">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lnSpc>
                <a:spcPct val="80000"/>
              </a:lnSpc>
            </a:pPr>
            <a:r>
              <a:rPr lang="en-US" sz="2400" dirty="0"/>
              <a:t>The secret is </a:t>
            </a:r>
            <a:r>
              <a:rPr lang="en-US" sz="2400" i="1" dirty="0"/>
              <a:t>cookies</a:t>
            </a:r>
            <a:r>
              <a:rPr lang="en-US" sz="2400" dirty="0"/>
              <a:t>.  A cookie is a small file stored on your computer with some type of relevant information.  You browse Amazon and Amazon checks if cookies are enabled on your computer.  If so, information about your browsing habits are stored on your personal computer.  Next time that you go to Amazon, your computer is checked for cookies and Bingo an appropriate suggestion about purchasing something pops up.</a:t>
            </a:r>
          </a:p>
          <a:p>
            <a:pPr>
              <a:lnSpc>
                <a:spcPct val="80000"/>
              </a:lnSpc>
            </a:pPr>
            <a:r>
              <a:rPr lang="en-US" sz="2400" dirty="0"/>
              <a:t> </a:t>
            </a:r>
          </a:p>
          <a:p>
            <a:pPr>
              <a:lnSpc>
                <a:spcPct val="80000"/>
              </a:lnSpc>
            </a:pPr>
            <a:r>
              <a:rPr lang="en-US" sz="2400" dirty="0"/>
              <a:t>Consider this cookie process like method suggest and it is polymorphic according to the customer's computer.  Is it reliable?  You bet, because millions of people have different tastes and these individual tastes are stored on their own computer.</a:t>
            </a:r>
          </a:p>
          <a:p>
            <a:pPr>
              <a:lnSpc>
                <a:spcPct val="80000"/>
              </a:lnSpc>
            </a:pPr>
            <a:r>
              <a:rPr lang="en-US" sz="2400" dirty="0"/>
              <a:t> </a:t>
            </a:r>
          </a:p>
          <a:p>
            <a:pPr>
              <a:lnSpc>
                <a:spcPct val="80000"/>
              </a:lnSpc>
            </a:pPr>
            <a:r>
              <a:rPr lang="en-US" sz="2400" dirty="0"/>
              <a:t>Incidentally, this cookie business is not something peculiar to Amazon.  Many online companies use this technology.  Individuals who object to this type of technology can change the settings on their computer to "disable" cookies.</a:t>
            </a:r>
          </a:p>
        </p:txBody>
      </p:sp>
    </p:spTree>
    <p:extLst>
      <p:ext uri="{BB962C8B-B14F-4D97-AF65-F5344CB8AC3E}">
        <p14:creationId xmlns:p14="http://schemas.microsoft.com/office/powerpoint/2010/main" val="335519288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rgbClr val="000082"/>
            </a:gs>
            <a:gs pos="30000">
              <a:srgbClr val="66008F"/>
            </a:gs>
            <a:gs pos="64999">
              <a:srgbClr val="BA0066"/>
            </a:gs>
            <a:gs pos="89999">
              <a:srgbClr val="FF0000"/>
            </a:gs>
            <a:gs pos="100000">
              <a:srgbClr val="FF8200"/>
            </a:gs>
          </a:gsLst>
          <a:lin ang="5400000" scaled="0"/>
        </a:gradFill>
        <a:effectLst/>
      </p:bgPr>
    </p:bg>
    <p:spTree>
      <p:nvGrpSpPr>
        <p:cNvPr id="1" name=""/>
        <p:cNvGrpSpPr/>
        <p:nvPr/>
      </p:nvGrpSpPr>
      <p:grpSpPr>
        <a:xfrm>
          <a:off x="0" y="0"/>
          <a:ext cx="0" cy="0"/>
          <a:chOff x="0" y="0"/>
          <a:chExt cx="0" cy="0"/>
        </a:xfrm>
      </p:grpSpPr>
      <p:sp>
        <p:nvSpPr>
          <p:cNvPr id="6146" name="WordArt 2"/>
          <p:cNvSpPr>
            <a:spLocks noChangeArrowheads="1" noChangeShapeType="1" noTextEdit="1"/>
          </p:cNvSpPr>
          <p:nvPr/>
        </p:nvSpPr>
        <p:spPr bwMode="auto">
          <a:xfrm>
            <a:off x="381000" y="1447800"/>
            <a:ext cx="8382000" cy="2209800"/>
          </a:xfrm>
          <a:prstGeom prst="rect">
            <a:avLst/>
          </a:prstGeom>
        </p:spPr>
        <p:txBody>
          <a:bodyPr wrap="none" fromWordArt="1">
            <a:prstTxWarp prst="textSlantUp">
              <a:avLst>
                <a:gd name="adj" fmla="val 32056"/>
              </a:avLst>
            </a:prstTxWarp>
          </a:bodyPr>
          <a:lstStyle/>
          <a:p>
            <a:pPr algn="ct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The Choo-Choo</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
        <p:nvSpPr>
          <p:cNvPr id="6147"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14.7</a:t>
            </a:r>
            <a:endParaRPr lang="en-US" sz="3600" kern="10" dirty="0">
              <a:ln w="9525">
                <a:solidFill>
                  <a:srgbClr val="000000"/>
                </a:solidFill>
                <a:round/>
                <a:headEnd/>
                <a:tailEnd/>
              </a:ln>
              <a:solidFill>
                <a:srgbClr val="FFFFFF"/>
              </a:solidFill>
              <a:latin typeface="Arial Black"/>
            </a:endParaRPr>
          </a:p>
        </p:txBody>
      </p:sp>
      <p:sp>
        <p:nvSpPr>
          <p:cNvPr id="6" name="WordArt 2"/>
          <p:cNvSpPr>
            <a:spLocks noChangeArrowheads="1" noChangeShapeType="1" noTextEdit="1"/>
          </p:cNvSpPr>
          <p:nvPr/>
        </p:nvSpPr>
        <p:spPr bwMode="auto">
          <a:xfrm>
            <a:off x="381000" y="3429000"/>
            <a:ext cx="8382000" cy="2209800"/>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 Train </a:t>
            </a: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Inheritance</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pic>
        <p:nvPicPr>
          <p:cNvPr id="5" name="Picture 4"/>
          <p:cNvPicPr/>
          <p:nvPr/>
        </p:nvPicPr>
        <p:blipFill>
          <a:blip r:embed="rId2"/>
          <a:stretch>
            <a:fillRect/>
          </a:stretch>
        </p:blipFill>
        <p:spPr>
          <a:xfrm>
            <a:off x="2057400" y="5789295"/>
            <a:ext cx="5029200" cy="916305"/>
          </a:xfrm>
          <a:prstGeom prst="rect">
            <a:avLst/>
          </a:prstGeom>
        </p:spPr>
      </p:pic>
    </p:spTree>
    <p:extLst>
      <p:ext uri="{BB962C8B-B14F-4D97-AF65-F5344CB8AC3E}">
        <p14:creationId xmlns:p14="http://schemas.microsoft.com/office/powerpoint/2010/main" val="107643837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1"/>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dirty="0">
                <a:latin typeface="Times New Roman" pitchFamily="18" charset="0"/>
                <a:cs typeface="Times New Roman" pitchFamily="18" charset="0"/>
              </a:rPr>
              <a:t>// Java1413.java</a:t>
            </a:r>
          </a:p>
          <a:p>
            <a:r>
              <a:rPr lang="en-US" dirty="0">
                <a:latin typeface="Times New Roman" pitchFamily="18" charset="0"/>
                <a:cs typeface="Times New Roman" pitchFamily="18" charset="0"/>
              </a:rPr>
              <a:t>// Train case study, Stage #1</a:t>
            </a:r>
          </a:p>
          <a:p>
            <a:r>
              <a:rPr lang="en-US" dirty="0">
                <a:latin typeface="Times New Roman" pitchFamily="18" charset="0"/>
                <a:cs typeface="Times New Roman" pitchFamily="18" charset="0"/>
              </a:rPr>
              <a:t>// The first stage starts with the &lt;</a:t>
            </a:r>
            <a:r>
              <a:rPr lang="en-US" dirty="0" err="1">
                <a:latin typeface="Times New Roman" pitchFamily="18" charset="0"/>
                <a:cs typeface="Times New Roman" pitchFamily="18" charset="0"/>
              </a:rPr>
              <a:t>RailCar</a:t>
            </a:r>
            <a:r>
              <a:rPr lang="en-US" dirty="0">
                <a:latin typeface="Times New Roman" pitchFamily="18" charset="0"/>
                <a:cs typeface="Times New Roman" pitchFamily="18" charset="0"/>
              </a:rPr>
              <a:t>&gt; class.</a:t>
            </a:r>
          </a:p>
          <a:p>
            <a:r>
              <a:rPr lang="en-US" dirty="0">
                <a:latin typeface="Times New Roman" pitchFamily="18" charset="0"/>
                <a:cs typeface="Times New Roman" pitchFamily="18" charset="0"/>
              </a:rPr>
              <a:t>// The rail car has a fixed location and position.</a:t>
            </a:r>
          </a:p>
          <a:p>
            <a:r>
              <a:rPr lang="en-US" dirty="0">
                <a:latin typeface="Times New Roman" pitchFamily="18" charset="0"/>
                <a:cs typeface="Times New Roman" pitchFamily="18" charset="0"/>
              </a:rPr>
              <a:t>// Three objects all display in top of each other.</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import </a:t>
            </a:r>
            <a:r>
              <a:rPr lang="en-US" dirty="0" err="1">
                <a:latin typeface="Times New Roman" pitchFamily="18" charset="0"/>
                <a:cs typeface="Times New Roman" pitchFamily="18" charset="0"/>
              </a:rPr>
              <a:t>java.awt</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import </a:t>
            </a:r>
            <a:r>
              <a:rPr lang="en-US" dirty="0" err="1">
                <a:latin typeface="Times New Roman" pitchFamily="18" charset="0"/>
                <a:cs typeface="Times New Roman" pitchFamily="18" charset="0"/>
              </a:rPr>
              <a:t>java.applet</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public class Java1413 extends Applet</a:t>
            </a:r>
          </a:p>
          <a:p>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public void paint(Graphics g)</a:t>
            </a:r>
          </a:p>
          <a:p>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RailCar</a:t>
            </a:r>
            <a:r>
              <a:rPr lang="en-US" dirty="0">
                <a:latin typeface="Times New Roman" pitchFamily="18" charset="0"/>
                <a:cs typeface="Times New Roman" pitchFamily="18" charset="0"/>
              </a:rPr>
              <a:t> rC1 = new </a:t>
            </a:r>
            <a:r>
              <a:rPr lang="en-US" dirty="0" err="1">
                <a:latin typeface="Times New Roman" pitchFamily="18" charset="0"/>
                <a:cs typeface="Times New Roman" pitchFamily="18" charset="0"/>
              </a:rPr>
              <a:t>RailCar</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RailCar</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rC2 = new </a:t>
            </a:r>
            <a:r>
              <a:rPr lang="en-US" dirty="0" err="1">
                <a:latin typeface="Times New Roman" pitchFamily="18" charset="0"/>
                <a:cs typeface="Times New Roman" pitchFamily="18" charset="0"/>
              </a:rPr>
              <a:t>RailCar</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RailCar</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rC3 = new </a:t>
            </a:r>
            <a:r>
              <a:rPr lang="en-US" dirty="0" err="1">
                <a:latin typeface="Times New Roman" pitchFamily="18" charset="0"/>
                <a:cs typeface="Times New Roman" pitchFamily="18" charset="0"/>
              </a:rPr>
              <a:t>RailCar</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rC1.drawCar(g);</a:t>
            </a: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rC2.drawCar(g</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rC3.drawCar(g</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	}</a:t>
            </a:r>
          </a:p>
          <a:p>
            <a:r>
              <a:rPr lang="en-US" dirty="0" smtClean="0">
                <a:latin typeface="Times New Roman" pitchFamily="18" charset="0"/>
                <a:cs typeface="Times New Roman" pitchFamily="18" charset="0"/>
              </a:rPr>
              <a:t>}</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4" name="Text Box 2"/>
          <p:cNvSpPr txBox="1">
            <a:spLocks noChangeArrowheads="1"/>
          </p:cNvSpPr>
          <p:nvPr/>
        </p:nvSpPr>
        <p:spPr bwMode="auto">
          <a:xfrm>
            <a:off x="5105400" y="0"/>
            <a:ext cx="4038600" cy="3992247"/>
          </a:xfrm>
          <a:prstGeom prst="rect">
            <a:avLst/>
          </a:prstGeom>
          <a:solidFill>
            <a:srgbClr val="FFFF99"/>
          </a:solidFill>
          <a:ln w="57150">
            <a:solidFill>
              <a:schemeClr val="tx1"/>
            </a:solidFill>
            <a:miter lim="800000"/>
            <a:headEnd/>
            <a:tailEnd/>
          </a:ln>
        </p:spPr>
        <p:txBody>
          <a:bodyPr wrap="square">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88000"/>
              </a:lnSpc>
            </a:pPr>
            <a:r>
              <a:rPr lang="en-US" sz="1600" dirty="0" smtClean="0">
                <a:latin typeface="Times New Roman" pitchFamily="18" charset="0"/>
                <a:cs typeface="Times New Roman" pitchFamily="18" charset="0"/>
              </a:rPr>
              <a:t>class </a:t>
            </a:r>
            <a:r>
              <a:rPr lang="en-US" sz="1600" dirty="0" err="1">
                <a:latin typeface="Times New Roman" pitchFamily="18" charset="0"/>
                <a:cs typeface="Times New Roman" pitchFamily="18" charset="0"/>
              </a:rPr>
              <a:t>RailCar</a:t>
            </a:r>
            <a:endParaRPr lang="en-US" sz="1600" dirty="0">
              <a:latin typeface="Times New Roman" pitchFamily="18" charset="0"/>
              <a:cs typeface="Times New Roman" pitchFamily="18" charset="0"/>
            </a:endParaRPr>
          </a:p>
          <a:p>
            <a:pPr>
              <a:lnSpc>
                <a:spcPct val="88000"/>
              </a:lnSpc>
            </a:pPr>
            <a:r>
              <a:rPr lang="en-US" sz="1600" dirty="0">
                <a:latin typeface="Times New Roman" pitchFamily="18" charset="0"/>
                <a:cs typeface="Times New Roman" pitchFamily="18" charset="0"/>
              </a:rPr>
              <a:t>{</a:t>
            </a:r>
          </a:p>
          <a:p>
            <a:pPr>
              <a:lnSpc>
                <a:spcPct val="88000"/>
              </a:lnSpc>
            </a:pPr>
            <a:r>
              <a:rPr lang="en-US" sz="1600" dirty="0">
                <a:latin typeface="Times New Roman" pitchFamily="18" charset="0"/>
                <a:cs typeface="Times New Roman" pitchFamily="18" charset="0"/>
              </a:rPr>
              <a:t>	private Color </a:t>
            </a:r>
            <a:r>
              <a:rPr lang="en-US" sz="1600" dirty="0" err="1">
                <a:latin typeface="Times New Roman" pitchFamily="18" charset="0"/>
                <a:cs typeface="Times New Roman" pitchFamily="18" charset="0"/>
              </a:rPr>
              <a:t>carColor</a:t>
            </a:r>
            <a:r>
              <a:rPr lang="en-US" sz="1600" dirty="0">
                <a:latin typeface="Times New Roman" pitchFamily="18" charset="0"/>
                <a:cs typeface="Times New Roman" pitchFamily="18" charset="0"/>
              </a:rPr>
              <a:t>;</a:t>
            </a:r>
          </a:p>
          <a:p>
            <a:pPr>
              <a:lnSpc>
                <a:spcPct val="88000"/>
              </a:lnSpc>
            </a:pPr>
            <a:endParaRPr lang="en-US" sz="1400" dirty="0">
              <a:latin typeface="Times New Roman" pitchFamily="18" charset="0"/>
              <a:cs typeface="Times New Roman" pitchFamily="18" charset="0"/>
            </a:endParaRPr>
          </a:p>
          <a:p>
            <a:pPr>
              <a:lnSpc>
                <a:spcPct val="88000"/>
              </a:lnSpc>
            </a:pPr>
            <a:r>
              <a:rPr lang="en-US" sz="1600" dirty="0">
                <a:latin typeface="Times New Roman" pitchFamily="18" charset="0"/>
                <a:cs typeface="Times New Roman" pitchFamily="18" charset="0"/>
              </a:rPr>
              <a:t>	public </a:t>
            </a:r>
            <a:r>
              <a:rPr lang="en-US" sz="1600" dirty="0" err="1">
                <a:latin typeface="Times New Roman" pitchFamily="18" charset="0"/>
                <a:cs typeface="Times New Roman" pitchFamily="18" charset="0"/>
              </a:rPr>
              <a:t>RailCar</a:t>
            </a:r>
            <a:r>
              <a:rPr lang="en-US" sz="1600" dirty="0" smtClean="0">
                <a:latin typeface="Times New Roman" pitchFamily="18" charset="0"/>
                <a:cs typeface="Times New Roman" pitchFamily="18" charset="0"/>
              </a:rPr>
              <a:t>()</a:t>
            </a:r>
          </a:p>
          <a:p>
            <a:pPr>
              <a:lnSpc>
                <a:spcPct val="88000"/>
              </a:lnSpc>
            </a:pPr>
            <a:r>
              <a:rPr lang="en-US" sz="1600" dirty="0" smtClean="0">
                <a:latin typeface="Times New Roman" pitchFamily="18" charset="0"/>
                <a:cs typeface="Times New Roman" pitchFamily="18" charset="0"/>
              </a:rPr>
              <a:t>	{</a:t>
            </a:r>
          </a:p>
          <a:p>
            <a:pPr>
              <a:lnSpc>
                <a:spcPct val="88000"/>
              </a:lnSpc>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carColor</a:t>
            </a:r>
            <a:r>
              <a:rPr lang="en-US" sz="1600" dirty="0" smtClean="0">
                <a:latin typeface="Times New Roman" pitchFamily="18" charset="0"/>
                <a:cs typeface="Times New Roman" pitchFamily="18" charset="0"/>
              </a:rPr>
              <a:t> = </a:t>
            </a:r>
            <a:r>
              <a:rPr lang="en-US" sz="1600" dirty="0" err="1" smtClean="0">
                <a:latin typeface="Times New Roman" pitchFamily="18" charset="0"/>
                <a:cs typeface="Times New Roman" pitchFamily="18" charset="0"/>
              </a:rPr>
              <a:t>Color.blue</a:t>
            </a:r>
            <a:r>
              <a:rPr lang="en-US" sz="1600" dirty="0" smtClean="0">
                <a:latin typeface="Times New Roman" pitchFamily="18" charset="0"/>
                <a:cs typeface="Times New Roman" pitchFamily="18" charset="0"/>
              </a:rPr>
              <a:t>;</a:t>
            </a:r>
          </a:p>
          <a:p>
            <a:pPr>
              <a:lnSpc>
                <a:spcPct val="88000"/>
              </a:lnSpc>
            </a:pPr>
            <a:r>
              <a:rPr lang="en-US" sz="1600" dirty="0">
                <a:latin typeface="Times New Roman" pitchFamily="18" charset="0"/>
                <a:cs typeface="Times New Roman" pitchFamily="18" charset="0"/>
              </a:rPr>
              <a:t>	}</a:t>
            </a:r>
          </a:p>
          <a:p>
            <a:pPr>
              <a:lnSpc>
                <a:spcPct val="88000"/>
              </a:lnSpc>
            </a:pPr>
            <a:endParaRPr lang="en-US" sz="1400" dirty="0">
              <a:latin typeface="Times New Roman" pitchFamily="18" charset="0"/>
              <a:cs typeface="Times New Roman" pitchFamily="18" charset="0"/>
            </a:endParaRPr>
          </a:p>
          <a:p>
            <a:pPr>
              <a:lnSpc>
                <a:spcPct val="88000"/>
              </a:lnSpc>
            </a:pPr>
            <a:r>
              <a:rPr lang="en-US" sz="1600" dirty="0">
                <a:latin typeface="Times New Roman" pitchFamily="18" charset="0"/>
                <a:cs typeface="Times New Roman" pitchFamily="18" charset="0"/>
              </a:rPr>
              <a:t>	public void </a:t>
            </a:r>
            <a:r>
              <a:rPr lang="en-US" sz="1600" dirty="0" err="1">
                <a:latin typeface="Times New Roman" pitchFamily="18" charset="0"/>
                <a:cs typeface="Times New Roman" pitchFamily="18" charset="0"/>
              </a:rPr>
              <a:t>drawCar</a:t>
            </a:r>
            <a:r>
              <a:rPr lang="en-US" sz="1600" dirty="0">
                <a:latin typeface="Times New Roman" pitchFamily="18" charset="0"/>
                <a:cs typeface="Times New Roman" pitchFamily="18" charset="0"/>
              </a:rPr>
              <a:t>(Graphics g)</a:t>
            </a:r>
          </a:p>
          <a:p>
            <a:pPr>
              <a:lnSpc>
                <a:spcPct val="88000"/>
              </a:lnSpc>
            </a:pPr>
            <a:r>
              <a:rPr lang="en-US" sz="1600" dirty="0">
                <a:latin typeface="Times New Roman" pitchFamily="18" charset="0"/>
                <a:cs typeface="Times New Roman" pitchFamily="18" charset="0"/>
              </a:rPr>
              <a:t>	{</a:t>
            </a:r>
          </a:p>
          <a:p>
            <a:pPr>
              <a:lnSpc>
                <a:spcPct val="88000"/>
              </a:lnSpc>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g.setColor</a:t>
            </a:r>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carColor</a:t>
            </a:r>
            <a:r>
              <a:rPr lang="en-US" sz="1600" dirty="0">
                <a:latin typeface="Times New Roman" pitchFamily="18" charset="0"/>
                <a:cs typeface="Times New Roman" pitchFamily="18" charset="0"/>
              </a:rPr>
              <a:t>);</a:t>
            </a:r>
          </a:p>
          <a:p>
            <a:pPr>
              <a:lnSpc>
                <a:spcPct val="88000"/>
              </a:lnSpc>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g.fillRect</a:t>
            </a:r>
            <a:r>
              <a:rPr lang="en-US" sz="1600" dirty="0">
                <a:latin typeface="Times New Roman" pitchFamily="18" charset="0"/>
                <a:cs typeface="Times New Roman" pitchFamily="18" charset="0"/>
              </a:rPr>
              <a:t>(325,250,150,100);</a:t>
            </a:r>
          </a:p>
          <a:p>
            <a:pPr>
              <a:lnSpc>
                <a:spcPct val="88000"/>
              </a:lnSpc>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g.setColor</a:t>
            </a:r>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Color.black</a:t>
            </a:r>
            <a:r>
              <a:rPr lang="en-US" sz="1600" dirty="0">
                <a:latin typeface="Times New Roman" pitchFamily="18" charset="0"/>
                <a:cs typeface="Times New Roman" pitchFamily="18" charset="0"/>
              </a:rPr>
              <a:t>);</a:t>
            </a:r>
          </a:p>
          <a:p>
            <a:pPr>
              <a:lnSpc>
                <a:spcPct val="88000"/>
              </a:lnSpc>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g.fillOval</a:t>
            </a:r>
            <a:r>
              <a:rPr lang="en-US" sz="1600" dirty="0">
                <a:latin typeface="Times New Roman" pitchFamily="18" charset="0"/>
                <a:cs typeface="Times New Roman" pitchFamily="18" charset="0"/>
              </a:rPr>
              <a:t>(330,325,50,50);</a:t>
            </a:r>
          </a:p>
          <a:p>
            <a:pPr>
              <a:lnSpc>
                <a:spcPct val="88000"/>
              </a:lnSpc>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g.fillOval</a:t>
            </a:r>
            <a:r>
              <a:rPr lang="en-US" sz="1600" dirty="0">
                <a:latin typeface="Times New Roman" pitchFamily="18" charset="0"/>
                <a:cs typeface="Times New Roman" pitchFamily="18" charset="0"/>
              </a:rPr>
              <a:t>(420,325,50,50);</a:t>
            </a:r>
          </a:p>
          <a:p>
            <a:pPr>
              <a:lnSpc>
                <a:spcPct val="70000"/>
              </a:lnSpc>
            </a:pPr>
            <a:r>
              <a:rPr lang="en-US" sz="1600" dirty="0">
                <a:latin typeface="Times New Roman" pitchFamily="18" charset="0"/>
                <a:cs typeface="Times New Roman" pitchFamily="18" charset="0"/>
              </a:rPr>
              <a:t>	}</a:t>
            </a:r>
          </a:p>
          <a:p>
            <a:pPr>
              <a:lnSpc>
                <a:spcPct val="70000"/>
              </a:lnSpc>
            </a:pP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73519" y="3886200"/>
            <a:ext cx="4070481" cy="2970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Group 6"/>
          <p:cNvGrpSpPr/>
          <p:nvPr/>
        </p:nvGrpSpPr>
        <p:grpSpPr>
          <a:xfrm>
            <a:off x="2971800" y="4710663"/>
            <a:ext cx="3429000" cy="1690137"/>
            <a:chOff x="2971800" y="4710663"/>
            <a:chExt cx="3429000" cy="1690137"/>
          </a:xfrm>
        </p:grpSpPr>
        <p:pic>
          <p:nvPicPr>
            <p:cNvPr id="9"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6650" t="57068" r="8025" b="7229"/>
            <a:stretch/>
          </p:blipFill>
          <p:spPr bwMode="auto">
            <a:xfrm>
              <a:off x="2971800" y="4710663"/>
              <a:ext cx="1850571" cy="1690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p:nvCxnSpPr>
          <p:spPr bwMode="auto">
            <a:xfrm flipH="1" flipV="1">
              <a:off x="4822371" y="4710663"/>
              <a:ext cx="1578429" cy="394737"/>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12" name="Straight Connector 11"/>
            <p:cNvCxnSpPr/>
            <p:nvPr/>
          </p:nvCxnSpPr>
          <p:spPr bwMode="auto">
            <a:xfrm flipH="1">
              <a:off x="4822370" y="5500138"/>
              <a:ext cx="1578430" cy="900662"/>
            </a:xfrm>
            <a:prstGeom prst="line">
              <a:avLst/>
            </a:prstGeom>
            <a:solidFill>
              <a:schemeClr val="accent1"/>
            </a:solidFill>
            <a:ln w="9525" cap="flat" cmpd="sng" algn="ctr">
              <a:solidFill>
                <a:schemeClr val="tx1"/>
              </a:solidFill>
              <a:prstDash val="lgDash"/>
              <a:round/>
              <a:headEnd type="none" w="med" len="med"/>
              <a:tailEnd type="none" w="med" len="med"/>
            </a:ln>
            <a:effectLst/>
          </p:spPr>
        </p:cxnSp>
      </p:grpSp>
    </p:spTree>
    <p:extLst>
      <p:ext uri="{BB962C8B-B14F-4D97-AF65-F5344CB8AC3E}">
        <p14:creationId xmlns:p14="http://schemas.microsoft.com/office/powerpoint/2010/main" val="3272529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1"/>
            <a:ext cx="9144000" cy="6863417"/>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2000" dirty="0">
                <a:latin typeface="Times New Roman" pitchFamily="18" charset="0"/>
                <a:cs typeface="Times New Roman" pitchFamily="18" charset="0"/>
              </a:rPr>
              <a:t>// Java1414.java</a:t>
            </a:r>
          </a:p>
          <a:p>
            <a:r>
              <a:rPr lang="en-US" sz="2000" dirty="0">
                <a:latin typeface="Times New Roman" pitchFamily="18" charset="0"/>
                <a:cs typeface="Times New Roman" pitchFamily="18" charset="0"/>
              </a:rPr>
              <a:t>// Train case study, Stage #2</a:t>
            </a:r>
          </a:p>
          <a:p>
            <a:r>
              <a:rPr lang="en-US" sz="2000" dirty="0">
                <a:latin typeface="Times New Roman" pitchFamily="18" charset="0"/>
                <a:cs typeface="Times New Roman" pitchFamily="18" charset="0"/>
              </a:rPr>
              <a:t>// This program improves the &lt;</a:t>
            </a:r>
            <a:r>
              <a:rPr lang="en-US" sz="2000" dirty="0" err="1">
                <a:latin typeface="Times New Roman" pitchFamily="18" charset="0"/>
                <a:cs typeface="Times New Roman" pitchFamily="18" charset="0"/>
              </a:rPr>
              <a:t>RailCar</a:t>
            </a:r>
            <a:r>
              <a:rPr lang="en-US" sz="2000" dirty="0">
                <a:latin typeface="Times New Roman" pitchFamily="18" charset="0"/>
                <a:cs typeface="Times New Roman" pitchFamily="18" charset="0"/>
              </a:rPr>
              <a:t>&gt; class by constructing</a:t>
            </a:r>
          </a:p>
          <a:p>
            <a:r>
              <a:rPr lang="en-US" sz="2000" dirty="0">
                <a:latin typeface="Times New Roman" pitchFamily="18" charset="0"/>
                <a:cs typeface="Times New Roman" pitchFamily="18" charset="0"/>
              </a:rPr>
              <a:t>// new objects with a specified color and a specified location.</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import </a:t>
            </a:r>
            <a:r>
              <a:rPr lang="en-US" sz="2000" dirty="0" err="1">
                <a:latin typeface="Times New Roman" pitchFamily="18" charset="0"/>
                <a:cs typeface="Times New Roman" pitchFamily="18" charset="0"/>
              </a:rPr>
              <a:t>java.awt</a:t>
            </a:r>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import </a:t>
            </a:r>
            <a:r>
              <a:rPr lang="en-US" sz="2000" dirty="0" err="1">
                <a:latin typeface="Times New Roman" pitchFamily="18" charset="0"/>
                <a:cs typeface="Times New Roman" pitchFamily="18" charset="0"/>
              </a:rPr>
              <a:t>java.applet</a:t>
            </a:r>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public class Java1414 extends Applet</a:t>
            </a:r>
          </a:p>
          <a:p>
            <a:r>
              <a:rPr lang="en-US" sz="2000" dirty="0">
                <a:latin typeface="Times New Roman" pitchFamily="18" charset="0"/>
                <a:cs typeface="Times New Roman" pitchFamily="18" charset="0"/>
              </a:rPr>
              <a:t>{</a:t>
            </a:r>
          </a:p>
          <a:p>
            <a:r>
              <a:rPr lang="en-US" sz="2000" dirty="0">
                <a:latin typeface="Times New Roman" pitchFamily="18" charset="0"/>
                <a:cs typeface="Times New Roman" pitchFamily="18" charset="0"/>
              </a:rPr>
              <a:t>	public void paint(Graphics g)</a:t>
            </a:r>
          </a:p>
          <a:p>
            <a:r>
              <a:rPr lang="en-US" sz="2000" dirty="0">
                <a:latin typeface="Times New Roman" pitchFamily="18" charset="0"/>
                <a:cs typeface="Times New Roman" pitchFamily="18" charset="0"/>
              </a:rPr>
              <a:t>	{</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RailCar</a:t>
            </a:r>
            <a:r>
              <a:rPr lang="en-US" sz="2000" dirty="0">
                <a:latin typeface="Times New Roman" pitchFamily="18" charset="0"/>
                <a:cs typeface="Times New Roman" pitchFamily="18" charset="0"/>
              </a:rPr>
              <a:t> rc1 = new </a:t>
            </a:r>
            <a:r>
              <a:rPr lang="en-US" sz="2000" dirty="0" err="1">
                <a:latin typeface="Times New Roman" pitchFamily="18" charset="0"/>
                <a:cs typeface="Times New Roman" pitchFamily="18" charset="0"/>
              </a:rPr>
              <a:t>RailCar</a:t>
            </a:r>
            <a:r>
              <a:rPr lang="en-US" sz="2000" dirty="0">
                <a:latin typeface="Times New Roman" pitchFamily="18" charset="0"/>
                <a:cs typeface="Times New Roman" pitchFamily="18" charset="0"/>
              </a:rPr>
              <a:t>(Color.blue,100,250);</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RailCar</a:t>
            </a:r>
            <a:r>
              <a:rPr lang="en-US" sz="2000" dirty="0">
                <a:latin typeface="Times New Roman" pitchFamily="18" charset="0"/>
                <a:cs typeface="Times New Roman" pitchFamily="18" charset="0"/>
              </a:rPr>
              <a:t> rc2 = new </a:t>
            </a:r>
            <a:r>
              <a:rPr lang="en-US" sz="2000" dirty="0" err="1">
                <a:latin typeface="Times New Roman" pitchFamily="18" charset="0"/>
                <a:cs typeface="Times New Roman" pitchFamily="18" charset="0"/>
              </a:rPr>
              <a:t>RailCar</a:t>
            </a:r>
            <a:r>
              <a:rPr lang="en-US" sz="2000" dirty="0">
                <a:latin typeface="Times New Roman" pitchFamily="18" charset="0"/>
                <a:cs typeface="Times New Roman" pitchFamily="18" charset="0"/>
              </a:rPr>
              <a:t>(Color.green,275,250);</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RailCar</a:t>
            </a:r>
            <a:r>
              <a:rPr lang="en-US" sz="2000" dirty="0">
                <a:latin typeface="Times New Roman" pitchFamily="18" charset="0"/>
                <a:cs typeface="Times New Roman" pitchFamily="18" charset="0"/>
              </a:rPr>
              <a:t> rc3 = new </a:t>
            </a:r>
            <a:r>
              <a:rPr lang="en-US" sz="2000" dirty="0" err="1">
                <a:latin typeface="Times New Roman" pitchFamily="18" charset="0"/>
                <a:cs typeface="Times New Roman" pitchFamily="18" charset="0"/>
              </a:rPr>
              <a:t>RailCar</a:t>
            </a:r>
            <a:r>
              <a:rPr lang="en-US" sz="2000" dirty="0">
                <a:latin typeface="Times New Roman" pitchFamily="18" charset="0"/>
                <a:cs typeface="Times New Roman" pitchFamily="18" charset="0"/>
              </a:rPr>
              <a:t>(Color.yellow,450,250);</a:t>
            </a:r>
          </a:p>
          <a:p>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RailCar</a:t>
            </a:r>
            <a:r>
              <a:rPr lang="en-US" sz="2000" dirty="0">
                <a:latin typeface="Times New Roman" pitchFamily="18" charset="0"/>
                <a:cs typeface="Times New Roman" pitchFamily="18" charset="0"/>
              </a:rPr>
              <a:t> rc4 = new </a:t>
            </a:r>
            <a:r>
              <a:rPr lang="en-US" sz="2000" dirty="0" err="1">
                <a:latin typeface="Times New Roman" pitchFamily="18" charset="0"/>
                <a:cs typeface="Times New Roman" pitchFamily="18" charset="0"/>
              </a:rPr>
              <a:t>RailCar</a:t>
            </a:r>
            <a:r>
              <a:rPr lang="en-US" sz="2000" dirty="0">
                <a:latin typeface="Times New Roman" pitchFamily="18" charset="0"/>
                <a:cs typeface="Times New Roman" pitchFamily="18" charset="0"/>
              </a:rPr>
              <a:t>(Color.magenta,625,250);</a:t>
            </a:r>
          </a:p>
          <a:p>
            <a:r>
              <a:rPr lang="en-US" sz="2000" dirty="0">
                <a:latin typeface="Times New Roman" pitchFamily="18" charset="0"/>
                <a:cs typeface="Times New Roman" pitchFamily="18" charset="0"/>
              </a:rPr>
              <a:t>		rc1.drawCar(g);</a:t>
            </a:r>
          </a:p>
          <a:p>
            <a:r>
              <a:rPr lang="en-US" sz="2000" dirty="0">
                <a:latin typeface="Times New Roman" pitchFamily="18" charset="0"/>
                <a:cs typeface="Times New Roman" pitchFamily="18" charset="0"/>
              </a:rPr>
              <a:t>		rc2.drawCar(g);</a:t>
            </a:r>
          </a:p>
          <a:p>
            <a:r>
              <a:rPr lang="en-US" sz="2000" dirty="0">
                <a:latin typeface="Times New Roman" pitchFamily="18" charset="0"/>
                <a:cs typeface="Times New Roman" pitchFamily="18" charset="0"/>
              </a:rPr>
              <a:t>		rc3.drawCar(g);</a:t>
            </a:r>
          </a:p>
          <a:p>
            <a:r>
              <a:rPr lang="en-US" sz="2000" dirty="0">
                <a:latin typeface="Times New Roman" pitchFamily="18" charset="0"/>
                <a:cs typeface="Times New Roman" pitchFamily="18" charset="0"/>
              </a:rPr>
              <a:t>		rc4.drawCar(g);</a:t>
            </a:r>
          </a:p>
          <a:p>
            <a:r>
              <a:rPr lang="en-US" sz="2000" dirty="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pic>
        <p:nvPicPr>
          <p:cNvPr id="3" name="Picture 3" descr="C:\Users\JohnSchram\AppData\Local\Microsoft\Windows\Temporary Internet Files\Content.IE5\U7LLF55W\MP900401906[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08861" y="1371600"/>
            <a:ext cx="3430339"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1298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1"/>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900" dirty="0" smtClean="0">
              <a:latin typeface="Times New Roman" pitchFamily="18" charset="0"/>
              <a:cs typeface="Times New Roman" pitchFamily="18" charset="0"/>
            </a:endParaRP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smtClean="0">
                <a:latin typeface="Times New Roman" pitchFamily="18" charset="0"/>
                <a:cs typeface="Times New Roman" pitchFamily="18" charset="0"/>
              </a:rPr>
              <a:t>class </a:t>
            </a:r>
            <a:r>
              <a:rPr lang="en-US" sz="1900" dirty="0" err="1">
                <a:latin typeface="Times New Roman" pitchFamily="18" charset="0"/>
                <a:cs typeface="Times New Roman" pitchFamily="18" charset="0"/>
              </a:rPr>
              <a:t>RailCar</a:t>
            </a:r>
            <a:endParaRPr lang="en-US" sz="1900" dirty="0">
              <a:latin typeface="Times New Roman" pitchFamily="18" charset="0"/>
              <a:cs typeface="Times New Roman" pitchFamily="18" charset="0"/>
            </a:endParaRP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smtClean="0">
                <a:latin typeface="Times New Roman" pitchFamily="18" charset="0"/>
                <a:cs typeface="Times New Roman" pitchFamily="18" charset="0"/>
              </a:rPr>
              <a:t>	private </a:t>
            </a:r>
            <a:r>
              <a:rPr lang="en-US" sz="1900" dirty="0">
                <a:latin typeface="Times New Roman" pitchFamily="18" charset="0"/>
                <a:cs typeface="Times New Roman" pitchFamily="18" charset="0"/>
              </a:rPr>
              <a:t>Color </a:t>
            </a:r>
            <a:r>
              <a:rPr lang="en-US" sz="1900" dirty="0" err="1">
                <a:latin typeface="Times New Roman" pitchFamily="18" charset="0"/>
                <a:cs typeface="Times New Roman" pitchFamily="18" charset="0"/>
              </a:rPr>
              <a:t>carColor</a:t>
            </a:r>
            <a:r>
              <a:rPr lang="en-US" sz="1900" dirty="0">
                <a:latin typeface="Times New Roman" pitchFamily="18" charset="0"/>
                <a:cs typeface="Times New Roman" pitchFamily="18" charset="0"/>
              </a:rPr>
              <a:t>;</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private </a:t>
            </a:r>
            <a:r>
              <a:rPr lang="en-US" sz="1900" dirty="0" err="1">
                <a:latin typeface="Times New Roman" pitchFamily="18" charset="0"/>
                <a:cs typeface="Times New Roman" pitchFamily="18" charset="0"/>
              </a:rPr>
              <a:t>int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xPos</a:t>
            </a:r>
            <a:r>
              <a:rPr lang="en-US" sz="1900" dirty="0">
                <a:latin typeface="Times New Roman" pitchFamily="18" charset="0"/>
                <a:cs typeface="Times New Roman" pitchFamily="18" charset="0"/>
              </a:rPr>
              <a:t>;</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private </a:t>
            </a:r>
            <a:r>
              <a:rPr lang="en-US" sz="1900" dirty="0" err="1">
                <a:latin typeface="Times New Roman" pitchFamily="18" charset="0"/>
                <a:cs typeface="Times New Roman" pitchFamily="18" charset="0"/>
              </a:rPr>
              <a:t>int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yPos</a:t>
            </a:r>
            <a:r>
              <a:rPr lang="en-US" sz="1900" dirty="0">
                <a:latin typeface="Times New Roman" pitchFamily="18" charset="0"/>
                <a:cs typeface="Times New Roman" pitchFamily="18" charset="0"/>
              </a:rPr>
              <a:t>;</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900" dirty="0">
              <a:latin typeface="Times New Roman" pitchFamily="18" charset="0"/>
              <a:cs typeface="Times New Roman" pitchFamily="18" charset="0"/>
            </a:endParaRP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public </a:t>
            </a:r>
            <a:r>
              <a:rPr lang="en-US" sz="1900" dirty="0" err="1">
                <a:latin typeface="Times New Roman" pitchFamily="18" charset="0"/>
                <a:cs typeface="Times New Roman" pitchFamily="18" charset="0"/>
              </a:rPr>
              <a:t>RailCar</a:t>
            </a:r>
            <a:r>
              <a:rPr lang="en-US" sz="1900" dirty="0">
                <a:latin typeface="Times New Roman" pitchFamily="18" charset="0"/>
                <a:cs typeface="Times New Roman" pitchFamily="18" charset="0"/>
              </a:rPr>
              <a:t>(Color </a:t>
            </a:r>
            <a:r>
              <a:rPr lang="en-US" sz="1900" dirty="0" err="1">
                <a:latin typeface="Times New Roman" pitchFamily="18" charset="0"/>
                <a:cs typeface="Times New Roman" pitchFamily="18" charset="0"/>
              </a:rPr>
              <a:t>cC</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int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xP</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int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yP</a:t>
            </a:r>
            <a:r>
              <a:rPr lang="en-US" sz="1900" dirty="0">
                <a:latin typeface="Times New Roman" pitchFamily="18" charset="0"/>
                <a:cs typeface="Times New Roman" pitchFamily="18" charset="0"/>
              </a:rPr>
              <a:t>)</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carColor</a:t>
            </a:r>
            <a:r>
              <a:rPr lang="en-US" sz="1900" dirty="0">
                <a:latin typeface="Times New Roman" pitchFamily="18" charset="0"/>
                <a:cs typeface="Times New Roman" pitchFamily="18" charset="0"/>
              </a:rPr>
              <a:t> = </a:t>
            </a:r>
            <a:r>
              <a:rPr lang="en-US" sz="1900" dirty="0" err="1">
                <a:latin typeface="Times New Roman" pitchFamily="18" charset="0"/>
                <a:cs typeface="Times New Roman" pitchFamily="18" charset="0"/>
              </a:rPr>
              <a:t>cC</a:t>
            </a:r>
            <a:r>
              <a:rPr lang="en-US" sz="1900" dirty="0">
                <a:latin typeface="Times New Roman" pitchFamily="18" charset="0"/>
                <a:cs typeface="Times New Roman" pitchFamily="18" charset="0"/>
              </a:rPr>
              <a:t>;</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xPos</a:t>
            </a:r>
            <a:r>
              <a:rPr lang="en-US" sz="1900" dirty="0">
                <a:latin typeface="Times New Roman" pitchFamily="18" charset="0"/>
                <a:cs typeface="Times New Roman" pitchFamily="18" charset="0"/>
              </a:rPr>
              <a:t> = </a:t>
            </a:r>
            <a:r>
              <a:rPr lang="en-US" sz="1900" dirty="0" err="1">
                <a:latin typeface="Times New Roman" pitchFamily="18" charset="0"/>
                <a:cs typeface="Times New Roman" pitchFamily="18" charset="0"/>
              </a:rPr>
              <a:t>xP</a:t>
            </a:r>
            <a:r>
              <a:rPr lang="en-US" sz="1900" dirty="0">
                <a:latin typeface="Times New Roman" pitchFamily="18" charset="0"/>
                <a:cs typeface="Times New Roman" pitchFamily="18" charset="0"/>
              </a:rPr>
              <a:t>;</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yPos</a:t>
            </a:r>
            <a:r>
              <a:rPr lang="en-US" sz="1900" dirty="0">
                <a:latin typeface="Times New Roman" pitchFamily="18" charset="0"/>
                <a:cs typeface="Times New Roman" pitchFamily="18" charset="0"/>
              </a:rPr>
              <a:t> = </a:t>
            </a:r>
            <a:r>
              <a:rPr lang="en-US" sz="1900" dirty="0" err="1">
                <a:latin typeface="Times New Roman" pitchFamily="18" charset="0"/>
                <a:cs typeface="Times New Roman" pitchFamily="18" charset="0"/>
              </a:rPr>
              <a:t>yP</a:t>
            </a:r>
            <a:r>
              <a:rPr lang="en-US" sz="1900" dirty="0">
                <a:latin typeface="Times New Roman" pitchFamily="18" charset="0"/>
                <a:cs typeface="Times New Roman" pitchFamily="18" charset="0"/>
              </a:rPr>
              <a:t>;</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900" dirty="0">
              <a:latin typeface="Times New Roman" pitchFamily="18" charset="0"/>
              <a:cs typeface="Times New Roman" pitchFamily="18" charset="0"/>
            </a:endParaRP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public void </a:t>
            </a:r>
            <a:r>
              <a:rPr lang="en-US" sz="1900" dirty="0" err="1">
                <a:latin typeface="Times New Roman" pitchFamily="18" charset="0"/>
                <a:cs typeface="Times New Roman" pitchFamily="18" charset="0"/>
              </a:rPr>
              <a:t>drawCar</a:t>
            </a:r>
            <a:r>
              <a:rPr lang="en-US" sz="1900" dirty="0">
                <a:latin typeface="Times New Roman" pitchFamily="18" charset="0"/>
                <a:cs typeface="Times New Roman" pitchFamily="18" charset="0"/>
              </a:rPr>
              <a:t>(Graphics g)</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drawContainer</a:t>
            </a:r>
            <a:r>
              <a:rPr lang="en-US" sz="1900" dirty="0" smtClean="0">
                <a:latin typeface="Times New Roman" pitchFamily="18" charset="0"/>
                <a:cs typeface="Times New Roman" pitchFamily="18" charset="0"/>
              </a:rPr>
              <a:t>(g</a:t>
            </a:r>
            <a:r>
              <a:rPr lang="en-US" sz="1900" dirty="0">
                <a:latin typeface="Times New Roman" pitchFamily="18" charset="0"/>
                <a:cs typeface="Times New Roman" pitchFamily="18" charset="0"/>
              </a:rPr>
              <a:t>);</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drawRailWheels</a:t>
            </a:r>
            <a:r>
              <a:rPr lang="en-US" sz="1900" dirty="0" smtClean="0">
                <a:latin typeface="Times New Roman" pitchFamily="18" charset="0"/>
                <a:cs typeface="Times New Roman" pitchFamily="18" charset="0"/>
              </a:rPr>
              <a:t>(g</a:t>
            </a:r>
            <a:r>
              <a:rPr lang="en-US" sz="1900" dirty="0">
                <a:latin typeface="Times New Roman" pitchFamily="18" charset="0"/>
                <a:cs typeface="Times New Roman" pitchFamily="18" charset="0"/>
              </a:rPr>
              <a:t>);</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drawLink</a:t>
            </a:r>
            <a:r>
              <a:rPr lang="en-US" sz="1900" dirty="0" smtClean="0">
                <a:latin typeface="Times New Roman" pitchFamily="18" charset="0"/>
                <a:cs typeface="Times New Roman" pitchFamily="18" charset="0"/>
              </a:rPr>
              <a:t>(g</a:t>
            </a:r>
            <a:r>
              <a:rPr lang="en-US" sz="1900" dirty="0">
                <a:latin typeface="Times New Roman" pitchFamily="18" charset="0"/>
                <a:cs typeface="Times New Roman" pitchFamily="18" charset="0"/>
              </a:rPr>
              <a:t>);</a:t>
            </a:r>
          </a:p>
          <a:p>
            <a:pPr>
              <a:lnSpc>
                <a:spcPct val="110000"/>
              </a:lnSpc>
              <a:tabLst>
                <a:tab pos="228600" algn="l"/>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900" dirty="0">
                <a:latin typeface="Times New Roman" pitchFamily="18" charset="0"/>
                <a:cs typeface="Times New Roman" pitchFamily="18" charset="0"/>
              </a:rPr>
              <a:t>	}</a:t>
            </a:r>
          </a:p>
          <a:p>
            <a:pPr>
              <a:lnSpc>
                <a:spcPct val="110000"/>
              </a:lnSpc>
            </a:pPr>
            <a:r>
              <a:rPr lang="en-US" dirty="0">
                <a:latin typeface="Times New Roman" pitchFamily="18" charset="0"/>
                <a:cs typeface="Times New Roman" pitchFamily="18" charset="0"/>
              </a:rPr>
              <a:t>   </a:t>
            </a:r>
          </a:p>
        </p:txBody>
      </p:sp>
      <p:sp>
        <p:nvSpPr>
          <p:cNvPr id="4" name="Text Box 2"/>
          <p:cNvSpPr txBox="1">
            <a:spLocks noChangeArrowheads="1"/>
          </p:cNvSpPr>
          <p:nvPr/>
        </p:nvSpPr>
        <p:spPr bwMode="auto">
          <a:xfrm>
            <a:off x="4572000" y="-2"/>
            <a:ext cx="4572000" cy="6858000"/>
          </a:xfrm>
          <a:prstGeom prst="rect">
            <a:avLst/>
          </a:prstGeom>
          <a:solidFill>
            <a:srgbClr val="FFFF99"/>
          </a:solidFill>
          <a:ln w="57150">
            <a:solidFill>
              <a:schemeClr val="tx1"/>
            </a:solidFill>
            <a:miter lim="800000"/>
            <a:headEnd/>
            <a:tailEnd/>
          </a:ln>
        </p:spPr>
        <p:txBody>
          <a:bodyPr wrap="square">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110000"/>
              </a:lnSpc>
            </a:pPr>
            <a:r>
              <a:rPr lang="en-US" sz="1900" dirty="0" smtClean="0">
                <a:latin typeface="Times New Roman" pitchFamily="18" charset="0"/>
                <a:cs typeface="Times New Roman" pitchFamily="18" charset="0"/>
              </a:rPr>
              <a:t>   </a:t>
            </a:r>
          </a:p>
          <a:p>
            <a:pPr>
              <a:lnSpc>
                <a:spcPct val="110000"/>
              </a:lnSpc>
            </a:pPr>
            <a:r>
              <a:rPr lang="en-US" sz="1900" dirty="0" smtClean="0">
                <a:latin typeface="Times New Roman" pitchFamily="18" charset="0"/>
                <a:cs typeface="Times New Roman" pitchFamily="18" charset="0"/>
              </a:rPr>
              <a:t>   private </a:t>
            </a:r>
            <a:r>
              <a:rPr lang="en-US" sz="1900" dirty="0">
                <a:latin typeface="Times New Roman" pitchFamily="18" charset="0"/>
                <a:cs typeface="Times New Roman" pitchFamily="18" charset="0"/>
              </a:rPr>
              <a:t>void </a:t>
            </a:r>
            <a:r>
              <a:rPr lang="en-US" sz="1900" dirty="0" err="1">
                <a:latin typeface="Times New Roman" pitchFamily="18" charset="0"/>
                <a:cs typeface="Times New Roman" pitchFamily="18" charset="0"/>
              </a:rPr>
              <a:t>drawContainer</a:t>
            </a:r>
            <a:r>
              <a:rPr lang="en-US" sz="1900" dirty="0">
                <a:latin typeface="Times New Roman" pitchFamily="18" charset="0"/>
                <a:cs typeface="Times New Roman" pitchFamily="18" charset="0"/>
              </a:rPr>
              <a:t>(Graphics g)</a:t>
            </a:r>
          </a:p>
          <a:p>
            <a:pPr>
              <a:lnSpc>
                <a:spcPct val="110000"/>
              </a:lnSpc>
            </a:pPr>
            <a:r>
              <a:rPr lang="en-US" sz="1900" dirty="0">
                <a:latin typeface="Times New Roman" pitchFamily="18" charset="0"/>
                <a:cs typeface="Times New Roman" pitchFamily="18" charset="0"/>
              </a:rPr>
              <a:t>   {</a:t>
            </a:r>
          </a:p>
          <a:p>
            <a:pPr>
              <a:lnSpc>
                <a:spcPct val="110000"/>
              </a:lnSpc>
            </a:pP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g.setColor</a:t>
            </a:r>
            <a:r>
              <a:rPr lang="en-US" sz="1900" dirty="0">
                <a:latin typeface="Times New Roman" pitchFamily="18" charset="0"/>
                <a:cs typeface="Times New Roman" pitchFamily="18" charset="0"/>
              </a:rPr>
              <a:t>(</a:t>
            </a:r>
            <a:r>
              <a:rPr lang="en-US" sz="1900" dirty="0" err="1">
                <a:latin typeface="Times New Roman" pitchFamily="18" charset="0"/>
                <a:cs typeface="Times New Roman" pitchFamily="18" charset="0"/>
              </a:rPr>
              <a:t>carColor</a:t>
            </a:r>
            <a:r>
              <a:rPr lang="en-US" sz="1900" dirty="0">
                <a:latin typeface="Times New Roman" pitchFamily="18" charset="0"/>
                <a:cs typeface="Times New Roman" pitchFamily="18" charset="0"/>
              </a:rPr>
              <a:t>);</a:t>
            </a:r>
          </a:p>
          <a:p>
            <a:pPr>
              <a:lnSpc>
                <a:spcPct val="110000"/>
              </a:lnSpc>
            </a:pP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g.fillRect</a:t>
            </a:r>
            <a:r>
              <a:rPr lang="en-US" sz="1900" dirty="0">
                <a:latin typeface="Times New Roman" pitchFamily="18" charset="0"/>
                <a:cs typeface="Times New Roman" pitchFamily="18" charset="0"/>
              </a:rPr>
              <a:t>(xPos,yPos,150,100);</a:t>
            </a:r>
          </a:p>
          <a:p>
            <a:pPr>
              <a:lnSpc>
                <a:spcPct val="110000"/>
              </a:lnSpc>
            </a:pPr>
            <a:r>
              <a:rPr lang="en-US" sz="1900" dirty="0">
                <a:latin typeface="Times New Roman" pitchFamily="18" charset="0"/>
                <a:cs typeface="Times New Roman" pitchFamily="18" charset="0"/>
              </a:rPr>
              <a:t>   }</a:t>
            </a:r>
          </a:p>
          <a:p>
            <a:pPr>
              <a:lnSpc>
                <a:spcPct val="110000"/>
              </a:lnSpc>
            </a:pPr>
            <a:r>
              <a:rPr lang="en-US" sz="1900" dirty="0">
                <a:latin typeface="Times New Roman" pitchFamily="18" charset="0"/>
                <a:cs typeface="Times New Roman" pitchFamily="18" charset="0"/>
              </a:rPr>
              <a:t>   </a:t>
            </a:r>
          </a:p>
          <a:p>
            <a:pPr>
              <a:lnSpc>
                <a:spcPct val="110000"/>
              </a:lnSpc>
            </a:pPr>
            <a:r>
              <a:rPr lang="en-US" sz="1900" dirty="0">
                <a:latin typeface="Times New Roman" pitchFamily="18" charset="0"/>
                <a:cs typeface="Times New Roman" pitchFamily="18" charset="0"/>
              </a:rPr>
              <a:t>   </a:t>
            </a:r>
            <a:r>
              <a:rPr lang="en-US" sz="1900" spc="-30" dirty="0">
                <a:latin typeface="Times New Roman" pitchFamily="18" charset="0"/>
                <a:cs typeface="Times New Roman" pitchFamily="18" charset="0"/>
              </a:rPr>
              <a:t>private void </a:t>
            </a:r>
            <a:r>
              <a:rPr lang="en-US" sz="1900" spc="-30" dirty="0" err="1">
                <a:latin typeface="Times New Roman" pitchFamily="18" charset="0"/>
                <a:cs typeface="Times New Roman" pitchFamily="18" charset="0"/>
              </a:rPr>
              <a:t>drawRailWheels</a:t>
            </a:r>
            <a:r>
              <a:rPr lang="en-US" sz="1900" spc="-30" dirty="0">
                <a:latin typeface="Times New Roman" pitchFamily="18" charset="0"/>
                <a:cs typeface="Times New Roman" pitchFamily="18" charset="0"/>
              </a:rPr>
              <a:t>(Graphics g)</a:t>
            </a:r>
          </a:p>
          <a:p>
            <a:pPr>
              <a:lnSpc>
                <a:spcPct val="110000"/>
              </a:lnSpc>
            </a:pPr>
            <a:r>
              <a:rPr lang="en-US" sz="1900" dirty="0">
                <a:latin typeface="Times New Roman" pitchFamily="18" charset="0"/>
                <a:cs typeface="Times New Roman" pitchFamily="18" charset="0"/>
              </a:rPr>
              <a:t>   {</a:t>
            </a:r>
          </a:p>
          <a:p>
            <a:pPr>
              <a:lnSpc>
                <a:spcPct val="110000"/>
              </a:lnSpc>
            </a:pP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g.setColor</a:t>
            </a:r>
            <a:r>
              <a:rPr lang="en-US" sz="1900" dirty="0">
                <a:latin typeface="Times New Roman" pitchFamily="18" charset="0"/>
                <a:cs typeface="Times New Roman" pitchFamily="18" charset="0"/>
              </a:rPr>
              <a:t>(</a:t>
            </a:r>
            <a:r>
              <a:rPr lang="en-US" sz="1900" dirty="0" err="1">
                <a:latin typeface="Times New Roman" pitchFamily="18" charset="0"/>
                <a:cs typeface="Times New Roman" pitchFamily="18" charset="0"/>
              </a:rPr>
              <a:t>Color.black</a:t>
            </a:r>
            <a:r>
              <a:rPr lang="en-US" sz="1900" dirty="0">
                <a:latin typeface="Times New Roman" pitchFamily="18" charset="0"/>
                <a:cs typeface="Times New Roman" pitchFamily="18" charset="0"/>
              </a:rPr>
              <a:t>);</a:t>
            </a:r>
          </a:p>
          <a:p>
            <a:pPr>
              <a:lnSpc>
                <a:spcPct val="110000"/>
              </a:lnSpc>
            </a:pPr>
            <a:r>
              <a:rPr lang="en-US" sz="1900" dirty="0">
                <a:latin typeface="Times New Roman" pitchFamily="18" charset="0"/>
                <a:cs typeface="Times New Roman" pitchFamily="18" charset="0"/>
              </a:rPr>
              <a:t>	</a:t>
            </a:r>
            <a:r>
              <a:rPr lang="en-US" sz="1900" dirty="0" err="1" smtClean="0">
                <a:latin typeface="Times New Roman" pitchFamily="18" charset="0"/>
                <a:cs typeface="Times New Roman" pitchFamily="18" charset="0"/>
              </a:rPr>
              <a:t>g.fillOval</a:t>
            </a:r>
            <a:r>
              <a:rPr lang="en-US" sz="1900" dirty="0" smtClean="0">
                <a:latin typeface="Times New Roman" pitchFamily="18" charset="0"/>
                <a:cs typeface="Times New Roman" pitchFamily="18" charset="0"/>
              </a:rPr>
              <a:t>(xPos+5,yPos+75,50,50</a:t>
            </a:r>
            <a:r>
              <a:rPr lang="en-US" sz="1900" dirty="0">
                <a:latin typeface="Times New Roman" pitchFamily="18" charset="0"/>
                <a:cs typeface="Times New Roman" pitchFamily="18" charset="0"/>
              </a:rPr>
              <a:t>);</a:t>
            </a:r>
          </a:p>
          <a:p>
            <a:pPr>
              <a:lnSpc>
                <a:spcPct val="110000"/>
              </a:lnSpc>
            </a:pPr>
            <a:r>
              <a:rPr lang="en-US" sz="1900" dirty="0">
                <a:latin typeface="Times New Roman" pitchFamily="18" charset="0"/>
                <a:cs typeface="Times New Roman" pitchFamily="18" charset="0"/>
              </a:rPr>
              <a:t>	</a:t>
            </a:r>
            <a:r>
              <a:rPr lang="en-US" sz="1900" dirty="0" err="1" smtClean="0">
                <a:latin typeface="Times New Roman" pitchFamily="18" charset="0"/>
                <a:cs typeface="Times New Roman" pitchFamily="18" charset="0"/>
              </a:rPr>
              <a:t>g.fillOval</a:t>
            </a:r>
            <a:r>
              <a:rPr lang="en-US" sz="1900" dirty="0" smtClean="0">
                <a:latin typeface="Times New Roman" pitchFamily="18" charset="0"/>
                <a:cs typeface="Times New Roman" pitchFamily="18" charset="0"/>
              </a:rPr>
              <a:t>(xPos+95,yPos+75,50,50</a:t>
            </a:r>
            <a:r>
              <a:rPr lang="en-US" sz="1900" dirty="0">
                <a:latin typeface="Times New Roman" pitchFamily="18" charset="0"/>
                <a:cs typeface="Times New Roman" pitchFamily="18" charset="0"/>
              </a:rPr>
              <a:t>);  </a:t>
            </a:r>
          </a:p>
          <a:p>
            <a:pPr>
              <a:lnSpc>
                <a:spcPct val="110000"/>
              </a:lnSpc>
            </a:pPr>
            <a:r>
              <a:rPr lang="en-US" sz="1900" dirty="0" smtClean="0">
                <a:latin typeface="Times New Roman" pitchFamily="18" charset="0"/>
                <a:cs typeface="Times New Roman" pitchFamily="18" charset="0"/>
              </a:rPr>
              <a:t>   }</a:t>
            </a:r>
            <a:endParaRPr lang="en-US" sz="1900" dirty="0">
              <a:latin typeface="Times New Roman" pitchFamily="18" charset="0"/>
              <a:cs typeface="Times New Roman" pitchFamily="18" charset="0"/>
            </a:endParaRPr>
          </a:p>
          <a:p>
            <a:pPr>
              <a:lnSpc>
                <a:spcPct val="110000"/>
              </a:lnSpc>
            </a:pPr>
            <a:r>
              <a:rPr lang="en-US" sz="1900" dirty="0">
                <a:latin typeface="Times New Roman" pitchFamily="18" charset="0"/>
                <a:cs typeface="Times New Roman" pitchFamily="18" charset="0"/>
              </a:rPr>
              <a:t>    </a:t>
            </a:r>
          </a:p>
          <a:p>
            <a:pPr>
              <a:lnSpc>
                <a:spcPct val="110000"/>
              </a:lnSpc>
            </a:pPr>
            <a:r>
              <a:rPr lang="en-US" sz="1900" dirty="0">
                <a:latin typeface="Times New Roman" pitchFamily="18" charset="0"/>
                <a:cs typeface="Times New Roman" pitchFamily="18" charset="0"/>
              </a:rPr>
              <a:t>   private void </a:t>
            </a:r>
            <a:r>
              <a:rPr lang="en-US" sz="1900" dirty="0" err="1">
                <a:latin typeface="Times New Roman" pitchFamily="18" charset="0"/>
                <a:cs typeface="Times New Roman" pitchFamily="18" charset="0"/>
              </a:rPr>
              <a:t>drawLink</a:t>
            </a:r>
            <a:r>
              <a:rPr lang="en-US" sz="1900" dirty="0">
                <a:latin typeface="Times New Roman" pitchFamily="18" charset="0"/>
                <a:cs typeface="Times New Roman" pitchFamily="18" charset="0"/>
              </a:rPr>
              <a:t>(Graphics g)</a:t>
            </a:r>
          </a:p>
          <a:p>
            <a:pPr>
              <a:lnSpc>
                <a:spcPct val="110000"/>
              </a:lnSpc>
            </a:pPr>
            <a:r>
              <a:rPr lang="en-US" sz="1900" dirty="0">
                <a:latin typeface="Times New Roman" pitchFamily="18" charset="0"/>
                <a:cs typeface="Times New Roman" pitchFamily="18" charset="0"/>
              </a:rPr>
              <a:t>   {</a:t>
            </a:r>
          </a:p>
          <a:p>
            <a:pPr>
              <a:lnSpc>
                <a:spcPct val="110000"/>
              </a:lnSpc>
            </a:pPr>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g.setColor</a:t>
            </a:r>
            <a:r>
              <a:rPr lang="en-US" sz="1900" dirty="0" smtClean="0">
                <a:latin typeface="Times New Roman" pitchFamily="18" charset="0"/>
                <a:cs typeface="Times New Roman" pitchFamily="18" charset="0"/>
              </a:rPr>
              <a:t>(</a:t>
            </a:r>
            <a:r>
              <a:rPr lang="en-US" sz="1900" dirty="0" err="1" smtClean="0">
                <a:latin typeface="Times New Roman" pitchFamily="18" charset="0"/>
                <a:cs typeface="Times New Roman" pitchFamily="18" charset="0"/>
              </a:rPr>
              <a:t>Color.black</a:t>
            </a:r>
            <a:r>
              <a:rPr lang="en-US" sz="1900" dirty="0">
                <a:latin typeface="Times New Roman" pitchFamily="18" charset="0"/>
                <a:cs typeface="Times New Roman" pitchFamily="18" charset="0"/>
              </a:rPr>
              <a:t>);</a:t>
            </a:r>
          </a:p>
          <a:p>
            <a:pPr>
              <a:lnSpc>
                <a:spcPct val="110000"/>
              </a:lnSpc>
            </a:pPr>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g.fillRect</a:t>
            </a:r>
            <a:r>
              <a:rPr lang="en-US" sz="1900" dirty="0" smtClean="0">
                <a:latin typeface="Times New Roman" pitchFamily="18" charset="0"/>
                <a:cs typeface="Times New Roman" pitchFamily="18" charset="0"/>
              </a:rPr>
              <a:t>(xPos-25,yPos+80,25,5</a:t>
            </a:r>
            <a:r>
              <a:rPr lang="en-US" sz="1900" dirty="0">
                <a:latin typeface="Times New Roman" pitchFamily="18" charset="0"/>
                <a:cs typeface="Times New Roman" pitchFamily="18" charset="0"/>
              </a:rPr>
              <a:t>);</a:t>
            </a:r>
          </a:p>
          <a:p>
            <a:pPr>
              <a:lnSpc>
                <a:spcPct val="110000"/>
              </a:lnSpc>
            </a:pPr>
            <a:r>
              <a:rPr lang="en-US" sz="1900" dirty="0">
                <a:latin typeface="Times New Roman" pitchFamily="18" charset="0"/>
                <a:cs typeface="Times New Roman" pitchFamily="18" charset="0"/>
              </a:rPr>
              <a:t>   }</a:t>
            </a:r>
          </a:p>
          <a:p>
            <a:pPr>
              <a:lnSpc>
                <a:spcPct val="110000"/>
              </a:lnSpc>
            </a:pPr>
            <a:r>
              <a:rPr lang="en-US" sz="1900" dirty="0" smtClean="0">
                <a:latin typeface="Times New Roman" pitchFamily="18" charset="0"/>
                <a:cs typeface="Times New Roman" pitchFamily="18" charset="0"/>
              </a:rPr>
              <a:t>}</a:t>
            </a:r>
          </a:p>
          <a:p>
            <a:pPr>
              <a:lnSpc>
                <a:spcPct val="110000"/>
              </a:lnSpc>
            </a:pPr>
            <a:endParaRPr lang="en-US" sz="1900" dirty="0">
              <a:latin typeface="Times New Roman" pitchFamily="18" charset="0"/>
              <a:cs typeface="Times New Roman" pitchFamily="18" charset="0"/>
            </a:endParaRPr>
          </a:p>
        </p:txBody>
      </p:sp>
    </p:spTree>
    <p:extLst>
      <p:ext uri="{BB962C8B-B14F-4D97-AF65-F5344CB8AC3E}">
        <p14:creationId xmlns:p14="http://schemas.microsoft.com/office/powerpoint/2010/main" val="145871777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07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586401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1"/>
            <a:ext cx="9144000" cy="1258669"/>
          </a:xfrm>
        </p:spPr>
        <p:txBody>
          <a:bodyPr/>
          <a:lstStyle/>
          <a:p>
            <a:pPr eaLnBrk="1" hangingPunct="1"/>
            <a:r>
              <a:rPr lang="en-US" sz="4800" dirty="0" smtClean="0">
                <a:latin typeface="Arial Black" pitchFamily="34" charset="0"/>
              </a:rPr>
              <a:t>Train Case Study – Stage 3</a:t>
            </a:r>
          </a:p>
        </p:txBody>
      </p:sp>
      <p:sp>
        <p:nvSpPr>
          <p:cNvPr id="6147" name="Text Box 3"/>
          <p:cNvSpPr txBox="1">
            <a:spLocks noChangeArrowheads="1"/>
          </p:cNvSpPr>
          <p:nvPr/>
        </p:nvSpPr>
        <p:spPr bwMode="auto">
          <a:xfrm>
            <a:off x="1371600" y="1258669"/>
            <a:ext cx="6400800" cy="646331"/>
          </a:xfrm>
          <a:prstGeom prst="rect">
            <a:avLst/>
          </a:prstGeom>
          <a:solidFill>
            <a:srgbClr val="00FFCC"/>
          </a:solidFill>
          <a:ln w="57150">
            <a:solidFill>
              <a:schemeClr val="tx1"/>
            </a:solidFill>
            <a:miter lim="800000"/>
            <a:headEnd/>
            <a:tailEnd/>
          </a:ln>
        </p:spPr>
        <p:txBody>
          <a:bodyPr wrap="square">
            <a:spAutoFit/>
          </a:bodyPr>
          <a:lstStyle>
            <a:lvl1pPr eaLnBrk="0" hangingPunct="0">
              <a:tabLst>
                <a:tab pos="633413" algn="l"/>
              </a:tabLst>
              <a:defRPr b="1">
                <a:solidFill>
                  <a:schemeClr val="tx1"/>
                </a:solidFill>
                <a:latin typeface="Arial" charset="0"/>
              </a:defRPr>
            </a:lvl1pPr>
            <a:lvl2pPr marL="742950" indent="-285750" eaLnBrk="0" hangingPunct="0">
              <a:tabLst>
                <a:tab pos="633413" algn="l"/>
              </a:tabLst>
              <a:defRPr b="1">
                <a:solidFill>
                  <a:schemeClr val="tx1"/>
                </a:solidFill>
                <a:latin typeface="Arial" charset="0"/>
              </a:defRPr>
            </a:lvl2pPr>
            <a:lvl3pPr marL="1143000" indent="-228600" eaLnBrk="0" hangingPunct="0">
              <a:tabLst>
                <a:tab pos="633413" algn="l"/>
              </a:tabLst>
              <a:defRPr b="1">
                <a:solidFill>
                  <a:schemeClr val="tx1"/>
                </a:solidFill>
                <a:latin typeface="Arial" charset="0"/>
              </a:defRPr>
            </a:lvl3pPr>
            <a:lvl4pPr marL="1600200" indent="-228600" eaLnBrk="0" hangingPunct="0">
              <a:tabLst>
                <a:tab pos="633413" algn="l"/>
              </a:tabLst>
              <a:defRPr b="1">
                <a:solidFill>
                  <a:schemeClr val="tx1"/>
                </a:solidFill>
                <a:latin typeface="Arial" charset="0"/>
              </a:defRPr>
            </a:lvl4pPr>
            <a:lvl5pPr marL="2057400" indent="-228600" eaLnBrk="0" hangingPunct="0">
              <a:tabLst>
                <a:tab pos="633413" algn="l"/>
              </a:tabLst>
              <a:defRPr b="1">
                <a:solidFill>
                  <a:schemeClr val="tx1"/>
                </a:solidFill>
                <a:latin typeface="Arial" charset="0"/>
              </a:defRPr>
            </a:lvl5pPr>
            <a:lvl6pPr marL="2514600" indent="-228600" eaLnBrk="0" fontAlgn="base" hangingPunct="0">
              <a:spcBef>
                <a:spcPct val="0"/>
              </a:spcBef>
              <a:spcAft>
                <a:spcPct val="0"/>
              </a:spcAft>
              <a:tabLst>
                <a:tab pos="633413" algn="l"/>
              </a:tabLst>
              <a:defRPr b="1">
                <a:solidFill>
                  <a:schemeClr val="tx1"/>
                </a:solidFill>
                <a:latin typeface="Arial" charset="0"/>
              </a:defRPr>
            </a:lvl6pPr>
            <a:lvl7pPr marL="2971800" indent="-228600" eaLnBrk="0" fontAlgn="base" hangingPunct="0">
              <a:spcBef>
                <a:spcPct val="0"/>
              </a:spcBef>
              <a:spcAft>
                <a:spcPct val="0"/>
              </a:spcAft>
              <a:tabLst>
                <a:tab pos="633413" algn="l"/>
              </a:tabLst>
              <a:defRPr b="1">
                <a:solidFill>
                  <a:schemeClr val="tx1"/>
                </a:solidFill>
                <a:latin typeface="Arial" charset="0"/>
              </a:defRPr>
            </a:lvl7pPr>
            <a:lvl8pPr marL="3429000" indent="-228600" eaLnBrk="0" fontAlgn="base" hangingPunct="0">
              <a:spcBef>
                <a:spcPct val="0"/>
              </a:spcBef>
              <a:spcAft>
                <a:spcPct val="0"/>
              </a:spcAft>
              <a:tabLst>
                <a:tab pos="633413" algn="l"/>
              </a:tabLst>
              <a:defRPr b="1">
                <a:solidFill>
                  <a:schemeClr val="tx1"/>
                </a:solidFill>
                <a:latin typeface="Arial" charset="0"/>
              </a:defRPr>
            </a:lvl8pPr>
            <a:lvl9pPr marL="3886200" indent="-228600" eaLnBrk="0" fontAlgn="base" hangingPunct="0">
              <a:spcBef>
                <a:spcPct val="0"/>
              </a:spcBef>
              <a:spcAft>
                <a:spcPct val="0"/>
              </a:spcAft>
              <a:tabLst>
                <a:tab pos="633413" algn="l"/>
              </a:tabLst>
              <a:defRPr b="1">
                <a:solidFill>
                  <a:schemeClr val="tx1"/>
                </a:solidFill>
                <a:latin typeface="Arial" charset="0"/>
              </a:defRPr>
            </a:lvl9pPr>
          </a:lstStyle>
          <a:p>
            <a:pPr algn="ctr" eaLnBrk="1" hangingPunct="1"/>
            <a:r>
              <a:rPr lang="en-US" sz="3600" dirty="0" smtClean="0">
                <a:cs typeface="Arial" charset="0"/>
              </a:rPr>
              <a:t>Create a </a:t>
            </a:r>
            <a:r>
              <a:rPr lang="en-US" sz="3600" b="0" dirty="0" err="1" smtClean="0">
                <a:latin typeface="Arial Black" panose="020B0A04020102020204" pitchFamily="34" charset="0"/>
                <a:cs typeface="Arial" charset="0"/>
              </a:rPr>
              <a:t>FreightCar</a:t>
            </a:r>
            <a:r>
              <a:rPr lang="en-US" sz="3600" dirty="0" smtClean="0">
                <a:cs typeface="Arial" charset="0"/>
              </a:rPr>
              <a:t> class.</a:t>
            </a:r>
            <a:endParaRPr lang="en-US" sz="3600" dirty="0">
              <a:cs typeface="Arial" charset="0"/>
            </a:endParaRP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9286" t="31642" r="6428" b="27587"/>
          <a:stretch/>
        </p:blipFill>
        <p:spPr bwMode="auto">
          <a:xfrm>
            <a:off x="0" y="2209800"/>
            <a:ext cx="9144000" cy="25087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2"/>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Java1415.java</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Train case study, Stage #3</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This program adds the </a:t>
            </a:r>
            <a:r>
              <a:rPr lang="en-US" sz="1600" dirty="0" smtClean="0">
                <a:latin typeface="Times New Roman" pitchFamily="18" charset="0"/>
                <a:cs typeface="Times New Roman" pitchFamily="18" charset="0"/>
              </a:rPr>
              <a:t>&lt;</a:t>
            </a:r>
            <a:r>
              <a:rPr lang="en-US" sz="1600" dirty="0" err="1">
                <a:latin typeface="Times New Roman" pitchFamily="18" charset="0"/>
                <a:cs typeface="Times New Roman" pitchFamily="18" charset="0"/>
              </a:rPr>
              <a:t>FreightCar</a:t>
            </a:r>
            <a:r>
              <a:rPr lang="en-US" sz="1600" dirty="0">
                <a:latin typeface="Times New Roman" pitchFamily="18" charset="0"/>
                <a:cs typeface="Times New Roman" pitchFamily="18" charset="0"/>
              </a:rPr>
              <a:t>&gt; </a:t>
            </a:r>
            <a:endParaRPr lang="en-US" sz="1600" dirty="0" smtClean="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smtClean="0">
                <a:latin typeface="Times New Roman" pitchFamily="18" charset="0"/>
                <a:cs typeface="Times New Roman" pitchFamily="18" charset="0"/>
              </a:rPr>
              <a:t>// class, using </a:t>
            </a:r>
            <a:r>
              <a:rPr lang="en-US" sz="1600" dirty="0">
                <a:latin typeface="Times New Roman" pitchFamily="18" charset="0"/>
                <a:cs typeface="Times New Roman" pitchFamily="18" charset="0"/>
              </a:rPr>
              <a:t>inheritance, since a freight </a:t>
            </a:r>
            <a:endParaRPr lang="en-US" sz="1600" dirty="0" smtClean="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smtClean="0">
                <a:latin typeface="Times New Roman" pitchFamily="18" charset="0"/>
                <a:cs typeface="Times New Roman" pitchFamily="18" charset="0"/>
              </a:rPr>
              <a:t>// car </a:t>
            </a:r>
            <a:r>
              <a:rPr lang="en-US" sz="1600" dirty="0">
                <a:latin typeface="Times New Roman" pitchFamily="18" charset="0"/>
                <a:cs typeface="Times New Roman" pitchFamily="18" charset="0"/>
              </a:rPr>
              <a:t>is-a rail car.</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smtClean="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import </a:t>
            </a:r>
            <a:r>
              <a:rPr lang="en-US" sz="1600" dirty="0" err="1">
                <a:latin typeface="Times New Roman" pitchFamily="18" charset="0"/>
                <a:cs typeface="Times New Roman" pitchFamily="18" charset="0"/>
              </a:rPr>
              <a:t>java.awt</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import </a:t>
            </a:r>
            <a:r>
              <a:rPr lang="en-US" sz="1600" dirty="0" err="1">
                <a:latin typeface="Times New Roman" pitchFamily="18" charset="0"/>
                <a:cs typeface="Times New Roman" pitchFamily="18" charset="0"/>
              </a:rPr>
              <a:t>java.applet</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smtClean="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public class Java1415 extends Applet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public void paint(Graphics g)</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FreightCar</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loc</a:t>
            </a:r>
            <a:r>
              <a:rPr lang="en-US" sz="1600" dirty="0">
                <a:latin typeface="Times New Roman" pitchFamily="18" charset="0"/>
                <a:cs typeface="Times New Roman" pitchFamily="18" charset="0"/>
              </a:rPr>
              <a:t> = </a:t>
            </a:r>
            <a:endParaRPr lang="en-US" sz="1600" dirty="0" smtClean="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new </a:t>
            </a:r>
            <a:r>
              <a:rPr lang="en-US" sz="1600" dirty="0" err="1">
                <a:latin typeface="Times New Roman" pitchFamily="18" charset="0"/>
                <a:cs typeface="Times New Roman" pitchFamily="18" charset="0"/>
              </a:rPr>
              <a:t>FreightCar</a:t>
            </a:r>
            <a:r>
              <a:rPr lang="en-US" sz="1600" dirty="0">
                <a:latin typeface="Times New Roman" pitchFamily="18" charset="0"/>
                <a:cs typeface="Times New Roman" pitchFamily="18" charset="0"/>
              </a:rPr>
              <a:t>(Color.gray,70,250);</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loc.drawCar</a:t>
            </a:r>
            <a:r>
              <a:rPr lang="en-US" sz="1600" dirty="0">
                <a:latin typeface="Times New Roman" pitchFamily="18" charset="0"/>
                <a:cs typeface="Times New Roman" pitchFamily="18" charset="0"/>
              </a:rPr>
              <a:t>(g);</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smtClean="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class </a:t>
            </a:r>
            <a:r>
              <a:rPr lang="en-US" sz="1600" dirty="0" err="1">
                <a:latin typeface="Times New Roman" pitchFamily="18" charset="0"/>
                <a:cs typeface="Times New Roman" pitchFamily="18" charset="0"/>
              </a:rPr>
              <a:t>FreightCar</a:t>
            </a:r>
            <a:r>
              <a:rPr lang="en-US" sz="1600" dirty="0">
                <a:latin typeface="Times New Roman" pitchFamily="18" charset="0"/>
                <a:cs typeface="Times New Roman" pitchFamily="18" charset="0"/>
              </a:rPr>
              <a:t> extends </a:t>
            </a:r>
            <a:r>
              <a:rPr lang="en-US" sz="1600" dirty="0" err="1">
                <a:latin typeface="Times New Roman" pitchFamily="18" charset="0"/>
                <a:cs typeface="Times New Roman" pitchFamily="18" charset="0"/>
              </a:rPr>
              <a:t>RailCar</a:t>
            </a:r>
            <a:endParaRPr lang="en-US" sz="1600" dirty="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Color </a:t>
            </a:r>
            <a:r>
              <a:rPr lang="en-US" sz="1600" dirty="0" err="1">
                <a:latin typeface="Times New Roman" pitchFamily="18" charset="0"/>
                <a:cs typeface="Times New Roman" pitchFamily="18" charset="0"/>
              </a:rPr>
              <a:t>carColor</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xPos</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yPos</a:t>
            </a:r>
            <a:r>
              <a:rPr lang="en-US" sz="1600" dirty="0" smtClean="0">
                <a:latin typeface="Times New Roman" pitchFamily="18" charset="0"/>
                <a:cs typeface="Times New Roman" pitchFamily="18" charset="0"/>
              </a:rPr>
              <a:t>;</a:t>
            </a:r>
          </a:p>
        </p:txBody>
      </p:sp>
      <p:sp>
        <p:nvSpPr>
          <p:cNvPr id="4" name="Text Box 2"/>
          <p:cNvSpPr txBox="1">
            <a:spLocks noChangeArrowheads="1"/>
          </p:cNvSpPr>
          <p:nvPr/>
        </p:nvSpPr>
        <p:spPr bwMode="auto">
          <a:xfrm>
            <a:off x="4114800" y="0"/>
            <a:ext cx="5029200" cy="6858000"/>
          </a:xfrm>
          <a:prstGeom prst="rect">
            <a:avLst/>
          </a:prstGeom>
          <a:solidFill>
            <a:srgbClr val="FFFF99"/>
          </a:solidFill>
          <a:ln w="57150">
            <a:solidFill>
              <a:schemeClr val="tx1"/>
            </a:solidFill>
            <a:miter lim="800000"/>
            <a:headEnd/>
            <a:tailEnd/>
          </a:ln>
        </p:spPr>
        <p:txBody>
          <a:bodyPr wrap="square">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public </a:t>
            </a:r>
            <a:r>
              <a:rPr lang="en-US" sz="1600" dirty="0" err="1">
                <a:latin typeface="Times New Roman" pitchFamily="18" charset="0"/>
                <a:cs typeface="Times New Roman" pitchFamily="18" charset="0"/>
              </a:rPr>
              <a:t>FreightCar</a:t>
            </a:r>
            <a:r>
              <a:rPr lang="en-US" sz="1600" dirty="0">
                <a:latin typeface="Times New Roman" pitchFamily="18" charset="0"/>
                <a:cs typeface="Times New Roman" pitchFamily="18" charset="0"/>
              </a:rPr>
              <a:t>(Color </a:t>
            </a:r>
            <a:r>
              <a:rPr lang="en-US" sz="1600" dirty="0" err="1">
                <a:latin typeface="Times New Roman" pitchFamily="18" charset="0"/>
                <a:cs typeface="Times New Roman" pitchFamily="18" charset="0"/>
              </a:rPr>
              <a:t>cC</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xPos</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yPos</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super(</a:t>
            </a:r>
            <a:r>
              <a:rPr lang="en-US" sz="1600" dirty="0" err="1">
                <a:latin typeface="Times New Roman" pitchFamily="18" charset="0"/>
                <a:cs typeface="Times New Roman" pitchFamily="18" charset="0"/>
              </a:rPr>
              <a:t>cC,xPos,yPos</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carColor</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cC</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this.xPos</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xPos</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this.yPos</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yPos</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public void </a:t>
            </a:r>
            <a:r>
              <a:rPr lang="en-US" sz="1600" b="0" dirty="0" err="1">
                <a:latin typeface="Arial Black" panose="020B0A04020102020204" pitchFamily="34" charset="0"/>
                <a:cs typeface="Times New Roman" pitchFamily="18" charset="0"/>
              </a:rPr>
              <a:t>drawCar</a:t>
            </a:r>
            <a:r>
              <a:rPr lang="en-US" sz="1600" b="0" dirty="0">
                <a:latin typeface="Arial Black" panose="020B0A04020102020204" pitchFamily="34" charset="0"/>
                <a:cs typeface="Times New Roman" pitchFamily="18" charset="0"/>
              </a:rPr>
              <a:t>(Graphics g)</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r>
              <a:rPr lang="en-US" sz="1600" b="0" dirty="0" err="1">
                <a:latin typeface="Arial Black" panose="020B0A04020102020204" pitchFamily="34" charset="0"/>
                <a:cs typeface="Times New Roman" pitchFamily="18" charset="0"/>
              </a:rPr>
              <a:t>super.drawCar</a:t>
            </a:r>
            <a:r>
              <a:rPr lang="en-US" sz="1600" b="0" dirty="0">
                <a:latin typeface="Arial Black" panose="020B0A04020102020204" pitchFamily="34" charset="0"/>
                <a:cs typeface="Times New Roman" pitchFamily="18" charset="0"/>
              </a:rPr>
              <a:t>(g);</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r>
              <a:rPr lang="en-US" sz="1600" b="0" dirty="0" err="1">
                <a:latin typeface="Arial Black" panose="020B0A04020102020204" pitchFamily="34" charset="0"/>
                <a:cs typeface="Times New Roman" pitchFamily="18" charset="0"/>
              </a:rPr>
              <a:t>drawFreightDoors</a:t>
            </a:r>
            <a:r>
              <a:rPr lang="en-US" sz="1600" b="0" dirty="0">
                <a:latin typeface="Arial Black" panose="020B0A04020102020204" pitchFamily="34" charset="0"/>
                <a:cs typeface="Times New Roman" pitchFamily="18" charset="0"/>
              </a:rPr>
              <a:t>(g);</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void </a:t>
            </a:r>
            <a:r>
              <a:rPr lang="en-US" sz="1600" dirty="0" err="1">
                <a:latin typeface="Times New Roman" pitchFamily="18" charset="0"/>
                <a:cs typeface="Times New Roman" pitchFamily="18" charset="0"/>
              </a:rPr>
              <a:t>drawFreightDoors</a:t>
            </a:r>
            <a:r>
              <a:rPr lang="en-US" sz="1600" dirty="0">
                <a:latin typeface="Times New Roman" pitchFamily="18" charset="0"/>
                <a:cs typeface="Times New Roman" pitchFamily="18" charset="0"/>
              </a:rPr>
              <a:t>(Graphics g)</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g.setColor</a:t>
            </a:r>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Color.black</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g.drawRect</a:t>
            </a:r>
            <a:r>
              <a:rPr lang="en-US" sz="1600" dirty="0">
                <a:latin typeface="Times New Roman" pitchFamily="18" charset="0"/>
                <a:cs typeface="Times New Roman" pitchFamily="18" charset="0"/>
              </a:rPr>
              <a:t>(xPos+30,yPos+10,90,60);</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g.drawLine</a:t>
            </a:r>
            <a:r>
              <a:rPr lang="en-US" sz="1600" dirty="0" smtClean="0">
                <a:latin typeface="Times New Roman" pitchFamily="18" charset="0"/>
                <a:cs typeface="Times New Roman" pitchFamily="18" charset="0"/>
              </a:rPr>
              <a:t>(xPos+75,yPos+10,xPos+75,yPos+70</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g.drawLine</a:t>
            </a:r>
            <a:r>
              <a:rPr lang="en-US" sz="1600" dirty="0" smtClean="0">
                <a:latin typeface="Times New Roman" pitchFamily="18" charset="0"/>
                <a:cs typeface="Times New Roman" pitchFamily="18" charset="0"/>
              </a:rPr>
              <a:t>(xPos+30,yPos+10,xPos+75,yPos+70</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g.drawLine</a:t>
            </a:r>
            <a:r>
              <a:rPr lang="en-US" sz="1600" dirty="0" smtClean="0">
                <a:latin typeface="Times New Roman" pitchFamily="18" charset="0"/>
                <a:cs typeface="Times New Roman" pitchFamily="18" charset="0"/>
              </a:rPr>
              <a:t>(xPos+30,yPos+70,xPos+75,yPos+10</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g.drawLine</a:t>
            </a:r>
            <a:r>
              <a:rPr lang="en-US" sz="1600" dirty="0" smtClean="0">
                <a:latin typeface="Times New Roman" pitchFamily="18" charset="0"/>
                <a:cs typeface="Times New Roman" pitchFamily="18" charset="0"/>
              </a:rPr>
              <a:t>(xPos+75,yPos+10,xPos+120,yPos+70</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g.drawLine</a:t>
            </a:r>
            <a:r>
              <a:rPr lang="en-US" sz="1600" dirty="0" smtClean="0">
                <a:latin typeface="Times New Roman" pitchFamily="18" charset="0"/>
                <a:cs typeface="Times New Roman" pitchFamily="18" charset="0"/>
              </a:rPr>
              <a:t>(xPos+75,yPos+70,xPos+120,yPos+10</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g.fillRect</a:t>
            </a:r>
            <a:r>
              <a:rPr lang="en-US" sz="1600" dirty="0" smtClean="0">
                <a:latin typeface="Times New Roman" pitchFamily="18" charset="0"/>
                <a:cs typeface="Times New Roman" pitchFamily="18" charset="0"/>
              </a:rPr>
              <a:t>(xPos+66,yPos+35,5,15</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g.fillRect</a:t>
            </a:r>
            <a:r>
              <a:rPr lang="en-US" sz="1600" dirty="0" smtClean="0">
                <a:latin typeface="Times New Roman" pitchFamily="18" charset="0"/>
                <a:cs typeface="Times New Roman" pitchFamily="18" charset="0"/>
              </a:rPr>
              <a:t>(xPos+80,yPos+35,5,15</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p:txBody>
      </p:sp>
      <p:pic>
        <p:nvPicPr>
          <p:cNvPr id="5122" name="Picture 2" descr="C:\Users\JohnSchram\AppData\Local\Microsoft\Windows\Temporary Internet Files\Content.IE5\8K4SRM6H\4460767186_5d900b0222_z[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4200" y="381000"/>
            <a:ext cx="2011680" cy="1508760"/>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522" t="38464" r="74754" b="37771"/>
          <a:stretch/>
        </p:blipFill>
        <p:spPr bwMode="auto">
          <a:xfrm>
            <a:off x="2117927" y="1178920"/>
            <a:ext cx="1768273" cy="14118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034130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1"/>
            <a:ext cx="9144000" cy="1258669"/>
          </a:xfrm>
        </p:spPr>
        <p:txBody>
          <a:bodyPr/>
          <a:lstStyle/>
          <a:p>
            <a:pPr eaLnBrk="1" hangingPunct="1"/>
            <a:r>
              <a:rPr lang="en-US" sz="4800" dirty="0" smtClean="0">
                <a:latin typeface="Arial Black" pitchFamily="34" charset="0"/>
              </a:rPr>
              <a:t>Train Case Study – Stage 4</a:t>
            </a:r>
          </a:p>
        </p:txBody>
      </p:sp>
      <p:sp>
        <p:nvSpPr>
          <p:cNvPr id="6147" name="Text Box 3"/>
          <p:cNvSpPr txBox="1">
            <a:spLocks noChangeArrowheads="1"/>
          </p:cNvSpPr>
          <p:nvPr/>
        </p:nvSpPr>
        <p:spPr bwMode="auto">
          <a:xfrm>
            <a:off x="1219200" y="1258669"/>
            <a:ext cx="6705600" cy="646331"/>
          </a:xfrm>
          <a:prstGeom prst="rect">
            <a:avLst/>
          </a:prstGeom>
          <a:solidFill>
            <a:srgbClr val="00FFCC"/>
          </a:solidFill>
          <a:ln w="57150">
            <a:solidFill>
              <a:schemeClr val="tx1"/>
            </a:solidFill>
            <a:miter lim="800000"/>
            <a:headEnd/>
            <a:tailEnd/>
          </a:ln>
        </p:spPr>
        <p:txBody>
          <a:bodyPr wrap="square">
            <a:spAutoFit/>
          </a:bodyPr>
          <a:lstStyle>
            <a:lvl1pPr eaLnBrk="0" hangingPunct="0">
              <a:tabLst>
                <a:tab pos="633413" algn="l"/>
              </a:tabLst>
              <a:defRPr b="1">
                <a:solidFill>
                  <a:schemeClr val="tx1"/>
                </a:solidFill>
                <a:latin typeface="Arial" charset="0"/>
              </a:defRPr>
            </a:lvl1pPr>
            <a:lvl2pPr marL="742950" indent="-285750" eaLnBrk="0" hangingPunct="0">
              <a:tabLst>
                <a:tab pos="633413" algn="l"/>
              </a:tabLst>
              <a:defRPr b="1">
                <a:solidFill>
                  <a:schemeClr val="tx1"/>
                </a:solidFill>
                <a:latin typeface="Arial" charset="0"/>
              </a:defRPr>
            </a:lvl2pPr>
            <a:lvl3pPr marL="1143000" indent="-228600" eaLnBrk="0" hangingPunct="0">
              <a:tabLst>
                <a:tab pos="633413" algn="l"/>
              </a:tabLst>
              <a:defRPr b="1">
                <a:solidFill>
                  <a:schemeClr val="tx1"/>
                </a:solidFill>
                <a:latin typeface="Arial" charset="0"/>
              </a:defRPr>
            </a:lvl3pPr>
            <a:lvl4pPr marL="1600200" indent="-228600" eaLnBrk="0" hangingPunct="0">
              <a:tabLst>
                <a:tab pos="633413" algn="l"/>
              </a:tabLst>
              <a:defRPr b="1">
                <a:solidFill>
                  <a:schemeClr val="tx1"/>
                </a:solidFill>
                <a:latin typeface="Arial" charset="0"/>
              </a:defRPr>
            </a:lvl4pPr>
            <a:lvl5pPr marL="2057400" indent="-228600" eaLnBrk="0" hangingPunct="0">
              <a:tabLst>
                <a:tab pos="633413" algn="l"/>
              </a:tabLst>
              <a:defRPr b="1">
                <a:solidFill>
                  <a:schemeClr val="tx1"/>
                </a:solidFill>
                <a:latin typeface="Arial" charset="0"/>
              </a:defRPr>
            </a:lvl5pPr>
            <a:lvl6pPr marL="2514600" indent="-228600" eaLnBrk="0" fontAlgn="base" hangingPunct="0">
              <a:spcBef>
                <a:spcPct val="0"/>
              </a:spcBef>
              <a:spcAft>
                <a:spcPct val="0"/>
              </a:spcAft>
              <a:tabLst>
                <a:tab pos="633413" algn="l"/>
              </a:tabLst>
              <a:defRPr b="1">
                <a:solidFill>
                  <a:schemeClr val="tx1"/>
                </a:solidFill>
                <a:latin typeface="Arial" charset="0"/>
              </a:defRPr>
            </a:lvl6pPr>
            <a:lvl7pPr marL="2971800" indent="-228600" eaLnBrk="0" fontAlgn="base" hangingPunct="0">
              <a:spcBef>
                <a:spcPct val="0"/>
              </a:spcBef>
              <a:spcAft>
                <a:spcPct val="0"/>
              </a:spcAft>
              <a:tabLst>
                <a:tab pos="633413" algn="l"/>
              </a:tabLst>
              <a:defRPr b="1">
                <a:solidFill>
                  <a:schemeClr val="tx1"/>
                </a:solidFill>
                <a:latin typeface="Arial" charset="0"/>
              </a:defRPr>
            </a:lvl7pPr>
            <a:lvl8pPr marL="3429000" indent="-228600" eaLnBrk="0" fontAlgn="base" hangingPunct="0">
              <a:spcBef>
                <a:spcPct val="0"/>
              </a:spcBef>
              <a:spcAft>
                <a:spcPct val="0"/>
              </a:spcAft>
              <a:tabLst>
                <a:tab pos="633413" algn="l"/>
              </a:tabLst>
              <a:defRPr b="1">
                <a:solidFill>
                  <a:schemeClr val="tx1"/>
                </a:solidFill>
                <a:latin typeface="Arial" charset="0"/>
              </a:defRPr>
            </a:lvl8pPr>
            <a:lvl9pPr marL="3886200" indent="-228600" eaLnBrk="0" fontAlgn="base" hangingPunct="0">
              <a:spcBef>
                <a:spcPct val="0"/>
              </a:spcBef>
              <a:spcAft>
                <a:spcPct val="0"/>
              </a:spcAft>
              <a:tabLst>
                <a:tab pos="633413" algn="l"/>
              </a:tabLst>
              <a:defRPr b="1">
                <a:solidFill>
                  <a:schemeClr val="tx1"/>
                </a:solidFill>
                <a:latin typeface="Arial" charset="0"/>
              </a:defRPr>
            </a:lvl9pPr>
          </a:lstStyle>
          <a:p>
            <a:pPr algn="ctr" eaLnBrk="1" hangingPunct="1"/>
            <a:r>
              <a:rPr lang="en-US" sz="3600" dirty="0" smtClean="0">
                <a:cs typeface="Arial" charset="0"/>
              </a:rPr>
              <a:t>Create a </a:t>
            </a:r>
            <a:r>
              <a:rPr lang="en-US" sz="3600" b="0" dirty="0" smtClean="0">
                <a:latin typeface="Arial Black" panose="020B0A04020102020204" pitchFamily="34" charset="0"/>
                <a:cs typeface="Arial" charset="0"/>
              </a:rPr>
              <a:t>Locomotive</a:t>
            </a:r>
            <a:r>
              <a:rPr lang="en-US" sz="3600" dirty="0" smtClean="0">
                <a:cs typeface="Arial" charset="0"/>
              </a:rPr>
              <a:t> class.</a:t>
            </a:r>
            <a:endParaRPr lang="en-US" sz="3600" dirty="0">
              <a:cs typeface="Arial" charset="0"/>
            </a:endParaRPr>
          </a:p>
        </p:txBody>
      </p:sp>
      <p:pic>
        <p:nvPicPr>
          <p:cNvPr id="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8840" t="29536" r="6786" b="23239"/>
          <a:stretch/>
        </p:blipFill>
        <p:spPr bwMode="auto">
          <a:xfrm>
            <a:off x="0" y="2209800"/>
            <a:ext cx="9144000" cy="29028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508757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3"/>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Java1416.java</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Train case study, Stage #4</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This program adds the &lt;Locomotive&gt; </a:t>
            </a:r>
            <a:endParaRPr lang="en-US" sz="1600" dirty="0" smtClean="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smtClean="0">
                <a:latin typeface="Times New Roman" pitchFamily="18" charset="0"/>
                <a:cs typeface="Times New Roman" pitchFamily="18" charset="0"/>
              </a:rPr>
              <a:t>// class, using </a:t>
            </a:r>
            <a:r>
              <a:rPr lang="en-US" sz="1600" dirty="0">
                <a:latin typeface="Times New Roman" pitchFamily="18" charset="0"/>
                <a:cs typeface="Times New Roman" pitchFamily="18" charset="0"/>
              </a:rPr>
              <a:t>inheritance, since a </a:t>
            </a:r>
            <a:r>
              <a:rPr lang="en-US" sz="1600" dirty="0" smtClean="0">
                <a:latin typeface="Times New Roman" pitchFamily="18" charset="0"/>
                <a:cs typeface="Times New Roman" pitchFamily="18" charset="0"/>
              </a:rPr>
              <a:t>locomotive</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is-a railcar.</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smtClean="0">
                <a:latin typeface="Times New Roman" pitchFamily="18" charset="0"/>
                <a:cs typeface="Times New Roman" pitchFamily="18" charset="0"/>
              </a:rPr>
              <a:t>import </a:t>
            </a:r>
            <a:r>
              <a:rPr lang="en-US" sz="1600" dirty="0" err="1">
                <a:latin typeface="Times New Roman" pitchFamily="18" charset="0"/>
                <a:cs typeface="Times New Roman" pitchFamily="18" charset="0"/>
              </a:rPr>
              <a:t>java.awt</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import </a:t>
            </a:r>
            <a:r>
              <a:rPr lang="en-US" sz="1600" dirty="0" err="1">
                <a:latin typeface="Times New Roman" pitchFamily="18" charset="0"/>
                <a:cs typeface="Times New Roman" pitchFamily="18" charset="0"/>
              </a:rPr>
              <a:t>java.applet</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public class Java1416 extends Applet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public void paint(Graphics 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Locomotive </a:t>
            </a:r>
            <a:r>
              <a:rPr lang="en-US" sz="1600" dirty="0" err="1">
                <a:latin typeface="Times New Roman" pitchFamily="18" charset="0"/>
                <a:cs typeface="Times New Roman" pitchFamily="18" charset="0"/>
              </a:rPr>
              <a:t>loc</a:t>
            </a:r>
            <a:r>
              <a:rPr lang="en-US" sz="1600" dirty="0">
                <a:latin typeface="Times New Roman" pitchFamily="18" charset="0"/>
                <a:cs typeface="Times New Roman" pitchFamily="18" charset="0"/>
              </a:rPr>
              <a:t> = </a:t>
            </a:r>
            <a:r>
              <a:rPr lang="en-US" sz="1600" dirty="0" smtClean="0">
                <a:latin typeface="Times New Roman" pitchFamily="18" charset="0"/>
                <a:cs typeface="Times New Roman" pitchFamily="18" charset="0"/>
              </a:rPr>
              <a:t>new </a:t>
            </a:r>
            <a:r>
              <a:rPr lang="en-US" sz="1600" dirty="0">
                <a:latin typeface="Times New Roman" pitchFamily="18" charset="0"/>
                <a:cs typeface="Times New Roman" pitchFamily="18" charset="0"/>
              </a:rPr>
              <a:t>Locomotive(Color.blue,70,250);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loc.drawCar</a:t>
            </a:r>
            <a:r>
              <a:rPr lang="en-US" sz="1600" dirty="0">
                <a:latin typeface="Times New Roman" pitchFamily="18" charset="0"/>
                <a:cs typeface="Times New Roman" pitchFamily="18" charset="0"/>
              </a:rPr>
              <a:t>(g);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4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class Locomotive extends </a:t>
            </a:r>
            <a:r>
              <a:rPr lang="en-US" sz="1600" dirty="0" err="1">
                <a:latin typeface="Times New Roman" pitchFamily="18" charset="0"/>
                <a:cs typeface="Times New Roman" pitchFamily="18" charset="0"/>
              </a:rPr>
              <a:t>RailCar</a:t>
            </a:r>
            <a:endParaRPr lang="en-US" sz="16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Color </a:t>
            </a:r>
            <a:r>
              <a:rPr lang="en-US" sz="1600" dirty="0" err="1">
                <a:latin typeface="Times New Roman" pitchFamily="18" charset="0"/>
                <a:cs typeface="Times New Roman" pitchFamily="18" charset="0"/>
              </a:rPr>
              <a:t>carColor</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xPos</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yPos</a:t>
            </a:r>
            <a:r>
              <a:rPr lang="en-US" sz="1600" dirty="0" smtClean="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public Locomotive(Color </a:t>
            </a:r>
            <a:r>
              <a:rPr lang="en-US" sz="1600" dirty="0" err="1">
                <a:latin typeface="Times New Roman" pitchFamily="18" charset="0"/>
                <a:cs typeface="Times New Roman" pitchFamily="18" charset="0"/>
              </a:rPr>
              <a:t>cC</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xPos</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yPos</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super(</a:t>
            </a:r>
            <a:r>
              <a:rPr lang="en-US" sz="1600" dirty="0" err="1">
                <a:latin typeface="Times New Roman" pitchFamily="18" charset="0"/>
                <a:cs typeface="Times New Roman" pitchFamily="18" charset="0"/>
              </a:rPr>
              <a:t>cC,xPos,yPos</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carColor</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cC</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this.xPos</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xPos</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this.yPos</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yPos</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
        <p:nvSpPr>
          <p:cNvPr id="4" name="Text Box 2"/>
          <p:cNvSpPr txBox="1">
            <a:spLocks noChangeArrowheads="1"/>
          </p:cNvSpPr>
          <p:nvPr/>
        </p:nvSpPr>
        <p:spPr bwMode="auto">
          <a:xfrm>
            <a:off x="5334000" y="0"/>
            <a:ext cx="3810000" cy="6858000"/>
          </a:xfrm>
          <a:prstGeom prst="rect">
            <a:avLst/>
          </a:prstGeom>
          <a:solidFill>
            <a:srgbClr val="FFFF99"/>
          </a:solidFill>
          <a:ln w="57150">
            <a:solidFill>
              <a:schemeClr val="tx1"/>
            </a:solidFill>
            <a:miter lim="800000"/>
            <a:headEnd/>
            <a:tailEnd/>
          </a:ln>
        </p:spPr>
        <p:txBody>
          <a:bodyPr wrap="square">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r>
              <a:rPr lang="en-US" sz="1600" b="0" spc="-50" dirty="0">
                <a:latin typeface="Arial Black" panose="020B0A04020102020204" pitchFamily="34" charset="0"/>
                <a:cs typeface="Times New Roman" pitchFamily="18" charset="0"/>
              </a:rPr>
              <a:t>public void </a:t>
            </a:r>
            <a:r>
              <a:rPr lang="en-US" sz="1600" b="0" spc="-50" dirty="0" err="1">
                <a:latin typeface="Arial Black" panose="020B0A04020102020204" pitchFamily="34" charset="0"/>
                <a:cs typeface="Times New Roman" pitchFamily="18" charset="0"/>
              </a:rPr>
              <a:t>drawCar</a:t>
            </a:r>
            <a:r>
              <a:rPr lang="en-US" sz="1600" b="0" spc="-50" dirty="0">
                <a:latin typeface="Arial Black" panose="020B0A04020102020204" pitchFamily="34" charset="0"/>
                <a:cs typeface="Times New Roman" pitchFamily="18" charset="0"/>
              </a:rPr>
              <a:t>(Graphics 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r>
              <a:rPr lang="en-US" sz="1600" b="0" dirty="0" err="1">
                <a:latin typeface="Arial Black" panose="020B0A04020102020204" pitchFamily="34" charset="0"/>
                <a:cs typeface="Times New Roman" pitchFamily="18" charset="0"/>
              </a:rPr>
              <a:t>super.drawCar</a:t>
            </a:r>
            <a:r>
              <a:rPr lang="en-US" sz="1600" b="0" dirty="0">
                <a:latin typeface="Arial Black" panose="020B0A04020102020204" pitchFamily="34" charset="0"/>
                <a:cs typeface="Times New Roman" pitchFamily="18" charset="0"/>
              </a:rPr>
              <a:t>(g);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r>
              <a:rPr lang="en-US" sz="1600" b="0" dirty="0" err="1">
                <a:latin typeface="Arial Black" panose="020B0A04020102020204" pitchFamily="34" charset="0"/>
                <a:cs typeface="Times New Roman" pitchFamily="18" charset="0"/>
              </a:rPr>
              <a:t>drawScoop</a:t>
            </a:r>
            <a:r>
              <a:rPr lang="en-US" sz="1600" b="0" dirty="0">
                <a:latin typeface="Arial Black" panose="020B0A04020102020204" pitchFamily="34" charset="0"/>
                <a:cs typeface="Times New Roman" pitchFamily="18" charset="0"/>
              </a:rPr>
              <a:t>(g);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r>
              <a:rPr lang="en-US" sz="1600" b="0" dirty="0" err="1">
                <a:latin typeface="Arial Black" panose="020B0A04020102020204" pitchFamily="34" charset="0"/>
                <a:cs typeface="Times New Roman" pitchFamily="18" charset="0"/>
              </a:rPr>
              <a:t>drawFunnel</a:t>
            </a:r>
            <a:r>
              <a:rPr lang="en-US" sz="1600" b="0" dirty="0">
                <a:latin typeface="Arial Black" panose="020B0A04020102020204" pitchFamily="34" charset="0"/>
                <a:cs typeface="Times New Roman" pitchFamily="18" charset="0"/>
              </a:rPr>
              <a:t>(g);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2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void </a:t>
            </a:r>
            <a:r>
              <a:rPr lang="en-US" sz="1600" dirty="0" err="1">
                <a:latin typeface="Times New Roman" pitchFamily="18" charset="0"/>
                <a:cs typeface="Times New Roman" pitchFamily="18" charset="0"/>
              </a:rPr>
              <a:t>drawScoop</a:t>
            </a:r>
            <a:r>
              <a:rPr lang="en-US" sz="1600" dirty="0">
                <a:latin typeface="Times New Roman" pitchFamily="18" charset="0"/>
                <a:cs typeface="Times New Roman" pitchFamily="18" charset="0"/>
              </a:rPr>
              <a:t>(Graphics 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Polygon scoop = new Polygon();</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scoop.addPoint</a:t>
            </a:r>
            <a:r>
              <a:rPr lang="en-US" sz="1600" dirty="0">
                <a:latin typeface="Times New Roman" pitchFamily="18" charset="0"/>
                <a:cs typeface="Times New Roman" pitchFamily="18" charset="0"/>
              </a:rPr>
              <a:t>(xPos,yPos+50);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scoop.addPoint</a:t>
            </a:r>
            <a:r>
              <a:rPr lang="en-US" sz="1600" dirty="0">
                <a:latin typeface="Times New Roman" pitchFamily="18" charset="0"/>
                <a:cs typeface="Times New Roman" pitchFamily="18" charset="0"/>
              </a:rPr>
              <a:t>(xPos,yPos+100);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scoop.addPoint</a:t>
            </a:r>
            <a:r>
              <a:rPr lang="en-US" sz="1600" dirty="0">
                <a:latin typeface="Times New Roman" pitchFamily="18" charset="0"/>
                <a:cs typeface="Times New Roman" pitchFamily="18" charset="0"/>
              </a:rPr>
              <a:t>(xPos-50,yPos+100);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g.setColor</a:t>
            </a:r>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Color.black</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g.fillPolygon</a:t>
            </a:r>
            <a:r>
              <a:rPr lang="en-US" sz="1600" dirty="0">
                <a:latin typeface="Times New Roman" pitchFamily="18" charset="0"/>
                <a:cs typeface="Times New Roman" pitchFamily="18" charset="0"/>
              </a:rPr>
              <a:t>(scoop);</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2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void </a:t>
            </a:r>
            <a:r>
              <a:rPr lang="en-US" sz="1600" dirty="0" err="1">
                <a:latin typeface="Times New Roman" pitchFamily="18" charset="0"/>
                <a:cs typeface="Times New Roman" pitchFamily="18" charset="0"/>
              </a:rPr>
              <a:t>drawFunnel</a:t>
            </a:r>
            <a:r>
              <a:rPr lang="en-US" sz="1600" dirty="0">
                <a:latin typeface="Times New Roman" pitchFamily="18" charset="0"/>
                <a:cs typeface="Times New Roman" pitchFamily="18" charset="0"/>
              </a:rPr>
              <a:t>(Graphics 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Polygon funnel = new Polygon();</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funnel.addPoint</a:t>
            </a:r>
            <a:r>
              <a:rPr lang="en-US" sz="1600" dirty="0">
                <a:latin typeface="Times New Roman" pitchFamily="18" charset="0"/>
                <a:cs typeface="Times New Roman" pitchFamily="18" charset="0"/>
              </a:rPr>
              <a:t>(xPos+20,yPos);</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funnel.addPoint</a:t>
            </a:r>
            <a:r>
              <a:rPr lang="en-US" sz="1600" dirty="0">
                <a:latin typeface="Times New Roman" pitchFamily="18" charset="0"/>
                <a:cs typeface="Times New Roman" pitchFamily="18" charset="0"/>
              </a:rPr>
              <a:t>(xPos+20,yPos-30);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funnel.addPoint</a:t>
            </a:r>
            <a:r>
              <a:rPr lang="en-US" sz="1600" dirty="0">
                <a:latin typeface="Times New Roman" pitchFamily="18" charset="0"/>
                <a:cs typeface="Times New Roman" pitchFamily="18" charset="0"/>
              </a:rPr>
              <a:t>(xPos,yPos-50);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funnel.addPoint</a:t>
            </a:r>
            <a:r>
              <a:rPr lang="en-US" sz="1600" dirty="0">
                <a:latin typeface="Times New Roman" pitchFamily="18" charset="0"/>
                <a:cs typeface="Times New Roman" pitchFamily="18" charset="0"/>
              </a:rPr>
              <a:t>(xPos,yPos-60);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funnel.addPoint</a:t>
            </a:r>
            <a:r>
              <a:rPr lang="en-US" sz="1600" dirty="0">
                <a:latin typeface="Times New Roman" pitchFamily="18" charset="0"/>
                <a:cs typeface="Times New Roman" pitchFamily="18" charset="0"/>
              </a:rPr>
              <a:t>(xPos+60,yPos-60);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funnel.addPoint</a:t>
            </a:r>
            <a:r>
              <a:rPr lang="en-US" sz="1600" dirty="0">
                <a:latin typeface="Times New Roman" pitchFamily="18" charset="0"/>
                <a:cs typeface="Times New Roman" pitchFamily="18" charset="0"/>
              </a:rPr>
              <a:t>(xPos+60,yPos-50);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funnel.addPoint</a:t>
            </a:r>
            <a:r>
              <a:rPr lang="en-US" sz="1600" dirty="0">
                <a:latin typeface="Times New Roman" pitchFamily="18" charset="0"/>
                <a:cs typeface="Times New Roman" pitchFamily="18" charset="0"/>
              </a:rPr>
              <a:t>(xPos+40,yPos-30);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funnel.addPoint</a:t>
            </a:r>
            <a:r>
              <a:rPr lang="en-US" sz="1600" dirty="0">
                <a:latin typeface="Times New Roman" pitchFamily="18" charset="0"/>
                <a:cs typeface="Times New Roman" pitchFamily="18" charset="0"/>
              </a:rPr>
              <a:t>(xPos+40,yPos);</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g.setColor</a:t>
            </a:r>
            <a:r>
              <a:rPr lang="en-US" sz="1600" dirty="0" smtClean="0">
                <a:latin typeface="Times New Roman" pitchFamily="18" charset="0"/>
                <a:cs typeface="Times New Roman" pitchFamily="18" charset="0"/>
              </a:rPr>
              <a:t>(</a:t>
            </a:r>
            <a:r>
              <a:rPr lang="en-US" sz="1600" dirty="0" err="1" smtClean="0">
                <a:latin typeface="Times New Roman" pitchFamily="18" charset="0"/>
                <a:cs typeface="Times New Roman" pitchFamily="18" charset="0"/>
              </a:rPr>
              <a:t>Color.black</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g.fillPolygon</a:t>
            </a:r>
            <a:r>
              <a:rPr lang="en-US" sz="1600" dirty="0" smtClean="0">
                <a:latin typeface="Times New Roman" pitchFamily="18" charset="0"/>
                <a:cs typeface="Times New Roman" pitchFamily="18" charset="0"/>
              </a:rPr>
              <a:t>(funnel</a:t>
            </a:r>
            <a:r>
              <a:rPr lang="en-US" sz="1600" dirty="0">
                <a:latin typeface="Times New Roman" pitchFamily="18" charset="0"/>
                <a:cs typeface="Times New Roman" pitchFamily="18" charset="0"/>
              </a:rPr>
              <a:t>);	</a:t>
            </a:r>
            <a:endParaRPr lang="en-US" sz="1600" dirty="0" smtClean="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p:txBody>
      </p:sp>
      <p:pic>
        <p:nvPicPr>
          <p:cNvPr id="6" name="Picture 3" descr="C:\Users\JohnSchram\AppData\Local\Microsoft\Windows\Temporary Internet Files\Content.IE5\4IKOJ3QF\MC900233814[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4200" y="3196628"/>
            <a:ext cx="2061172" cy="2061172"/>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838" t="32003" r="75597" b="39386"/>
          <a:stretch/>
        </p:blipFill>
        <p:spPr bwMode="auto">
          <a:xfrm>
            <a:off x="3425443" y="990600"/>
            <a:ext cx="1729246"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059926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1"/>
            <a:ext cx="9144000" cy="1258669"/>
          </a:xfrm>
        </p:spPr>
        <p:txBody>
          <a:bodyPr/>
          <a:lstStyle/>
          <a:p>
            <a:pPr eaLnBrk="1" hangingPunct="1"/>
            <a:r>
              <a:rPr lang="en-US" sz="4800" dirty="0" smtClean="0">
                <a:latin typeface="Arial Black" pitchFamily="34" charset="0"/>
              </a:rPr>
              <a:t>Train Case Study – Stage 5</a:t>
            </a:r>
          </a:p>
        </p:txBody>
      </p:sp>
      <p:sp>
        <p:nvSpPr>
          <p:cNvPr id="6147" name="Text Box 3"/>
          <p:cNvSpPr txBox="1">
            <a:spLocks noChangeArrowheads="1"/>
          </p:cNvSpPr>
          <p:nvPr/>
        </p:nvSpPr>
        <p:spPr bwMode="auto">
          <a:xfrm>
            <a:off x="990600" y="1258669"/>
            <a:ext cx="7162800" cy="646331"/>
          </a:xfrm>
          <a:prstGeom prst="rect">
            <a:avLst/>
          </a:prstGeom>
          <a:solidFill>
            <a:srgbClr val="00FFCC"/>
          </a:solidFill>
          <a:ln w="57150">
            <a:solidFill>
              <a:schemeClr val="tx1"/>
            </a:solidFill>
            <a:miter lim="800000"/>
            <a:headEnd/>
            <a:tailEnd/>
          </a:ln>
        </p:spPr>
        <p:txBody>
          <a:bodyPr wrap="square">
            <a:spAutoFit/>
          </a:bodyPr>
          <a:lstStyle>
            <a:lvl1pPr eaLnBrk="0" hangingPunct="0">
              <a:tabLst>
                <a:tab pos="633413" algn="l"/>
              </a:tabLst>
              <a:defRPr b="1">
                <a:solidFill>
                  <a:schemeClr val="tx1"/>
                </a:solidFill>
                <a:latin typeface="Arial" charset="0"/>
              </a:defRPr>
            </a:lvl1pPr>
            <a:lvl2pPr marL="742950" indent="-285750" eaLnBrk="0" hangingPunct="0">
              <a:tabLst>
                <a:tab pos="633413" algn="l"/>
              </a:tabLst>
              <a:defRPr b="1">
                <a:solidFill>
                  <a:schemeClr val="tx1"/>
                </a:solidFill>
                <a:latin typeface="Arial" charset="0"/>
              </a:defRPr>
            </a:lvl2pPr>
            <a:lvl3pPr marL="1143000" indent="-228600" eaLnBrk="0" hangingPunct="0">
              <a:tabLst>
                <a:tab pos="633413" algn="l"/>
              </a:tabLst>
              <a:defRPr b="1">
                <a:solidFill>
                  <a:schemeClr val="tx1"/>
                </a:solidFill>
                <a:latin typeface="Arial" charset="0"/>
              </a:defRPr>
            </a:lvl3pPr>
            <a:lvl4pPr marL="1600200" indent="-228600" eaLnBrk="0" hangingPunct="0">
              <a:tabLst>
                <a:tab pos="633413" algn="l"/>
              </a:tabLst>
              <a:defRPr b="1">
                <a:solidFill>
                  <a:schemeClr val="tx1"/>
                </a:solidFill>
                <a:latin typeface="Arial" charset="0"/>
              </a:defRPr>
            </a:lvl4pPr>
            <a:lvl5pPr marL="2057400" indent="-228600" eaLnBrk="0" hangingPunct="0">
              <a:tabLst>
                <a:tab pos="633413" algn="l"/>
              </a:tabLst>
              <a:defRPr b="1">
                <a:solidFill>
                  <a:schemeClr val="tx1"/>
                </a:solidFill>
                <a:latin typeface="Arial" charset="0"/>
              </a:defRPr>
            </a:lvl5pPr>
            <a:lvl6pPr marL="2514600" indent="-228600" eaLnBrk="0" fontAlgn="base" hangingPunct="0">
              <a:spcBef>
                <a:spcPct val="0"/>
              </a:spcBef>
              <a:spcAft>
                <a:spcPct val="0"/>
              </a:spcAft>
              <a:tabLst>
                <a:tab pos="633413" algn="l"/>
              </a:tabLst>
              <a:defRPr b="1">
                <a:solidFill>
                  <a:schemeClr val="tx1"/>
                </a:solidFill>
                <a:latin typeface="Arial" charset="0"/>
              </a:defRPr>
            </a:lvl6pPr>
            <a:lvl7pPr marL="2971800" indent="-228600" eaLnBrk="0" fontAlgn="base" hangingPunct="0">
              <a:spcBef>
                <a:spcPct val="0"/>
              </a:spcBef>
              <a:spcAft>
                <a:spcPct val="0"/>
              </a:spcAft>
              <a:tabLst>
                <a:tab pos="633413" algn="l"/>
              </a:tabLst>
              <a:defRPr b="1">
                <a:solidFill>
                  <a:schemeClr val="tx1"/>
                </a:solidFill>
                <a:latin typeface="Arial" charset="0"/>
              </a:defRPr>
            </a:lvl7pPr>
            <a:lvl8pPr marL="3429000" indent="-228600" eaLnBrk="0" fontAlgn="base" hangingPunct="0">
              <a:spcBef>
                <a:spcPct val="0"/>
              </a:spcBef>
              <a:spcAft>
                <a:spcPct val="0"/>
              </a:spcAft>
              <a:tabLst>
                <a:tab pos="633413" algn="l"/>
              </a:tabLst>
              <a:defRPr b="1">
                <a:solidFill>
                  <a:schemeClr val="tx1"/>
                </a:solidFill>
                <a:latin typeface="Arial" charset="0"/>
              </a:defRPr>
            </a:lvl8pPr>
            <a:lvl9pPr marL="3886200" indent="-228600" eaLnBrk="0" fontAlgn="base" hangingPunct="0">
              <a:spcBef>
                <a:spcPct val="0"/>
              </a:spcBef>
              <a:spcAft>
                <a:spcPct val="0"/>
              </a:spcAft>
              <a:tabLst>
                <a:tab pos="633413" algn="l"/>
              </a:tabLst>
              <a:defRPr b="1">
                <a:solidFill>
                  <a:schemeClr val="tx1"/>
                </a:solidFill>
                <a:latin typeface="Arial" charset="0"/>
              </a:defRPr>
            </a:lvl9pPr>
          </a:lstStyle>
          <a:p>
            <a:pPr algn="ctr" eaLnBrk="1" hangingPunct="1"/>
            <a:r>
              <a:rPr lang="en-US" sz="3600" dirty="0" smtClean="0">
                <a:cs typeface="Arial" charset="0"/>
              </a:rPr>
              <a:t>Create a </a:t>
            </a:r>
            <a:r>
              <a:rPr lang="en-US" sz="3600" b="0" dirty="0" err="1" smtClean="0">
                <a:latin typeface="Arial Black" panose="020B0A04020102020204" pitchFamily="34" charset="0"/>
                <a:cs typeface="Arial" charset="0"/>
              </a:rPr>
              <a:t>PassengerCar</a:t>
            </a:r>
            <a:r>
              <a:rPr lang="en-US" sz="3600" dirty="0" smtClean="0">
                <a:cs typeface="Arial" charset="0"/>
              </a:rPr>
              <a:t> class.</a:t>
            </a:r>
            <a:endParaRPr lang="en-US" sz="3600" dirty="0">
              <a:cs typeface="Arial" charset="0"/>
            </a:endParaRPr>
          </a:p>
        </p:txBody>
      </p:sp>
      <p:pic>
        <p:nvPicPr>
          <p:cNvPr id="819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343" t="37603" r="13438" b="18182"/>
          <a:stretch/>
        </p:blipFill>
        <p:spPr bwMode="auto">
          <a:xfrm>
            <a:off x="0" y="2209800"/>
            <a:ext cx="9144000" cy="27228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634535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3"/>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Java1417.java</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Train case study, Stage #5</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This program adds the &lt;</a:t>
            </a:r>
            <a:r>
              <a:rPr lang="en-US" sz="1600" dirty="0" err="1">
                <a:latin typeface="Times New Roman" pitchFamily="18" charset="0"/>
                <a:cs typeface="Times New Roman" pitchFamily="18" charset="0"/>
              </a:rPr>
              <a:t>PassengerCar</a:t>
            </a:r>
            <a:r>
              <a:rPr lang="en-US" sz="1600" dirty="0">
                <a:latin typeface="Times New Roman" pitchFamily="18" charset="0"/>
                <a:cs typeface="Times New Roman" pitchFamily="18" charset="0"/>
              </a:rPr>
              <a:t>&gt; class,</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using inheritance, since a passenger car "is-a" rail car.</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smtClean="0">
                <a:latin typeface="Times New Roman" pitchFamily="18" charset="0"/>
                <a:cs typeface="Times New Roman" pitchFamily="18" charset="0"/>
              </a:rPr>
              <a:t>import </a:t>
            </a:r>
            <a:r>
              <a:rPr lang="en-US" sz="1600" dirty="0" err="1">
                <a:latin typeface="Times New Roman" pitchFamily="18" charset="0"/>
                <a:cs typeface="Times New Roman" pitchFamily="18" charset="0"/>
              </a:rPr>
              <a:t>java.awt</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import </a:t>
            </a:r>
            <a:r>
              <a:rPr lang="en-US" sz="1600" dirty="0" err="1">
                <a:latin typeface="Times New Roman" pitchFamily="18" charset="0"/>
                <a:cs typeface="Times New Roman" pitchFamily="18" charset="0"/>
              </a:rPr>
              <a:t>java.applet</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smtClean="0">
                <a:latin typeface="Times New Roman" pitchFamily="18" charset="0"/>
                <a:cs typeface="Times New Roman" pitchFamily="18" charset="0"/>
              </a:rPr>
              <a:t>public </a:t>
            </a:r>
            <a:r>
              <a:rPr lang="en-US" sz="1600" dirty="0">
                <a:latin typeface="Times New Roman" pitchFamily="18" charset="0"/>
                <a:cs typeface="Times New Roman" pitchFamily="18" charset="0"/>
              </a:rPr>
              <a:t>class Java1417 extends Applet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public void paint(Graphics 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PassengerCar</a:t>
            </a:r>
            <a:r>
              <a:rPr lang="en-US" sz="1600" dirty="0">
                <a:latin typeface="Times New Roman" pitchFamily="18" charset="0"/>
                <a:cs typeface="Times New Roman" pitchFamily="18" charset="0"/>
              </a:rPr>
              <a:t> passenger = </a:t>
            </a:r>
            <a:endParaRPr lang="en-US" sz="1600" dirty="0" smtClean="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new </a:t>
            </a:r>
            <a:r>
              <a:rPr lang="en-US" sz="1600" dirty="0" err="1">
                <a:latin typeface="Times New Roman" pitchFamily="18" charset="0"/>
                <a:cs typeface="Times New Roman" pitchFamily="18" charset="0"/>
              </a:rPr>
              <a:t>PassengerCar</a:t>
            </a:r>
            <a:r>
              <a:rPr lang="en-US" sz="1600" dirty="0">
                <a:latin typeface="Times New Roman" pitchFamily="18" charset="0"/>
                <a:cs typeface="Times New Roman" pitchFamily="18" charset="0"/>
              </a:rPr>
              <a:t>(Color.green,580,250);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passenger.drawCar</a:t>
            </a:r>
            <a:r>
              <a:rPr lang="en-US" sz="1600" dirty="0">
                <a:latin typeface="Times New Roman" pitchFamily="18" charset="0"/>
                <a:cs typeface="Times New Roman" pitchFamily="18" charset="0"/>
              </a:rPr>
              <a:t>(g);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0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class </a:t>
            </a:r>
            <a:r>
              <a:rPr lang="en-US" sz="1600" dirty="0" err="1">
                <a:latin typeface="Times New Roman" pitchFamily="18" charset="0"/>
                <a:cs typeface="Times New Roman" pitchFamily="18" charset="0"/>
              </a:rPr>
              <a:t>PassengerCar</a:t>
            </a:r>
            <a:r>
              <a:rPr lang="en-US" sz="1600" dirty="0">
                <a:latin typeface="Times New Roman" pitchFamily="18" charset="0"/>
                <a:cs typeface="Times New Roman" pitchFamily="18" charset="0"/>
              </a:rPr>
              <a:t> extends </a:t>
            </a:r>
            <a:r>
              <a:rPr lang="en-US" sz="1600" dirty="0" err="1">
                <a:latin typeface="Times New Roman" pitchFamily="18" charset="0"/>
                <a:cs typeface="Times New Roman" pitchFamily="18" charset="0"/>
              </a:rPr>
              <a:t>RailCar</a:t>
            </a:r>
            <a:endParaRPr lang="en-US" sz="16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Color </a:t>
            </a:r>
            <a:r>
              <a:rPr lang="en-US" sz="1600" dirty="0" err="1">
                <a:latin typeface="Times New Roman" pitchFamily="18" charset="0"/>
                <a:cs typeface="Times New Roman" pitchFamily="18" charset="0"/>
              </a:rPr>
              <a:t>carColor</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xPos</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yPos</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public </a:t>
            </a:r>
            <a:r>
              <a:rPr lang="en-US" sz="1600" dirty="0" err="1">
                <a:latin typeface="Times New Roman" pitchFamily="18" charset="0"/>
                <a:cs typeface="Times New Roman" pitchFamily="18" charset="0"/>
              </a:rPr>
              <a:t>PassengerCar</a:t>
            </a:r>
            <a:r>
              <a:rPr lang="en-US" sz="1600" dirty="0">
                <a:latin typeface="Times New Roman" pitchFamily="18" charset="0"/>
                <a:cs typeface="Times New Roman" pitchFamily="18" charset="0"/>
              </a:rPr>
              <a:t>(Color </a:t>
            </a:r>
            <a:r>
              <a:rPr lang="en-US" sz="1600" dirty="0" err="1">
                <a:latin typeface="Times New Roman" pitchFamily="18" charset="0"/>
                <a:cs typeface="Times New Roman" pitchFamily="18" charset="0"/>
              </a:rPr>
              <a:t>cC</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xPos</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int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yPos</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super(</a:t>
            </a:r>
            <a:r>
              <a:rPr lang="en-US" sz="1600" dirty="0" err="1">
                <a:latin typeface="Times New Roman" pitchFamily="18" charset="0"/>
                <a:cs typeface="Times New Roman" pitchFamily="18" charset="0"/>
              </a:rPr>
              <a:t>cC,xPos,yPos</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carColor</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cC</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this.xPos</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xPos</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this.yPos</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yPos</a:t>
            </a:r>
            <a:r>
              <a:rPr lang="en-US" sz="16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p:txBody>
      </p:sp>
      <p:sp>
        <p:nvSpPr>
          <p:cNvPr id="4" name="Text Box 2"/>
          <p:cNvSpPr txBox="1">
            <a:spLocks noChangeArrowheads="1"/>
          </p:cNvSpPr>
          <p:nvPr/>
        </p:nvSpPr>
        <p:spPr bwMode="auto">
          <a:xfrm>
            <a:off x="5105400" y="0"/>
            <a:ext cx="4038600" cy="6858000"/>
          </a:xfrm>
          <a:prstGeom prst="rect">
            <a:avLst/>
          </a:prstGeom>
          <a:solidFill>
            <a:srgbClr val="FFFF99"/>
          </a:solidFill>
          <a:ln w="57150">
            <a:solidFill>
              <a:schemeClr val="tx1"/>
            </a:solidFill>
            <a:miter lim="800000"/>
            <a:headEnd/>
            <a:tailEnd/>
          </a:ln>
        </p:spPr>
        <p:txBody>
          <a:bodyPr wrap="square">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130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public void </a:t>
            </a:r>
            <a:r>
              <a:rPr lang="en-US" sz="1600" b="0" dirty="0" err="1">
                <a:latin typeface="Arial Black" panose="020B0A04020102020204" pitchFamily="34" charset="0"/>
                <a:cs typeface="Times New Roman" pitchFamily="18" charset="0"/>
              </a:rPr>
              <a:t>drawCar</a:t>
            </a:r>
            <a:r>
              <a:rPr lang="en-US" sz="1600" b="0" dirty="0">
                <a:latin typeface="Arial Black" panose="020B0A04020102020204" pitchFamily="34" charset="0"/>
                <a:cs typeface="Times New Roman" pitchFamily="18" charset="0"/>
              </a:rPr>
              <a:t>(Graphics g)</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r>
              <a:rPr lang="en-US" sz="1600" b="0" dirty="0" err="1">
                <a:latin typeface="Arial Black" panose="020B0A04020102020204" pitchFamily="34" charset="0"/>
                <a:cs typeface="Times New Roman" pitchFamily="18" charset="0"/>
              </a:rPr>
              <a:t>super.drawCar</a:t>
            </a:r>
            <a:r>
              <a:rPr lang="en-US" sz="1600" b="0" dirty="0">
                <a:latin typeface="Arial Black" panose="020B0A04020102020204" pitchFamily="34" charset="0"/>
                <a:cs typeface="Times New Roman" pitchFamily="18" charset="0"/>
              </a:rPr>
              <a:t>(g);</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r>
              <a:rPr lang="en-US" sz="1600" b="0" dirty="0" err="1">
                <a:latin typeface="Arial Black" panose="020B0A04020102020204" pitchFamily="34" charset="0"/>
                <a:cs typeface="Times New Roman" pitchFamily="18" charset="0"/>
              </a:rPr>
              <a:t>drawWindows</a:t>
            </a:r>
            <a:r>
              <a:rPr lang="en-US" sz="1600" b="0" dirty="0">
                <a:latin typeface="Arial Black" panose="020B0A04020102020204" pitchFamily="34" charset="0"/>
                <a:cs typeface="Times New Roman" pitchFamily="18" charset="0"/>
              </a:rPr>
              <a:t>(g);</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r>
              <a:rPr lang="en-US" sz="1600" b="0" dirty="0" smtClean="0">
                <a:latin typeface="Arial Black" panose="020B0A04020102020204" pitchFamily="34" charset="0"/>
                <a:cs typeface="Times New Roman" pitchFamily="18" charset="0"/>
              </a:rPr>
              <a:t>	</a:t>
            </a:r>
            <a:r>
              <a:rPr lang="en-US" sz="1600" b="0" dirty="0" err="1" smtClean="0">
                <a:latin typeface="Arial Black" panose="020B0A04020102020204" pitchFamily="34" charset="0"/>
                <a:cs typeface="Times New Roman" pitchFamily="18" charset="0"/>
              </a:rPr>
              <a:t>drawRoof</a:t>
            </a:r>
            <a:r>
              <a:rPr lang="en-US" sz="1600" b="0" dirty="0" smtClean="0">
                <a:latin typeface="Arial Black" panose="020B0A04020102020204" pitchFamily="34" charset="0"/>
                <a:cs typeface="Times New Roman" pitchFamily="18" charset="0"/>
              </a:rPr>
              <a:t>(g</a:t>
            </a:r>
            <a:r>
              <a:rPr lang="en-US" sz="1600" b="0" dirty="0">
                <a:latin typeface="Arial Black" panose="020B0A04020102020204" pitchFamily="34"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b="0" dirty="0">
                <a:latin typeface="Arial Black" panose="020B0A04020102020204" pitchFamily="34"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private void </a:t>
            </a:r>
            <a:r>
              <a:rPr lang="en-US" sz="1600" dirty="0" err="1">
                <a:latin typeface="Times New Roman" pitchFamily="18" charset="0"/>
                <a:cs typeface="Times New Roman" pitchFamily="18" charset="0"/>
              </a:rPr>
              <a:t>drawWindows</a:t>
            </a:r>
            <a:r>
              <a:rPr lang="en-US" sz="1600" dirty="0">
                <a:latin typeface="Times New Roman" pitchFamily="18" charset="0"/>
                <a:cs typeface="Times New Roman" pitchFamily="18" charset="0"/>
              </a:rPr>
              <a:t>(Graphics g)</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g.setColor</a:t>
            </a:r>
            <a:r>
              <a:rPr lang="en-US" sz="1600" dirty="0" smtClean="0">
                <a:latin typeface="Times New Roman" pitchFamily="18" charset="0"/>
                <a:cs typeface="Times New Roman" pitchFamily="18" charset="0"/>
              </a:rPr>
              <a:t>(</a:t>
            </a:r>
            <a:r>
              <a:rPr lang="en-US" sz="1600" dirty="0" err="1" smtClean="0">
                <a:latin typeface="Times New Roman" pitchFamily="18" charset="0"/>
                <a:cs typeface="Times New Roman" pitchFamily="18" charset="0"/>
              </a:rPr>
              <a:t>Color.white</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g.fillRect</a:t>
            </a:r>
            <a:r>
              <a:rPr lang="en-US" sz="1600" dirty="0">
                <a:latin typeface="Times New Roman" pitchFamily="18" charset="0"/>
                <a:cs typeface="Times New Roman" pitchFamily="18" charset="0"/>
              </a:rPr>
              <a:t>(xPos+10,yPos+30,25,30);</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g.fillRect</a:t>
            </a:r>
            <a:r>
              <a:rPr lang="en-US" sz="1600" dirty="0" smtClean="0">
                <a:latin typeface="Times New Roman" pitchFamily="18" charset="0"/>
                <a:cs typeface="Times New Roman" pitchFamily="18" charset="0"/>
              </a:rPr>
              <a:t>(xPos+45,yPos+30,25,30</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g.fillRect</a:t>
            </a:r>
            <a:r>
              <a:rPr lang="en-US" sz="1600" dirty="0">
                <a:latin typeface="Times New Roman" pitchFamily="18" charset="0"/>
                <a:cs typeface="Times New Roman" pitchFamily="18" charset="0"/>
              </a:rPr>
              <a:t>(xPos+80,yPos+30,25,30);</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g.fillRect</a:t>
            </a:r>
            <a:r>
              <a:rPr lang="en-US" sz="1600" dirty="0" smtClean="0">
                <a:latin typeface="Times New Roman" pitchFamily="18" charset="0"/>
                <a:cs typeface="Times New Roman" pitchFamily="18" charset="0"/>
              </a:rPr>
              <a:t>(xPos+115,yPos+30,25,30</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private </a:t>
            </a:r>
            <a:r>
              <a:rPr lang="en-US" sz="1600" dirty="0">
                <a:latin typeface="Times New Roman" pitchFamily="18" charset="0"/>
                <a:cs typeface="Times New Roman" pitchFamily="18" charset="0"/>
              </a:rPr>
              <a:t>void </a:t>
            </a:r>
            <a:r>
              <a:rPr lang="en-US" sz="1600" dirty="0" err="1">
                <a:latin typeface="Times New Roman" pitchFamily="18" charset="0"/>
                <a:cs typeface="Times New Roman" pitchFamily="18" charset="0"/>
              </a:rPr>
              <a:t>drawRoof</a:t>
            </a:r>
            <a:r>
              <a:rPr lang="en-US" sz="1600" dirty="0">
                <a:latin typeface="Times New Roman" pitchFamily="18" charset="0"/>
                <a:cs typeface="Times New Roman" pitchFamily="18" charset="0"/>
              </a:rPr>
              <a:t>(Graphics g)</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Polygon </a:t>
            </a:r>
            <a:r>
              <a:rPr lang="en-US" sz="1600" dirty="0">
                <a:latin typeface="Times New Roman" pitchFamily="18" charset="0"/>
                <a:cs typeface="Times New Roman" pitchFamily="18" charset="0"/>
              </a:rPr>
              <a:t>roof = new Polygon();</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roof.addPoint</a:t>
            </a:r>
            <a:r>
              <a:rPr lang="en-US" sz="1600" dirty="0" smtClean="0">
                <a:latin typeface="Times New Roman" pitchFamily="18" charset="0"/>
                <a:cs typeface="Times New Roman" pitchFamily="18" charset="0"/>
              </a:rPr>
              <a:t>(xPos-15,yPos+20</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roof.addPoint</a:t>
            </a:r>
            <a:r>
              <a:rPr lang="en-US" sz="1600" dirty="0" smtClean="0">
                <a:latin typeface="Times New Roman" pitchFamily="18" charset="0"/>
                <a:cs typeface="Times New Roman" pitchFamily="18" charset="0"/>
              </a:rPr>
              <a:t>(</a:t>
            </a:r>
            <a:r>
              <a:rPr lang="en-US" sz="1600" dirty="0" err="1" smtClean="0">
                <a:latin typeface="Times New Roman" pitchFamily="18" charset="0"/>
                <a:cs typeface="Times New Roman" pitchFamily="18" charset="0"/>
              </a:rPr>
              <a:t>xPos,yPos</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roof.addPoint</a:t>
            </a:r>
            <a:r>
              <a:rPr lang="en-US" sz="1600" dirty="0" smtClean="0">
                <a:latin typeface="Times New Roman" pitchFamily="18" charset="0"/>
                <a:cs typeface="Times New Roman" pitchFamily="18" charset="0"/>
              </a:rPr>
              <a:t>(xPos+150,yPos</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roof.addPoint</a:t>
            </a:r>
            <a:r>
              <a:rPr lang="en-US" sz="1600" dirty="0" smtClean="0">
                <a:latin typeface="Times New Roman" pitchFamily="18" charset="0"/>
                <a:cs typeface="Times New Roman" pitchFamily="18" charset="0"/>
              </a:rPr>
              <a:t>(xPos+165,yPos+20</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g.setColor</a:t>
            </a:r>
            <a:r>
              <a:rPr lang="en-US" sz="1600" dirty="0" smtClean="0">
                <a:latin typeface="Times New Roman" pitchFamily="18" charset="0"/>
                <a:cs typeface="Times New Roman" pitchFamily="18" charset="0"/>
              </a:rPr>
              <a:t>(</a:t>
            </a:r>
            <a:r>
              <a:rPr lang="en-US" sz="1600" dirty="0" err="1" smtClean="0">
                <a:latin typeface="Times New Roman" pitchFamily="18" charset="0"/>
                <a:cs typeface="Times New Roman" pitchFamily="18" charset="0"/>
              </a:rPr>
              <a:t>carColor</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g.fillPolygon</a:t>
            </a:r>
            <a:r>
              <a:rPr lang="en-US" sz="1600" dirty="0" smtClean="0">
                <a:latin typeface="Times New Roman" pitchFamily="18" charset="0"/>
                <a:cs typeface="Times New Roman" pitchFamily="18" charset="0"/>
              </a:rPr>
              <a:t>(roof</a:t>
            </a:r>
            <a:r>
              <a:rPr lang="en-US" sz="1600" dirty="0">
                <a:latin typeface="Times New Roman" pitchFamily="18" charset="0"/>
                <a:cs typeface="Times New Roman" pitchFamily="18" charset="0"/>
              </a:rPr>
              <a:t>);</a:t>
            </a: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   </a:t>
            </a:r>
            <a:endParaRPr lang="en-US" sz="1600" dirty="0">
              <a:latin typeface="Times New Roman" pitchFamily="18" charset="0"/>
              <a:cs typeface="Times New Roman" pitchFamily="18" charset="0"/>
            </a:endParaRPr>
          </a:p>
          <a:p>
            <a:pPr>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pic>
        <p:nvPicPr>
          <p:cNvPr id="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53376" t="48739" r="23263" b="21917"/>
          <a:stretch/>
        </p:blipFill>
        <p:spPr bwMode="auto">
          <a:xfrm>
            <a:off x="3352800" y="1143000"/>
            <a:ext cx="2032153"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8" name="Picture 2" descr="C:\Users\JohnSchram\AppData\Local\Microsoft\Windows\Temporary Internet Files\Content.IE5\CET67MTU\5571878887_570a036ee5_z[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3200" y="5541264"/>
            <a:ext cx="1950720" cy="1280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129866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1"/>
            <a:ext cx="9144000" cy="1258669"/>
          </a:xfrm>
        </p:spPr>
        <p:txBody>
          <a:bodyPr/>
          <a:lstStyle/>
          <a:p>
            <a:pPr eaLnBrk="1" hangingPunct="1"/>
            <a:r>
              <a:rPr lang="en-US" sz="4800" dirty="0" smtClean="0">
                <a:latin typeface="Arial Black" pitchFamily="34" charset="0"/>
              </a:rPr>
              <a:t>Train Case Study – Stage 6</a:t>
            </a:r>
          </a:p>
        </p:txBody>
      </p:sp>
      <p:sp>
        <p:nvSpPr>
          <p:cNvPr id="6147" name="Text Box 3"/>
          <p:cNvSpPr txBox="1">
            <a:spLocks noChangeArrowheads="1"/>
          </p:cNvSpPr>
          <p:nvPr/>
        </p:nvSpPr>
        <p:spPr bwMode="auto">
          <a:xfrm>
            <a:off x="1524000" y="1258669"/>
            <a:ext cx="6096000" cy="646331"/>
          </a:xfrm>
          <a:prstGeom prst="rect">
            <a:avLst/>
          </a:prstGeom>
          <a:solidFill>
            <a:srgbClr val="00FFCC"/>
          </a:solidFill>
          <a:ln w="57150">
            <a:solidFill>
              <a:schemeClr val="tx1"/>
            </a:solidFill>
            <a:miter lim="800000"/>
            <a:headEnd/>
            <a:tailEnd/>
          </a:ln>
        </p:spPr>
        <p:txBody>
          <a:bodyPr wrap="square">
            <a:spAutoFit/>
          </a:bodyPr>
          <a:lstStyle>
            <a:lvl1pPr eaLnBrk="0" hangingPunct="0">
              <a:tabLst>
                <a:tab pos="633413" algn="l"/>
              </a:tabLst>
              <a:defRPr b="1">
                <a:solidFill>
                  <a:schemeClr val="tx1"/>
                </a:solidFill>
                <a:latin typeface="Arial" charset="0"/>
              </a:defRPr>
            </a:lvl1pPr>
            <a:lvl2pPr marL="742950" indent="-285750" eaLnBrk="0" hangingPunct="0">
              <a:tabLst>
                <a:tab pos="633413" algn="l"/>
              </a:tabLst>
              <a:defRPr b="1">
                <a:solidFill>
                  <a:schemeClr val="tx1"/>
                </a:solidFill>
                <a:latin typeface="Arial" charset="0"/>
              </a:defRPr>
            </a:lvl2pPr>
            <a:lvl3pPr marL="1143000" indent="-228600" eaLnBrk="0" hangingPunct="0">
              <a:tabLst>
                <a:tab pos="633413" algn="l"/>
              </a:tabLst>
              <a:defRPr b="1">
                <a:solidFill>
                  <a:schemeClr val="tx1"/>
                </a:solidFill>
                <a:latin typeface="Arial" charset="0"/>
              </a:defRPr>
            </a:lvl3pPr>
            <a:lvl4pPr marL="1600200" indent="-228600" eaLnBrk="0" hangingPunct="0">
              <a:tabLst>
                <a:tab pos="633413" algn="l"/>
              </a:tabLst>
              <a:defRPr b="1">
                <a:solidFill>
                  <a:schemeClr val="tx1"/>
                </a:solidFill>
                <a:latin typeface="Arial" charset="0"/>
              </a:defRPr>
            </a:lvl4pPr>
            <a:lvl5pPr marL="2057400" indent="-228600" eaLnBrk="0" hangingPunct="0">
              <a:tabLst>
                <a:tab pos="633413" algn="l"/>
              </a:tabLst>
              <a:defRPr b="1">
                <a:solidFill>
                  <a:schemeClr val="tx1"/>
                </a:solidFill>
                <a:latin typeface="Arial" charset="0"/>
              </a:defRPr>
            </a:lvl5pPr>
            <a:lvl6pPr marL="2514600" indent="-228600" eaLnBrk="0" fontAlgn="base" hangingPunct="0">
              <a:spcBef>
                <a:spcPct val="0"/>
              </a:spcBef>
              <a:spcAft>
                <a:spcPct val="0"/>
              </a:spcAft>
              <a:tabLst>
                <a:tab pos="633413" algn="l"/>
              </a:tabLst>
              <a:defRPr b="1">
                <a:solidFill>
                  <a:schemeClr val="tx1"/>
                </a:solidFill>
                <a:latin typeface="Arial" charset="0"/>
              </a:defRPr>
            </a:lvl6pPr>
            <a:lvl7pPr marL="2971800" indent="-228600" eaLnBrk="0" fontAlgn="base" hangingPunct="0">
              <a:spcBef>
                <a:spcPct val="0"/>
              </a:spcBef>
              <a:spcAft>
                <a:spcPct val="0"/>
              </a:spcAft>
              <a:tabLst>
                <a:tab pos="633413" algn="l"/>
              </a:tabLst>
              <a:defRPr b="1">
                <a:solidFill>
                  <a:schemeClr val="tx1"/>
                </a:solidFill>
                <a:latin typeface="Arial" charset="0"/>
              </a:defRPr>
            </a:lvl7pPr>
            <a:lvl8pPr marL="3429000" indent="-228600" eaLnBrk="0" fontAlgn="base" hangingPunct="0">
              <a:spcBef>
                <a:spcPct val="0"/>
              </a:spcBef>
              <a:spcAft>
                <a:spcPct val="0"/>
              </a:spcAft>
              <a:tabLst>
                <a:tab pos="633413" algn="l"/>
              </a:tabLst>
              <a:defRPr b="1">
                <a:solidFill>
                  <a:schemeClr val="tx1"/>
                </a:solidFill>
                <a:latin typeface="Arial" charset="0"/>
              </a:defRPr>
            </a:lvl8pPr>
            <a:lvl9pPr marL="3886200" indent="-228600" eaLnBrk="0" fontAlgn="base" hangingPunct="0">
              <a:spcBef>
                <a:spcPct val="0"/>
              </a:spcBef>
              <a:spcAft>
                <a:spcPct val="0"/>
              </a:spcAft>
              <a:tabLst>
                <a:tab pos="633413" algn="l"/>
              </a:tabLst>
              <a:defRPr b="1">
                <a:solidFill>
                  <a:schemeClr val="tx1"/>
                </a:solidFill>
                <a:latin typeface="Arial" charset="0"/>
              </a:defRPr>
            </a:lvl9pPr>
          </a:lstStyle>
          <a:p>
            <a:pPr algn="ctr" eaLnBrk="1" hangingPunct="1"/>
            <a:r>
              <a:rPr lang="en-US" sz="3600" dirty="0" smtClean="0">
                <a:cs typeface="Arial" charset="0"/>
              </a:rPr>
              <a:t>Create a </a:t>
            </a:r>
            <a:r>
              <a:rPr lang="en-US" sz="3600" b="0" dirty="0" smtClean="0">
                <a:latin typeface="Arial Black" panose="020B0A04020102020204" pitchFamily="34" charset="0"/>
                <a:cs typeface="Arial" charset="0"/>
              </a:rPr>
              <a:t>Caboose</a:t>
            </a:r>
            <a:r>
              <a:rPr lang="en-US" sz="3600" dirty="0" smtClean="0">
                <a:cs typeface="Arial" charset="0"/>
              </a:rPr>
              <a:t> class.</a:t>
            </a:r>
            <a:endParaRPr lang="en-US" sz="3600" dirty="0">
              <a:cs typeface="Arial" charset="0"/>
            </a:endParaRPr>
          </a:p>
        </p:txBody>
      </p:sp>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8125" t="29437" r="7768" b="24281"/>
          <a:stretch/>
        </p:blipFill>
        <p:spPr bwMode="auto">
          <a:xfrm>
            <a:off x="0" y="2209800"/>
            <a:ext cx="9144000" cy="28538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553886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4"/>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Java1418.java</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Train case study, Stage #6</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This program adds the &lt;Caboose&gt; class,</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using inheritance, since a caboose "is-a" </a:t>
            </a:r>
            <a:endParaRPr lang="en-US" dirty="0" smtClean="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smtClean="0">
                <a:latin typeface="Times New Roman" pitchFamily="18" charset="0"/>
                <a:cs typeface="Times New Roman" pitchFamily="18" charset="0"/>
              </a:rPr>
              <a:t>// rail </a:t>
            </a:r>
            <a:r>
              <a:rPr lang="en-US" dirty="0">
                <a:latin typeface="Times New Roman" pitchFamily="18" charset="0"/>
                <a:cs typeface="Times New Roman" pitchFamily="18" charset="0"/>
              </a:rPr>
              <a:t>car.</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import </a:t>
            </a:r>
            <a:r>
              <a:rPr lang="en-US" dirty="0" err="1">
                <a:latin typeface="Times New Roman" pitchFamily="18" charset="0"/>
                <a:cs typeface="Times New Roman" pitchFamily="18" charset="0"/>
              </a:rPr>
              <a:t>java.awt</a:t>
            </a:r>
            <a:r>
              <a:rPr lang="en-US"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import </a:t>
            </a:r>
            <a:r>
              <a:rPr lang="en-US" dirty="0" err="1">
                <a:latin typeface="Times New Roman" pitchFamily="18" charset="0"/>
                <a:cs typeface="Times New Roman" pitchFamily="18" charset="0"/>
              </a:rPr>
              <a:t>java.applet</a:t>
            </a:r>
            <a:r>
              <a:rPr lang="en-US"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public class Java1418 extends Applet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public void paint(Graphics 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Caboose cab = </a:t>
            </a:r>
            <a:endParaRPr lang="en-US" dirty="0" smtClean="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new </a:t>
            </a:r>
            <a:r>
              <a:rPr lang="en-US" dirty="0">
                <a:latin typeface="Times New Roman" pitchFamily="18" charset="0"/>
                <a:cs typeface="Times New Roman" pitchFamily="18" charset="0"/>
              </a:rPr>
              <a:t>Caboose(Color.red,580,250);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cab.drawCar</a:t>
            </a:r>
            <a:r>
              <a:rPr lang="en-US" dirty="0">
                <a:latin typeface="Times New Roman" pitchFamily="18" charset="0"/>
                <a:cs typeface="Times New Roman" pitchFamily="18" charset="0"/>
              </a:rPr>
              <a:t>(g);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4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4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class Caboose extends </a:t>
            </a:r>
            <a:r>
              <a:rPr lang="en-US" dirty="0" err="1">
                <a:latin typeface="Times New Roman" pitchFamily="18" charset="0"/>
                <a:cs typeface="Times New Roman" pitchFamily="18" charset="0"/>
              </a:rPr>
              <a:t>RailCar</a:t>
            </a:r>
            <a:endParaRPr lang="en-US"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private Color </a:t>
            </a:r>
            <a:r>
              <a:rPr lang="en-US" dirty="0" err="1">
                <a:latin typeface="Times New Roman" pitchFamily="18" charset="0"/>
                <a:cs typeface="Times New Roman" pitchFamily="18" charset="0"/>
              </a:rPr>
              <a:t>carColor</a:t>
            </a:r>
            <a:r>
              <a:rPr lang="en-US"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private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xPos</a:t>
            </a:r>
            <a:r>
              <a:rPr lang="en-US"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latin typeface="Times New Roman" pitchFamily="18" charset="0"/>
                <a:cs typeface="Times New Roman" pitchFamily="18" charset="0"/>
              </a:rPr>
              <a:t>	private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yPos</a:t>
            </a:r>
            <a:r>
              <a:rPr lang="en-US" dirty="0">
                <a:latin typeface="Times New Roman" pitchFamily="18" charset="0"/>
                <a:cs typeface="Times New Roman" pitchFamily="18" charset="0"/>
              </a:rPr>
              <a:t>;</a:t>
            </a:r>
          </a:p>
        </p:txBody>
      </p:sp>
      <p:sp>
        <p:nvSpPr>
          <p:cNvPr id="4" name="Text Box 2"/>
          <p:cNvSpPr txBox="1">
            <a:spLocks noChangeArrowheads="1"/>
          </p:cNvSpPr>
          <p:nvPr/>
        </p:nvSpPr>
        <p:spPr bwMode="auto">
          <a:xfrm>
            <a:off x="4572000" y="0"/>
            <a:ext cx="4572000" cy="6858000"/>
          </a:xfrm>
          <a:prstGeom prst="rect">
            <a:avLst/>
          </a:prstGeom>
          <a:solidFill>
            <a:srgbClr val="FFFF99"/>
          </a:solidFill>
          <a:ln w="57150">
            <a:solidFill>
              <a:schemeClr val="tx1"/>
            </a:solidFill>
            <a:miter lim="800000"/>
            <a:headEnd/>
            <a:tailEnd/>
          </a:ln>
        </p:spPr>
        <p:txBody>
          <a:bodyPr wrap="square">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public Caboose(Color </a:t>
            </a:r>
            <a:r>
              <a:rPr lang="en-US" sz="1700" dirty="0" err="1">
                <a:latin typeface="Times New Roman" pitchFamily="18" charset="0"/>
                <a:cs typeface="Times New Roman" pitchFamily="18" charset="0"/>
              </a:rPr>
              <a:t>cC</a:t>
            </a: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int</a:t>
            </a: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xPos</a:t>
            </a: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int</a:t>
            </a: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yPos</a:t>
            </a:r>
            <a:r>
              <a:rPr lang="en-US" sz="17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super(</a:t>
            </a:r>
            <a:r>
              <a:rPr lang="en-US" sz="1700" dirty="0" err="1">
                <a:latin typeface="Times New Roman" pitchFamily="18" charset="0"/>
                <a:cs typeface="Times New Roman" pitchFamily="18" charset="0"/>
              </a:rPr>
              <a:t>cC,xPos,yPos</a:t>
            </a:r>
            <a:r>
              <a:rPr lang="en-US" sz="17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r>
              <a:rPr lang="en-US" sz="1700" dirty="0" smtClean="0">
                <a:latin typeface="Times New Roman" pitchFamily="18" charset="0"/>
                <a:cs typeface="Times New Roman" pitchFamily="18" charset="0"/>
              </a:rPr>
              <a:t>	</a:t>
            </a:r>
            <a:r>
              <a:rPr lang="en-US" sz="1700" dirty="0" err="1" smtClean="0">
                <a:latin typeface="Times New Roman" pitchFamily="18" charset="0"/>
                <a:cs typeface="Times New Roman" pitchFamily="18" charset="0"/>
              </a:rPr>
              <a:t>carColor</a:t>
            </a:r>
            <a:r>
              <a:rPr lang="en-US" sz="1700" dirty="0" smtClean="0">
                <a:latin typeface="Times New Roman" pitchFamily="18" charset="0"/>
                <a:cs typeface="Times New Roman" pitchFamily="18" charset="0"/>
              </a:rPr>
              <a:t> </a:t>
            </a: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cC</a:t>
            </a:r>
            <a:r>
              <a:rPr lang="en-US" sz="17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r>
              <a:rPr lang="en-US" sz="1700" dirty="0" smtClean="0">
                <a:latin typeface="Times New Roman" pitchFamily="18" charset="0"/>
                <a:cs typeface="Times New Roman" pitchFamily="18" charset="0"/>
              </a:rPr>
              <a:t>	</a:t>
            </a:r>
            <a:r>
              <a:rPr lang="en-US" sz="1700" dirty="0" err="1" smtClean="0">
                <a:latin typeface="Times New Roman" pitchFamily="18" charset="0"/>
                <a:cs typeface="Times New Roman" pitchFamily="18" charset="0"/>
              </a:rPr>
              <a:t>this.xPos</a:t>
            </a:r>
            <a:r>
              <a:rPr lang="en-US" sz="1700" dirty="0" smtClean="0">
                <a:latin typeface="Times New Roman" pitchFamily="18" charset="0"/>
                <a:cs typeface="Times New Roman" pitchFamily="18" charset="0"/>
              </a:rPr>
              <a:t> </a:t>
            </a: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xPos</a:t>
            </a:r>
            <a:r>
              <a:rPr lang="en-US" sz="17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r>
              <a:rPr lang="en-US" sz="1700" dirty="0" smtClean="0">
                <a:latin typeface="Times New Roman" pitchFamily="18" charset="0"/>
                <a:cs typeface="Times New Roman" pitchFamily="18" charset="0"/>
              </a:rPr>
              <a:t>	</a:t>
            </a:r>
            <a:r>
              <a:rPr lang="en-US" sz="1700" dirty="0" err="1" smtClean="0">
                <a:latin typeface="Times New Roman" pitchFamily="18" charset="0"/>
                <a:cs typeface="Times New Roman" pitchFamily="18" charset="0"/>
              </a:rPr>
              <a:t>this.yPos</a:t>
            </a:r>
            <a:r>
              <a:rPr lang="en-US" sz="1700" dirty="0" smtClean="0">
                <a:latin typeface="Times New Roman" pitchFamily="18" charset="0"/>
                <a:cs typeface="Times New Roman" pitchFamily="18" charset="0"/>
              </a:rPr>
              <a:t> </a:t>
            </a: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yPos</a:t>
            </a:r>
            <a:r>
              <a:rPr lang="en-US" sz="17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r>
              <a:rPr lang="en-US" sz="1700" dirty="0" smtClean="0">
                <a:latin typeface="Times New Roman" pitchFamily="18" charset="0"/>
                <a:cs typeface="Times New Roman" pitchFamily="18" charset="0"/>
              </a:rPr>
              <a:t>	}</a:t>
            </a:r>
            <a:endParaRPr lang="en-US" sz="17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b="0" dirty="0">
                <a:latin typeface="Arial Black" panose="020B0A04020102020204" pitchFamily="34" charset="0"/>
                <a:cs typeface="Times New Roman" pitchFamily="18" charset="0"/>
              </a:rPr>
              <a:t>	public void </a:t>
            </a:r>
            <a:r>
              <a:rPr lang="en-US" sz="1700" b="0" dirty="0" err="1">
                <a:latin typeface="Arial Black" panose="020B0A04020102020204" pitchFamily="34" charset="0"/>
                <a:cs typeface="Times New Roman" pitchFamily="18" charset="0"/>
              </a:rPr>
              <a:t>drawCar</a:t>
            </a:r>
            <a:r>
              <a:rPr lang="en-US" sz="1700" b="0" dirty="0">
                <a:latin typeface="Arial Black" panose="020B0A04020102020204" pitchFamily="34" charset="0"/>
                <a:cs typeface="Times New Roman" pitchFamily="18" charset="0"/>
              </a:rPr>
              <a:t>(Graphics 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b="0" dirty="0">
                <a:latin typeface="Arial Black" panose="020B0A04020102020204" pitchFamily="34"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b="0" dirty="0">
                <a:latin typeface="Arial Black" panose="020B0A04020102020204" pitchFamily="34" charset="0"/>
                <a:cs typeface="Times New Roman" pitchFamily="18" charset="0"/>
              </a:rPr>
              <a:t>		</a:t>
            </a:r>
            <a:r>
              <a:rPr lang="en-US" sz="1700" b="0" dirty="0" err="1">
                <a:latin typeface="Arial Black" panose="020B0A04020102020204" pitchFamily="34" charset="0"/>
                <a:cs typeface="Times New Roman" pitchFamily="18" charset="0"/>
              </a:rPr>
              <a:t>super.drawCar</a:t>
            </a:r>
            <a:r>
              <a:rPr lang="en-US" sz="1700" b="0" dirty="0">
                <a:latin typeface="Arial Black" panose="020B0A04020102020204" pitchFamily="34" charset="0"/>
                <a:cs typeface="Times New Roman" pitchFamily="18" charset="0"/>
              </a:rPr>
              <a:t>(g);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b="0" dirty="0">
                <a:latin typeface="Arial Black" panose="020B0A04020102020204" pitchFamily="34" charset="0"/>
                <a:cs typeface="Times New Roman" pitchFamily="18" charset="0"/>
              </a:rPr>
              <a:t>		</a:t>
            </a:r>
            <a:r>
              <a:rPr lang="en-US" sz="1700" b="0" dirty="0" err="1">
                <a:latin typeface="Arial Black" panose="020B0A04020102020204" pitchFamily="34" charset="0"/>
                <a:cs typeface="Times New Roman" pitchFamily="18" charset="0"/>
              </a:rPr>
              <a:t>drawWindows</a:t>
            </a:r>
            <a:r>
              <a:rPr lang="en-US" sz="1700" b="0" dirty="0">
                <a:latin typeface="Arial Black" panose="020B0A04020102020204" pitchFamily="34" charset="0"/>
                <a:cs typeface="Times New Roman" pitchFamily="18" charset="0"/>
              </a:rPr>
              <a:t>(g);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b="0" dirty="0">
                <a:latin typeface="Arial Black" panose="020B0A04020102020204" pitchFamily="34" charset="0"/>
                <a:cs typeface="Times New Roman" pitchFamily="18" charset="0"/>
              </a:rPr>
              <a:t>		</a:t>
            </a:r>
            <a:r>
              <a:rPr lang="en-US" sz="1700" b="0" dirty="0" err="1">
                <a:latin typeface="Arial Black" panose="020B0A04020102020204" pitchFamily="34" charset="0"/>
                <a:cs typeface="Times New Roman" pitchFamily="18" charset="0"/>
              </a:rPr>
              <a:t>drawCupola</a:t>
            </a:r>
            <a:r>
              <a:rPr lang="en-US" sz="1700" b="0" dirty="0">
                <a:latin typeface="Arial Black" panose="020B0A04020102020204" pitchFamily="34" charset="0"/>
                <a:cs typeface="Times New Roman" pitchFamily="18" charset="0"/>
              </a:rPr>
              <a:t>(g);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b="0" dirty="0">
                <a:latin typeface="Arial Black" panose="020B0A04020102020204" pitchFamily="34"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private void </a:t>
            </a:r>
            <a:r>
              <a:rPr lang="en-US" sz="1700" dirty="0" err="1">
                <a:latin typeface="Times New Roman" pitchFamily="18" charset="0"/>
                <a:cs typeface="Times New Roman" pitchFamily="18" charset="0"/>
              </a:rPr>
              <a:t>drawWindows</a:t>
            </a:r>
            <a:r>
              <a:rPr lang="en-US" sz="1700" dirty="0">
                <a:latin typeface="Times New Roman" pitchFamily="18" charset="0"/>
                <a:cs typeface="Times New Roman" pitchFamily="18" charset="0"/>
              </a:rPr>
              <a:t>(Graphics 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g.setColor</a:t>
            </a:r>
            <a:r>
              <a:rPr lang="en-US" sz="1700" dirty="0">
                <a:latin typeface="Times New Roman" pitchFamily="18" charset="0"/>
                <a:cs typeface="Times New Roman" pitchFamily="18" charset="0"/>
              </a:rPr>
              <a:t>(</a:t>
            </a:r>
            <a:r>
              <a:rPr lang="en-US" sz="1700" dirty="0" err="1">
                <a:latin typeface="Times New Roman" pitchFamily="18" charset="0"/>
                <a:cs typeface="Times New Roman" pitchFamily="18" charset="0"/>
              </a:rPr>
              <a:t>Color.white</a:t>
            </a:r>
            <a:r>
              <a:rPr lang="en-US" sz="17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g.fillRect</a:t>
            </a:r>
            <a:r>
              <a:rPr lang="en-US" sz="1700" dirty="0">
                <a:latin typeface="Times New Roman" pitchFamily="18" charset="0"/>
                <a:cs typeface="Times New Roman" pitchFamily="18" charset="0"/>
              </a:rPr>
              <a:t>(xPos+30,yPos+30,30,30);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g.fillRect</a:t>
            </a:r>
            <a:r>
              <a:rPr lang="en-US" sz="1700" dirty="0">
                <a:latin typeface="Times New Roman" pitchFamily="18" charset="0"/>
                <a:cs typeface="Times New Roman" pitchFamily="18" charset="0"/>
              </a:rPr>
              <a:t>(xPos+90,yPos+30,30,30);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1600" dirty="0">
              <a:latin typeface="Times New Roman" pitchFamily="18" charset="0"/>
              <a:cs typeface="Times New Roman" pitchFamily="18" charset="0"/>
            </a:endParaRP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private void </a:t>
            </a:r>
            <a:r>
              <a:rPr lang="en-US" sz="1700" dirty="0" err="1">
                <a:latin typeface="Times New Roman" pitchFamily="18" charset="0"/>
                <a:cs typeface="Times New Roman" pitchFamily="18" charset="0"/>
              </a:rPr>
              <a:t>drawCupola</a:t>
            </a:r>
            <a:r>
              <a:rPr lang="en-US" sz="1700" dirty="0">
                <a:latin typeface="Times New Roman" pitchFamily="18" charset="0"/>
                <a:cs typeface="Times New Roman" pitchFamily="18" charset="0"/>
              </a:rPr>
              <a:t>(Graphics g)</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g.setColor</a:t>
            </a:r>
            <a:r>
              <a:rPr lang="en-US" sz="1700" dirty="0">
                <a:latin typeface="Times New Roman" pitchFamily="18" charset="0"/>
                <a:cs typeface="Times New Roman" pitchFamily="18" charset="0"/>
              </a:rPr>
              <a:t>(</a:t>
            </a:r>
            <a:r>
              <a:rPr lang="en-US" sz="1700" dirty="0" err="1">
                <a:latin typeface="Times New Roman" pitchFamily="18" charset="0"/>
                <a:cs typeface="Times New Roman" pitchFamily="18" charset="0"/>
              </a:rPr>
              <a:t>Color.red</a:t>
            </a:r>
            <a:r>
              <a:rPr lang="en-US" sz="17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g.fillRect</a:t>
            </a:r>
            <a:r>
              <a:rPr lang="en-US" sz="1700" dirty="0">
                <a:latin typeface="Times New Roman" pitchFamily="18" charset="0"/>
                <a:cs typeface="Times New Roman" pitchFamily="18" charset="0"/>
              </a:rPr>
              <a:t>(xPos+30,yPos-30,90,30);</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g.setColor</a:t>
            </a:r>
            <a:r>
              <a:rPr lang="en-US" sz="1700" dirty="0">
                <a:latin typeface="Times New Roman" pitchFamily="18" charset="0"/>
                <a:cs typeface="Times New Roman" pitchFamily="18" charset="0"/>
              </a:rPr>
              <a:t>(</a:t>
            </a:r>
            <a:r>
              <a:rPr lang="en-US" sz="1700" dirty="0" err="1">
                <a:latin typeface="Times New Roman" pitchFamily="18" charset="0"/>
                <a:cs typeface="Times New Roman" pitchFamily="18" charset="0"/>
              </a:rPr>
              <a:t>Color.black</a:t>
            </a:r>
            <a:r>
              <a:rPr lang="en-US" sz="1700" dirty="0">
                <a:latin typeface="Times New Roman" pitchFamily="18" charset="0"/>
                <a:cs typeface="Times New Roman" pitchFamily="18" charset="0"/>
              </a:rPr>
              <a:t>);</a:t>
            </a:r>
          </a:p>
          <a:p>
            <a:pPr>
              <a:lnSpc>
                <a:spcPct val="88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r>
              <a:rPr lang="en-US" sz="1700" dirty="0" err="1">
                <a:latin typeface="Times New Roman" pitchFamily="18" charset="0"/>
                <a:cs typeface="Times New Roman" pitchFamily="18" charset="0"/>
              </a:rPr>
              <a:t>g.fillRect</a:t>
            </a:r>
            <a:r>
              <a:rPr lang="en-US" sz="1700" dirty="0">
                <a:latin typeface="Times New Roman" pitchFamily="18" charset="0"/>
                <a:cs typeface="Times New Roman" pitchFamily="18" charset="0"/>
              </a:rPr>
              <a:t>(xPos+25,yPos-30,100,5);</a:t>
            </a:r>
          </a:p>
          <a:p>
            <a:pPr>
              <a:lnSpc>
                <a:spcPct val="70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	}</a:t>
            </a:r>
          </a:p>
          <a:p>
            <a:pPr>
              <a:lnSpc>
                <a:spcPct val="70000"/>
              </a:lnSpc>
              <a:tabLst>
                <a:tab pos="228600" algn="l"/>
                <a:tab pos="457200" algn="l"/>
                <a:tab pos="6858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1700" dirty="0">
                <a:latin typeface="Times New Roman" pitchFamily="18" charset="0"/>
                <a:cs typeface="Times New Roman" pitchFamily="18" charset="0"/>
              </a:rPr>
              <a:t>}</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0" y="4191000"/>
            <a:ext cx="2209209" cy="1295400"/>
          </a:xfrm>
          <a:prstGeom prst="rect">
            <a:avLst/>
          </a:prstGeom>
        </p:spPr>
      </p:pic>
      <p:pic>
        <p:nvPicPr>
          <p:cNvPr id="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60691" t="41088" r="19884" b="29165"/>
          <a:stretch/>
        </p:blipFill>
        <p:spPr bwMode="auto">
          <a:xfrm>
            <a:off x="2438400" y="1066800"/>
            <a:ext cx="1807028" cy="1569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342964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gradFill>
          <a:gsLst>
            <a:gs pos="0">
              <a:srgbClr val="000082"/>
            </a:gs>
            <a:gs pos="30000">
              <a:srgbClr val="66008F"/>
            </a:gs>
            <a:gs pos="64999">
              <a:srgbClr val="BA0066"/>
            </a:gs>
            <a:gs pos="89999">
              <a:srgbClr val="FF0000"/>
            </a:gs>
            <a:gs pos="100000">
              <a:srgbClr val="FF8200"/>
            </a:gs>
          </a:gsLst>
          <a:lin ang="5400000" scaled="0"/>
        </a:gradFill>
        <a:effectLst/>
      </p:bgPr>
    </p:bg>
    <p:spTree>
      <p:nvGrpSpPr>
        <p:cNvPr id="1" name=""/>
        <p:cNvGrpSpPr/>
        <p:nvPr/>
      </p:nvGrpSpPr>
      <p:grpSpPr>
        <a:xfrm>
          <a:off x="0" y="0"/>
          <a:ext cx="0" cy="0"/>
          <a:chOff x="0" y="0"/>
          <a:chExt cx="0" cy="0"/>
        </a:xfrm>
      </p:grpSpPr>
      <p:sp>
        <p:nvSpPr>
          <p:cNvPr id="6146" name="WordArt 2"/>
          <p:cNvSpPr>
            <a:spLocks noChangeArrowheads="1" noChangeShapeType="1" noTextEdit="1"/>
          </p:cNvSpPr>
          <p:nvPr/>
        </p:nvSpPr>
        <p:spPr bwMode="auto">
          <a:xfrm>
            <a:off x="381000" y="1600200"/>
            <a:ext cx="8382000" cy="2651760"/>
          </a:xfrm>
          <a:prstGeom prst="rect">
            <a:avLst/>
          </a:prstGeom>
        </p:spPr>
        <p:txBody>
          <a:bodyPr wrap="none" fromWordArt="1">
            <a:prstTxWarp prst="textSlantUp">
              <a:avLst>
                <a:gd name="adj" fmla="val 32056"/>
              </a:avLst>
            </a:prstTxWarp>
          </a:bodyPr>
          <a:lstStyle/>
          <a:p>
            <a:pPr algn="ct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A Polymorphic</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
        <p:nvSpPr>
          <p:cNvPr id="6147"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14.8</a:t>
            </a:r>
            <a:endParaRPr lang="en-US" sz="3600" kern="10" dirty="0">
              <a:ln w="9525">
                <a:solidFill>
                  <a:srgbClr val="000000"/>
                </a:solidFill>
                <a:round/>
                <a:headEnd/>
                <a:tailEnd/>
              </a:ln>
              <a:solidFill>
                <a:srgbClr val="FFFFFF"/>
              </a:solidFill>
              <a:latin typeface="Arial Black"/>
            </a:endParaRPr>
          </a:p>
        </p:txBody>
      </p:sp>
      <p:sp>
        <p:nvSpPr>
          <p:cNvPr id="6" name="WordArt 2"/>
          <p:cNvSpPr>
            <a:spLocks noChangeArrowheads="1" noChangeShapeType="1" noTextEdit="1"/>
          </p:cNvSpPr>
          <p:nvPr/>
        </p:nvSpPr>
        <p:spPr bwMode="auto">
          <a:xfrm>
            <a:off x="381000" y="3931920"/>
            <a:ext cx="8382000" cy="2468880"/>
          </a:xfrm>
          <a:prstGeom prst="rect">
            <a:avLst/>
          </a:prstGeom>
        </p:spPr>
        <p:txBody>
          <a:bodyPr wrap="none" fromWordArt="1">
            <a:prstTxWarp prst="textSlantUp">
              <a:avLst>
                <a:gd name="adj" fmla="val 32056"/>
              </a:avLst>
            </a:prstTxWarp>
          </a:bodyPr>
          <a:lstStyle/>
          <a:p>
            <a:pPr algn="ct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Choo-Choo Train</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Tree>
    <p:extLst>
      <p:ext uri="{BB962C8B-B14F-4D97-AF65-F5344CB8AC3E}">
        <p14:creationId xmlns:p14="http://schemas.microsoft.com/office/powerpoint/2010/main" val="129794199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1"/>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1700" dirty="0">
                <a:latin typeface="Times New Roman" pitchFamily="18" charset="0"/>
                <a:cs typeface="Times New Roman" pitchFamily="18" charset="0"/>
              </a:rPr>
              <a:t>// Java1419.java</a:t>
            </a:r>
          </a:p>
          <a:p>
            <a:r>
              <a:rPr lang="en-US" sz="1700" dirty="0">
                <a:latin typeface="Times New Roman" pitchFamily="18" charset="0"/>
                <a:cs typeface="Times New Roman" pitchFamily="18" charset="0"/>
              </a:rPr>
              <a:t>// Train case study, Stage #7</a:t>
            </a:r>
          </a:p>
          <a:p>
            <a:r>
              <a:rPr lang="en-US" sz="1700" dirty="0">
                <a:latin typeface="Times New Roman" pitchFamily="18" charset="0"/>
                <a:cs typeface="Times New Roman" pitchFamily="18" charset="0"/>
              </a:rPr>
              <a:t>// The train case study is now ready to display.</a:t>
            </a:r>
          </a:p>
          <a:p>
            <a:r>
              <a:rPr lang="en-US" sz="1700" dirty="0">
                <a:latin typeface="Times New Roman" pitchFamily="18" charset="0"/>
                <a:cs typeface="Times New Roman" pitchFamily="18" charset="0"/>
              </a:rPr>
              <a:t>// &lt;</a:t>
            </a:r>
            <a:r>
              <a:rPr lang="en-US" sz="1700" dirty="0" err="1">
                <a:latin typeface="Times New Roman" pitchFamily="18" charset="0"/>
                <a:cs typeface="Times New Roman" pitchFamily="18" charset="0"/>
              </a:rPr>
              <a:t>RailCar</a:t>
            </a:r>
            <a:r>
              <a:rPr lang="en-US" sz="1700" dirty="0">
                <a:latin typeface="Times New Roman" pitchFamily="18" charset="0"/>
                <a:cs typeface="Times New Roman" pitchFamily="18" charset="0"/>
              </a:rPr>
              <a:t>&gt; is the umbrella </a:t>
            </a:r>
            <a:r>
              <a:rPr lang="en-US" sz="1700" dirty="0" smtClean="0">
                <a:latin typeface="Times New Roman" pitchFamily="18" charset="0"/>
                <a:cs typeface="Times New Roman" pitchFamily="18" charset="0"/>
              </a:rPr>
              <a:t>class and </a:t>
            </a:r>
            <a:r>
              <a:rPr lang="en-US" sz="1700" dirty="0">
                <a:latin typeface="Times New Roman" pitchFamily="18" charset="0"/>
                <a:cs typeface="Times New Roman" pitchFamily="18" charset="0"/>
              </a:rPr>
              <a:t>&lt;</a:t>
            </a:r>
            <a:r>
              <a:rPr lang="en-US" sz="1700" dirty="0" err="1">
                <a:latin typeface="Times New Roman" pitchFamily="18" charset="0"/>
                <a:cs typeface="Times New Roman" pitchFamily="18" charset="0"/>
              </a:rPr>
              <a:t>drawCar</a:t>
            </a:r>
            <a:r>
              <a:rPr lang="en-US" sz="1700" dirty="0">
                <a:latin typeface="Times New Roman" pitchFamily="18" charset="0"/>
                <a:cs typeface="Times New Roman" pitchFamily="18" charset="0"/>
              </a:rPr>
              <a:t>&gt; is the polymorphic method.</a:t>
            </a:r>
          </a:p>
          <a:p>
            <a:endParaRPr lang="en-US" sz="1600" dirty="0">
              <a:latin typeface="Times New Roman" pitchFamily="18" charset="0"/>
              <a:cs typeface="Times New Roman" pitchFamily="18" charset="0"/>
            </a:endParaRPr>
          </a:p>
          <a:p>
            <a:r>
              <a:rPr lang="en-US" sz="1700" dirty="0" smtClean="0">
                <a:latin typeface="Times New Roman" pitchFamily="18" charset="0"/>
                <a:cs typeface="Times New Roman" pitchFamily="18" charset="0"/>
              </a:rPr>
              <a:t>import </a:t>
            </a:r>
            <a:r>
              <a:rPr lang="en-US" sz="1700" dirty="0" err="1">
                <a:latin typeface="Times New Roman" pitchFamily="18" charset="0"/>
                <a:cs typeface="Times New Roman" pitchFamily="18" charset="0"/>
              </a:rPr>
              <a:t>java.awt</a:t>
            </a:r>
            <a:r>
              <a:rPr lang="en-US" sz="1700" dirty="0">
                <a:latin typeface="Times New Roman" pitchFamily="18" charset="0"/>
                <a:cs typeface="Times New Roman" pitchFamily="18" charset="0"/>
              </a:rPr>
              <a:t>.*;</a:t>
            </a:r>
          </a:p>
          <a:p>
            <a:r>
              <a:rPr lang="en-US" sz="1700" dirty="0">
                <a:latin typeface="Times New Roman" pitchFamily="18" charset="0"/>
                <a:cs typeface="Times New Roman" pitchFamily="18" charset="0"/>
              </a:rPr>
              <a:t>import </a:t>
            </a:r>
            <a:r>
              <a:rPr lang="en-US" sz="1700" dirty="0" err="1">
                <a:latin typeface="Times New Roman" pitchFamily="18" charset="0"/>
                <a:cs typeface="Times New Roman" pitchFamily="18" charset="0"/>
              </a:rPr>
              <a:t>java.applet</a:t>
            </a:r>
            <a:r>
              <a:rPr lang="en-US" sz="1700" dirty="0">
                <a:latin typeface="Times New Roman" pitchFamily="18" charset="0"/>
                <a:cs typeface="Times New Roman" pitchFamily="18" charset="0"/>
              </a:rPr>
              <a:t>.*;</a:t>
            </a:r>
          </a:p>
          <a:p>
            <a:r>
              <a:rPr lang="en-US" sz="1700" dirty="0">
                <a:latin typeface="Times New Roman" pitchFamily="18" charset="0"/>
                <a:cs typeface="Times New Roman" pitchFamily="18" charset="0"/>
              </a:rPr>
              <a:t>import </a:t>
            </a:r>
            <a:r>
              <a:rPr lang="en-US" sz="1700" dirty="0" err="1">
                <a:latin typeface="Times New Roman" pitchFamily="18" charset="0"/>
                <a:cs typeface="Times New Roman" pitchFamily="18" charset="0"/>
              </a:rPr>
              <a:t>java.util.ArrayList</a:t>
            </a:r>
            <a:r>
              <a:rPr lang="en-US" sz="1700" dirty="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r>
              <a:rPr lang="en-US" sz="1700" dirty="0">
                <a:latin typeface="Times New Roman" pitchFamily="18" charset="0"/>
                <a:cs typeface="Times New Roman" pitchFamily="18" charset="0"/>
              </a:rPr>
              <a:t>public class Java1419 extends Applet</a:t>
            </a:r>
          </a:p>
          <a:p>
            <a:r>
              <a:rPr lang="en-US" sz="1700" dirty="0">
                <a:latin typeface="Times New Roman" pitchFamily="18" charset="0"/>
                <a:cs typeface="Times New Roman" pitchFamily="18" charset="0"/>
              </a:rPr>
              <a:t>{</a:t>
            </a:r>
          </a:p>
          <a:p>
            <a:r>
              <a:rPr lang="en-US" sz="1700" dirty="0">
                <a:latin typeface="Times New Roman" pitchFamily="18" charset="0"/>
                <a:cs typeface="Times New Roman" pitchFamily="18" charset="0"/>
              </a:rPr>
              <a:t>	public void paint(Graphics g)</a:t>
            </a:r>
          </a:p>
          <a:p>
            <a:r>
              <a:rPr lang="en-US" sz="1700" dirty="0">
                <a:latin typeface="Times New Roman" pitchFamily="18" charset="0"/>
                <a:cs typeface="Times New Roman" pitchFamily="18" charset="0"/>
              </a:rPr>
              <a:t>	{</a:t>
            </a:r>
          </a:p>
          <a:p>
            <a:r>
              <a:rPr lang="en-US" sz="2000" b="0" dirty="0">
                <a:latin typeface="Arial Black" panose="020B0A04020102020204" pitchFamily="34" charset="0"/>
                <a:cs typeface="Times New Roman" pitchFamily="18" charset="0"/>
              </a:rPr>
              <a:t>      </a:t>
            </a:r>
            <a:r>
              <a:rPr lang="en-US" sz="2000" b="0" dirty="0" smtClean="0">
                <a:latin typeface="Arial Black" panose="020B0A04020102020204" pitchFamily="34" charset="0"/>
                <a:cs typeface="Times New Roman" pitchFamily="18" charset="0"/>
              </a:rPr>
              <a:t>	</a:t>
            </a:r>
            <a:r>
              <a:rPr lang="en-US" sz="2000" b="0" dirty="0" err="1" smtClean="0">
                <a:latin typeface="Arial Black" panose="020B0A04020102020204" pitchFamily="34" charset="0"/>
                <a:cs typeface="Times New Roman" pitchFamily="18" charset="0"/>
              </a:rPr>
              <a:t>ArrayList</a:t>
            </a:r>
            <a:r>
              <a:rPr lang="en-US" sz="2000" b="0" dirty="0" smtClean="0">
                <a:latin typeface="Arial Black" panose="020B0A04020102020204" pitchFamily="34" charset="0"/>
                <a:cs typeface="Times New Roman" pitchFamily="18" charset="0"/>
              </a:rPr>
              <a:t>&lt;</a:t>
            </a:r>
            <a:r>
              <a:rPr lang="en-US" sz="2000" b="0" dirty="0" err="1" smtClean="0">
                <a:latin typeface="Arial Black" panose="020B0A04020102020204" pitchFamily="34" charset="0"/>
                <a:cs typeface="Times New Roman" pitchFamily="18" charset="0"/>
              </a:rPr>
              <a:t>RailCar</a:t>
            </a:r>
            <a:r>
              <a:rPr lang="en-US" sz="2000" b="0" dirty="0">
                <a:latin typeface="Arial Black" panose="020B0A04020102020204" pitchFamily="34" charset="0"/>
                <a:cs typeface="Times New Roman" pitchFamily="18" charset="0"/>
              </a:rPr>
              <a:t>&gt; </a:t>
            </a:r>
            <a:r>
              <a:rPr lang="en-US" sz="2000" b="0" dirty="0" err="1">
                <a:latin typeface="Arial Black" panose="020B0A04020102020204" pitchFamily="34" charset="0"/>
                <a:cs typeface="Times New Roman" pitchFamily="18" charset="0"/>
              </a:rPr>
              <a:t>railCars</a:t>
            </a:r>
            <a:r>
              <a:rPr lang="en-US" sz="2000" b="0" dirty="0">
                <a:latin typeface="Arial Black" panose="020B0A04020102020204" pitchFamily="34" charset="0"/>
                <a:cs typeface="Times New Roman" pitchFamily="18" charset="0"/>
              </a:rPr>
              <a:t> = new </a:t>
            </a:r>
            <a:r>
              <a:rPr lang="en-US" sz="2000" b="0" dirty="0" err="1">
                <a:latin typeface="Arial Black" panose="020B0A04020102020204" pitchFamily="34" charset="0"/>
                <a:cs typeface="Times New Roman" pitchFamily="18" charset="0"/>
              </a:rPr>
              <a:t>ArrayList</a:t>
            </a:r>
            <a:r>
              <a:rPr lang="en-US" sz="2000" b="0" dirty="0">
                <a:latin typeface="Arial Black" panose="020B0A04020102020204" pitchFamily="34" charset="0"/>
                <a:cs typeface="Times New Roman" pitchFamily="18" charset="0"/>
              </a:rPr>
              <a:t>&lt;</a:t>
            </a:r>
            <a:r>
              <a:rPr lang="en-US" sz="2000" b="0" dirty="0" err="1">
                <a:latin typeface="Arial Black" panose="020B0A04020102020204" pitchFamily="34" charset="0"/>
                <a:cs typeface="Times New Roman" pitchFamily="18" charset="0"/>
              </a:rPr>
              <a:t>RailCar</a:t>
            </a:r>
            <a:r>
              <a:rPr lang="en-US" sz="2000" b="0" dirty="0">
                <a:latin typeface="Arial Black" panose="020B0A04020102020204" pitchFamily="34" charset="0"/>
                <a:cs typeface="Times New Roman" pitchFamily="18" charset="0"/>
              </a:rPr>
              <a:t>&gt;();</a:t>
            </a:r>
          </a:p>
          <a:p>
            <a:r>
              <a:rPr lang="en-US" sz="1700" dirty="0">
                <a:latin typeface="Times New Roman" pitchFamily="18" charset="0"/>
                <a:cs typeface="Times New Roman" pitchFamily="18" charset="0"/>
              </a:rPr>
              <a:t>      </a:t>
            </a:r>
            <a:r>
              <a:rPr lang="en-US" sz="1700" dirty="0" smtClean="0">
                <a:latin typeface="Times New Roman" pitchFamily="18" charset="0"/>
                <a:cs typeface="Times New Roman" pitchFamily="18" charset="0"/>
              </a:rPr>
              <a:t>		</a:t>
            </a:r>
            <a:r>
              <a:rPr lang="en-US" sz="1700" dirty="0" err="1" smtClean="0">
                <a:latin typeface="Times New Roman" pitchFamily="18" charset="0"/>
                <a:cs typeface="Times New Roman" pitchFamily="18" charset="0"/>
              </a:rPr>
              <a:t>railCars.add</a:t>
            </a:r>
            <a:r>
              <a:rPr lang="en-US" sz="1700" dirty="0" smtClean="0">
                <a:latin typeface="Times New Roman" pitchFamily="18" charset="0"/>
                <a:cs typeface="Times New Roman" pitchFamily="18" charset="0"/>
              </a:rPr>
              <a:t>(new </a:t>
            </a:r>
            <a:r>
              <a:rPr lang="en-US" sz="1700" dirty="0">
                <a:latin typeface="Times New Roman" pitchFamily="18" charset="0"/>
                <a:cs typeface="Times New Roman" pitchFamily="18" charset="0"/>
              </a:rPr>
              <a:t>Locomotive(Color.blue,100,300));</a:t>
            </a:r>
          </a:p>
          <a:p>
            <a:r>
              <a:rPr lang="en-US" sz="1700" dirty="0">
                <a:latin typeface="Times New Roman" pitchFamily="18" charset="0"/>
                <a:cs typeface="Times New Roman" pitchFamily="18" charset="0"/>
              </a:rPr>
              <a:t>      </a:t>
            </a:r>
            <a:r>
              <a:rPr lang="en-US" sz="1700" dirty="0" smtClean="0">
                <a:latin typeface="Times New Roman" pitchFamily="18" charset="0"/>
                <a:cs typeface="Times New Roman" pitchFamily="18" charset="0"/>
              </a:rPr>
              <a:t>		</a:t>
            </a:r>
            <a:r>
              <a:rPr lang="en-US" sz="1700" dirty="0" err="1" smtClean="0">
                <a:latin typeface="Times New Roman" pitchFamily="18" charset="0"/>
                <a:cs typeface="Times New Roman" pitchFamily="18" charset="0"/>
              </a:rPr>
              <a:t>railCars.add</a:t>
            </a:r>
            <a:r>
              <a:rPr lang="en-US" sz="1700" dirty="0" smtClean="0">
                <a:latin typeface="Times New Roman" pitchFamily="18" charset="0"/>
                <a:cs typeface="Times New Roman" pitchFamily="18" charset="0"/>
              </a:rPr>
              <a:t>(new </a:t>
            </a:r>
            <a:r>
              <a:rPr lang="en-US" sz="1700" dirty="0" err="1">
                <a:latin typeface="Times New Roman" pitchFamily="18" charset="0"/>
                <a:cs typeface="Times New Roman" pitchFamily="18" charset="0"/>
              </a:rPr>
              <a:t>PassengerCar</a:t>
            </a:r>
            <a:r>
              <a:rPr lang="en-US" sz="1700" dirty="0">
                <a:latin typeface="Times New Roman" pitchFamily="18" charset="0"/>
                <a:cs typeface="Times New Roman" pitchFamily="18" charset="0"/>
              </a:rPr>
              <a:t>(Color.gray,275,300));</a:t>
            </a:r>
          </a:p>
          <a:p>
            <a:r>
              <a:rPr lang="en-US" sz="1700" dirty="0">
                <a:latin typeface="Times New Roman" pitchFamily="18" charset="0"/>
                <a:cs typeface="Times New Roman" pitchFamily="18" charset="0"/>
              </a:rPr>
              <a:t>      </a:t>
            </a:r>
            <a:r>
              <a:rPr lang="en-US" sz="1700" dirty="0" smtClean="0">
                <a:latin typeface="Times New Roman" pitchFamily="18" charset="0"/>
                <a:cs typeface="Times New Roman" pitchFamily="18" charset="0"/>
              </a:rPr>
              <a:t>		</a:t>
            </a:r>
            <a:r>
              <a:rPr lang="en-US" sz="1700" dirty="0" err="1" smtClean="0">
                <a:latin typeface="Times New Roman" pitchFamily="18" charset="0"/>
                <a:cs typeface="Times New Roman" pitchFamily="18" charset="0"/>
              </a:rPr>
              <a:t>railCars.add</a:t>
            </a:r>
            <a:r>
              <a:rPr lang="en-US" sz="1700" dirty="0" smtClean="0">
                <a:latin typeface="Times New Roman" pitchFamily="18" charset="0"/>
                <a:cs typeface="Times New Roman" pitchFamily="18" charset="0"/>
              </a:rPr>
              <a:t>(new </a:t>
            </a:r>
            <a:r>
              <a:rPr lang="en-US" sz="1700" dirty="0" err="1">
                <a:latin typeface="Times New Roman" pitchFamily="18" charset="0"/>
                <a:cs typeface="Times New Roman" pitchFamily="18" charset="0"/>
              </a:rPr>
              <a:t>PassengerCar</a:t>
            </a:r>
            <a:r>
              <a:rPr lang="en-US" sz="1700" dirty="0">
                <a:latin typeface="Times New Roman" pitchFamily="18" charset="0"/>
                <a:cs typeface="Times New Roman" pitchFamily="18" charset="0"/>
              </a:rPr>
              <a:t>(Color.gray,450,300));</a:t>
            </a:r>
          </a:p>
          <a:p>
            <a:r>
              <a:rPr lang="en-US" sz="1700" dirty="0">
                <a:latin typeface="Times New Roman" pitchFamily="18" charset="0"/>
                <a:cs typeface="Times New Roman" pitchFamily="18" charset="0"/>
              </a:rPr>
              <a:t>      </a:t>
            </a:r>
            <a:r>
              <a:rPr lang="en-US" sz="1700" dirty="0" smtClean="0">
                <a:latin typeface="Times New Roman" pitchFamily="18" charset="0"/>
                <a:cs typeface="Times New Roman" pitchFamily="18" charset="0"/>
              </a:rPr>
              <a:t>		</a:t>
            </a:r>
            <a:r>
              <a:rPr lang="en-US" sz="1700" dirty="0" err="1" smtClean="0">
                <a:latin typeface="Times New Roman" pitchFamily="18" charset="0"/>
                <a:cs typeface="Times New Roman" pitchFamily="18" charset="0"/>
              </a:rPr>
              <a:t>railCars.add</a:t>
            </a:r>
            <a:r>
              <a:rPr lang="en-US" sz="1700" dirty="0" smtClean="0">
                <a:latin typeface="Times New Roman" pitchFamily="18" charset="0"/>
                <a:cs typeface="Times New Roman" pitchFamily="18" charset="0"/>
              </a:rPr>
              <a:t>(new </a:t>
            </a:r>
            <a:r>
              <a:rPr lang="en-US" sz="1700" dirty="0" err="1">
                <a:latin typeface="Times New Roman" pitchFamily="18" charset="0"/>
                <a:cs typeface="Times New Roman" pitchFamily="18" charset="0"/>
              </a:rPr>
              <a:t>PassengerCar</a:t>
            </a:r>
            <a:r>
              <a:rPr lang="en-US" sz="1700" dirty="0">
                <a:latin typeface="Times New Roman" pitchFamily="18" charset="0"/>
                <a:cs typeface="Times New Roman" pitchFamily="18" charset="0"/>
              </a:rPr>
              <a:t>(Color.gray,625,300));</a:t>
            </a:r>
          </a:p>
          <a:p>
            <a:r>
              <a:rPr lang="en-US" sz="1700" dirty="0">
                <a:latin typeface="Times New Roman" pitchFamily="18" charset="0"/>
                <a:cs typeface="Times New Roman" pitchFamily="18" charset="0"/>
              </a:rPr>
              <a:t>      </a:t>
            </a:r>
            <a:r>
              <a:rPr lang="en-US" sz="1700" dirty="0" smtClean="0">
                <a:latin typeface="Times New Roman" pitchFamily="18" charset="0"/>
                <a:cs typeface="Times New Roman" pitchFamily="18" charset="0"/>
              </a:rPr>
              <a:t>		</a:t>
            </a:r>
            <a:r>
              <a:rPr lang="en-US" sz="1700" dirty="0" err="1" smtClean="0">
                <a:latin typeface="Times New Roman" pitchFamily="18" charset="0"/>
                <a:cs typeface="Times New Roman" pitchFamily="18" charset="0"/>
              </a:rPr>
              <a:t>railCars.add</a:t>
            </a:r>
            <a:r>
              <a:rPr lang="en-US" sz="1700" dirty="0" smtClean="0">
                <a:latin typeface="Times New Roman" pitchFamily="18" charset="0"/>
                <a:cs typeface="Times New Roman" pitchFamily="18" charset="0"/>
              </a:rPr>
              <a:t>(new </a:t>
            </a:r>
            <a:r>
              <a:rPr lang="en-US" sz="1700" dirty="0" err="1">
                <a:latin typeface="Times New Roman" pitchFamily="18" charset="0"/>
                <a:cs typeface="Times New Roman" pitchFamily="18" charset="0"/>
              </a:rPr>
              <a:t>FreightCar</a:t>
            </a:r>
            <a:r>
              <a:rPr lang="en-US" sz="1700" dirty="0">
                <a:latin typeface="Times New Roman" pitchFamily="18" charset="0"/>
                <a:cs typeface="Times New Roman" pitchFamily="18" charset="0"/>
              </a:rPr>
              <a:t>(Color.green,800,300));</a:t>
            </a:r>
          </a:p>
          <a:p>
            <a:r>
              <a:rPr lang="en-US" sz="1700" dirty="0">
                <a:latin typeface="Times New Roman" pitchFamily="18" charset="0"/>
                <a:cs typeface="Times New Roman" pitchFamily="18" charset="0"/>
              </a:rPr>
              <a:t>      </a:t>
            </a:r>
            <a:r>
              <a:rPr lang="en-US" sz="1700" dirty="0" smtClean="0">
                <a:latin typeface="Times New Roman" pitchFamily="18" charset="0"/>
                <a:cs typeface="Times New Roman" pitchFamily="18" charset="0"/>
              </a:rPr>
              <a:t>		</a:t>
            </a:r>
            <a:r>
              <a:rPr lang="en-US" sz="1700" dirty="0" err="1" smtClean="0">
                <a:latin typeface="Times New Roman" pitchFamily="18" charset="0"/>
                <a:cs typeface="Times New Roman" pitchFamily="18" charset="0"/>
              </a:rPr>
              <a:t>railCars.add</a:t>
            </a:r>
            <a:r>
              <a:rPr lang="en-US" sz="1700" dirty="0" smtClean="0">
                <a:latin typeface="Times New Roman" pitchFamily="18" charset="0"/>
                <a:cs typeface="Times New Roman" pitchFamily="18" charset="0"/>
              </a:rPr>
              <a:t>(new </a:t>
            </a:r>
            <a:r>
              <a:rPr lang="en-US" sz="1700" dirty="0" err="1">
                <a:latin typeface="Times New Roman" pitchFamily="18" charset="0"/>
                <a:cs typeface="Times New Roman" pitchFamily="18" charset="0"/>
              </a:rPr>
              <a:t>FreightCar</a:t>
            </a:r>
            <a:r>
              <a:rPr lang="en-US" sz="1700" dirty="0">
                <a:latin typeface="Times New Roman" pitchFamily="18" charset="0"/>
                <a:cs typeface="Times New Roman" pitchFamily="18" charset="0"/>
              </a:rPr>
              <a:t>(Color.green,975,300));      </a:t>
            </a:r>
          </a:p>
          <a:p>
            <a:r>
              <a:rPr lang="en-US" sz="1700" dirty="0">
                <a:latin typeface="Times New Roman" pitchFamily="18" charset="0"/>
                <a:cs typeface="Times New Roman" pitchFamily="18" charset="0"/>
              </a:rPr>
              <a:t>      </a:t>
            </a:r>
            <a:r>
              <a:rPr lang="en-US" sz="1700" dirty="0" smtClean="0">
                <a:latin typeface="Times New Roman" pitchFamily="18" charset="0"/>
                <a:cs typeface="Times New Roman" pitchFamily="18" charset="0"/>
              </a:rPr>
              <a:t>		</a:t>
            </a:r>
            <a:r>
              <a:rPr lang="en-US" sz="1700" dirty="0" err="1" smtClean="0">
                <a:latin typeface="Times New Roman" pitchFamily="18" charset="0"/>
                <a:cs typeface="Times New Roman" pitchFamily="18" charset="0"/>
              </a:rPr>
              <a:t>railCars.add</a:t>
            </a:r>
            <a:r>
              <a:rPr lang="en-US" sz="1700" dirty="0" smtClean="0">
                <a:latin typeface="Times New Roman" pitchFamily="18" charset="0"/>
                <a:cs typeface="Times New Roman" pitchFamily="18" charset="0"/>
              </a:rPr>
              <a:t>(new </a:t>
            </a:r>
            <a:r>
              <a:rPr lang="en-US" sz="1700" dirty="0">
                <a:latin typeface="Times New Roman" pitchFamily="18" charset="0"/>
                <a:cs typeface="Times New Roman" pitchFamily="18" charset="0"/>
              </a:rPr>
              <a:t>Caboose(Color.red,1150,300));</a:t>
            </a:r>
          </a:p>
          <a:p>
            <a:r>
              <a:rPr lang="en-US" sz="1600" dirty="0">
                <a:latin typeface="Times New Roman" pitchFamily="18" charset="0"/>
                <a:cs typeface="Times New Roman" pitchFamily="18" charset="0"/>
              </a:rPr>
              <a:t>      </a:t>
            </a:r>
          </a:p>
          <a:p>
            <a:r>
              <a:rPr lang="en-US" sz="2000" b="0" dirty="0">
                <a:latin typeface="Arial Black" panose="020B0A04020102020204" pitchFamily="34" charset="0"/>
                <a:cs typeface="Times New Roman" pitchFamily="18" charset="0"/>
              </a:rPr>
              <a:t>      </a:t>
            </a:r>
            <a:r>
              <a:rPr lang="en-US" sz="2000" b="0" dirty="0" smtClean="0">
                <a:latin typeface="Arial Black" panose="020B0A04020102020204" pitchFamily="34" charset="0"/>
                <a:cs typeface="Times New Roman" pitchFamily="18" charset="0"/>
              </a:rPr>
              <a:t>	for </a:t>
            </a:r>
            <a:r>
              <a:rPr lang="en-US" sz="2000" b="0" dirty="0">
                <a:latin typeface="Arial Black" panose="020B0A04020102020204" pitchFamily="34" charset="0"/>
                <a:cs typeface="Times New Roman" pitchFamily="18" charset="0"/>
              </a:rPr>
              <a:t>(</a:t>
            </a:r>
            <a:r>
              <a:rPr lang="en-US" sz="2000" b="0" dirty="0" err="1">
                <a:latin typeface="Arial Black" panose="020B0A04020102020204" pitchFamily="34" charset="0"/>
                <a:cs typeface="Times New Roman" pitchFamily="18" charset="0"/>
              </a:rPr>
              <a:t>RailCar</a:t>
            </a:r>
            <a:r>
              <a:rPr lang="en-US" sz="2000" b="0" dirty="0">
                <a:latin typeface="Arial Black" panose="020B0A04020102020204" pitchFamily="34" charset="0"/>
                <a:cs typeface="Times New Roman" pitchFamily="18" charset="0"/>
              </a:rPr>
              <a:t> </a:t>
            </a:r>
            <a:r>
              <a:rPr lang="en-US" sz="2000" b="0" dirty="0" err="1">
                <a:latin typeface="Arial Black" panose="020B0A04020102020204" pitchFamily="34" charset="0"/>
                <a:cs typeface="Times New Roman" pitchFamily="18" charset="0"/>
              </a:rPr>
              <a:t>railCar</a:t>
            </a:r>
            <a:r>
              <a:rPr lang="en-US" sz="2000" b="0" dirty="0">
                <a:latin typeface="Arial Black" panose="020B0A04020102020204" pitchFamily="34" charset="0"/>
                <a:cs typeface="Times New Roman" pitchFamily="18" charset="0"/>
              </a:rPr>
              <a:t> : </a:t>
            </a:r>
            <a:r>
              <a:rPr lang="en-US" sz="2000" b="0" dirty="0" err="1">
                <a:latin typeface="Arial Black" panose="020B0A04020102020204" pitchFamily="34" charset="0"/>
                <a:cs typeface="Times New Roman" pitchFamily="18" charset="0"/>
              </a:rPr>
              <a:t>railCars</a:t>
            </a:r>
            <a:r>
              <a:rPr lang="en-US" sz="2000" b="0" dirty="0">
                <a:latin typeface="Arial Black" panose="020B0A04020102020204" pitchFamily="34" charset="0"/>
                <a:cs typeface="Times New Roman" pitchFamily="18" charset="0"/>
              </a:rPr>
              <a:t>)</a:t>
            </a:r>
          </a:p>
          <a:p>
            <a:r>
              <a:rPr lang="en-US" sz="2000" b="0" dirty="0">
                <a:latin typeface="Arial Black" panose="020B0A04020102020204" pitchFamily="34" charset="0"/>
                <a:cs typeface="Times New Roman" pitchFamily="18" charset="0"/>
              </a:rPr>
              <a:t>         </a:t>
            </a:r>
            <a:r>
              <a:rPr lang="en-US" sz="2000" b="0" dirty="0" smtClean="0">
                <a:latin typeface="Arial Black" panose="020B0A04020102020204" pitchFamily="34" charset="0"/>
                <a:cs typeface="Times New Roman" pitchFamily="18" charset="0"/>
              </a:rPr>
              <a:t>		</a:t>
            </a:r>
            <a:r>
              <a:rPr lang="en-US" sz="2000" b="0" dirty="0" err="1" smtClean="0">
                <a:latin typeface="Arial Black" panose="020B0A04020102020204" pitchFamily="34" charset="0"/>
                <a:cs typeface="Times New Roman" pitchFamily="18" charset="0"/>
              </a:rPr>
              <a:t>railCar.drawCar</a:t>
            </a:r>
            <a:r>
              <a:rPr lang="en-US" sz="2000" b="0" dirty="0" smtClean="0">
                <a:latin typeface="Arial Black" panose="020B0A04020102020204" pitchFamily="34" charset="0"/>
                <a:cs typeface="Times New Roman" pitchFamily="18" charset="0"/>
              </a:rPr>
              <a:t>(g</a:t>
            </a:r>
            <a:r>
              <a:rPr lang="en-US" sz="2000" b="0" dirty="0">
                <a:latin typeface="Arial Black" panose="020B0A04020102020204" pitchFamily="34" charset="0"/>
                <a:cs typeface="Times New Roman" pitchFamily="18" charset="0"/>
              </a:rPr>
              <a:t>);</a:t>
            </a:r>
          </a:p>
          <a:p>
            <a:pPr>
              <a:lnSpc>
                <a:spcPct val="80000"/>
              </a:lnSpc>
            </a:pPr>
            <a:r>
              <a:rPr lang="en-US" dirty="0">
                <a:latin typeface="Times New Roman" pitchFamily="18" charset="0"/>
                <a:cs typeface="Times New Roman" pitchFamily="18" charset="0"/>
              </a:rPr>
              <a:t>	</a:t>
            </a:r>
            <a:r>
              <a:rPr lang="en-US" sz="1700" dirty="0">
                <a:latin typeface="Times New Roman" pitchFamily="18" charset="0"/>
                <a:cs typeface="Times New Roman" pitchFamily="18" charset="0"/>
              </a:rPr>
              <a:t>}</a:t>
            </a:r>
          </a:p>
          <a:p>
            <a:pPr>
              <a:lnSpc>
                <a:spcPct val="80000"/>
              </a:lnSpc>
            </a:pPr>
            <a:r>
              <a:rPr lang="en-US" sz="1700" dirty="0" smtClean="0">
                <a:latin typeface="Times New Roman" pitchFamily="18" charset="0"/>
                <a:cs typeface="Times New Roman" pitchFamily="18" charset="0"/>
              </a:rPr>
              <a:t>}</a:t>
            </a:r>
            <a:r>
              <a:rPr lang="en-US" sz="1700" dirty="0">
                <a:latin typeface="Times New Roman" pitchFamily="18" charset="0"/>
                <a:cs typeface="Times New Roman" pitchFamily="18" charset="0"/>
              </a:rPr>
              <a:t>	</a:t>
            </a:r>
            <a:endParaRPr lang="en-US" sz="1700" dirty="0" smtClean="0">
              <a:latin typeface="Times New Roman" pitchFamily="18" charset="0"/>
              <a:cs typeface="Times New Roman" pitchFamily="18" charset="0"/>
            </a:endParaRPr>
          </a:p>
        </p:txBody>
      </p:sp>
      <p:pic>
        <p:nvPicPr>
          <p:cNvPr id="5" name="Picture 4"/>
          <p:cNvPicPr/>
          <p:nvPr/>
        </p:nvPicPr>
        <p:blipFill>
          <a:blip r:embed="rId2"/>
          <a:stretch>
            <a:fillRect/>
          </a:stretch>
        </p:blipFill>
        <p:spPr>
          <a:xfrm>
            <a:off x="2706624" y="1143000"/>
            <a:ext cx="6400800" cy="1166206"/>
          </a:xfrm>
          <a:prstGeom prst="rect">
            <a:avLst/>
          </a:prstGeom>
        </p:spPr>
      </p:pic>
      <p:pic>
        <p:nvPicPr>
          <p:cNvPr id="12291" name="Picture 3" descr="C:\Users\JohnSchram\AppData\Local\Microsoft\Windows\Temporary Internet Files\Content.IE5\T44849XS\msts_toy_story_3_train_set_by_736berkshire-d375wyl[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0045" r="6919"/>
          <a:stretch/>
        </p:blipFill>
        <p:spPr bwMode="auto">
          <a:xfrm>
            <a:off x="6106885" y="3931919"/>
            <a:ext cx="3037115" cy="2926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756247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1"/>
            <a:ext cx="9144000" cy="6986528"/>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b="1">
                <a:solidFill>
                  <a:schemeClr val="tx1"/>
                </a:solidFill>
                <a:latin typeface="Arial" charset="0"/>
              </a:defRPr>
            </a:lvl9pPr>
          </a:lstStyle>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Java1420.java       Train </a:t>
            </a:r>
            <a:r>
              <a:rPr lang="en-US" sz="1600" dirty="0">
                <a:latin typeface="Times New Roman" pitchFamily="18" charset="0"/>
                <a:cs typeface="Times New Roman" pitchFamily="18" charset="0"/>
              </a:rPr>
              <a:t>case study, Stage #7b</a:t>
            </a:r>
          </a:p>
          <a:p>
            <a:r>
              <a:rPr lang="en-US" sz="1600" dirty="0">
                <a:latin typeface="Times New Roman" pitchFamily="18" charset="0"/>
                <a:cs typeface="Times New Roman" pitchFamily="18" charset="0"/>
              </a:rPr>
              <a:t>// All the train classes are the same in Stage #7b.</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Polymorphism </a:t>
            </a:r>
            <a:r>
              <a:rPr lang="en-US" sz="1600" dirty="0">
                <a:latin typeface="Times New Roman" pitchFamily="18" charset="0"/>
                <a:cs typeface="Times New Roman" pitchFamily="18" charset="0"/>
              </a:rPr>
              <a:t>is now shown with the &lt;</a:t>
            </a:r>
            <a:r>
              <a:rPr lang="en-US" sz="1600" dirty="0" err="1">
                <a:latin typeface="Times New Roman" pitchFamily="18" charset="0"/>
                <a:cs typeface="Times New Roman" pitchFamily="18" charset="0"/>
              </a:rPr>
              <a:t>drawTain</a:t>
            </a:r>
            <a:r>
              <a:rPr lang="en-US" sz="1600" dirty="0">
                <a:latin typeface="Times New Roman" pitchFamily="18" charset="0"/>
                <a:cs typeface="Times New Roman" pitchFamily="18" charset="0"/>
              </a:rPr>
              <a:t>&gt; method.</a:t>
            </a:r>
          </a:p>
          <a:p>
            <a:r>
              <a:rPr lang="en-US" sz="1600" dirty="0">
                <a:latin typeface="Times New Roman" pitchFamily="18" charset="0"/>
                <a:cs typeface="Times New Roman" pitchFamily="18" charset="0"/>
              </a:rPr>
              <a:t>// The umbrella is the same &lt;</a:t>
            </a:r>
            <a:r>
              <a:rPr lang="en-US" sz="1600" dirty="0" err="1">
                <a:latin typeface="Times New Roman" pitchFamily="18" charset="0"/>
                <a:cs typeface="Times New Roman" pitchFamily="18" charset="0"/>
              </a:rPr>
              <a:t>RailCar</a:t>
            </a:r>
            <a:r>
              <a:rPr lang="en-US" sz="1600" dirty="0">
                <a:latin typeface="Times New Roman" pitchFamily="18" charset="0"/>
                <a:cs typeface="Times New Roman" pitchFamily="18" charset="0"/>
              </a:rPr>
              <a:t>&gt; class.</a:t>
            </a:r>
          </a:p>
          <a:p>
            <a:endParaRPr lang="en-US" sz="1600" dirty="0">
              <a:latin typeface="Times New Roman" pitchFamily="18" charset="0"/>
              <a:cs typeface="Times New Roman" pitchFamily="18" charset="0"/>
            </a:endParaRPr>
          </a:p>
          <a:p>
            <a:r>
              <a:rPr lang="en-US" sz="1600" dirty="0" smtClean="0">
                <a:latin typeface="Times New Roman" pitchFamily="18" charset="0"/>
                <a:cs typeface="Times New Roman" pitchFamily="18" charset="0"/>
              </a:rPr>
              <a:t>public </a:t>
            </a:r>
            <a:r>
              <a:rPr lang="en-US" sz="1600" dirty="0">
                <a:latin typeface="Times New Roman" pitchFamily="18" charset="0"/>
                <a:cs typeface="Times New Roman" pitchFamily="18" charset="0"/>
              </a:rPr>
              <a:t>class Java1420 extends Applet</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	public void paint(Graphics g)</a:t>
            </a:r>
          </a:p>
          <a:p>
            <a:r>
              <a:rPr lang="en-US" sz="1600" dirty="0">
                <a:latin typeface="Times New Roman" pitchFamily="18" charset="0"/>
                <a:cs typeface="Times New Roman" pitchFamily="18" charset="0"/>
              </a:rPr>
              <a:t>	{</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RailCar</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railCar1 = new Locomotive(Color.blue,100,300);</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RailCar</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railCar2 = new </a:t>
            </a:r>
            <a:r>
              <a:rPr lang="en-US" sz="1600" dirty="0" err="1">
                <a:latin typeface="Times New Roman" pitchFamily="18" charset="0"/>
                <a:cs typeface="Times New Roman" pitchFamily="18" charset="0"/>
              </a:rPr>
              <a:t>PassengerCar</a:t>
            </a:r>
            <a:r>
              <a:rPr lang="en-US" sz="1600" dirty="0">
                <a:latin typeface="Times New Roman" pitchFamily="18" charset="0"/>
                <a:cs typeface="Times New Roman" pitchFamily="18" charset="0"/>
              </a:rPr>
              <a:t>(Color.gray,275,300);      </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RailCar</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railCar3 = new </a:t>
            </a:r>
            <a:r>
              <a:rPr lang="en-US" sz="1600" dirty="0" err="1">
                <a:latin typeface="Times New Roman" pitchFamily="18" charset="0"/>
                <a:cs typeface="Times New Roman" pitchFamily="18" charset="0"/>
              </a:rPr>
              <a:t>PassengerCar</a:t>
            </a:r>
            <a:r>
              <a:rPr lang="en-US" sz="1600" dirty="0">
                <a:latin typeface="Times New Roman" pitchFamily="18" charset="0"/>
                <a:cs typeface="Times New Roman" pitchFamily="18" charset="0"/>
              </a:rPr>
              <a:t>(Color.gray,450,300); </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RailCar</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railCar4 = new </a:t>
            </a:r>
            <a:r>
              <a:rPr lang="en-US" sz="1600" dirty="0" err="1">
                <a:latin typeface="Times New Roman" pitchFamily="18" charset="0"/>
                <a:cs typeface="Times New Roman" pitchFamily="18" charset="0"/>
              </a:rPr>
              <a:t>PassengerCar</a:t>
            </a:r>
            <a:r>
              <a:rPr lang="en-US" sz="1600" dirty="0">
                <a:latin typeface="Times New Roman" pitchFamily="18" charset="0"/>
                <a:cs typeface="Times New Roman" pitchFamily="18" charset="0"/>
              </a:rPr>
              <a:t>(Color.gray,625,300);      </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RailCar</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railCar5 = new </a:t>
            </a:r>
            <a:r>
              <a:rPr lang="en-US" sz="1600" dirty="0" err="1">
                <a:latin typeface="Times New Roman" pitchFamily="18" charset="0"/>
                <a:cs typeface="Times New Roman" pitchFamily="18" charset="0"/>
              </a:rPr>
              <a:t>FreightCar</a:t>
            </a:r>
            <a:r>
              <a:rPr lang="en-US" sz="1600" dirty="0">
                <a:latin typeface="Times New Roman" pitchFamily="18" charset="0"/>
                <a:cs typeface="Times New Roman" pitchFamily="18" charset="0"/>
              </a:rPr>
              <a:t>(Color.green,800,300);      </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RailCar</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railCar6 = new </a:t>
            </a:r>
            <a:r>
              <a:rPr lang="en-US" sz="1600" dirty="0" err="1">
                <a:latin typeface="Times New Roman" pitchFamily="18" charset="0"/>
                <a:cs typeface="Times New Roman" pitchFamily="18" charset="0"/>
              </a:rPr>
              <a:t>FreightCar</a:t>
            </a:r>
            <a:r>
              <a:rPr lang="en-US" sz="1600" dirty="0">
                <a:latin typeface="Times New Roman" pitchFamily="18" charset="0"/>
                <a:cs typeface="Times New Roman" pitchFamily="18" charset="0"/>
              </a:rPr>
              <a:t>(Color.green,975,300);</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RailCar</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railCar7 = new Caboose(Color.red,1150,300);</a:t>
            </a:r>
          </a:p>
          <a:p>
            <a:endParaRPr lang="en-US" sz="1200" dirty="0">
              <a:latin typeface="Times New Roman" pitchFamily="18" charset="0"/>
              <a:cs typeface="Times New Roman" pitchFamily="18" charset="0"/>
            </a:endParaRP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drawTrain</a:t>
            </a:r>
            <a:r>
              <a:rPr lang="en-US" sz="1600" dirty="0" smtClean="0">
                <a:latin typeface="Times New Roman" pitchFamily="18" charset="0"/>
                <a:cs typeface="Times New Roman" pitchFamily="18" charset="0"/>
              </a:rPr>
              <a:t>(g,railCar1</a:t>
            </a:r>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drawTrain</a:t>
            </a:r>
            <a:r>
              <a:rPr lang="en-US" sz="1600" dirty="0" smtClean="0">
                <a:latin typeface="Times New Roman" pitchFamily="18" charset="0"/>
                <a:cs typeface="Times New Roman" pitchFamily="18" charset="0"/>
              </a:rPr>
              <a:t>(g,railCar2</a:t>
            </a:r>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drawTrain</a:t>
            </a:r>
            <a:r>
              <a:rPr lang="en-US" sz="1600" dirty="0" smtClean="0">
                <a:latin typeface="Times New Roman" pitchFamily="18" charset="0"/>
                <a:cs typeface="Times New Roman" pitchFamily="18" charset="0"/>
              </a:rPr>
              <a:t>(g,railCar3</a:t>
            </a:r>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drawTrain</a:t>
            </a:r>
            <a:r>
              <a:rPr lang="en-US" sz="1600" dirty="0" smtClean="0">
                <a:latin typeface="Times New Roman" pitchFamily="18" charset="0"/>
                <a:cs typeface="Times New Roman" pitchFamily="18" charset="0"/>
              </a:rPr>
              <a:t>(g,railCar4</a:t>
            </a:r>
            <a:r>
              <a:rPr lang="en-US" sz="1600" dirty="0">
                <a:latin typeface="Times New Roman" pitchFamily="18" charset="0"/>
                <a:cs typeface="Times New Roman" pitchFamily="18" charset="0"/>
              </a:rPr>
              <a:t>);      </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drawTrain</a:t>
            </a:r>
            <a:r>
              <a:rPr lang="en-US" sz="1600" dirty="0" smtClean="0">
                <a:latin typeface="Times New Roman" pitchFamily="18" charset="0"/>
                <a:cs typeface="Times New Roman" pitchFamily="18" charset="0"/>
              </a:rPr>
              <a:t>(g,railCar5</a:t>
            </a:r>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drawTrain</a:t>
            </a:r>
            <a:r>
              <a:rPr lang="en-US" sz="1600" dirty="0" smtClean="0">
                <a:latin typeface="Times New Roman" pitchFamily="18" charset="0"/>
                <a:cs typeface="Times New Roman" pitchFamily="18" charset="0"/>
              </a:rPr>
              <a:t>(g,railCar6</a:t>
            </a:r>
            <a:r>
              <a:rPr lang="en-US" sz="1600" dirty="0">
                <a:latin typeface="Times New Roman" pitchFamily="18" charset="0"/>
                <a:cs typeface="Times New Roman" pitchFamily="18" charset="0"/>
              </a:rPr>
              <a:t>);      </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drawTrain</a:t>
            </a:r>
            <a:r>
              <a:rPr lang="en-US" sz="1600" dirty="0" smtClean="0">
                <a:latin typeface="Times New Roman" pitchFamily="18" charset="0"/>
                <a:cs typeface="Times New Roman" pitchFamily="18" charset="0"/>
              </a:rPr>
              <a:t>(g,railCar7</a:t>
            </a:r>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r>
              <a:rPr lang="en-US" sz="1400" dirty="0">
                <a:latin typeface="Times New Roman" pitchFamily="18" charset="0"/>
                <a:cs typeface="Times New Roman" pitchFamily="18" charset="0"/>
              </a:rPr>
              <a:t>      </a:t>
            </a:r>
          </a:p>
          <a:p>
            <a:r>
              <a:rPr lang="en-US" sz="1600" b="0" dirty="0">
                <a:latin typeface="Arial Black" panose="020B0A04020102020204" pitchFamily="34" charset="0"/>
                <a:cs typeface="Times New Roman" pitchFamily="18" charset="0"/>
              </a:rPr>
              <a:t>   </a:t>
            </a:r>
            <a:r>
              <a:rPr lang="en-US" sz="1600" b="0" dirty="0" smtClean="0">
                <a:latin typeface="Arial Black" panose="020B0A04020102020204" pitchFamily="34" charset="0"/>
                <a:cs typeface="Times New Roman" pitchFamily="18" charset="0"/>
              </a:rPr>
              <a:t>	public </a:t>
            </a:r>
            <a:r>
              <a:rPr lang="en-US" sz="1600" b="0" dirty="0">
                <a:latin typeface="Arial Black" panose="020B0A04020102020204" pitchFamily="34" charset="0"/>
                <a:cs typeface="Times New Roman" pitchFamily="18" charset="0"/>
              </a:rPr>
              <a:t>void </a:t>
            </a:r>
            <a:r>
              <a:rPr lang="en-US" sz="1600" b="0" dirty="0" err="1">
                <a:latin typeface="Arial Black" panose="020B0A04020102020204" pitchFamily="34" charset="0"/>
                <a:cs typeface="Times New Roman" pitchFamily="18" charset="0"/>
              </a:rPr>
              <a:t>drawTrain</a:t>
            </a:r>
            <a:r>
              <a:rPr lang="en-US" sz="1600" b="0" dirty="0">
                <a:latin typeface="Arial Black" panose="020B0A04020102020204" pitchFamily="34" charset="0"/>
                <a:cs typeface="Times New Roman" pitchFamily="18" charset="0"/>
              </a:rPr>
              <a:t>(Graphics g, </a:t>
            </a:r>
            <a:r>
              <a:rPr lang="en-US" sz="1600" b="0" dirty="0" err="1">
                <a:latin typeface="Arial Black" panose="020B0A04020102020204" pitchFamily="34" charset="0"/>
                <a:cs typeface="Times New Roman" pitchFamily="18" charset="0"/>
              </a:rPr>
              <a:t>RailCar</a:t>
            </a:r>
            <a:r>
              <a:rPr lang="en-US" sz="1600" b="0" dirty="0">
                <a:latin typeface="Arial Black" panose="020B0A04020102020204" pitchFamily="34" charset="0"/>
                <a:cs typeface="Times New Roman" pitchFamily="18" charset="0"/>
              </a:rPr>
              <a:t> </a:t>
            </a:r>
            <a:r>
              <a:rPr lang="en-US" sz="1600" b="0" dirty="0" err="1">
                <a:latin typeface="Arial Black" panose="020B0A04020102020204" pitchFamily="34" charset="0"/>
                <a:cs typeface="Times New Roman" pitchFamily="18" charset="0"/>
              </a:rPr>
              <a:t>railCar</a:t>
            </a:r>
            <a:r>
              <a:rPr lang="en-US" sz="1600" b="0" dirty="0" smtClean="0">
                <a:latin typeface="Arial Black" panose="020B0A04020102020204" pitchFamily="34" charset="0"/>
                <a:cs typeface="Times New Roman" pitchFamily="18" charset="0"/>
              </a:rPr>
              <a:t>)   {   </a:t>
            </a:r>
            <a:r>
              <a:rPr lang="en-US" sz="1600" b="0" dirty="0" err="1" smtClean="0">
                <a:latin typeface="Arial Black" panose="020B0A04020102020204" pitchFamily="34" charset="0"/>
                <a:cs typeface="Times New Roman" pitchFamily="18" charset="0"/>
              </a:rPr>
              <a:t>railCar.drawCar</a:t>
            </a:r>
            <a:r>
              <a:rPr lang="en-US" sz="1600" b="0" dirty="0" smtClean="0">
                <a:latin typeface="Arial Black" panose="020B0A04020102020204" pitchFamily="34" charset="0"/>
                <a:cs typeface="Times New Roman" pitchFamily="18" charset="0"/>
              </a:rPr>
              <a:t>(g);   }</a:t>
            </a:r>
            <a:endParaRPr lang="en-US" sz="1600" b="0" dirty="0">
              <a:latin typeface="Arial Black" panose="020B0A04020102020204" pitchFamily="34" charset="0"/>
              <a:cs typeface="Times New Roman" pitchFamily="18" charset="0"/>
            </a:endParaRPr>
          </a:p>
          <a:p>
            <a:r>
              <a:rPr lang="en-US" sz="1600" dirty="0" smtClean="0">
                <a:latin typeface="Times New Roman" pitchFamily="18" charset="0"/>
                <a:cs typeface="Times New Roman" pitchFamily="18" charset="0"/>
              </a:rPr>
              <a:t>}</a:t>
            </a:r>
          </a:p>
        </p:txBody>
      </p:sp>
      <p:pic>
        <p:nvPicPr>
          <p:cNvPr id="5" name="Picture 4"/>
          <p:cNvPicPr>
            <a:picLocks noChangeAspect="1"/>
          </p:cNvPicPr>
          <p:nvPr/>
        </p:nvPicPr>
        <p:blipFill>
          <a:blip r:embed="rId2"/>
          <a:stretch>
            <a:fillRect/>
          </a:stretch>
        </p:blipFill>
        <p:spPr>
          <a:xfrm>
            <a:off x="3474720" y="1143000"/>
            <a:ext cx="5669280" cy="1032925"/>
          </a:xfrm>
          <a:prstGeom prst="rect">
            <a:avLst/>
          </a:prstGeom>
        </p:spPr>
      </p:pic>
      <p:pic>
        <p:nvPicPr>
          <p:cNvPr id="13314" name="Picture 2" descr="C:\Users\JohnSchram\AppData\Local\Microsoft\Windows\Temporary Internet Files\Content.IE5\8K4SRM6H\large_high-speed-train[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4101592"/>
            <a:ext cx="2971800" cy="1895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1093762"/>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10713</TotalTime>
  <Words>1586</Words>
  <Application>Microsoft Office PowerPoint</Application>
  <PresentationFormat>On-screen Show (4:3)</PresentationFormat>
  <Paragraphs>1073</Paragraphs>
  <Slides>59</Slides>
  <Notes>0</Notes>
  <HiddenSlides>0</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Default Design</vt:lpstr>
      <vt:lpstr>PowerPoint Presentation</vt:lpstr>
      <vt:lpstr>PowerPoint Presentation</vt:lpstr>
      <vt:lpstr>PowerPoint Presentation</vt:lpstr>
      <vt:lpstr>Polymorphism</vt:lpstr>
      <vt:lpstr>PowerPoint Presentation</vt:lpstr>
      <vt:lpstr>Addition &amp; Concatenation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Umbrella Example 1</vt:lpstr>
      <vt:lpstr>Umbrella Example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Interface or Superclass?</vt:lpstr>
      <vt:lpstr>PowerPoint Presentation</vt:lpstr>
      <vt:lpstr>Quote from An Introduction to Polymorphism by Dan Umbarger</vt:lpstr>
      <vt:lpstr>Elegant Polymorphic Code</vt:lpstr>
      <vt:lpstr>Polymorphism &amp; Reliability</vt:lpstr>
      <vt:lpstr>Cookies &amp; Polymorphism</vt:lpstr>
      <vt:lpstr>Cookies &amp; Polymorphism </vt:lpstr>
      <vt:lpstr>PowerPoint Presentation</vt:lpstr>
      <vt:lpstr>PowerPoint Presentation</vt:lpstr>
      <vt:lpstr>PowerPoint Presentation</vt:lpstr>
      <vt:lpstr>PowerPoint Presentation</vt:lpstr>
      <vt:lpstr>PowerPoint Presentation</vt:lpstr>
      <vt:lpstr>Train Case Study – Stage 3</vt:lpstr>
      <vt:lpstr>PowerPoint Presentation</vt:lpstr>
      <vt:lpstr>Train Case Study – Stage 4</vt:lpstr>
      <vt:lpstr>PowerPoint Presentation</vt:lpstr>
      <vt:lpstr>Train Case Study – Stage 5</vt:lpstr>
      <vt:lpstr>PowerPoint Presentation</vt:lpstr>
      <vt:lpstr>Train Case Study – Stage 6</vt:lpstr>
      <vt:lpstr>PowerPoint Presentation</vt:lpstr>
      <vt:lpstr>PowerPoint Presentation</vt:lpstr>
      <vt:lpstr>PowerPoint Presentation</vt:lpstr>
      <vt:lpstr>PowerPoint Presentation</vt:lpstr>
    </vt:vector>
  </TitlesOfParts>
  <Manager>Leon Schram</Manager>
  <Company>BHS-RISD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Exposure Java Slides</dc:title>
  <dc:subject>APCS1</dc:subject>
  <dc:creator>John Schram</dc:creator>
  <cp:lastModifiedBy>LeonSchram49</cp:lastModifiedBy>
  <cp:revision>1043</cp:revision>
  <dcterms:created xsi:type="dcterms:W3CDTF">2003-07-04T03:08:29Z</dcterms:created>
  <dcterms:modified xsi:type="dcterms:W3CDTF">2015-06-02T18:16:43Z</dcterms:modified>
</cp:coreProperties>
</file>