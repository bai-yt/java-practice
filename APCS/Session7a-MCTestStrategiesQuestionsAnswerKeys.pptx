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11" r:id="rId3"/>
    <p:sldId id="507" r:id="rId4"/>
    <p:sldId id="585" r:id="rId5"/>
    <p:sldId id="513" r:id="rId6"/>
    <p:sldId id="586" r:id="rId7"/>
    <p:sldId id="515" r:id="rId8"/>
    <p:sldId id="530" r:id="rId9"/>
    <p:sldId id="587" r:id="rId10"/>
    <p:sldId id="531" r:id="rId11"/>
    <p:sldId id="588" r:id="rId12"/>
    <p:sldId id="517" r:id="rId13"/>
    <p:sldId id="536" r:id="rId14"/>
    <p:sldId id="589" r:id="rId15"/>
    <p:sldId id="537" r:id="rId16"/>
    <p:sldId id="590" r:id="rId17"/>
    <p:sldId id="518" r:id="rId18"/>
    <p:sldId id="576" r:id="rId19"/>
    <p:sldId id="591" r:id="rId20"/>
    <p:sldId id="579" r:id="rId21"/>
    <p:sldId id="592" r:id="rId22"/>
    <p:sldId id="575" r:id="rId23"/>
    <p:sldId id="539" r:id="rId24"/>
    <p:sldId id="594" r:id="rId25"/>
    <p:sldId id="540" r:id="rId26"/>
    <p:sldId id="595" r:id="rId27"/>
    <p:sldId id="519" r:id="rId28"/>
    <p:sldId id="542" r:id="rId29"/>
    <p:sldId id="597" r:id="rId30"/>
    <p:sldId id="544" r:id="rId31"/>
    <p:sldId id="598" r:id="rId32"/>
    <p:sldId id="520" r:id="rId33"/>
    <p:sldId id="545" r:id="rId34"/>
    <p:sldId id="600" r:id="rId35"/>
    <p:sldId id="618" r:id="rId36"/>
    <p:sldId id="619" r:id="rId37"/>
    <p:sldId id="522" r:id="rId38"/>
    <p:sldId id="551" r:id="rId39"/>
    <p:sldId id="601" r:id="rId40"/>
    <p:sldId id="552" r:id="rId41"/>
    <p:sldId id="602" r:id="rId42"/>
    <p:sldId id="523" r:id="rId43"/>
    <p:sldId id="554" r:id="rId44"/>
    <p:sldId id="604" r:id="rId45"/>
    <p:sldId id="555" r:id="rId46"/>
    <p:sldId id="605" r:id="rId47"/>
    <p:sldId id="556" r:id="rId48"/>
    <p:sldId id="606" r:id="rId49"/>
    <p:sldId id="582" r:id="rId50"/>
    <p:sldId id="607" r:id="rId51"/>
    <p:sldId id="583" r:id="rId52"/>
    <p:sldId id="609" r:id="rId53"/>
    <p:sldId id="525" r:id="rId54"/>
    <p:sldId id="561" r:id="rId55"/>
    <p:sldId id="614" r:id="rId56"/>
    <p:sldId id="526" r:id="rId57"/>
    <p:sldId id="563" r:id="rId58"/>
    <p:sldId id="615" r:id="rId59"/>
    <p:sldId id="564" r:id="rId60"/>
    <p:sldId id="616" r:id="rId61"/>
    <p:sldId id="565" r:id="rId62"/>
    <p:sldId id="617" r:id="rId6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FFFF99"/>
    <a:srgbClr val="96640F"/>
    <a:srgbClr val="CC00FF"/>
    <a:srgbClr val="0000FF"/>
    <a:srgbClr val="FF0000"/>
    <a:srgbClr val="33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768" autoAdjust="0"/>
    <p:restoredTop sz="94542" autoAdjust="0"/>
  </p:normalViewPr>
  <p:slideViewPr>
    <p:cSldViewPr>
      <p:cViewPr>
        <p:scale>
          <a:sx n="90" d="100"/>
          <a:sy n="90" d="100"/>
        </p:scale>
        <p:origin x="-1790" y="8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C10B3-C4EA-48BB-9582-78AFEC3229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88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B27C7-9FE9-4E2D-A445-AECB9FF4C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5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46588-BED7-4147-BC0E-3C4348700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0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AF20B-615B-44F7-8543-56340B3D6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7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79C8D-A1D9-482D-B552-D6AB2E60AE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26F70-AD84-4FA4-889D-4F50CA445A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076A1-D601-4801-96CA-2239931068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7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E41AA-B1E6-45A3-9193-8AEFFFDE1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8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37FB2-3C43-41A3-8195-E154C7605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B849E-4A69-4CC7-AA36-1C3CAA99AC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1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681C2-4553-4552-8063-5D72EB2ED1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637F91C-D61D-41C1-9AB8-BEA7AB2221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6"/>
          <p:cNvSpPr>
            <a:spLocks noChangeArrowheads="1" noChangeShapeType="1" noTextEdit="1"/>
          </p:cNvSpPr>
          <p:nvPr/>
        </p:nvSpPr>
        <p:spPr bwMode="auto">
          <a:xfrm>
            <a:off x="685800" y="2057400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Snooker Questions</a:t>
            </a:r>
          </a:p>
        </p:txBody>
      </p:sp>
      <p:sp>
        <p:nvSpPr>
          <p:cNvPr id="2051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en-US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MC Question Strategies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  <p:sp>
        <p:nvSpPr>
          <p:cNvPr id="2052" name="WordArt 15"/>
          <p:cNvSpPr>
            <a:spLocks noChangeArrowheads="1" noChangeShapeType="1" noTextEdit="1"/>
          </p:cNvSpPr>
          <p:nvPr/>
        </p:nvSpPr>
        <p:spPr bwMode="auto">
          <a:xfrm>
            <a:off x="685800" y="5334000"/>
            <a:ext cx="80772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By </a:t>
            </a:r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Leon Schram, Plano Texas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Control</a:t>
            </a:r>
          </a:p>
        </p:txBody>
      </p:sp>
      <p:sp>
        <p:nvSpPr>
          <p:cNvPr id="307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152400" y="171450"/>
            <a:ext cx="8534400" cy="64944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01.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x = &lt;some integer greater than zero&gt;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n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if (x &lt; 500)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(x &gt; 750)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200;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(x &lt; 300)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300;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200;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System.out.println(n);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3200400" y="1752600"/>
            <a:ext cx="52578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Unknown without the value of x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100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200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152400" y="171450"/>
            <a:ext cx="8534400" cy="64944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01.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x = &lt;some integer greater than zero&gt;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n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if (x &lt; 500)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(x &gt; 750)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200;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(x &lt; 300)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300;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n = 200;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System.out.println(n);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3200400" y="1752600"/>
            <a:ext cx="52578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Unknown without the value of x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100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(D)	200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/>
          <p:cNvSpPr txBox="1">
            <a:spLocks noChangeArrowheads="1"/>
          </p:cNvSpPr>
          <p:nvPr/>
        </p:nvSpPr>
        <p:spPr bwMode="auto">
          <a:xfrm>
            <a:off x="304800" y="152400"/>
            <a:ext cx="8534400" cy="618648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02.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count = 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for (int p = 0; p &lt; 15; p+=3)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(p % 2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count++;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count--;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System.out.println(count);</a:t>
            </a: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4114800" y="1905000"/>
            <a:ext cx="4491038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	10</a:t>
            </a:r>
          </a:p>
          <a:p>
            <a:pPr>
              <a:defRPr/>
            </a:pPr>
            <a:r>
              <a:rPr lang="en-US" sz="2000" dirty="0"/>
              <a:t>(B)	11</a:t>
            </a:r>
          </a:p>
          <a:p>
            <a:pPr>
              <a:defRPr/>
            </a:pPr>
            <a:r>
              <a:rPr lang="en-US" sz="2000" dirty="0"/>
              <a:t>(C) 	12</a:t>
            </a:r>
          </a:p>
          <a:p>
            <a:pPr>
              <a:defRPr/>
            </a:pPr>
            <a:r>
              <a:rPr lang="en-US" sz="2000" dirty="0"/>
              <a:t>(D)	13</a:t>
            </a:r>
          </a:p>
          <a:p>
            <a:pPr>
              <a:defRPr/>
            </a:pPr>
            <a:r>
              <a:rPr lang="en-US" sz="2000" dirty="0"/>
              <a:t>(E)	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304800" y="152400"/>
            <a:ext cx="8534400" cy="618648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02.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int count = 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for (int p = 0; p &lt; 15; p+=3)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if (p % 2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count++;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count--;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System.out.println(count);</a:t>
            </a: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4114800" y="1905000"/>
            <a:ext cx="4491038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	10</a:t>
            </a:r>
          </a:p>
          <a:p>
            <a:pPr>
              <a:defRPr/>
            </a:pPr>
            <a:r>
              <a:rPr lang="en-US" sz="2000" b="1" dirty="0"/>
              <a:t>(B)	11</a:t>
            </a:r>
          </a:p>
          <a:p>
            <a:pPr>
              <a:defRPr/>
            </a:pPr>
            <a:r>
              <a:rPr lang="en-US" sz="2000" dirty="0"/>
              <a:t>(C) 	12</a:t>
            </a:r>
          </a:p>
          <a:p>
            <a:pPr>
              <a:defRPr/>
            </a:pPr>
            <a:r>
              <a:rPr lang="en-US" sz="2000" dirty="0"/>
              <a:t>(D)	13</a:t>
            </a:r>
          </a:p>
          <a:p>
            <a:pPr>
              <a:defRPr/>
            </a:pPr>
            <a:r>
              <a:rPr lang="en-US" sz="2000" dirty="0"/>
              <a:t>(E)	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2"/>
          <p:cNvSpPr>
            <a:spLocks noChangeArrowheads="1" noChangeShapeType="1" noTextEdit="1"/>
          </p:cNvSpPr>
          <p:nvPr/>
        </p:nvSpPr>
        <p:spPr bwMode="auto">
          <a:xfrm>
            <a:off x="304800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 &amp;</a:t>
            </a:r>
          </a:p>
        </p:txBody>
      </p:sp>
      <p:sp>
        <p:nvSpPr>
          <p:cNvPr id="819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Parameters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915400" cy="6248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03.	Consider the following program.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public class Question03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main (String args[])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p = 10;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q = 20;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swap(p,q);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System.out.println(p + "  " + q);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swap(int x,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temp 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y =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3" name="TextBox 2"/>
          <p:cNvSpPr txBox="1"/>
          <p:nvPr/>
        </p:nvSpPr>
        <p:spPr>
          <a:xfrm>
            <a:off x="5562600" y="1905000"/>
            <a:ext cx="3400425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program?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10  20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20  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10  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20  20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0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915400" cy="62484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03.	Consider the following program.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public class Question03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main (String args[])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p = 10;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q = 20;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swap(p,q);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System.out.println(p + "  " + q);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swap(int x,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temp 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y =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3" name="TextBox 2"/>
          <p:cNvSpPr txBox="1"/>
          <p:nvPr/>
        </p:nvSpPr>
        <p:spPr>
          <a:xfrm>
            <a:off x="5562600" y="1828800"/>
            <a:ext cx="3400425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program?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(A)	10  20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20  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10  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20  20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0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304800" y="76200"/>
            <a:ext cx="8534400" cy="667861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04.	Consider the following program.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public class Question04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main (String args[])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int[ ] list = {1,2,3,4,5,6,7,8,9};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swap(list,3,4);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System.out.println(list[3] + "  " + list[4]);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swap(int[ ] x, int p, int q)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temp = x[p];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x[p] = x[q];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x[q] =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3886200" y="4044950"/>
            <a:ext cx="47244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program?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3 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4 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4  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5 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</a:t>
            </a:r>
            <a:r>
              <a:rPr lang="en-US" sz="2000" dirty="0" err="1"/>
              <a:t>ArrayIndexOutOfboundsException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304800" y="76200"/>
            <a:ext cx="8534400" cy="667861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04.	Consider the following program.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public class Question04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main (String args[])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int[ ] list = {1,2,3,4,5,6,7,8,9};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swap(list,3,4);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System.out.println(list[3] + "  " + list[4]);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public static void swap(int[ ] x, int p, int q)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int temp = x[p];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x[p] = x[q];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	x[q] =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3886200" y="4044950"/>
            <a:ext cx="47244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program?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3 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4 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4  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(D)	5 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</a:t>
            </a:r>
            <a:r>
              <a:rPr lang="en-US" sz="2000" dirty="0" err="1"/>
              <a:t>ArrayIndexOutOfboundsException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Boolean</a:t>
            </a:r>
          </a:p>
        </p:txBody>
      </p:sp>
      <p:sp>
        <p:nvSpPr>
          <p:cNvPr id="1331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Logic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59404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05.	The Boolean expression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!((A &lt; B) &amp;&amp; (C &gt; D))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is equivalent to which of the following expressions?</a:t>
            </a: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3" name="TextBox 2"/>
          <p:cNvSpPr txBox="1"/>
          <p:nvPr/>
        </p:nvSpPr>
        <p:spPr>
          <a:xfrm>
            <a:off x="3048000" y="2286000"/>
            <a:ext cx="5257800" cy="292417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(A)	(A &lt; B) || (C &gt;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(B)	(A &gt;= B) &amp;&amp; (C &lt;=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(C)	(A &gt;= B) || (C &lt;=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(D)	(A &gt; B) &amp;&amp; (C &lt;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(E)	(A &gt; B) || (C &lt; 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59404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05.	The Boolean expression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!((A &lt; B) &amp;&amp; (C &gt; D))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is equivalent to which of the following expressions?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048000" y="2286000"/>
            <a:ext cx="5257800" cy="292417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(A)	(A &lt; B) || (C &gt;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(B)	(A &gt;= B) &amp;&amp; (C &lt;=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b="1" dirty="0"/>
              <a:t>(C)	(A &gt;= B) || (C &lt;=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(D)	(A &gt; B) &amp;&amp; (C &lt; D)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(E)	(A &gt; B) || (C &lt; 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639763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639763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639763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639763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639763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06.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for (int k = 1; k &lt;= 100;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int n1 = (int) Math.random();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int n2 = (int) Math.random() * 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boolean bool = n1 == n2;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System.out.print(bool + "  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3" name="TextBox 2"/>
          <p:cNvSpPr txBox="1"/>
          <p:nvPr/>
        </p:nvSpPr>
        <p:spPr>
          <a:xfrm>
            <a:off x="388938" y="3244850"/>
            <a:ext cx="8366125" cy="317023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  The code segment always prints true.</a:t>
            </a:r>
          </a:p>
          <a:p>
            <a:pPr>
              <a:defRPr/>
            </a:pPr>
            <a:r>
              <a:rPr lang="en-US" sz="2000" dirty="0"/>
              <a:t>(B)  The code segment always prints false.</a:t>
            </a:r>
          </a:p>
          <a:p>
            <a:pPr>
              <a:defRPr/>
            </a:pPr>
            <a:r>
              <a:rPr lang="en-US" sz="2000" dirty="0"/>
              <a:t>(C)  The code segment prints true roughly 25% of the time and </a:t>
            </a:r>
            <a:r>
              <a:rPr lang="en-US" sz="2000" dirty="0" smtClean="0"/>
              <a:t>prints     	false </a:t>
            </a:r>
            <a:r>
              <a:rPr lang="en-US" sz="2000" dirty="0"/>
              <a:t>roughly 75% of the time.</a:t>
            </a:r>
          </a:p>
          <a:p>
            <a:pPr>
              <a:defRPr/>
            </a:pPr>
            <a:r>
              <a:rPr lang="en-US" sz="2000" dirty="0"/>
              <a:t>(D)  The code segment prints both true and false, but true more 	frequently.</a:t>
            </a:r>
          </a:p>
          <a:p>
            <a:pPr>
              <a:defRPr/>
            </a:pPr>
            <a:r>
              <a:rPr lang="en-US" sz="2000" dirty="0"/>
              <a:t>(E)  The code segment prints both true and false, but false more 	frequently.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639763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639763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639763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639763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639763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639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06.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for (int k = 1; k &lt;= 100;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int n1 = (int) Math.random();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int n2 = (int) Math.random() * 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boolean bool = n1 == n2;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	System.out.print(bool + "  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	}</a:t>
            </a: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3" name="TextBox 2"/>
          <p:cNvSpPr txBox="1"/>
          <p:nvPr/>
        </p:nvSpPr>
        <p:spPr>
          <a:xfrm>
            <a:off x="388938" y="3244850"/>
            <a:ext cx="8366125" cy="317023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b="1" dirty="0"/>
              <a:t>(A)  The code segment always prints true.</a:t>
            </a:r>
          </a:p>
          <a:p>
            <a:pPr>
              <a:defRPr/>
            </a:pPr>
            <a:r>
              <a:rPr lang="en-US" sz="2000" dirty="0"/>
              <a:t>(B)  The code segment always prints false.</a:t>
            </a:r>
          </a:p>
          <a:p>
            <a:pPr>
              <a:defRPr/>
            </a:pPr>
            <a:r>
              <a:rPr lang="en-US" sz="2000" dirty="0"/>
              <a:t>(C)  The code segment prints true roughly 25% of the time and prints       	false roughly 75% of the time.</a:t>
            </a:r>
          </a:p>
          <a:p>
            <a:pPr>
              <a:defRPr/>
            </a:pPr>
            <a:r>
              <a:rPr lang="en-US" sz="2000" dirty="0"/>
              <a:t>(D)  The code segment prints both true and false, but true more 	frequently.</a:t>
            </a:r>
          </a:p>
          <a:p>
            <a:pPr>
              <a:defRPr/>
            </a:pPr>
            <a:r>
              <a:rPr lang="en-US" sz="2000" dirty="0"/>
              <a:t>(E)  The code segment prints both true and false, but false more 	frequently.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OOP</a:t>
            </a:r>
          </a:p>
        </p:txBody>
      </p:sp>
      <p:sp>
        <p:nvSpPr>
          <p:cNvPr id="1843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0" y="26988"/>
            <a:ext cx="4648200" cy="47085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07. 	Person sue = new Person(25);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Student tom = new Student(17,12);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System.out.println(sue.getAge());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System.out.println(tom.getGrade());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age;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Person(int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age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System.out.println("Person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getAge()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age;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" name="TextBox 2"/>
          <p:cNvSpPr txBox="1"/>
          <p:nvPr/>
        </p:nvSpPr>
        <p:spPr>
          <a:xfrm>
            <a:off x="228600" y="4876800"/>
            <a:ext cx="4724400" cy="181610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are the  </a:t>
            </a:r>
            <a:r>
              <a:rPr lang="en-US" sz="1600" dirty="0">
                <a:latin typeface="Arial Black" pitchFamily="34" charset="0"/>
              </a:rPr>
              <a:t>first 2  </a:t>
            </a:r>
            <a:r>
              <a:rPr lang="en-US" sz="1600" dirty="0"/>
              <a:t>lines of  program output?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	25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	17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(B)			Student 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	Student Constructor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4724400" y="12700"/>
            <a:ext cx="4419600" cy="4000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 </a:t>
            </a:r>
            <a:r>
              <a:rPr lang="en-US" altLang="en-US" sz="14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Student extends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grade;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Student(int g, 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super(a);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grade = g;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System.out.println("Student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getGrade()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grade;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  <a:endParaRPr lang="en-US" altLang="en-US" sz="14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i="1"/>
          </a:p>
        </p:txBody>
      </p:sp>
      <p:sp>
        <p:nvSpPr>
          <p:cNvPr id="5" name="TextBox 4"/>
          <p:cNvSpPr txBox="1"/>
          <p:nvPr/>
        </p:nvSpPr>
        <p:spPr>
          <a:xfrm>
            <a:off x="5129213" y="4191000"/>
            <a:ext cx="3609975" cy="20621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(C)	Person 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26988"/>
            <a:ext cx="4648200" cy="47085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07. 	Person sue = new Person(25);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Student tom = new Student(17,12);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System.out.println(sue.getAge());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System.out.println(tom.getGrade());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age;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Person(int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age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System.out.println("Person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getAge()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age;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3" name="TextBox 2"/>
          <p:cNvSpPr txBox="1"/>
          <p:nvPr/>
        </p:nvSpPr>
        <p:spPr>
          <a:xfrm>
            <a:off x="228600" y="4876800"/>
            <a:ext cx="4724400" cy="181610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are the  </a:t>
            </a:r>
            <a:r>
              <a:rPr lang="en-US" sz="1600" dirty="0">
                <a:latin typeface="Arial Black" pitchFamily="34" charset="0"/>
              </a:rPr>
              <a:t>first 2  </a:t>
            </a:r>
            <a:r>
              <a:rPr lang="en-US" sz="1600" dirty="0"/>
              <a:t>lines of  program output?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</a:t>
            </a:r>
            <a:r>
              <a:rPr lang="en-US" sz="1600" dirty="0" smtClean="0"/>
              <a:t>25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17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(B)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4724400" y="26988"/>
            <a:ext cx="4419600" cy="4000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 </a:t>
            </a:r>
            <a:r>
              <a:rPr lang="en-US" altLang="en-US" sz="14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Student extends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grade;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Student(int g, 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super(a);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grade = g;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System.out.println("Student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getGrade()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grade;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  <a:endParaRPr lang="en-US" altLang="en-US" sz="14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i="1"/>
          </a:p>
        </p:txBody>
      </p:sp>
      <p:sp>
        <p:nvSpPr>
          <p:cNvPr id="5" name="TextBox 4"/>
          <p:cNvSpPr txBox="1"/>
          <p:nvPr/>
        </p:nvSpPr>
        <p:spPr>
          <a:xfrm>
            <a:off x="5129213" y="4191000"/>
            <a:ext cx="3609975" cy="20621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(C)	Person 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b="1" dirty="0"/>
              <a:t>(E</a:t>
            </a:r>
            <a:r>
              <a:rPr lang="en-US" sz="1600" b="1" dirty="0" smtClean="0"/>
              <a:t>)	</a:t>
            </a:r>
            <a:r>
              <a:rPr lang="en-US" sz="1600" b="1" dirty="0"/>
              <a:t>	</a:t>
            </a:r>
            <a:r>
              <a:rPr lang="en-US" sz="1600" b="1" dirty="0" smtClean="0"/>
              <a:t>Person </a:t>
            </a:r>
            <a:r>
              <a:rPr lang="en-US" sz="1600" b="1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b="1" dirty="0"/>
              <a:t>		</a:t>
            </a:r>
            <a:r>
              <a:rPr lang="en-US" sz="1600" b="1" dirty="0" smtClean="0"/>
              <a:t>Person </a:t>
            </a:r>
            <a:r>
              <a:rPr lang="en-US" sz="1600" b="1" dirty="0"/>
              <a:t>Constructor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/>
          <p:cNvSpPr txBox="1">
            <a:spLocks noChangeArrowheads="1"/>
          </p:cNvSpPr>
          <p:nvPr/>
        </p:nvSpPr>
        <p:spPr bwMode="auto">
          <a:xfrm>
            <a:off x="0" y="26988"/>
            <a:ext cx="4724400" cy="4400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08.			Person sue = new Person(25);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Student tom = new Student(17,12);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System.out.println(sue.getAge());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System.out.println(tom.getGrade());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age;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Person(int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age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System.out.println("Person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getAge()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age;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648200"/>
            <a:ext cx="4419600" cy="20621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are the  </a:t>
            </a:r>
            <a:r>
              <a:rPr lang="en-US" sz="1600" dirty="0">
                <a:latin typeface="Arial Black" pitchFamily="34" charset="0"/>
              </a:rPr>
              <a:t>last 2  </a:t>
            </a:r>
            <a:r>
              <a:rPr lang="en-US" sz="1600" dirty="0"/>
              <a:t>lines of  program output?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 </a:t>
            </a:r>
          </a:p>
          <a:p>
            <a:pPr>
              <a:defRPr/>
            </a:pPr>
            <a:r>
              <a:rPr lang="en-US" sz="1600" dirty="0"/>
              <a:t>(</a:t>
            </a:r>
            <a:r>
              <a:rPr lang="en-US" sz="1600" dirty="0" smtClean="0"/>
              <a:t>A)	25</a:t>
            </a:r>
            <a:endParaRPr lang="en-US" sz="1600" dirty="0"/>
          </a:p>
          <a:p>
            <a:pPr>
              <a:defRPr/>
            </a:pPr>
            <a:r>
              <a:rPr lang="en-US" sz="1600" dirty="0"/>
              <a:t>	17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(B)</a:t>
            </a:r>
            <a:r>
              <a:rPr lang="en-US" sz="1600" b="1" dirty="0"/>
              <a:t>	</a:t>
            </a:r>
            <a:r>
              <a:rPr lang="en-US" sz="1600" dirty="0"/>
              <a:t>17</a:t>
            </a:r>
          </a:p>
          <a:p>
            <a:pPr>
              <a:defRPr/>
            </a:pPr>
            <a:r>
              <a:rPr lang="en-US" sz="1600" dirty="0"/>
              <a:t>	25 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4724400" y="12700"/>
            <a:ext cx="4419600" cy="4000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 </a:t>
            </a:r>
            <a:r>
              <a:rPr lang="en-US" altLang="en-US" sz="14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Student extends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grade;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Student(int g, 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super(a);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grade = g;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System.out.println("Student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getGrade()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grade;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  <a:endParaRPr lang="en-US" altLang="en-US" sz="14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i="1"/>
          </a:p>
        </p:txBody>
      </p:sp>
      <p:sp>
        <p:nvSpPr>
          <p:cNvPr id="5" name="TextBox 4"/>
          <p:cNvSpPr txBox="1"/>
          <p:nvPr/>
        </p:nvSpPr>
        <p:spPr>
          <a:xfrm>
            <a:off x="4906963" y="4267200"/>
            <a:ext cx="4052887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(C)	17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17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25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25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0" y="26988"/>
            <a:ext cx="4724400" cy="46164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08.			Person sue = new Person(25);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Student tom = new Student(17,12);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System.out.println(sue.getAge());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System.out.println(tom.getGrade());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age;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Person(int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age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System.out.println("Person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getAge()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age;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876800"/>
            <a:ext cx="4724400" cy="181610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are the  </a:t>
            </a:r>
            <a:r>
              <a:rPr lang="en-US" sz="1600" dirty="0">
                <a:latin typeface="Arial Black" pitchFamily="34" charset="0"/>
              </a:rPr>
              <a:t>last 2  </a:t>
            </a:r>
            <a:r>
              <a:rPr lang="en-US" sz="1600" dirty="0"/>
              <a:t>lines of  program output?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 </a:t>
            </a:r>
          </a:p>
          <a:p>
            <a:pPr>
              <a:defRPr/>
            </a:pPr>
            <a:r>
              <a:rPr lang="en-US" sz="1600" b="1" dirty="0"/>
              <a:t>(A)	25</a:t>
            </a:r>
          </a:p>
          <a:p>
            <a:pPr>
              <a:defRPr/>
            </a:pPr>
            <a:r>
              <a:rPr lang="en-US" sz="1600" b="1" dirty="0"/>
              <a:t>	17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(B)</a:t>
            </a:r>
            <a:r>
              <a:rPr lang="en-US" sz="1600" b="1" dirty="0"/>
              <a:t>	</a:t>
            </a:r>
            <a:r>
              <a:rPr lang="en-US" sz="1600" dirty="0"/>
              <a:t>17</a:t>
            </a:r>
          </a:p>
          <a:p>
            <a:pPr>
              <a:defRPr/>
            </a:pPr>
            <a:r>
              <a:rPr lang="en-US" sz="1600" dirty="0"/>
              <a:t>	25 </a:t>
            </a: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4724400" y="12700"/>
            <a:ext cx="4419600" cy="40005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 </a:t>
            </a:r>
            <a:r>
              <a:rPr lang="en-US" altLang="en-US" sz="140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class Student extends Person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private int grade;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Student(int g, int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super(a);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grade = g;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System.out.println("Student Constructor");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public int getGrade() 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		return grade;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/>
              <a:t>}</a:t>
            </a:r>
            <a:endParaRPr lang="en-US" altLang="en-US" sz="1400" b="1" i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i="1"/>
          </a:p>
        </p:txBody>
      </p:sp>
      <p:sp>
        <p:nvSpPr>
          <p:cNvPr id="5" name="TextBox 4"/>
          <p:cNvSpPr txBox="1"/>
          <p:nvPr/>
        </p:nvSpPr>
        <p:spPr>
          <a:xfrm>
            <a:off x="4792663" y="4356100"/>
            <a:ext cx="4281487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(C)	17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17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25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25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Person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Student </a:t>
            </a:r>
            <a:r>
              <a:rPr lang="en-US" sz="1600" dirty="0"/>
              <a:t>Constructor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Static</a:t>
            </a:r>
          </a:p>
        </p:txBody>
      </p:sp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09. 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 = {11,22,33,44,55,66,77,88,99};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</a:t>
            </a:r>
            <a:r>
              <a:rPr lang="en-US" altLang="en-US" sz="2000" b="1" dirty="0" err="1"/>
              <a:t>list.length</a:t>
            </a:r>
            <a:r>
              <a:rPr lang="en-US" altLang="en-US" sz="2000" b="1" dirty="0"/>
              <a:t>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list[k] = list[k]/list[0];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</a:t>
            </a:r>
            <a:r>
              <a:rPr lang="en-US" altLang="en-US" sz="2000" b="1" dirty="0" err="1"/>
              <a:t>list.length</a:t>
            </a:r>
            <a:r>
              <a:rPr lang="en-US" altLang="en-US" sz="2000" b="1" dirty="0"/>
              <a:t>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System.out.print(list[k] + "  ");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3581400"/>
            <a:ext cx="60198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	11  22  33  44  55  66  77  88  99</a:t>
            </a:r>
          </a:p>
          <a:p>
            <a:pPr>
              <a:defRPr/>
            </a:pPr>
            <a:r>
              <a:rPr lang="en-US" sz="2000" dirty="0"/>
              <a:t>(B) 	1  2  3  4  5  6  7  8  9</a:t>
            </a:r>
          </a:p>
          <a:p>
            <a:pPr>
              <a:defRPr/>
            </a:pPr>
            <a:r>
              <a:rPr lang="en-US" sz="2000" dirty="0"/>
              <a:t>(C) 	1  1  1  1  1  1  1  1  1</a:t>
            </a:r>
          </a:p>
          <a:p>
            <a:pPr>
              <a:defRPr/>
            </a:pPr>
            <a:r>
              <a:rPr lang="en-US" sz="2000" dirty="0"/>
              <a:t>(D)	1  22  33  44  55  66  77  88  99</a:t>
            </a:r>
          </a:p>
          <a:p>
            <a:pPr>
              <a:defRPr/>
            </a:pPr>
            <a:r>
              <a:rPr lang="en-US" sz="2000" dirty="0"/>
              <a:t>(E) 	11  22  33  44  55  66  77  88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09. 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 = {11,22,33,44,55,66,77,88,99};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</a:t>
            </a:r>
            <a:r>
              <a:rPr lang="en-US" altLang="en-US" sz="2000" b="1" dirty="0" err="1"/>
              <a:t>list.length</a:t>
            </a:r>
            <a:r>
              <a:rPr lang="en-US" altLang="en-US" sz="2000" b="1" dirty="0"/>
              <a:t>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list[k] = list[k]/list[0];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</a:t>
            </a:r>
            <a:r>
              <a:rPr lang="en-US" altLang="en-US" sz="2000" b="1" dirty="0" err="1"/>
              <a:t>list.length</a:t>
            </a:r>
            <a:r>
              <a:rPr lang="en-US" altLang="en-US" sz="2000" b="1" dirty="0"/>
              <a:t>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System.out.print(list[k] + "  ");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3581400"/>
            <a:ext cx="60198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What 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	11  22  33  44  55  66  77  88  99</a:t>
            </a:r>
          </a:p>
          <a:p>
            <a:pPr>
              <a:defRPr/>
            </a:pPr>
            <a:r>
              <a:rPr lang="en-US" sz="2000" dirty="0"/>
              <a:t>(B) 	1  2  3  4  5  6  7  8  9</a:t>
            </a:r>
          </a:p>
          <a:p>
            <a:pPr>
              <a:defRPr/>
            </a:pPr>
            <a:r>
              <a:rPr lang="en-US" sz="2000" dirty="0"/>
              <a:t>(C) 	1  1  1  1  1  1  1  1  1</a:t>
            </a:r>
          </a:p>
          <a:p>
            <a:pPr>
              <a:defRPr/>
            </a:pPr>
            <a:r>
              <a:rPr lang="en-US" sz="2000" b="1" dirty="0"/>
              <a:t>(D)	1  22  33  44  55  66  77  88  99</a:t>
            </a:r>
          </a:p>
          <a:p>
            <a:pPr>
              <a:defRPr/>
            </a:pPr>
            <a:r>
              <a:rPr lang="en-US" sz="2000" dirty="0"/>
              <a:t>(E) 	11  22  33  44  55  66  77  88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18648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10.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list1 = {10,20,30,40,50,60,70,80,90};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list2 = list1;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list2.length;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list2[k] = list1[0];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list1.length;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list1[k] *= list2[k];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list1.length;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System.out.print(list1[k] + "  ");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3581400"/>
            <a:ext cx="72390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000" dirty="0" smtClean="0"/>
              <a:t>What </a:t>
            </a:r>
            <a:r>
              <a:rPr lang="en-US" sz="2000" dirty="0"/>
              <a:t>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A)	100  100  100  100  100  100  100  100  100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B) 	100  200  300  400  500  600  700  800  900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C) 	1  2  3  4  5  6  7  8  9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D) 	10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E) 	100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18648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10.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list1 = {10,20,30,40,50,60,70,80,90};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list2 = list1;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list2.length;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list2[k] = list1[0];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list1.length;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list1[k] *= list2[k];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for (int k = 0; k &lt; list1.length;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System.out.print(list1[k] + "  ");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3581400"/>
            <a:ext cx="72390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000" dirty="0" smtClean="0"/>
              <a:t>What </a:t>
            </a:r>
            <a:r>
              <a:rPr lang="en-US" sz="2000" dirty="0"/>
              <a:t>is printed as a result of executing the code segment?</a:t>
            </a:r>
          </a:p>
          <a:p>
            <a:pPr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b="1" dirty="0" smtClean="0"/>
              <a:t>(</a:t>
            </a:r>
            <a:r>
              <a:rPr lang="en-US" sz="2000" b="1" dirty="0"/>
              <a:t>A)	100  100  100  100  100  100  100  100  100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B) 	100  200  300  400  500  600  700  800  900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C) 	1  2  3  4  5  6  7  8  9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D) 	10</a:t>
            </a:r>
          </a:p>
          <a:p>
            <a:pPr>
              <a:defRPr/>
            </a:pPr>
            <a:r>
              <a:rPr lang="en-US" sz="2000" dirty="0" smtClean="0"/>
              <a:t>(</a:t>
            </a:r>
            <a:r>
              <a:rPr lang="en-US" sz="2000" dirty="0"/>
              <a:t>E) 	100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Dynamic</a:t>
            </a:r>
          </a:p>
        </p:txBody>
      </p:sp>
      <p:sp>
        <p:nvSpPr>
          <p:cNvPr id="32771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11.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ArrayList&lt;String&gt; names = new ArrayList&lt;String&gt;();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("Isolde");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("John");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("Greg");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("Maria");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("Heidi");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(2,"Diana");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(5,"David");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System.out.println(names);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962400"/>
            <a:ext cx="67818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 	[Isolde, John, Diana, Maria, Heidi,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[Isolde, Diana, Greg, Maria,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[Isolde, John, Diana, Greg, Maria, David, Heidi]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 	[Isolde, John, Diana, Greg, Maria, Heidi,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 	[Isolde, Diana, John, Greg, Maria, David, Heidi]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11.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ArrayList&lt;String&gt; names = new ArrayList&lt;String&gt;();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("Isolde");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("John");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("Greg");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("Maria");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("Heidi");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(2,"Diana");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err="1"/>
              <a:t>names.add</a:t>
            </a:r>
            <a:r>
              <a:rPr lang="en-US" altLang="en-US" sz="2000" b="1" dirty="0"/>
              <a:t>(5,"David");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System.out.println(names);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962400"/>
            <a:ext cx="67818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 	[Isolde, John, Diana, Maria, Heidi,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[Isolde, Diana, Greg, Maria,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(C) 	[Isolde, John, Diana, Greg, Maria, David, Heidi]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 	[Isolde, John, Diana, Greg, Maria, Heidi, David]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 	[Isolde, Diana, John, Greg, Maria, David, Heidi]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20638" y="0"/>
            <a:ext cx="9123362" cy="66167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12.</a:t>
            </a:r>
            <a:r>
              <a:rPr lang="en-US" altLang="en-US" sz="2000" b="1" dirty="0"/>
              <a:t>	Consider the following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/** Precondition: list contains [13, 64, 42, 27, 77, 38, 11]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void mystery(ArrayList&lt;Integer&gt; list)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for (int k = 0; k &lt; </a:t>
            </a:r>
            <a:r>
              <a:rPr lang="en-US" altLang="en-US" sz="2000" b="1" dirty="0" err="1"/>
              <a:t>list.size</a:t>
            </a:r>
            <a:r>
              <a:rPr lang="en-US" altLang="en-US" sz="2000" b="1" dirty="0"/>
              <a:t>();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if (</a:t>
            </a:r>
            <a:r>
              <a:rPr lang="en-US" altLang="en-US" sz="2000" b="1" dirty="0" err="1"/>
              <a:t>list.get</a:t>
            </a:r>
            <a:r>
              <a:rPr lang="en-US" altLang="en-US" sz="2000" b="1" dirty="0"/>
              <a:t>(k) % 2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	</a:t>
            </a:r>
            <a:r>
              <a:rPr lang="en-US" altLang="en-US" sz="2000" b="1" dirty="0" err="1"/>
              <a:t>list.remove</a:t>
            </a:r>
            <a:r>
              <a:rPr lang="en-US" altLang="en-US" sz="2000" b="1" dirty="0"/>
              <a:t>(k);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752600" y="3505200"/>
            <a:ext cx="6799263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/>
              <a:t>Which of the following describes the values stored in list after mystery executes?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(A)  [13, 64, 42, 27, 77, 38, 11]</a:t>
            </a:r>
          </a:p>
          <a:p>
            <a:pPr>
              <a:defRPr/>
            </a:pPr>
            <a:r>
              <a:rPr lang="en-US" sz="1600" dirty="0"/>
              <a:t>(B)  [13, 27, 77, 11]</a:t>
            </a:r>
          </a:p>
          <a:p>
            <a:pPr>
              <a:defRPr/>
            </a:pPr>
            <a:r>
              <a:rPr lang="en-US" sz="1600" dirty="0"/>
              <a:t>(C)  [13, 42, 27, 77, 11]</a:t>
            </a:r>
          </a:p>
          <a:p>
            <a:pPr>
              <a:defRPr/>
            </a:pPr>
            <a:r>
              <a:rPr lang="en-US" sz="1600" dirty="0"/>
              <a:t>(D)  [64, 42, 38]</a:t>
            </a:r>
          </a:p>
          <a:p>
            <a:pPr marL="342900" indent="-342900">
              <a:buFontTx/>
              <a:buAutoNum type="alphaUcParenBoth" startAt="5"/>
              <a:defRPr/>
            </a:pPr>
            <a:r>
              <a:rPr lang="en-US" sz="1600" dirty="0"/>
              <a:t> An </a:t>
            </a:r>
            <a:r>
              <a:rPr lang="en-US" sz="1600" dirty="0" err="1"/>
              <a:t>IndexOutOfBoundsException</a:t>
            </a:r>
            <a:r>
              <a:rPr lang="en-US" sz="1600" dirty="0"/>
              <a:t> error message</a:t>
            </a:r>
          </a:p>
          <a:p>
            <a:pPr>
              <a:defRPr/>
            </a:pP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0638" y="0"/>
            <a:ext cx="9123362" cy="66167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12.</a:t>
            </a:r>
            <a:r>
              <a:rPr lang="en-US" altLang="en-US" sz="2000" b="1" dirty="0"/>
              <a:t>	Consider the following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/** Precondition: list contains [13, 64, 42, 27, 77, 38, 11]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void mystery(ArrayList&lt;Integer&gt; list)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for (int k = 0; k &lt; </a:t>
            </a:r>
            <a:r>
              <a:rPr lang="en-US" altLang="en-US" sz="2000" b="1" dirty="0" err="1"/>
              <a:t>list.size</a:t>
            </a:r>
            <a:r>
              <a:rPr lang="en-US" altLang="en-US" sz="2000" b="1" dirty="0"/>
              <a:t>();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if (</a:t>
            </a:r>
            <a:r>
              <a:rPr lang="en-US" altLang="en-US" sz="2000" b="1" dirty="0" err="1"/>
              <a:t>list.get</a:t>
            </a:r>
            <a:r>
              <a:rPr lang="en-US" altLang="en-US" sz="2000" b="1" dirty="0"/>
              <a:t>(k) % 2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	</a:t>
            </a:r>
            <a:r>
              <a:rPr lang="en-US" altLang="en-US" sz="2000" b="1" dirty="0" err="1"/>
              <a:t>list.remove</a:t>
            </a:r>
            <a:r>
              <a:rPr lang="en-US" altLang="en-US" sz="2000" b="1" dirty="0"/>
              <a:t>(k);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752600" y="3505200"/>
            <a:ext cx="6799263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/>
              <a:t>Which of the following describes the values stored in list after mystery executes?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 </a:t>
            </a:r>
          </a:p>
          <a:p>
            <a:pPr>
              <a:defRPr/>
            </a:pPr>
            <a:r>
              <a:rPr lang="en-US" sz="1600" dirty="0"/>
              <a:t>(A)  [13, 64, 42, 27, 77, 38, 11]</a:t>
            </a:r>
          </a:p>
          <a:p>
            <a:pPr>
              <a:defRPr/>
            </a:pPr>
            <a:r>
              <a:rPr lang="en-US" sz="1600" dirty="0"/>
              <a:t>(B)  [13, 27, 77, 11]</a:t>
            </a:r>
          </a:p>
          <a:p>
            <a:pPr>
              <a:defRPr/>
            </a:pPr>
            <a:r>
              <a:rPr lang="en-US" sz="1600" b="1" dirty="0"/>
              <a:t>(C)  [13, 42, 27, 77, 11]</a:t>
            </a:r>
          </a:p>
          <a:p>
            <a:pPr>
              <a:defRPr/>
            </a:pPr>
            <a:r>
              <a:rPr lang="en-US" sz="1600" dirty="0"/>
              <a:t>(D)  [64, 42, 38]</a:t>
            </a:r>
          </a:p>
          <a:p>
            <a:pPr marL="342900" indent="-342900">
              <a:buFontTx/>
              <a:buAutoNum type="alphaUcParenBoth" startAt="5"/>
              <a:defRPr/>
            </a:pPr>
            <a:r>
              <a:rPr lang="en-US" sz="1600" dirty="0"/>
              <a:t> An </a:t>
            </a:r>
            <a:r>
              <a:rPr lang="en-US" sz="1600" dirty="0" err="1"/>
              <a:t>IndexOutOfBoundsException</a:t>
            </a:r>
            <a:r>
              <a:rPr lang="en-US" sz="1600" dirty="0"/>
              <a:t> error message</a:t>
            </a:r>
          </a:p>
          <a:p>
            <a:pPr>
              <a:defRPr/>
            </a:pP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</a:t>
            </a:r>
          </a:p>
        </p:txBody>
      </p:sp>
      <p:sp>
        <p:nvSpPr>
          <p:cNvPr id="37891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13.</a:t>
            </a:r>
            <a:r>
              <a:rPr lang="en-US" altLang="en-US" sz="2000" b="1" dirty="0"/>
              <a:t>	Consider the following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// Precondition: </a:t>
            </a:r>
            <a:r>
              <a:rPr lang="en-US" altLang="en-US" sz="2000" b="1" dirty="0" err="1"/>
              <a:t>str</a:t>
            </a:r>
            <a:r>
              <a:rPr lang="en-US" altLang="en-US" sz="2000" b="1" dirty="0"/>
              <a:t> is a nonempty string of upper-case letters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String mystery(String </a:t>
            </a:r>
            <a:r>
              <a:rPr lang="en-US" altLang="en-US" sz="2000" b="1" dirty="0" err="1"/>
              <a:t>str</a:t>
            </a:r>
            <a:r>
              <a:rPr lang="en-US" altLang="en-US" sz="2000" b="1" dirty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String temp = "";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for (int k = 0; k &lt; </a:t>
            </a:r>
            <a:r>
              <a:rPr lang="en-US" altLang="en-US" sz="2000" b="1" dirty="0" err="1"/>
              <a:t>str.length</a:t>
            </a:r>
            <a:r>
              <a:rPr lang="en-US" altLang="en-US" sz="2000" b="1" dirty="0"/>
              <a:t>();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String t = </a:t>
            </a:r>
            <a:r>
              <a:rPr lang="en-US" altLang="en-US" sz="2000" b="1" dirty="0" err="1"/>
              <a:t>str.substring</a:t>
            </a:r>
            <a:r>
              <a:rPr lang="en-US" altLang="en-US" sz="2000" b="1" dirty="0"/>
              <a:t>(k,k+1);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if (t != "A" || t != "E" || t != "I" || t != "O" || t != "U")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	temp += 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return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4267200"/>
            <a:ext cx="7118350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/>
              <a:t>Which of the following is a correct </a:t>
            </a:r>
            <a:r>
              <a:rPr lang="en-US" sz="1800" dirty="0" err="1"/>
              <a:t>Postcondition</a:t>
            </a:r>
            <a:r>
              <a:rPr lang="en-US" sz="1800" dirty="0"/>
              <a:t>, based on the return of method mystery?</a:t>
            </a:r>
          </a:p>
          <a:p>
            <a:pPr>
              <a:defRPr/>
            </a:pPr>
            <a:r>
              <a:rPr lang="en-US" sz="1800" dirty="0"/>
              <a:t> </a:t>
            </a:r>
          </a:p>
          <a:p>
            <a:pPr>
              <a:defRPr/>
            </a:pPr>
            <a:r>
              <a:rPr lang="en-US" sz="1800" dirty="0"/>
              <a:t>(A)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</a:t>
            </a:r>
            <a:r>
              <a:rPr lang="en-US" sz="1800" dirty="0" err="1"/>
              <a:t>str</a:t>
            </a:r>
            <a:endParaRPr lang="en-US" sz="1800" dirty="0"/>
          </a:p>
          <a:p>
            <a:pPr>
              <a:defRPr/>
            </a:pPr>
            <a:r>
              <a:rPr lang="en-US" sz="1800" dirty="0"/>
              <a:t>(B)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</a:t>
            </a:r>
            <a:r>
              <a:rPr lang="en-US" sz="1800" dirty="0" err="1"/>
              <a:t>str</a:t>
            </a:r>
            <a:r>
              <a:rPr lang="en-US" sz="1800" dirty="0"/>
              <a:t> with all vowels removed</a:t>
            </a:r>
          </a:p>
          <a:p>
            <a:pPr>
              <a:defRPr/>
            </a:pPr>
            <a:r>
              <a:rPr lang="en-US" sz="1800" dirty="0"/>
              <a:t>(C)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only the vowels in </a:t>
            </a:r>
            <a:r>
              <a:rPr lang="en-US" sz="1800" dirty="0" err="1"/>
              <a:t>str</a:t>
            </a:r>
            <a:endParaRPr lang="en-US" sz="1800" dirty="0"/>
          </a:p>
          <a:p>
            <a:pPr>
              <a:defRPr/>
            </a:pPr>
            <a:r>
              <a:rPr lang="en-US" sz="1800" dirty="0"/>
              <a:t>(D)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null</a:t>
            </a:r>
          </a:p>
          <a:p>
            <a:pPr>
              <a:defRPr/>
            </a:pPr>
            <a:r>
              <a:rPr lang="en-US" sz="1800" dirty="0"/>
              <a:t>(E)  It will generate a </a:t>
            </a:r>
            <a:r>
              <a:rPr lang="en-US" sz="1800" dirty="0" err="1"/>
              <a:t>StringOutOfBoundsException</a:t>
            </a:r>
            <a:r>
              <a:rPr lang="en-US" sz="1800" dirty="0"/>
              <a:t> error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13.</a:t>
            </a:r>
            <a:r>
              <a:rPr lang="en-US" altLang="en-US" sz="2000" b="1" dirty="0"/>
              <a:t>	Consider the following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// Precondition: </a:t>
            </a:r>
            <a:r>
              <a:rPr lang="en-US" altLang="en-US" sz="2000" b="1" dirty="0" err="1"/>
              <a:t>str</a:t>
            </a:r>
            <a:r>
              <a:rPr lang="en-US" altLang="en-US" sz="2000" b="1" dirty="0"/>
              <a:t> is a nonempty string of upper-case letters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String mystery(String </a:t>
            </a:r>
            <a:r>
              <a:rPr lang="en-US" altLang="en-US" sz="2000" b="1" dirty="0" err="1"/>
              <a:t>str</a:t>
            </a:r>
            <a:r>
              <a:rPr lang="en-US" altLang="en-US" sz="2000" b="1" dirty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String temp = "";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for (int k = 0; k &lt; </a:t>
            </a:r>
            <a:r>
              <a:rPr lang="en-US" altLang="en-US" sz="2000" b="1" dirty="0" err="1"/>
              <a:t>str.length</a:t>
            </a:r>
            <a:r>
              <a:rPr lang="en-US" altLang="en-US" sz="2000" b="1" dirty="0"/>
              <a:t>(); k++)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String t = </a:t>
            </a:r>
            <a:r>
              <a:rPr lang="en-US" altLang="en-US" sz="2000" b="1" dirty="0" err="1"/>
              <a:t>str.substring</a:t>
            </a:r>
            <a:r>
              <a:rPr lang="en-US" altLang="en-US" sz="2000" b="1" dirty="0"/>
              <a:t>(k,k+1);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if (t != "A" || t != "E" || t != "I" || t != "O" || t != "U")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	temp += 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return temp;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4267200"/>
            <a:ext cx="7118350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/>
              <a:t>Which of the following is a correct </a:t>
            </a:r>
            <a:r>
              <a:rPr lang="en-US" sz="1800" dirty="0" err="1"/>
              <a:t>Postcondition</a:t>
            </a:r>
            <a:r>
              <a:rPr lang="en-US" sz="1800" dirty="0"/>
              <a:t>, based on the return of method mystery?</a:t>
            </a:r>
          </a:p>
          <a:p>
            <a:pPr>
              <a:defRPr/>
            </a:pPr>
            <a:r>
              <a:rPr lang="en-US" sz="1800" dirty="0"/>
              <a:t> </a:t>
            </a:r>
          </a:p>
          <a:p>
            <a:pPr>
              <a:defRPr/>
            </a:pPr>
            <a:r>
              <a:rPr lang="en-US" sz="1800" b="1" dirty="0"/>
              <a:t>(A)  </a:t>
            </a:r>
            <a:r>
              <a:rPr lang="en-US" sz="1800" b="1" dirty="0" err="1"/>
              <a:t>Postcondition</a:t>
            </a:r>
            <a:r>
              <a:rPr lang="en-US" sz="1800" b="1" dirty="0"/>
              <a:t>: mystery returns </a:t>
            </a:r>
            <a:r>
              <a:rPr lang="en-US" sz="1800" b="1" dirty="0" err="1"/>
              <a:t>str</a:t>
            </a:r>
            <a:endParaRPr lang="en-US" sz="1800" b="1" dirty="0"/>
          </a:p>
          <a:p>
            <a:pPr>
              <a:defRPr/>
            </a:pPr>
            <a:r>
              <a:rPr lang="en-US" sz="1800" dirty="0"/>
              <a:t>(B)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</a:t>
            </a:r>
            <a:r>
              <a:rPr lang="en-US" sz="1800" dirty="0" err="1"/>
              <a:t>str</a:t>
            </a:r>
            <a:r>
              <a:rPr lang="en-US" sz="1800" dirty="0"/>
              <a:t> with all vowels removed</a:t>
            </a:r>
          </a:p>
          <a:p>
            <a:pPr>
              <a:defRPr/>
            </a:pPr>
            <a:r>
              <a:rPr lang="en-US" sz="1800" dirty="0"/>
              <a:t>(C)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only the vowels in </a:t>
            </a:r>
            <a:r>
              <a:rPr lang="en-US" sz="1800" dirty="0" err="1"/>
              <a:t>str</a:t>
            </a:r>
            <a:endParaRPr lang="en-US" sz="1800" dirty="0"/>
          </a:p>
          <a:p>
            <a:pPr>
              <a:defRPr/>
            </a:pPr>
            <a:r>
              <a:rPr lang="en-US" sz="1800" dirty="0"/>
              <a:t>(D)  </a:t>
            </a:r>
            <a:r>
              <a:rPr lang="en-US" sz="1800" dirty="0" err="1"/>
              <a:t>Postcondition</a:t>
            </a:r>
            <a:r>
              <a:rPr lang="en-US" sz="1800" dirty="0"/>
              <a:t>: mystery returns null</a:t>
            </a:r>
          </a:p>
          <a:p>
            <a:pPr>
              <a:defRPr/>
            </a:pPr>
            <a:r>
              <a:rPr lang="en-US" sz="1800" dirty="0"/>
              <a:t>(E)  It will generate a </a:t>
            </a:r>
            <a:r>
              <a:rPr lang="en-US" sz="1800" dirty="0" err="1"/>
              <a:t>StringOutOfBoundsException</a:t>
            </a:r>
            <a:r>
              <a:rPr lang="en-US" sz="1800" dirty="0"/>
              <a:t> error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3706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14.</a:t>
            </a:r>
            <a:r>
              <a:rPr lang="en-US" altLang="en-US" sz="2000" b="1" dirty="0"/>
              <a:t>	  What is the output of the following program segment?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String s = “Mississippi”;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 dirty="0"/>
              <a:t>				</a:t>
            </a:r>
            <a:r>
              <a:rPr lang="en-US" altLang="en-US" sz="2000" b="1" dirty="0"/>
              <a:t>System.out.println(</a:t>
            </a:r>
            <a:r>
              <a:rPr lang="en-US" altLang="en-US" sz="2000" b="1" dirty="0" err="1"/>
              <a:t>s.indexOf</a:t>
            </a:r>
            <a:r>
              <a:rPr lang="en-US" altLang="en-US" sz="2000" b="1" dirty="0"/>
              <a:t>(</a:t>
            </a:r>
            <a:r>
              <a:rPr lang="en-US" altLang="en-US" sz="2000" b="1" dirty="0" err="1"/>
              <a:t>s.substring</a:t>
            </a:r>
            <a:r>
              <a:rPr lang="en-US" altLang="en-US" sz="2000" b="1" dirty="0"/>
              <a:t>(5,7));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201738" y="2590800"/>
            <a:ext cx="7118350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/>
              <a:t> </a:t>
            </a:r>
          </a:p>
          <a:p>
            <a:pPr marL="342900" indent="-342900">
              <a:buFontTx/>
              <a:buAutoNum type="alphaUcParenBoth"/>
              <a:defRPr/>
            </a:pPr>
            <a:r>
              <a:rPr lang="en-US" sz="1800" dirty="0"/>
              <a:t>  1</a:t>
            </a:r>
          </a:p>
          <a:p>
            <a:pPr marL="342900" indent="-342900">
              <a:buFontTx/>
              <a:buAutoNum type="alphaUcParenBoth"/>
              <a:defRPr/>
            </a:pPr>
            <a:r>
              <a:rPr lang="en-US" sz="1800" dirty="0"/>
              <a:t>  2</a:t>
            </a:r>
          </a:p>
          <a:p>
            <a:pPr>
              <a:defRPr/>
            </a:pPr>
            <a:r>
              <a:rPr lang="en-US" sz="1800" dirty="0"/>
              <a:t>(C)  4</a:t>
            </a:r>
          </a:p>
          <a:p>
            <a:pPr marL="342900" indent="-342900">
              <a:buFontTx/>
              <a:buAutoNum type="alphaUcParenBoth" startAt="4"/>
              <a:defRPr/>
            </a:pPr>
            <a:r>
              <a:rPr lang="en-US" sz="1800" dirty="0"/>
              <a:t>  5</a:t>
            </a:r>
          </a:p>
          <a:p>
            <a:pPr marL="342900" indent="-342900">
              <a:buFontTx/>
              <a:buAutoNum type="alphaUcParenBoth" startAt="4"/>
              <a:defRPr/>
            </a:pPr>
            <a:r>
              <a:rPr lang="en-US" sz="1800" dirty="0"/>
              <a:t>  7</a:t>
            </a:r>
          </a:p>
          <a:p>
            <a:pPr lvl="1">
              <a:defRPr/>
            </a:pPr>
            <a:endParaRPr lang="en-US" sz="1800" dirty="0"/>
          </a:p>
          <a:p>
            <a:pPr marL="342900" indent="-342900">
              <a:buFontTx/>
              <a:buAutoNum type="alphaUcParenBoth" startAt="5"/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3706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14.</a:t>
            </a:r>
            <a:r>
              <a:rPr lang="en-US" altLang="en-US" sz="2000" b="1" dirty="0"/>
              <a:t>	  What is the output of the following program segment?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String s = “Mississippi”;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 dirty="0"/>
              <a:t>				</a:t>
            </a:r>
            <a:r>
              <a:rPr lang="en-US" altLang="en-US" sz="2000" b="1" dirty="0"/>
              <a:t>System.out.println(</a:t>
            </a:r>
            <a:r>
              <a:rPr lang="en-US" altLang="en-US" sz="2000" b="1" dirty="0" err="1"/>
              <a:t>s.indexOf</a:t>
            </a:r>
            <a:r>
              <a:rPr lang="en-US" altLang="en-US" sz="2000" b="1" dirty="0"/>
              <a:t>(</a:t>
            </a:r>
            <a:r>
              <a:rPr lang="en-US" altLang="en-US" sz="2000" b="1" dirty="0" err="1"/>
              <a:t>s.substring</a:t>
            </a:r>
            <a:r>
              <a:rPr lang="en-US" altLang="en-US" sz="2000" b="1" dirty="0"/>
              <a:t>(5,7));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201738" y="2590800"/>
            <a:ext cx="7118350" cy="23082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/>
              <a:t> </a:t>
            </a:r>
          </a:p>
          <a:p>
            <a:pPr marL="342900" indent="-342900">
              <a:buFontTx/>
              <a:buAutoNum type="alphaUcParenBoth"/>
              <a:defRPr/>
            </a:pPr>
            <a:r>
              <a:rPr lang="en-US" sz="1800" dirty="0"/>
              <a:t>  1</a:t>
            </a:r>
          </a:p>
          <a:p>
            <a:pPr marL="342900" indent="-342900">
              <a:buFontTx/>
              <a:buAutoNum type="alphaUcParenBoth"/>
              <a:defRPr/>
            </a:pPr>
            <a:r>
              <a:rPr lang="en-US" sz="1800" b="1" dirty="0"/>
              <a:t>  2</a:t>
            </a:r>
          </a:p>
          <a:p>
            <a:pPr>
              <a:defRPr/>
            </a:pPr>
            <a:r>
              <a:rPr lang="en-US" sz="1800" dirty="0"/>
              <a:t>(C)  4</a:t>
            </a:r>
          </a:p>
          <a:p>
            <a:pPr marL="342900" indent="-342900">
              <a:buFontTx/>
              <a:buAutoNum type="alphaUcParenBoth" startAt="4"/>
              <a:defRPr/>
            </a:pPr>
            <a:r>
              <a:rPr lang="en-US" sz="1800" dirty="0"/>
              <a:t>  5</a:t>
            </a:r>
          </a:p>
          <a:p>
            <a:pPr marL="342900" indent="-342900">
              <a:buFontTx/>
              <a:buAutoNum type="alphaUcParenBoth" startAt="4"/>
              <a:defRPr/>
            </a:pPr>
            <a:r>
              <a:rPr lang="en-US" sz="1800" dirty="0"/>
              <a:t>  7</a:t>
            </a:r>
          </a:p>
          <a:p>
            <a:pPr lvl="1">
              <a:defRPr/>
            </a:pPr>
            <a:endParaRPr lang="en-US" sz="1800" dirty="0"/>
          </a:p>
          <a:p>
            <a:pPr marL="342900" indent="-342900">
              <a:buFontTx/>
              <a:buAutoNum type="alphaUcParenBoth" startAt="5"/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Program</a:t>
            </a:r>
          </a:p>
        </p:txBody>
      </p:sp>
      <p:sp>
        <p:nvSpPr>
          <p:cNvPr id="43011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3"/>
          <p:cNvSpPr txBox="1">
            <a:spLocks noChangeArrowheads="1"/>
          </p:cNvSpPr>
          <p:nvPr/>
        </p:nvSpPr>
        <p:spPr bwMode="auto">
          <a:xfrm>
            <a:off x="76200" y="166688"/>
            <a:ext cx="90678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15.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String[ ] </a:t>
            </a:r>
            <a:r>
              <a:rPr lang="en-US" altLang="en-US" sz="2000" b="1" dirty="0" err="1"/>
              <a:t>stID</a:t>
            </a:r>
            <a:r>
              <a:rPr lang="en-US" altLang="en-US" sz="2000" b="1" dirty="0"/>
              <a:t> = {"ABC", "DEF", "GHI", "JKL", "MNO"};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String str1 = "GHI";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err="1"/>
              <a:t>boolean</a:t>
            </a:r>
            <a:r>
              <a:rPr lang="en-US" altLang="en-US" sz="2000" b="1" dirty="0"/>
              <a:t> found = false;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int </a:t>
            </a:r>
            <a:r>
              <a:rPr lang="en-US" altLang="en-US" sz="2000" b="1" dirty="0" err="1"/>
              <a:t>loc</a:t>
            </a:r>
            <a:r>
              <a:rPr lang="en-US" altLang="en-US" sz="2000" b="1" dirty="0"/>
              <a:t> = -1, sub = 0;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while (!found &amp;&amp; sub &lt; </a:t>
            </a:r>
            <a:r>
              <a:rPr lang="en-US" altLang="en-US" sz="2000" b="1" dirty="0" err="1"/>
              <a:t>stID.length</a:t>
            </a:r>
            <a:r>
              <a:rPr lang="en-US" altLang="en-US" sz="2000" b="1" dirty="0"/>
              <a:t>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if (</a:t>
            </a:r>
            <a:r>
              <a:rPr lang="en-US" altLang="en-US" sz="2000" b="1" dirty="0" err="1"/>
              <a:t>stID</a:t>
            </a:r>
            <a:r>
              <a:rPr lang="en-US" altLang="en-US" sz="2000" b="1" dirty="0"/>
              <a:t>[sub].equals(str1))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found = true;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</a:t>
            </a:r>
            <a:r>
              <a:rPr lang="en-US" altLang="en-US" sz="2000" b="1" dirty="0" err="1"/>
              <a:t>loc</a:t>
            </a:r>
            <a:r>
              <a:rPr lang="en-US" altLang="en-US" sz="2000" b="1" dirty="0"/>
              <a:t> = sub;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}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sub++;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}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057525" y="4114800"/>
            <a:ext cx="58674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The code segment is an example of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a sort algorithm.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an algorithm to locate the smallest element.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 	an algorithm to locate the largest element.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 	a sequential search algorithm.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 	an algorithm to sum the values of an array.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76200" y="166688"/>
            <a:ext cx="90678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15.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String[ ] </a:t>
            </a:r>
            <a:r>
              <a:rPr lang="en-US" altLang="en-US" sz="2000" b="1" dirty="0" err="1"/>
              <a:t>stID</a:t>
            </a:r>
            <a:r>
              <a:rPr lang="en-US" altLang="en-US" sz="2000" b="1" dirty="0"/>
              <a:t> = {"ABC", "DEF", "GHI", "JKL", "MNO"};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String str1 = "GHI";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err="1"/>
              <a:t>boolean</a:t>
            </a:r>
            <a:r>
              <a:rPr lang="en-US" altLang="en-US" sz="2000" b="1" dirty="0"/>
              <a:t> found = false;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int </a:t>
            </a:r>
            <a:r>
              <a:rPr lang="en-US" altLang="en-US" sz="2000" b="1" dirty="0" err="1"/>
              <a:t>loc</a:t>
            </a:r>
            <a:r>
              <a:rPr lang="en-US" altLang="en-US" sz="2000" b="1" dirty="0"/>
              <a:t> = -1, sub = 0;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while (!found &amp;&amp; sub &lt; </a:t>
            </a:r>
            <a:r>
              <a:rPr lang="en-US" altLang="en-US" sz="2000" b="1" dirty="0" err="1"/>
              <a:t>stID.length</a:t>
            </a:r>
            <a:r>
              <a:rPr lang="en-US" altLang="en-US" sz="2000" b="1" dirty="0"/>
              <a:t>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if (</a:t>
            </a:r>
            <a:r>
              <a:rPr lang="en-US" altLang="en-US" sz="2000" b="1" dirty="0" err="1"/>
              <a:t>stID</a:t>
            </a:r>
            <a:r>
              <a:rPr lang="en-US" altLang="en-US" sz="2000" b="1" dirty="0"/>
              <a:t>[sub].equals(str1))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{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found = true;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</a:t>
            </a:r>
            <a:r>
              <a:rPr lang="en-US" altLang="en-US" sz="2000" b="1" dirty="0" err="1"/>
              <a:t>loc</a:t>
            </a:r>
            <a:r>
              <a:rPr lang="en-US" altLang="en-US" sz="2000" b="1" dirty="0"/>
              <a:t> = sub;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}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sub++;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}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057525" y="4114800"/>
            <a:ext cx="58674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The code segment is an example of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(A)	a sort algorithm.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(B) 	an algorithm to locate the smallest element.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(C) 	an algorithm to locate the largest element.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/>
              <a:t>(D) 	a sequential search algorithm.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/>
              <a:t>(E) 	an algorithm to sum the values of an array.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16. </a:t>
            </a: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When using a binary search, what is the MAXIMUM number of comparisons necessary to locate a specific item in a list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of 1025 elements?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209800" y="2514600"/>
            <a:ext cx="52578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(A)	1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(B) 	9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(C) 	10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(D) 	11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dirty="0"/>
              <a:t>(E) 	1024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16. </a:t>
            </a: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When using a binary search, what is the MAXIMUM number of comparisons necessary to locate a specific item in a list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of 1025 elements?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209800" y="2514600"/>
            <a:ext cx="52578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/>
              <a:t>(A)	1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(B) 	9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(C) 	10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1"/>
              <a:t>(D) 	11</a:t>
            </a:r>
          </a:p>
          <a:p>
            <a:pPr>
              <a:defRPr/>
            </a:pPr>
            <a:endParaRPr lang="en-US" sz="2000" b="1"/>
          </a:p>
          <a:p>
            <a:pPr>
              <a:defRPr/>
            </a:pPr>
            <a:r>
              <a:rPr lang="en-US" sz="2000"/>
              <a:t>(E) 	1024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WordArt 2"/>
          <p:cNvSpPr>
            <a:spLocks noChangeArrowheads="1" noChangeShapeType="1" noTextEdit="1"/>
          </p:cNvSpPr>
          <p:nvPr/>
        </p:nvSpPr>
        <p:spPr bwMode="auto">
          <a:xfrm>
            <a:off x="331788" y="533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Recursive</a:t>
            </a:r>
          </a:p>
        </p:txBody>
      </p:sp>
      <p:sp>
        <p:nvSpPr>
          <p:cNvPr id="50179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000" b="1" dirty="0" smtClean="0"/>
              <a:t>17. Consider the following code segment and method.</a:t>
            </a:r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int</a:t>
            </a:r>
            <a:r>
              <a:rPr lang="en-US" sz="2000" b="1" dirty="0" smtClean="0"/>
              <a:t>[ ] list = {1,2,3,4};</a:t>
            </a:r>
          </a:p>
          <a:p>
            <a:pPr>
              <a:defRPr/>
            </a:pPr>
            <a:r>
              <a:rPr lang="en-US" sz="2000" b="1" dirty="0" smtClean="0"/>
              <a:t>	mystery1(list,0);</a:t>
            </a:r>
          </a:p>
          <a:p>
            <a:pPr>
              <a:defRPr/>
            </a:pPr>
            <a:endParaRPr lang="en-US" sz="2000" b="1" i="1" dirty="0" smtClean="0"/>
          </a:p>
          <a:p>
            <a:pPr>
              <a:defRPr/>
            </a:pPr>
            <a:r>
              <a:rPr lang="en-US" sz="2000" b="1" dirty="0" smtClean="0"/>
              <a:t>	public static void mystery1(int[ ] x, int n)</a:t>
            </a:r>
          </a:p>
          <a:p>
            <a:pPr>
              <a:defRPr/>
            </a:pPr>
            <a:r>
              <a:rPr lang="en-US" sz="2000" b="1" dirty="0" smtClean="0"/>
              <a:t>	{</a:t>
            </a:r>
          </a:p>
          <a:p>
            <a:pPr>
              <a:defRPr/>
            </a:pPr>
            <a:r>
              <a:rPr lang="en-US" sz="2000" b="1" dirty="0" smtClean="0"/>
              <a:t>			if (n &lt; </a:t>
            </a:r>
            <a:r>
              <a:rPr lang="en-US" sz="2000" b="1" dirty="0" err="1" smtClean="0"/>
              <a:t>x.length</a:t>
            </a:r>
            <a:r>
              <a:rPr lang="en-US" sz="2000" b="1" dirty="0" smtClean="0"/>
              <a:t>)</a:t>
            </a:r>
          </a:p>
          <a:p>
            <a:pPr>
              <a:defRPr/>
            </a:pPr>
            <a:r>
              <a:rPr lang="en-US" sz="2000" b="1" dirty="0" smtClean="0"/>
              <a:t>			{</a:t>
            </a:r>
          </a:p>
          <a:p>
            <a:pPr>
              <a:defRPr/>
            </a:pPr>
            <a:r>
              <a:rPr lang="en-US" sz="2000" b="1" dirty="0" smtClean="0"/>
              <a:t>				</a:t>
            </a:r>
            <a:r>
              <a:rPr lang="en-US" sz="2000" b="1" dirty="0" err="1" smtClean="0"/>
              <a:t>System.out.print</a:t>
            </a:r>
            <a:r>
              <a:rPr lang="en-US" sz="2000" b="1" dirty="0" smtClean="0"/>
              <a:t>(x[n] + "  ");</a:t>
            </a:r>
          </a:p>
          <a:p>
            <a:pPr>
              <a:defRPr/>
            </a:pPr>
            <a:r>
              <a:rPr lang="en-US" sz="2000" b="1" dirty="0" smtClean="0"/>
              <a:t>				mystery1(x,n+1);</a:t>
            </a:r>
          </a:p>
          <a:p>
            <a:pPr>
              <a:defRPr/>
            </a:pPr>
            <a:r>
              <a:rPr lang="en-US" sz="2000" b="1" dirty="0" smtClean="0"/>
              <a:t>			}</a:t>
            </a:r>
          </a:p>
          <a:p>
            <a:pPr>
              <a:defRPr/>
            </a:pPr>
            <a:r>
              <a:rPr lang="en-US" sz="2000" b="1" dirty="0" smtClean="0"/>
              <a:t>	}</a:t>
            </a:r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667000" y="4114800"/>
            <a:ext cx="58674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output by executing the code segment?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20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 2 3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1 2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4 3 2 1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 2 1 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 2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000" b="1" dirty="0" smtClean="0"/>
              <a:t>17. Consider the following code segment and method.</a:t>
            </a:r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int</a:t>
            </a:r>
            <a:r>
              <a:rPr lang="en-US" sz="2000" b="1" dirty="0" smtClean="0"/>
              <a:t>[ ] list = {1,2,3,4};</a:t>
            </a:r>
          </a:p>
          <a:p>
            <a:pPr>
              <a:defRPr/>
            </a:pPr>
            <a:r>
              <a:rPr lang="en-US" sz="2000" b="1" dirty="0" smtClean="0"/>
              <a:t>	mystery1(list,0);</a:t>
            </a:r>
          </a:p>
          <a:p>
            <a:pPr>
              <a:defRPr/>
            </a:pPr>
            <a:endParaRPr lang="en-US" sz="2000" b="1" i="1" dirty="0" smtClean="0"/>
          </a:p>
          <a:p>
            <a:pPr>
              <a:defRPr/>
            </a:pPr>
            <a:r>
              <a:rPr lang="en-US" sz="2000" b="1" dirty="0" smtClean="0"/>
              <a:t>	public static void mystery1(int[ ] x, int n)</a:t>
            </a:r>
          </a:p>
          <a:p>
            <a:pPr>
              <a:defRPr/>
            </a:pPr>
            <a:r>
              <a:rPr lang="en-US" sz="2000" b="1" dirty="0" smtClean="0"/>
              <a:t>	{</a:t>
            </a:r>
          </a:p>
          <a:p>
            <a:pPr>
              <a:defRPr/>
            </a:pPr>
            <a:r>
              <a:rPr lang="en-US" sz="2000" b="1" dirty="0" smtClean="0"/>
              <a:t>			if (n &lt; </a:t>
            </a:r>
            <a:r>
              <a:rPr lang="en-US" sz="2000" b="1" dirty="0" err="1" smtClean="0"/>
              <a:t>x.length</a:t>
            </a:r>
            <a:r>
              <a:rPr lang="en-US" sz="2000" b="1" dirty="0" smtClean="0"/>
              <a:t>)</a:t>
            </a:r>
          </a:p>
          <a:p>
            <a:pPr>
              <a:defRPr/>
            </a:pPr>
            <a:r>
              <a:rPr lang="en-US" sz="2000" b="1" dirty="0" smtClean="0"/>
              <a:t>			{</a:t>
            </a:r>
          </a:p>
          <a:p>
            <a:pPr>
              <a:defRPr/>
            </a:pPr>
            <a:r>
              <a:rPr lang="en-US" sz="2000" b="1" dirty="0" smtClean="0"/>
              <a:t>				</a:t>
            </a:r>
            <a:r>
              <a:rPr lang="en-US" sz="2000" b="1" dirty="0" err="1" smtClean="0"/>
              <a:t>System.out.print</a:t>
            </a:r>
            <a:r>
              <a:rPr lang="en-US" sz="2000" b="1" dirty="0" smtClean="0"/>
              <a:t>(x[n] + "  ");</a:t>
            </a:r>
          </a:p>
          <a:p>
            <a:pPr>
              <a:defRPr/>
            </a:pPr>
            <a:r>
              <a:rPr lang="en-US" sz="2000" b="1" dirty="0" smtClean="0"/>
              <a:t>				mystery1(x,n+1);</a:t>
            </a:r>
          </a:p>
          <a:p>
            <a:pPr>
              <a:defRPr/>
            </a:pPr>
            <a:r>
              <a:rPr lang="en-US" sz="2000" b="1" dirty="0" smtClean="0"/>
              <a:t>			}</a:t>
            </a:r>
          </a:p>
          <a:p>
            <a:pPr>
              <a:defRPr/>
            </a:pPr>
            <a:r>
              <a:rPr lang="en-US" sz="2000" b="1" dirty="0" smtClean="0"/>
              <a:t>	}</a:t>
            </a:r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  <a:p>
            <a:pPr>
              <a:defRPr/>
            </a:pPr>
            <a:endParaRPr lang="en-US" sz="1600" b="1" i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667000" y="4114800"/>
            <a:ext cx="58674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output by executing the code segment?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20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(A)	1 2 3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1 2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4 3 2 1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 2 1 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 2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3"/>
          <p:cNvSpPr txBox="1">
            <a:spLocks noChangeArrowheads="1"/>
          </p:cNvSpPr>
          <p:nvPr/>
        </p:nvSpPr>
        <p:spPr bwMode="auto">
          <a:xfrm>
            <a:off x="0" y="55563"/>
            <a:ext cx="9144000" cy="66786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18.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 = {1,2,3,4};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mystery2(list,0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void </a:t>
            </a:r>
            <a:r>
              <a:rPr lang="en-US" altLang="en-US" sz="2000" b="1" dirty="0" smtClean="0"/>
              <a:t>mystery2(int</a:t>
            </a:r>
            <a:r>
              <a:rPr lang="en-US" altLang="en-US" sz="2000" b="1" dirty="0"/>
              <a:t>[ ] x, int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&lt; </a:t>
            </a:r>
            <a:r>
              <a:rPr lang="en-US" altLang="en-US" sz="2000" b="1" dirty="0" err="1"/>
              <a:t>x.length</a:t>
            </a:r>
            <a:r>
              <a:rPr lang="en-US" altLang="en-US" sz="2000" b="1" dirty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</a:t>
            </a:r>
            <a:r>
              <a:rPr lang="en-US" altLang="en-US" sz="2000" b="1" dirty="0" smtClean="0"/>
              <a:t>mystery2(x,n+1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System.out.print(x[n] + "  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3962400"/>
            <a:ext cx="67056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output by executing the code segment?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20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 2 3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1 2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4 3 2 1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 2 1 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 2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0" y="55563"/>
            <a:ext cx="9144000" cy="66786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18.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int[ ] list = {1,2,3,4};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mystery2(list,0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void </a:t>
            </a:r>
            <a:r>
              <a:rPr lang="en-US" altLang="en-US" sz="2000" b="1" dirty="0" smtClean="0"/>
              <a:t>mystery2(int</a:t>
            </a:r>
            <a:r>
              <a:rPr lang="en-US" altLang="en-US" sz="2000" b="1" dirty="0"/>
              <a:t>[ ] x, int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&lt; </a:t>
            </a:r>
            <a:r>
              <a:rPr lang="en-US" altLang="en-US" sz="2000" b="1" dirty="0" err="1"/>
              <a:t>x.length</a:t>
            </a:r>
            <a:r>
              <a:rPr lang="en-US" altLang="en-US" sz="2000" b="1" dirty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</a:t>
            </a:r>
            <a:r>
              <a:rPr lang="en-US" altLang="en-US" sz="2000" b="1" dirty="0" smtClean="0"/>
              <a:t>mystery2(x,n+1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System.out.print(x[n] + "  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3962400"/>
            <a:ext cx="6705600" cy="224631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output by executing the code segment?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20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 2 3 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1 2 3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(C)	4 3 2 1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 2 1 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 2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63706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19.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System.out.println(mystery3(5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mystery3(int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 + </a:t>
            </a:r>
            <a:r>
              <a:rPr lang="en-US" altLang="en-US" sz="2000" b="1" dirty="0" smtClean="0"/>
              <a:t>mystery3(n-1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4038600" y="3657600"/>
            <a:ext cx="46482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mystery3(5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8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12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15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63706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19.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System.out.println(mystery3(5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mystery3(int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 + </a:t>
            </a:r>
            <a:r>
              <a:rPr lang="en-US" altLang="en-US" sz="2000" b="1" dirty="0" smtClean="0"/>
              <a:t>mystery3(n-1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4038600" y="3657600"/>
            <a:ext cx="46482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mystery9(5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4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8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12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(D)	15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73564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20.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System.out.println(mystery4(5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mystery4(int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</a:t>
            </a:r>
            <a:r>
              <a:rPr lang="en-US" altLang="en-US" sz="2000" b="1" dirty="0" smtClean="0"/>
              <a:t>mystery4(n-1</a:t>
            </a:r>
            <a:r>
              <a:rPr lang="en-US" altLang="en-US" sz="2000" b="1" dirty="0"/>
              <a:t>) + </a:t>
            </a:r>
            <a:r>
              <a:rPr lang="en-US" altLang="en-US" sz="2000" b="1" dirty="0" smtClean="0"/>
              <a:t>mystery4(n-1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571875" y="3962400"/>
            <a:ext cx="46482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mystery4(5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  16	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 15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8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7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20.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System.out.println(mystery4(5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mystery4(int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</a:t>
            </a:r>
            <a:r>
              <a:rPr lang="en-US" altLang="en-US" sz="2000" b="1" dirty="0" smtClean="0"/>
              <a:t>mystery4(n-1</a:t>
            </a:r>
            <a:r>
              <a:rPr lang="en-US" altLang="en-US" sz="2000" b="1" dirty="0"/>
              <a:t>) + </a:t>
            </a:r>
            <a:r>
              <a:rPr lang="en-US" altLang="en-US" sz="2000" b="1" dirty="0" smtClean="0"/>
              <a:t>mystery4(n-1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571875" y="3962400"/>
            <a:ext cx="4648200" cy="25542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mystery4(5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(A)	16</a:t>
            </a:r>
            <a:r>
              <a:rPr lang="en-US" sz="2000" dirty="0"/>
              <a:t>	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15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8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7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21.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System.out.println(mystery5(4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mystery5(int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 + </a:t>
            </a:r>
            <a:r>
              <a:rPr lang="en-US" altLang="en-US" sz="2000" b="1" dirty="0" smtClean="0"/>
              <a:t>mystery5(n-1</a:t>
            </a:r>
            <a:r>
              <a:rPr lang="en-US" altLang="en-US" sz="2000" b="1" dirty="0"/>
              <a:t>) + </a:t>
            </a:r>
            <a:r>
              <a:rPr lang="en-US" altLang="en-US" sz="2000" b="1" dirty="0" smtClean="0"/>
              <a:t>mystery5(n-1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324225" y="3957638"/>
            <a:ext cx="4648200" cy="2554287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mystery5(5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13	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25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26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32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88392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21.</a:t>
            </a:r>
            <a:r>
              <a:rPr lang="en-US" altLang="en-US" sz="2000" b="1" dirty="0"/>
              <a:t>	Consider the following code segment and method.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System.out.println(mystery5(4</a:t>
            </a:r>
            <a:r>
              <a:rPr lang="en-US" altLang="en-US" sz="2000" b="1" dirty="0"/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public static int </a:t>
            </a:r>
            <a:r>
              <a:rPr lang="en-US" altLang="en-US" sz="2000" b="1" dirty="0" smtClean="0"/>
              <a:t>mystery5(int </a:t>
            </a:r>
            <a:r>
              <a:rPr lang="en-US" altLang="en-US" sz="2000" b="1" dirty="0"/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if (n ==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n + </a:t>
            </a:r>
            <a:r>
              <a:rPr lang="en-US" altLang="en-US" sz="2000" b="1" dirty="0" smtClean="0"/>
              <a:t>mystery5(n-1</a:t>
            </a:r>
            <a:r>
              <a:rPr lang="en-US" altLang="en-US" sz="2000" b="1" dirty="0"/>
              <a:t>) + </a:t>
            </a:r>
            <a:r>
              <a:rPr lang="en-US" altLang="en-US" sz="2000" b="1" dirty="0" smtClean="0"/>
              <a:t>mystery5(n-1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324225" y="3957638"/>
            <a:ext cx="4648200" cy="2554287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value is returned by the a call to </a:t>
            </a:r>
            <a:r>
              <a:rPr lang="en-US" sz="2000" dirty="0" smtClean="0"/>
              <a:t>mystery5(5</a:t>
            </a:r>
            <a:r>
              <a:rPr lang="en-US" sz="2000" dirty="0"/>
              <a:t>)?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13	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 	25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(C)	26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32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OOP</a:t>
            </a:r>
          </a:p>
        </p:txBody>
      </p:sp>
      <p:sp>
        <p:nvSpPr>
          <p:cNvPr id="6963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Polymorphism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b="1" dirty="0" smtClean="0"/>
              <a:t>22. Consider the following class definitions and code segment.</a:t>
            </a:r>
          </a:p>
          <a:p>
            <a:pPr>
              <a:defRPr/>
            </a:pPr>
            <a:endParaRPr lang="en-US" sz="1600" b="1" dirty="0" smtClean="0"/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item1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ClassA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item2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item3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item1.method</a:t>
            </a:r>
            <a:r>
              <a:rPr lang="en-US" sz="1600" b="1" dirty="0" smtClean="0"/>
              <a:t>(10);</a:t>
            </a:r>
          </a:p>
          <a:p>
            <a:pPr>
              <a:defRPr/>
            </a:pPr>
            <a:r>
              <a:rPr lang="en-US" sz="1600" b="1" dirty="0" err="1" smtClean="0"/>
              <a:t>item2.method</a:t>
            </a:r>
            <a:r>
              <a:rPr lang="en-US" sz="1600" b="1" dirty="0" smtClean="0"/>
              <a:t>(20);</a:t>
            </a:r>
          </a:p>
          <a:p>
            <a:pPr>
              <a:defRPr/>
            </a:pPr>
            <a:r>
              <a:rPr lang="en-US" sz="1600" b="1" dirty="0" err="1" smtClean="0"/>
              <a:t>item3.method</a:t>
            </a:r>
            <a:r>
              <a:rPr lang="en-US" sz="1600" b="1" dirty="0" smtClean="0"/>
              <a:t>(30);</a:t>
            </a:r>
          </a:p>
          <a:p>
            <a:pPr>
              <a:defRPr/>
            </a:pPr>
            <a:r>
              <a:rPr lang="en-US" sz="1600" b="1" dirty="0" smtClean="0"/>
              <a:t>	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ClassA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ClassA</a:t>
            </a:r>
            <a:r>
              <a:rPr lang="en-US" sz="1600" b="1" dirty="0" smtClean="0"/>
              <a:t>() { }</a:t>
            </a:r>
          </a:p>
          <a:p>
            <a:pPr>
              <a:defRPr/>
            </a:pPr>
            <a:r>
              <a:rPr lang="en-US" sz="1600" b="1" dirty="0" smtClean="0"/>
              <a:t>  	public void method(int a)</a:t>
            </a:r>
          </a:p>
          <a:p>
            <a:pPr>
              <a:defRPr/>
            </a:pPr>
            <a:r>
              <a:rPr lang="en-US" sz="1600" b="1" dirty="0" smtClean="0"/>
              <a:t>	{</a:t>
            </a:r>
            <a:r>
              <a:rPr lang="en-US" sz="1600" b="1" dirty="0" err="1" smtClean="0"/>
              <a:t>System.out.println</a:t>
            </a:r>
            <a:r>
              <a:rPr lang="en-US" sz="1600" b="1" dirty="0" smtClean="0"/>
              <a:t>("Class A " + a);}</a:t>
            </a:r>
          </a:p>
          <a:p>
            <a:pPr>
              <a:defRPr/>
            </a:pPr>
            <a:r>
              <a:rPr lang="en-US" sz="1600" b="1" dirty="0" smtClean="0"/>
              <a:t>}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 extends </a:t>
            </a:r>
            <a:r>
              <a:rPr lang="en-US" sz="1600" b="1" dirty="0" err="1" smtClean="0"/>
              <a:t>ClassA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(){ }</a:t>
            </a:r>
          </a:p>
          <a:p>
            <a:pPr>
              <a:defRPr/>
            </a:pPr>
            <a:r>
              <a:rPr lang="en-US" sz="1600" b="1" dirty="0" smtClean="0"/>
              <a:t>  	public void method(int b)</a:t>
            </a:r>
          </a:p>
          <a:p>
            <a:pPr>
              <a:defRPr/>
            </a:pPr>
            <a:r>
              <a:rPr lang="en-US" sz="1600" b="1" dirty="0" smtClean="0"/>
              <a:t>	{</a:t>
            </a:r>
            <a:r>
              <a:rPr lang="en-US" sz="1600" b="1" dirty="0" err="1" smtClean="0"/>
              <a:t>System.out.println</a:t>
            </a:r>
            <a:r>
              <a:rPr lang="en-US" sz="1600" b="1" dirty="0" smtClean="0"/>
              <a:t>("Class B " + b);}</a:t>
            </a:r>
          </a:p>
          <a:p>
            <a:pPr>
              <a:defRPr/>
            </a:pPr>
            <a:r>
              <a:rPr lang="en-US" sz="1600" b="1" dirty="0" smtClean="0"/>
              <a:t>}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 extends </a:t>
            </a:r>
            <a:r>
              <a:rPr lang="en-US" sz="1600" b="1" dirty="0" err="1" smtClean="0"/>
              <a:t>ClassB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(){ }</a:t>
            </a:r>
          </a:p>
          <a:p>
            <a:pPr>
              <a:defRPr/>
            </a:pPr>
            <a:r>
              <a:rPr lang="en-US" sz="1600" b="1" dirty="0" smtClean="0"/>
              <a:t>} </a:t>
            </a:r>
          </a:p>
          <a:p>
            <a:pPr>
              <a:defRPr/>
            </a:pPr>
            <a:endParaRPr lang="en-US" sz="1600" b="1" i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191000" y="595313"/>
            <a:ext cx="4495800" cy="59404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(A)	Class A 10</a:t>
            </a:r>
          </a:p>
          <a:p>
            <a:pPr>
              <a:defRPr/>
            </a:pPr>
            <a:r>
              <a:rPr lang="en-US" sz="2000" dirty="0"/>
              <a:t>	Class A 20</a:t>
            </a:r>
          </a:p>
          <a:p>
            <a:pPr>
              <a:defRPr/>
            </a:pPr>
            <a:r>
              <a:rPr lang="en-US" sz="2000" dirty="0"/>
              <a:t>	Class A 30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(B)	Class A 10</a:t>
            </a:r>
          </a:p>
          <a:p>
            <a:pPr>
              <a:defRPr/>
            </a:pPr>
            <a:r>
              <a:rPr lang="en-US" sz="2000" dirty="0"/>
              <a:t>	Class B 20</a:t>
            </a:r>
          </a:p>
          <a:p>
            <a:pPr>
              <a:defRPr/>
            </a:pPr>
            <a:r>
              <a:rPr lang="en-US" sz="2000" dirty="0"/>
              <a:t>	Class B 30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(C)	Class A 10</a:t>
            </a:r>
          </a:p>
          <a:p>
            <a:pPr>
              <a:defRPr/>
            </a:pPr>
            <a:r>
              <a:rPr lang="en-US" sz="2000" dirty="0"/>
              <a:t>	Class B 20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(D)	Class A 10</a:t>
            </a:r>
          </a:p>
          <a:p>
            <a:pPr>
              <a:defRPr/>
            </a:pPr>
            <a:r>
              <a:rPr lang="en-US" sz="2000" dirty="0"/>
              <a:t>	Class B 20</a:t>
            </a:r>
          </a:p>
          <a:p>
            <a:pPr>
              <a:defRPr/>
            </a:pPr>
            <a:r>
              <a:rPr lang="en-US" sz="2000" dirty="0"/>
              <a:t>	Class B 20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(E)	Exception error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304800" y="166688"/>
            <a:ext cx="8534400" cy="64944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0"/>
              </a:spcBef>
              <a:spcAft>
                <a:spcPct val="0"/>
              </a:spcAft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b="1" dirty="0" smtClean="0"/>
              <a:t>22. Consider the following class definitions and code segment.</a:t>
            </a:r>
          </a:p>
          <a:p>
            <a:pPr>
              <a:defRPr/>
            </a:pPr>
            <a:endParaRPr lang="en-US" sz="1600" b="1" dirty="0" smtClean="0"/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item1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ClassA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item2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ClassA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item3</a:t>
            </a:r>
            <a:r>
              <a:rPr lang="en-US" sz="1600" b="1" dirty="0" smtClean="0"/>
              <a:t> = new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();</a:t>
            </a:r>
          </a:p>
          <a:p>
            <a:pPr>
              <a:defRPr/>
            </a:pPr>
            <a:r>
              <a:rPr lang="en-US" sz="1600" b="1" dirty="0" err="1" smtClean="0"/>
              <a:t>item1.method</a:t>
            </a:r>
            <a:r>
              <a:rPr lang="en-US" sz="1600" b="1" dirty="0" smtClean="0"/>
              <a:t>(10);</a:t>
            </a:r>
          </a:p>
          <a:p>
            <a:pPr>
              <a:defRPr/>
            </a:pPr>
            <a:r>
              <a:rPr lang="en-US" sz="1600" b="1" dirty="0" err="1" smtClean="0"/>
              <a:t>item2.method</a:t>
            </a:r>
            <a:r>
              <a:rPr lang="en-US" sz="1600" b="1" dirty="0" smtClean="0"/>
              <a:t>(20);</a:t>
            </a:r>
          </a:p>
          <a:p>
            <a:pPr>
              <a:defRPr/>
            </a:pPr>
            <a:r>
              <a:rPr lang="en-US" sz="1600" b="1" dirty="0" err="1" smtClean="0"/>
              <a:t>item3.method</a:t>
            </a:r>
            <a:r>
              <a:rPr lang="en-US" sz="1600" b="1" dirty="0" smtClean="0"/>
              <a:t>(30);</a:t>
            </a:r>
          </a:p>
          <a:p>
            <a:pPr>
              <a:defRPr/>
            </a:pPr>
            <a:r>
              <a:rPr lang="en-US" sz="1600" b="1" dirty="0" smtClean="0"/>
              <a:t>	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ClassA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ClassA</a:t>
            </a:r>
            <a:r>
              <a:rPr lang="en-US" sz="1600" b="1" dirty="0" smtClean="0"/>
              <a:t>() { }</a:t>
            </a:r>
          </a:p>
          <a:p>
            <a:pPr>
              <a:defRPr/>
            </a:pPr>
            <a:r>
              <a:rPr lang="en-US" sz="1600" b="1" dirty="0" smtClean="0"/>
              <a:t>  	public void method(int a)</a:t>
            </a:r>
          </a:p>
          <a:p>
            <a:pPr>
              <a:defRPr/>
            </a:pPr>
            <a:r>
              <a:rPr lang="en-US" sz="1600" b="1" dirty="0" smtClean="0"/>
              <a:t>	{</a:t>
            </a:r>
            <a:r>
              <a:rPr lang="en-US" sz="1600" b="1" dirty="0" err="1" smtClean="0"/>
              <a:t>System.out.println</a:t>
            </a:r>
            <a:r>
              <a:rPr lang="en-US" sz="1600" b="1" dirty="0" smtClean="0"/>
              <a:t>("Class A " + a);}</a:t>
            </a:r>
          </a:p>
          <a:p>
            <a:pPr>
              <a:defRPr/>
            </a:pPr>
            <a:r>
              <a:rPr lang="en-US" sz="1600" b="1" dirty="0" smtClean="0"/>
              <a:t>}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 extends </a:t>
            </a:r>
            <a:r>
              <a:rPr lang="en-US" sz="1600" b="1" dirty="0" err="1" smtClean="0"/>
              <a:t>ClassA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ClassB</a:t>
            </a:r>
            <a:r>
              <a:rPr lang="en-US" sz="1600" b="1" dirty="0" smtClean="0"/>
              <a:t>(){ }</a:t>
            </a:r>
          </a:p>
          <a:p>
            <a:pPr>
              <a:defRPr/>
            </a:pPr>
            <a:r>
              <a:rPr lang="en-US" sz="1600" b="1" dirty="0" smtClean="0"/>
              <a:t>  	public void method(int b)</a:t>
            </a:r>
          </a:p>
          <a:p>
            <a:pPr>
              <a:defRPr/>
            </a:pPr>
            <a:r>
              <a:rPr lang="en-US" sz="1600" b="1" dirty="0" smtClean="0"/>
              <a:t>	{</a:t>
            </a:r>
            <a:r>
              <a:rPr lang="en-US" sz="1600" b="1" dirty="0" err="1" smtClean="0"/>
              <a:t>System.out.println</a:t>
            </a:r>
            <a:r>
              <a:rPr lang="en-US" sz="1600" b="1" dirty="0" smtClean="0"/>
              <a:t>("Class B " + b);}</a:t>
            </a:r>
          </a:p>
          <a:p>
            <a:pPr>
              <a:defRPr/>
            </a:pPr>
            <a:r>
              <a:rPr lang="en-US" sz="1600" b="1" dirty="0" smtClean="0"/>
              <a:t>}</a:t>
            </a:r>
          </a:p>
          <a:p>
            <a:pPr>
              <a:defRPr/>
            </a:pPr>
            <a:r>
              <a:rPr lang="en-US" sz="1600" b="1" dirty="0" smtClean="0"/>
              <a:t>class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 extends </a:t>
            </a:r>
            <a:r>
              <a:rPr lang="en-US" sz="1600" b="1" dirty="0" err="1" smtClean="0"/>
              <a:t>ClassB</a:t>
            </a:r>
            <a:endParaRPr lang="en-US" sz="1600" b="1" dirty="0" smtClean="0"/>
          </a:p>
          <a:p>
            <a:pPr>
              <a:defRPr/>
            </a:pPr>
            <a:r>
              <a:rPr lang="en-US" sz="1600" b="1" dirty="0" smtClean="0"/>
              <a:t>{</a:t>
            </a:r>
          </a:p>
          <a:p>
            <a:pPr>
              <a:defRPr/>
            </a:pPr>
            <a:r>
              <a:rPr lang="en-US" sz="1600" b="1" dirty="0" smtClean="0"/>
              <a:t>  	public </a:t>
            </a:r>
            <a:r>
              <a:rPr lang="en-US" sz="1600" b="1" dirty="0" err="1" smtClean="0"/>
              <a:t>ClassC</a:t>
            </a:r>
            <a:r>
              <a:rPr lang="en-US" sz="1600" b="1" dirty="0" smtClean="0"/>
              <a:t>(){ }</a:t>
            </a:r>
          </a:p>
          <a:p>
            <a:pPr>
              <a:defRPr/>
            </a:pPr>
            <a:r>
              <a:rPr lang="en-US" sz="1600" b="1" dirty="0" smtClean="0"/>
              <a:t>} </a:t>
            </a:r>
          </a:p>
          <a:p>
            <a:pPr>
              <a:defRPr/>
            </a:pPr>
            <a:endParaRPr lang="en-US" sz="1600" b="1" i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191000" y="595313"/>
            <a:ext cx="4495800" cy="5940425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/>
              <a:t>(A)	Class A 10</a:t>
            </a:r>
          </a:p>
          <a:p>
            <a:pPr>
              <a:defRPr/>
            </a:pPr>
            <a:r>
              <a:rPr lang="en-US" sz="2000"/>
              <a:t>	Class A 20</a:t>
            </a:r>
          </a:p>
          <a:p>
            <a:pPr>
              <a:defRPr/>
            </a:pPr>
            <a:r>
              <a:rPr lang="en-US" sz="2000"/>
              <a:t>	Class A 30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1"/>
              <a:t>(B)	Class A 10</a:t>
            </a:r>
          </a:p>
          <a:p>
            <a:pPr>
              <a:defRPr/>
            </a:pPr>
            <a:r>
              <a:rPr lang="en-US" sz="2000" b="1"/>
              <a:t>	Class B 20</a:t>
            </a:r>
          </a:p>
          <a:p>
            <a:pPr>
              <a:defRPr/>
            </a:pPr>
            <a:r>
              <a:rPr lang="en-US" sz="2000" b="1"/>
              <a:t>	Class B 30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(C)	Class A 10</a:t>
            </a:r>
          </a:p>
          <a:p>
            <a:pPr>
              <a:defRPr/>
            </a:pPr>
            <a:r>
              <a:rPr lang="en-US" sz="2000"/>
              <a:t>	Class B 20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(D)	Class A 10</a:t>
            </a:r>
          </a:p>
          <a:p>
            <a:pPr>
              <a:defRPr/>
            </a:pPr>
            <a:r>
              <a:rPr lang="en-US" sz="2000"/>
              <a:t>	Class B 20</a:t>
            </a:r>
          </a:p>
          <a:p>
            <a:pPr>
              <a:defRPr/>
            </a:pPr>
            <a:r>
              <a:rPr lang="en-US" sz="2000"/>
              <a:t>	Class B 20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(E)	Exception error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WordArt 2"/>
          <p:cNvSpPr>
            <a:spLocks noChangeArrowheads="1" noChangeShapeType="1" noTextEdit="1"/>
          </p:cNvSpPr>
          <p:nvPr/>
        </p:nvSpPr>
        <p:spPr bwMode="auto">
          <a:xfrm>
            <a:off x="331788" y="6858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Redefining</a:t>
            </a:r>
          </a:p>
        </p:txBody>
      </p:sp>
      <p:sp>
        <p:nvSpPr>
          <p:cNvPr id="74755" name="WordArt 3"/>
          <p:cNvSpPr>
            <a:spLocks noChangeArrowheads="1" noChangeShapeType="1" noTextEdit="1"/>
          </p:cNvSpPr>
          <p:nvPr/>
        </p:nvSpPr>
        <p:spPr bwMode="auto">
          <a:xfrm>
            <a:off x="304800" y="3311525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3"/>
          <p:cNvSpPr txBox="1">
            <a:spLocks noChangeArrowheads="1"/>
          </p:cNvSpPr>
          <p:nvPr/>
        </p:nvSpPr>
        <p:spPr bwMode="auto">
          <a:xfrm>
            <a:off x="304800" y="23813"/>
            <a:ext cx="8534400" cy="66786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23.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String[] list1 = {"</a:t>
            </a:r>
            <a:r>
              <a:rPr lang="en-US" altLang="en-US" sz="2000" b="1" dirty="0" err="1"/>
              <a:t>Tom","Sue","Joe</a:t>
            </a:r>
            <a:r>
              <a:rPr lang="en-US" altLang="en-US" sz="2000" b="1" dirty="0"/>
              <a:t>"};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ArrayList&lt;String&gt; list2 = new ArrayList&lt;String&gt;();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list2.add("Meg"); 	list2.add("Bob"); 	list2.add("Ann");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System.out.println(list1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System.out.println(list2);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438400"/>
            <a:ext cx="8001000" cy="403225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</a:t>
            </a:r>
            <a:r>
              <a:rPr lang="en-US" sz="1600" dirty="0" smtClean="0"/>
              <a:t>[</a:t>
            </a:r>
            <a:r>
              <a:rPr lang="en-US" sz="1600" dirty="0"/>
              <a:t>Tom, Sue, Joe]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/>
              <a:t>Meg, Bob, Ann]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(B)		</a:t>
            </a:r>
            <a:r>
              <a:rPr lang="en-US" sz="1600" dirty="0" smtClean="0"/>
              <a:t>[</a:t>
            </a:r>
            <a:r>
              <a:rPr lang="en-US" sz="1600" dirty="0"/>
              <a:t>Tom, Sue, Joe]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 err="1"/>
              <a:t>Ljava.util.ArrayList:memory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(C)	[</a:t>
            </a:r>
            <a:r>
              <a:rPr lang="en-US" sz="1600" dirty="0" err="1"/>
              <a:t>Ljava.lang.String:memory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/>
              <a:t>Meg, Bob, Ann]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[</a:t>
            </a:r>
            <a:r>
              <a:rPr lang="en-US" sz="1600" dirty="0" err="1"/>
              <a:t>Ljava.lang.String:memory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 err="1"/>
              <a:t>Ljava.util.ArrayList:memory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None </a:t>
            </a:r>
            <a:r>
              <a:rPr lang="en-US" sz="1600" dirty="0"/>
              <a:t>of the above, because array objects can only be displayed with a loop 				</a:t>
            </a:r>
            <a:r>
              <a:rPr lang="en-US" sz="1600" dirty="0" smtClean="0"/>
              <a:t>structure</a:t>
            </a:r>
            <a:r>
              <a:rPr lang="en-US" sz="1600" dirty="0"/>
              <a:t>, which accesses each array element.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3"/>
          <p:cNvSpPr txBox="1">
            <a:spLocks noChangeArrowheads="1"/>
          </p:cNvSpPr>
          <p:nvPr/>
        </p:nvSpPr>
        <p:spPr bwMode="auto">
          <a:xfrm>
            <a:off x="304800" y="23813"/>
            <a:ext cx="8534400" cy="66786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23.</a:t>
            </a:r>
            <a:r>
              <a:rPr lang="en-US" altLang="en-US" sz="2000" b="1" dirty="0"/>
              <a:t>	Consider the following code segment.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String[] list1 = {"</a:t>
            </a:r>
            <a:r>
              <a:rPr lang="en-US" altLang="en-US" sz="2000" b="1" dirty="0" err="1"/>
              <a:t>Tom","Sue","Joe</a:t>
            </a:r>
            <a:r>
              <a:rPr lang="en-US" altLang="en-US" sz="2000" b="1" dirty="0"/>
              <a:t>"};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ArrayList&lt;String&gt; list2 = new ArrayList&lt;String&gt;();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list2.add("Meg"); 	list2.add("Bob"); 	list2.add("Ann");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</a:t>
            </a:r>
            <a:r>
              <a:rPr lang="en-US" altLang="en-US" sz="2000" b="1" dirty="0" smtClean="0"/>
              <a:t>System.out.println(list1</a:t>
            </a:r>
            <a:r>
              <a:rPr lang="en-US" altLang="en-US" sz="2000" b="1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System.out.println(list2);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438400"/>
            <a:ext cx="8001000" cy="4032250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</a:t>
            </a:r>
            <a:r>
              <a:rPr lang="en-US" sz="1600" dirty="0" smtClean="0"/>
              <a:t>[</a:t>
            </a:r>
            <a:r>
              <a:rPr lang="en-US" sz="1600" dirty="0"/>
              <a:t>Tom, Sue, Joe]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/>
              <a:t>Meg, Bob, Ann]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(B)		</a:t>
            </a:r>
            <a:r>
              <a:rPr lang="en-US" sz="1600" dirty="0" smtClean="0"/>
              <a:t>[</a:t>
            </a:r>
            <a:r>
              <a:rPr lang="en-US" sz="1600" dirty="0"/>
              <a:t>Tom, Sue, Joe]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 err="1"/>
              <a:t>Ljava.util.ArrayList:memory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b="1" dirty="0"/>
              <a:t>(C)	[</a:t>
            </a:r>
            <a:r>
              <a:rPr lang="en-US" sz="1600" b="1" dirty="0" err="1"/>
              <a:t>Ljava.lang.String:memory</a:t>
            </a:r>
            <a:r>
              <a:rPr lang="en-US" sz="1600" b="1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b="1" dirty="0"/>
              <a:t>		</a:t>
            </a:r>
            <a:r>
              <a:rPr lang="en-US" sz="1600" b="1" dirty="0" smtClean="0"/>
              <a:t>[</a:t>
            </a:r>
            <a:r>
              <a:rPr lang="en-US" sz="1600" b="1" dirty="0"/>
              <a:t>Meg, Bob, Ann]</a:t>
            </a: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[</a:t>
            </a:r>
            <a:r>
              <a:rPr lang="en-US" sz="1600" dirty="0" err="1"/>
              <a:t>Ljava.lang.String:memory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[</a:t>
            </a:r>
            <a:r>
              <a:rPr lang="en-US" sz="1600" dirty="0" err="1"/>
              <a:t>Ljava.util.ArrayList:memory</a:t>
            </a:r>
            <a:r>
              <a:rPr lang="en-US" sz="1600" dirty="0"/>
              <a:t> reference</a:t>
            </a:r>
          </a:p>
          <a:p>
            <a:pPr defTabSz="274320">
              <a:tabLst>
                <a:tab pos="274320" algn="l"/>
              </a:tabLst>
              <a:defRPr/>
            </a:pP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None </a:t>
            </a:r>
            <a:r>
              <a:rPr lang="en-US" sz="1600" dirty="0"/>
              <a:t>of the above, because array objects can only be displayed with a loop 				</a:t>
            </a:r>
            <a:r>
              <a:rPr lang="en-US" sz="1600" dirty="0" smtClean="0"/>
              <a:t>structure</a:t>
            </a:r>
            <a:r>
              <a:rPr lang="en-US" sz="1600" dirty="0"/>
              <a:t>, which accesses each array element.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3"/>
          <p:cNvSpPr txBox="1">
            <a:spLocks noChangeArrowheads="1"/>
          </p:cNvSpPr>
          <p:nvPr/>
        </p:nvSpPr>
        <p:spPr bwMode="auto">
          <a:xfrm>
            <a:off x="304800" y="0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24.</a:t>
            </a:r>
            <a:r>
              <a:rPr lang="en-US" altLang="en-US" sz="2000" b="1" dirty="0"/>
              <a:t>	Consider the following code segment and Car class.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</a:t>
            </a:r>
            <a:r>
              <a:rPr lang="en-US" altLang="en-US" sz="2000" b="1" dirty="0" err="1"/>
              <a:t>car</a:t>
            </a:r>
            <a:r>
              <a:rPr lang="en-US" altLang="en-US" sz="2000" b="1" dirty="0"/>
              <a:t> = new Car("Ford",2010);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System.out.println(car);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class Car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String make;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int year;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Car (String m,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make = 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year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String </a:t>
            </a:r>
            <a:r>
              <a:rPr lang="en-US" altLang="en-US" sz="2000" b="1" dirty="0" err="1"/>
              <a:t>toString</a:t>
            </a:r>
            <a:r>
              <a:rPr lang="en-US" altLang="en-US" sz="2000" b="1" dirty="0"/>
              <a:t>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"[" + make + ", " + year + "]";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876800" y="1981200"/>
            <a:ext cx="38100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(A)	[Ford, 2010]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[make, year]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Ford, 2010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Car@&lt;some memory 					    reference&gt;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None of the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3"/>
          <p:cNvSpPr txBox="1">
            <a:spLocks noChangeArrowheads="1"/>
          </p:cNvSpPr>
          <p:nvPr/>
        </p:nvSpPr>
        <p:spPr bwMode="auto">
          <a:xfrm>
            <a:off x="304800" y="0"/>
            <a:ext cx="85344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24.</a:t>
            </a:r>
            <a:r>
              <a:rPr lang="en-US" altLang="en-US" sz="2000" b="1" dirty="0"/>
              <a:t>	Consider the following code segment and Car class.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</a:t>
            </a:r>
            <a:r>
              <a:rPr lang="en-US" altLang="en-US" sz="2000" b="1" dirty="0" err="1"/>
              <a:t>car</a:t>
            </a:r>
            <a:r>
              <a:rPr lang="en-US" altLang="en-US" sz="2000" b="1" dirty="0"/>
              <a:t> = new Car("Ford",2010);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System.out.println(car);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class Car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String make;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int year;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Car (String m,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make = 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year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String </a:t>
            </a:r>
            <a:r>
              <a:rPr lang="en-US" altLang="en-US" sz="2000" b="1" dirty="0" err="1"/>
              <a:t>toString</a:t>
            </a:r>
            <a:r>
              <a:rPr lang="en-US" altLang="en-US" sz="2000" b="1" dirty="0"/>
              <a:t> 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"[" + make + ", " + year + "]";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  <a:endParaRPr lang="en-US" altLang="en-US" sz="1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200" y="1847055"/>
            <a:ext cx="3581400" cy="2862263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b="1" dirty="0"/>
              <a:t>(A)	[Ford, 2010]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(B)	[make, year]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(C)	Ford, 2010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(D)	Car@&lt;some memory 					    reference&gt;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2000" dirty="0"/>
              <a:t>(E)	None of the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3"/>
          <p:cNvSpPr txBox="1">
            <a:spLocks noChangeArrowheads="1"/>
          </p:cNvSpPr>
          <p:nvPr/>
        </p:nvSpPr>
        <p:spPr bwMode="auto">
          <a:xfrm>
            <a:off x="76200" y="0"/>
            <a:ext cx="89916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25.</a:t>
            </a:r>
            <a:r>
              <a:rPr lang="en-US" altLang="en-US" sz="2000" b="1" dirty="0"/>
              <a:t>	Consider the following code segment and Car class.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car1 =  &lt;some Car object&gt;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car2 =  &lt;some Car object&gt;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 (car1.equals(car2));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class Car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String make;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int year;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Car (String m,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make = 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year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</a:t>
            </a:r>
            <a:r>
              <a:rPr lang="en-US" altLang="en-US" sz="2000" b="1" dirty="0" err="1"/>
              <a:t>boolean</a:t>
            </a:r>
            <a:r>
              <a:rPr lang="en-US" altLang="en-US" sz="2000" b="1" dirty="0"/>
              <a:t> equals (Object other)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true;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9600" y="1754693"/>
            <a:ext cx="4495800" cy="304698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</a:t>
            </a:r>
            <a:r>
              <a:rPr lang="en-US" sz="1600" dirty="0" smtClean="0"/>
              <a:t>False</a:t>
            </a:r>
            <a:r>
              <a:rPr lang="en-US" sz="1600" dirty="0"/>
              <a:t>, since non-standard classes 			</a:t>
            </a:r>
            <a:r>
              <a:rPr lang="en-US" sz="1600" dirty="0" smtClean="0"/>
              <a:t>	cannot </a:t>
            </a:r>
            <a:r>
              <a:rPr lang="en-US" sz="1600" dirty="0"/>
              <a:t>be compared for equality.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	)	Neither, since output cannot be 				</a:t>
            </a:r>
            <a:r>
              <a:rPr lang="en-US" sz="1600" dirty="0" smtClean="0"/>
              <a:t>	determined </a:t>
            </a:r>
            <a:r>
              <a:rPr lang="en-US" sz="1600" dirty="0"/>
              <a:t>without specific Car object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information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(C)	True, if both objects are the same year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True, if both objects are both the same 		</a:t>
            </a:r>
            <a:r>
              <a:rPr lang="en-US" sz="1600" dirty="0" smtClean="0"/>
              <a:t>	make </a:t>
            </a:r>
            <a:r>
              <a:rPr lang="en-US" sz="1600" dirty="0"/>
              <a:t>and the same year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(E)		</a:t>
            </a:r>
            <a:r>
              <a:rPr lang="en-US" sz="1600" dirty="0" smtClean="0"/>
              <a:t>True</a:t>
            </a:r>
            <a:r>
              <a:rPr lang="en-US" sz="1600" dirty="0"/>
              <a:t>, for all Car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3"/>
          <p:cNvSpPr txBox="1">
            <a:spLocks noChangeArrowheads="1"/>
          </p:cNvSpPr>
          <p:nvPr/>
        </p:nvSpPr>
        <p:spPr bwMode="auto">
          <a:xfrm>
            <a:off x="76200" y="0"/>
            <a:ext cx="8991600" cy="6556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3050" eaLnBrk="0" hangingPunct="0">
              <a:spcBef>
                <a:spcPct val="20000"/>
              </a:spcBef>
              <a:buChar char="•"/>
              <a:tabLst>
                <a:tab pos="273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3050" eaLnBrk="0" hangingPunct="0">
              <a:spcBef>
                <a:spcPct val="20000"/>
              </a:spcBef>
              <a:buChar char="–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3050" eaLnBrk="0" hangingPunct="0">
              <a:spcBef>
                <a:spcPct val="20000"/>
              </a:spcBef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3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7305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 smtClean="0"/>
              <a:t>25.</a:t>
            </a:r>
            <a:r>
              <a:rPr lang="en-US" altLang="en-US" sz="2000" b="1" dirty="0"/>
              <a:t>	Consider the following code segment and Car class.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car1 =  &lt;some Car object&gt;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Car car2 =  &lt;some Car object&gt;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System.out.println (car1.equals(car2));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class Car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String make;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private int year;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Car (String m, int 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make = 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year =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public </a:t>
            </a:r>
            <a:r>
              <a:rPr lang="en-US" altLang="en-US" sz="2000" b="1" dirty="0" err="1"/>
              <a:t>boolean</a:t>
            </a:r>
            <a:r>
              <a:rPr lang="en-US" altLang="en-US" sz="2000" b="1" dirty="0"/>
              <a:t> equals (Object other)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	return true;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	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/>
              <a:t>	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0" y="1754188"/>
            <a:ext cx="4648200" cy="304641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What is printed as a result of executing the code segment?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 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(A)		</a:t>
            </a:r>
            <a:r>
              <a:rPr lang="en-US" sz="1600" dirty="0" smtClean="0"/>
              <a:t>False</a:t>
            </a:r>
            <a:r>
              <a:rPr lang="en-US" sz="1600" dirty="0"/>
              <a:t>, since non-standard classes 				</a:t>
            </a:r>
            <a:r>
              <a:rPr lang="en-US" sz="1600" dirty="0" smtClean="0"/>
              <a:t>	cannot </a:t>
            </a:r>
            <a:r>
              <a:rPr lang="en-US" sz="1600" dirty="0"/>
              <a:t>be compared for equality.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(B	)	Neither, since output cannot be 					</a:t>
            </a:r>
            <a:r>
              <a:rPr lang="en-US" sz="1600" dirty="0" smtClean="0"/>
              <a:t>	determined </a:t>
            </a:r>
            <a:r>
              <a:rPr lang="en-US" sz="1600" dirty="0"/>
              <a:t>without specific Car object 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		</a:t>
            </a:r>
            <a:r>
              <a:rPr lang="en-US" sz="1600" dirty="0" smtClean="0"/>
              <a:t>information</a:t>
            </a:r>
            <a:endParaRPr lang="en-US" sz="1600" dirty="0"/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(C)	True, if both objects are the same year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dirty="0"/>
              <a:t>(D)	True, if both objects are both the same 			</a:t>
            </a:r>
            <a:r>
              <a:rPr lang="en-US" sz="1600" dirty="0" smtClean="0"/>
              <a:t>	make </a:t>
            </a:r>
            <a:r>
              <a:rPr lang="en-US" sz="1600" dirty="0"/>
              <a:t>and the same year</a:t>
            </a:r>
          </a:p>
          <a:p>
            <a:pPr defTabSz="274320">
              <a:tabLst>
                <a:tab pos="274320" algn="l"/>
              </a:tabLst>
              <a:defRPr/>
            </a:pPr>
            <a:r>
              <a:rPr lang="en-US" sz="1600" b="1" dirty="0"/>
              <a:t>(E)	</a:t>
            </a:r>
            <a:r>
              <a:rPr lang="en-US" sz="1600" b="1"/>
              <a:t>	</a:t>
            </a:r>
            <a:r>
              <a:rPr lang="en-US" sz="1600" b="1" smtClean="0"/>
              <a:t>True</a:t>
            </a:r>
            <a:r>
              <a:rPr lang="en-US" sz="1600" b="1" dirty="0"/>
              <a:t>, for all Car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6267</TotalTime>
  <Words>736</Words>
  <Application>Microsoft Office PowerPoint</Application>
  <PresentationFormat>On-screen Show (4:3)</PresentationFormat>
  <Paragraphs>1553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RISD - Berkner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Schram</dc:creator>
  <cp:lastModifiedBy>leonschram</cp:lastModifiedBy>
  <cp:revision>519</cp:revision>
  <dcterms:created xsi:type="dcterms:W3CDTF">2003-07-04T03:08:29Z</dcterms:created>
  <dcterms:modified xsi:type="dcterms:W3CDTF">2015-10-08T18:39:06Z</dcterms:modified>
</cp:coreProperties>
</file>