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355" r:id="rId3"/>
    <p:sldId id="356" r:id="rId4"/>
    <p:sldId id="403" r:id="rId5"/>
    <p:sldId id="404" r:id="rId6"/>
    <p:sldId id="357" r:id="rId7"/>
    <p:sldId id="358" r:id="rId8"/>
    <p:sldId id="405" r:id="rId9"/>
    <p:sldId id="359" r:id="rId10"/>
    <p:sldId id="264" r:id="rId11"/>
    <p:sldId id="406" r:id="rId12"/>
    <p:sldId id="360" r:id="rId13"/>
    <p:sldId id="407" r:id="rId14"/>
    <p:sldId id="408" r:id="rId15"/>
    <p:sldId id="426" r:id="rId16"/>
    <p:sldId id="267" r:id="rId17"/>
    <p:sldId id="409" r:id="rId18"/>
    <p:sldId id="269" r:id="rId19"/>
    <p:sldId id="268" r:id="rId20"/>
    <p:sldId id="424" r:id="rId21"/>
    <p:sldId id="425" r:id="rId22"/>
    <p:sldId id="362" r:id="rId23"/>
    <p:sldId id="274" r:id="rId24"/>
    <p:sldId id="410" r:id="rId25"/>
    <p:sldId id="277" r:id="rId26"/>
    <p:sldId id="427" r:id="rId27"/>
    <p:sldId id="411" r:id="rId28"/>
    <p:sldId id="363" r:id="rId29"/>
    <p:sldId id="279" r:id="rId30"/>
    <p:sldId id="282" r:id="rId31"/>
    <p:sldId id="412" r:id="rId32"/>
    <p:sldId id="413" r:id="rId33"/>
    <p:sldId id="414" r:id="rId34"/>
    <p:sldId id="353" r:id="rId35"/>
    <p:sldId id="415" r:id="rId36"/>
    <p:sldId id="417" r:id="rId37"/>
    <p:sldId id="436" r:id="rId38"/>
    <p:sldId id="428" r:id="rId39"/>
    <p:sldId id="429" r:id="rId40"/>
    <p:sldId id="430" r:id="rId41"/>
    <p:sldId id="433" r:id="rId42"/>
    <p:sldId id="440" r:id="rId43"/>
    <p:sldId id="304" r:id="rId44"/>
    <p:sldId id="420" r:id="rId45"/>
    <p:sldId id="423" r:id="rId46"/>
    <p:sldId id="434" r:id="rId47"/>
    <p:sldId id="435" r:id="rId48"/>
    <p:sldId id="441" r:id="rId49"/>
    <p:sldId id="437" r:id="rId50"/>
    <p:sldId id="442" r:id="rId51"/>
    <p:sldId id="443" r:id="rId52"/>
    <p:sldId id="467" r:id="rId53"/>
    <p:sldId id="438" r:id="rId54"/>
    <p:sldId id="444" r:id="rId55"/>
    <p:sldId id="439" r:id="rId56"/>
    <p:sldId id="445" r:id="rId57"/>
    <p:sldId id="447" r:id="rId58"/>
    <p:sldId id="448" r:id="rId59"/>
    <p:sldId id="449" r:id="rId60"/>
    <p:sldId id="450" r:id="rId61"/>
    <p:sldId id="451" r:id="rId62"/>
    <p:sldId id="453" r:id="rId63"/>
    <p:sldId id="454" r:id="rId64"/>
    <p:sldId id="455" r:id="rId65"/>
    <p:sldId id="459" r:id="rId66"/>
    <p:sldId id="468" r:id="rId67"/>
    <p:sldId id="463" r:id="rId68"/>
    <p:sldId id="461" r:id="rId69"/>
    <p:sldId id="469" r:id="rId70"/>
    <p:sldId id="464" r:id="rId71"/>
    <p:sldId id="465" r:id="rId72"/>
    <p:sldId id="466" r:id="rId7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0FF"/>
    <a:srgbClr val="C0FFFF"/>
    <a:srgbClr val="66FFFF"/>
    <a:srgbClr val="00FFFF"/>
    <a:srgbClr val="FFFF99"/>
    <a:srgbClr val="00FFCC"/>
    <a:srgbClr val="FFCCFF"/>
    <a:srgbClr val="FF66FF"/>
    <a:srgbClr val="FFC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9" autoAdjust="0"/>
    <p:restoredTop sz="94681" autoAdjust="0"/>
  </p:normalViewPr>
  <p:slideViewPr>
    <p:cSldViewPr>
      <p:cViewPr>
        <p:scale>
          <a:sx n="80" d="100"/>
          <a:sy n="80" d="100"/>
        </p:scale>
        <p:origin x="-34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52CFB-9F65-4F33-B231-393832483D4D}" type="datetimeFigureOut">
              <a:rPr lang="en-US" smtClean="0"/>
              <a:t>6/1/2015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CA94C-9277-41A9-A980-F5F21688E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7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CA94C-9277-41A9-A980-F5F21688E22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40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BD7842-2926-46ED-B844-013498449058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7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DBF5-226B-4469-B3FE-75B8491E2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4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89EC-43D2-4B1F-B6B7-56FFC2169D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90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91D57-F11C-465C-BFBA-CBA8A1565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6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F5CA9-DA29-4CC0-B28C-A3B09462CA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3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FCE41-F238-4751-BC2D-6BC4AC87C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34CD9-D22F-4126-9106-1C82BA6458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B79C7-64F8-4C95-9982-C60A574CF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0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EBAA7-1468-477B-9FDE-A865B29C81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3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0B4E3-9BFE-4D28-B02E-89F45371AA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7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6AA73-E1FF-4B62-B8BB-AE6A07391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4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E2147-FEF2-4DD0-9604-71AEC0DC2C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4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77F69F-F92A-4804-86EE-665342071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6"/>
          <p:cNvSpPr>
            <a:spLocks noChangeArrowheads="1" noChangeShapeType="1" noTextEdit="1"/>
          </p:cNvSpPr>
          <p:nvPr/>
        </p:nvSpPr>
        <p:spPr bwMode="auto">
          <a:xfrm>
            <a:off x="685800" y="1654175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</a:t>
            </a:r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8 </a:t>
            </a:r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Slides</a:t>
            </a:r>
          </a:p>
        </p:txBody>
      </p:sp>
      <p:sp>
        <p:nvSpPr>
          <p:cNvPr id="2051" name="WordArt 1025"/>
          <p:cNvSpPr>
            <a:spLocks noChangeArrowheads="1" noChangeShapeType="1" noTextEdit="1"/>
          </p:cNvSpPr>
          <p:nvPr/>
        </p:nvSpPr>
        <p:spPr bwMode="auto">
          <a:xfrm>
            <a:off x="152400" y="3924300"/>
            <a:ext cx="8839200" cy="800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Manipulating Strings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9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10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</a:t>
            </a:r>
            <a:r>
              <a:rPr lang="fr-FR" sz="7200" kern="10" baseline="3000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®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514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 to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514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 Methods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solidFill>
                  <a:schemeClr val="tx1"/>
                </a:solidFill>
                <a:latin typeface="Arial Black" pitchFamily="34" charset="0"/>
              </a:rPr>
              <a:t>String Processing</a:t>
            </a:r>
            <a:endParaRPr lang="en-US" sz="4800" smtClean="0">
              <a:latin typeface="Arial Black" pitchFamily="34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81000" y="1600200"/>
            <a:ext cx="8534400" cy="48323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/>
              <a:t>Word processing term papers, writing memoirs, sending email messages, responding to surveys, placing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online orders and registering products all involve </a:t>
            </a:r>
            <a:r>
              <a:rPr lang="en-US" sz="2800" b="1" i="1" dirty="0">
                <a:latin typeface="Arial" pitchFamily="34" charset="0"/>
                <a:cs typeface="Arial" pitchFamily="34" charset="0"/>
              </a:rPr>
              <a:t>string processing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.  </a:t>
            </a:r>
          </a:p>
          <a:p>
            <a:pPr eaLnBrk="1" hangingPunct="1"/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2800" b="1" dirty="0">
                <a:latin typeface="Arial" pitchFamily="34" charset="0"/>
                <a:cs typeface="Arial" pitchFamily="34" charset="0"/>
              </a:rPr>
              <a:t>Every software package on the market includes string-processing components.</a:t>
            </a:r>
          </a:p>
          <a:p>
            <a:pPr eaLnBrk="1" hangingPunct="1"/>
            <a:endParaRPr lang="en-US" sz="2800" b="1" dirty="0"/>
          </a:p>
          <a:p>
            <a:pPr eaLnBrk="1" hangingPunct="1"/>
            <a:r>
              <a:rPr lang="en-US" sz="2800" b="1" dirty="0"/>
              <a:t>Every programming language has special features that facilitate the manipulation of strings, and Java is no different.</a:t>
            </a:r>
            <a:endParaRPr lang="en-US" sz="2800" b="1" i="1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solidFill>
                  <a:schemeClr val="tx1"/>
                </a:solidFill>
                <a:latin typeface="Arial Black" pitchFamily="34" charset="0"/>
              </a:rPr>
              <a:t>String Definition</a:t>
            </a:r>
            <a:endParaRPr lang="en-US" sz="4800" smtClean="0">
              <a:latin typeface="Arial Black" pitchFamily="34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96200" cy="5016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b="1"/>
              <a:t>A </a:t>
            </a:r>
            <a:r>
              <a:rPr lang="en-US" sz="3200">
                <a:latin typeface="Arial Black" pitchFamily="34" charset="0"/>
              </a:rPr>
              <a:t>String</a:t>
            </a:r>
            <a:r>
              <a:rPr lang="en-US" sz="3200" b="1"/>
              <a:t> is a set of characters that behaves as a single unit.  </a:t>
            </a:r>
          </a:p>
          <a:p>
            <a:pPr eaLnBrk="1" hangingPunct="1"/>
            <a:endParaRPr lang="en-US" sz="3200" b="1"/>
          </a:p>
          <a:p>
            <a:pPr eaLnBrk="1" hangingPunct="1"/>
            <a:r>
              <a:rPr lang="en-US" sz="3200" b="1"/>
              <a:t>The characters in a </a:t>
            </a:r>
            <a:r>
              <a:rPr lang="en-US" sz="3200">
                <a:latin typeface="Arial Black" pitchFamily="34" charset="0"/>
              </a:rPr>
              <a:t>String</a:t>
            </a:r>
            <a:r>
              <a:rPr lang="en-US" sz="3200" b="1"/>
              <a:t> include upper-case and lower-case letters, numerical characters and a large set of characters for a variety of purposes like:</a:t>
            </a:r>
          </a:p>
          <a:p>
            <a:pPr eaLnBrk="1" hangingPunct="1"/>
            <a:endParaRPr lang="en-US" sz="3200" b="1"/>
          </a:p>
          <a:p>
            <a:pPr algn="ctr" eaLnBrk="1" hangingPunct="1"/>
            <a:r>
              <a:rPr lang="en-US" sz="3200">
                <a:latin typeface="Arial Black" pitchFamily="34" charset="0"/>
              </a:rPr>
              <a:t>!   @   #   $   %  ^   &amp;   *   (   )   _   +</a:t>
            </a:r>
            <a:endParaRPr lang="en-US" sz="3200" i="1">
              <a:latin typeface="Arial Black" pitchFamily="34" charset="0"/>
            </a:endParaRPr>
          </a:p>
        </p:txBody>
      </p:sp>
      <p:pic>
        <p:nvPicPr>
          <p:cNvPr id="5124" name="Picture 4" descr="j030516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30350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6" descr="MCj0325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50" y="0"/>
            <a:ext cx="1530350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210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6550"/>
          </a:xfrm>
        </p:spPr>
        <p:txBody>
          <a:bodyPr/>
          <a:lstStyle/>
          <a:p>
            <a:pPr eaLnBrk="1" hangingPunct="1"/>
            <a:r>
              <a:rPr lang="en-US" sz="5100" b="1" smtClean="0">
                <a:latin typeface="Arial Narrow" pitchFamily="34" charset="0"/>
              </a:rPr>
              <a:t>String Variables vs. String Literals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762000" y="1606550"/>
            <a:ext cx="7620000" cy="44624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 b="1" dirty="0"/>
          </a:p>
          <a:p>
            <a:pPr eaLnBrk="1" hangingPunct="1"/>
            <a:r>
              <a:rPr lang="en-US" sz="3200" b="1" dirty="0"/>
              <a:t>A </a:t>
            </a:r>
            <a:r>
              <a:rPr lang="en-US" sz="3200" b="1" i="1" dirty="0">
                <a:cs typeface="Arial" charset="0"/>
              </a:rPr>
              <a:t>string literal</a:t>
            </a:r>
            <a:r>
              <a:rPr lang="en-US" sz="3200" b="1" dirty="0">
                <a:cs typeface="Arial" charset="0"/>
              </a:rPr>
              <a:t> </a:t>
            </a:r>
            <a:r>
              <a:rPr lang="en-US" sz="3200" b="1" dirty="0"/>
              <a:t>is a set of characters delimited with double </a:t>
            </a:r>
            <a:r>
              <a:rPr lang="en-US" sz="3200" b="1" dirty="0" smtClean="0"/>
              <a:t>quotations. </a:t>
            </a:r>
            <a:endParaRPr lang="en-US" sz="3200" b="1" dirty="0"/>
          </a:p>
          <a:p>
            <a:pPr eaLnBrk="1" hangingPunct="1"/>
            <a:endParaRPr lang="en-US" sz="3200" b="1" dirty="0"/>
          </a:p>
          <a:p>
            <a:pPr eaLnBrk="1" hangingPunct="1"/>
            <a:r>
              <a:rPr lang="en-US" sz="3200" dirty="0">
                <a:latin typeface="Arial Black" pitchFamily="34" charset="0"/>
              </a:rPr>
              <a:t>String name = “John Smith”;</a:t>
            </a:r>
          </a:p>
          <a:p>
            <a:pPr eaLnBrk="1" hangingPunct="1"/>
            <a:endParaRPr lang="en-US" sz="3200" dirty="0">
              <a:latin typeface="Arial Black" pitchFamily="34" charset="0"/>
            </a:endParaRPr>
          </a:p>
          <a:p>
            <a:pPr eaLnBrk="1" hangingPunct="1"/>
            <a:r>
              <a:rPr lang="en-US" sz="3200" dirty="0">
                <a:latin typeface="Arial Black" pitchFamily="34" charset="0"/>
              </a:rPr>
              <a:t>name</a:t>
            </a:r>
            <a:r>
              <a:rPr lang="en-US" sz="3200" dirty="0"/>
              <a:t> is the </a:t>
            </a:r>
            <a:r>
              <a:rPr lang="en-US" sz="3200" dirty="0" smtClean="0"/>
              <a:t>string </a:t>
            </a:r>
            <a:r>
              <a:rPr lang="en-US" sz="3200" u="sng" dirty="0"/>
              <a:t>variable</a:t>
            </a:r>
            <a:r>
              <a:rPr lang="en-US" sz="3200" dirty="0"/>
              <a:t>. </a:t>
            </a:r>
          </a:p>
          <a:p>
            <a:pPr eaLnBrk="1" hangingPunct="1"/>
            <a:endParaRPr lang="en-US" sz="3200" dirty="0"/>
          </a:p>
          <a:p>
            <a:pPr eaLnBrk="1" hangingPunct="1"/>
            <a:r>
              <a:rPr lang="en-US" sz="3200" dirty="0">
                <a:latin typeface="Arial Black" pitchFamily="34" charset="0"/>
              </a:rPr>
              <a:t>“John Smith” </a:t>
            </a:r>
            <a:r>
              <a:rPr lang="en-US" sz="3200" dirty="0"/>
              <a:t>is the </a:t>
            </a:r>
            <a:r>
              <a:rPr lang="en-US" sz="3200" dirty="0" smtClean="0"/>
              <a:t>string </a:t>
            </a:r>
            <a:r>
              <a:rPr lang="en-US" sz="3200" u="sng" dirty="0"/>
              <a:t>literal</a:t>
            </a:r>
            <a:r>
              <a:rPr lang="en-US" sz="3200" dirty="0"/>
              <a:t>.</a:t>
            </a:r>
            <a:endParaRPr lang="en-US" sz="1400" dirty="0"/>
          </a:p>
          <a:p>
            <a:pPr eaLnBrk="1" hangingPunct="1"/>
            <a:r>
              <a:rPr lang="en-US" sz="14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785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Constructing</a:t>
            </a:r>
          </a:p>
        </p:txBody>
      </p:sp>
      <p:sp>
        <p:nvSpPr>
          <p:cNvPr id="7171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.2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172" name="WordArt 2"/>
          <p:cNvSpPr>
            <a:spLocks noChangeArrowheads="1" noChangeShapeType="1" noTextEdit="1"/>
          </p:cNvSpPr>
          <p:nvPr/>
        </p:nvSpPr>
        <p:spPr bwMode="auto">
          <a:xfrm>
            <a:off x="381000" y="38100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4800" b="1" smtClean="0">
                <a:cs typeface="Arial" charset="0"/>
              </a:rPr>
              <a:t>Is String a Simple Data Type?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52625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cs typeface="Arial" charset="0"/>
              </a:rPr>
              <a:t>When you see statements like:</a:t>
            </a:r>
          </a:p>
          <a:p>
            <a:pPr eaLnBrk="1" hangingPunct="1"/>
            <a:endParaRPr lang="en-US" sz="2800" b="1" dirty="0">
              <a:cs typeface="Arial" charset="0"/>
            </a:endParaRPr>
          </a:p>
          <a:p>
            <a:pPr eaLnBrk="1" hangingPunct="1"/>
            <a:endParaRPr lang="en-US" sz="2800" b="1" dirty="0">
              <a:cs typeface="Arial" charset="0"/>
            </a:endParaRPr>
          </a:p>
          <a:p>
            <a:pPr eaLnBrk="1" hangingPunct="1"/>
            <a:endParaRPr lang="en-US" sz="2800" b="1" dirty="0">
              <a:cs typeface="Arial" charset="0"/>
            </a:endParaRPr>
          </a:p>
          <a:p>
            <a:pPr eaLnBrk="1" hangingPunct="1"/>
            <a:r>
              <a:rPr lang="en-US" sz="2800" b="1" dirty="0">
                <a:cs typeface="Arial" charset="0"/>
              </a:rPr>
              <a:t>which looks very similar to</a:t>
            </a:r>
          </a:p>
          <a:p>
            <a:pPr eaLnBrk="1" hangingPunct="1"/>
            <a:r>
              <a:rPr lang="en-US" sz="2800" b="1" dirty="0">
                <a:cs typeface="Arial" charset="0"/>
              </a:rPr>
              <a:t> </a:t>
            </a:r>
          </a:p>
          <a:p>
            <a:pPr eaLnBrk="1" hangingPunct="1"/>
            <a:endParaRPr lang="en-US" sz="2800" b="1" dirty="0">
              <a:cs typeface="Arial" charset="0"/>
            </a:endParaRPr>
          </a:p>
          <a:p>
            <a:pPr eaLnBrk="1" hangingPunct="1"/>
            <a:endParaRPr lang="en-US" sz="2800" b="1" dirty="0">
              <a:cs typeface="Arial" charset="0"/>
            </a:endParaRPr>
          </a:p>
          <a:p>
            <a:pPr eaLnBrk="1" hangingPunct="1"/>
            <a:r>
              <a:rPr lang="en-US" sz="2800" b="1" dirty="0">
                <a:cs typeface="Arial" charset="0"/>
              </a:rPr>
              <a:t>you might get the idea that </a:t>
            </a:r>
            <a:r>
              <a:rPr lang="en-US" sz="2800" dirty="0">
                <a:latin typeface="Arial Black" pitchFamily="34" charset="0"/>
                <a:cs typeface="Arial" charset="0"/>
              </a:rPr>
              <a:t>String</a:t>
            </a:r>
            <a:r>
              <a:rPr lang="en-US" sz="2800" b="1" dirty="0">
                <a:cs typeface="Arial" charset="0"/>
              </a:rPr>
              <a:t> is a simple </a:t>
            </a:r>
          </a:p>
          <a:p>
            <a:pPr eaLnBrk="1" hangingPunct="1"/>
            <a:r>
              <a:rPr lang="en-US" sz="2800" b="1" dirty="0">
                <a:cs typeface="Arial" charset="0"/>
              </a:rPr>
              <a:t>(or primitive) data type like </a:t>
            </a:r>
            <a:r>
              <a:rPr lang="en-US" sz="2800" dirty="0" err="1">
                <a:latin typeface="Arial Black" pitchFamily="34" charset="0"/>
                <a:cs typeface="Arial" charset="0"/>
              </a:rPr>
              <a:t>int</a:t>
            </a:r>
            <a:r>
              <a:rPr lang="en-US" sz="2800" b="1" dirty="0">
                <a:cs typeface="Arial" charset="0"/>
              </a:rPr>
              <a:t>, </a:t>
            </a:r>
            <a:r>
              <a:rPr lang="en-US" sz="2800" dirty="0">
                <a:latin typeface="Arial Black" pitchFamily="34" charset="0"/>
                <a:cs typeface="Arial" charset="0"/>
              </a:rPr>
              <a:t>double</a:t>
            </a:r>
            <a:r>
              <a:rPr lang="en-US" sz="2800" b="1" dirty="0">
                <a:cs typeface="Arial" charset="0"/>
              </a:rPr>
              <a:t>, </a:t>
            </a:r>
            <a:r>
              <a:rPr lang="en-US" sz="2800" dirty="0">
                <a:latin typeface="Arial Black" pitchFamily="34" charset="0"/>
                <a:cs typeface="Arial" charset="0"/>
              </a:rPr>
              <a:t>char</a:t>
            </a:r>
            <a:r>
              <a:rPr lang="en-US" sz="2800" b="1" dirty="0">
                <a:cs typeface="Arial" charset="0"/>
              </a:rPr>
              <a:t>, and </a:t>
            </a:r>
            <a:r>
              <a:rPr lang="en-US" sz="2800" dirty="0" err="1">
                <a:latin typeface="Arial Black" pitchFamily="34" charset="0"/>
                <a:cs typeface="Arial" charset="0"/>
              </a:rPr>
              <a:t>boolean</a:t>
            </a:r>
            <a:r>
              <a:rPr lang="en-US" sz="2800" b="1" dirty="0">
                <a:cs typeface="Arial" charset="0"/>
              </a:rPr>
              <a:t>.  However, </a:t>
            </a:r>
            <a:r>
              <a:rPr lang="en-US" sz="2800" dirty="0" smtClean="0">
                <a:latin typeface="Arial Black" pitchFamily="34" charset="0"/>
                <a:cs typeface="Arial" charset="0"/>
              </a:rPr>
              <a:t>String</a:t>
            </a:r>
            <a:r>
              <a:rPr lang="en-US" sz="2800" b="1" dirty="0" smtClean="0">
                <a:cs typeface="Arial" charset="0"/>
              </a:rPr>
              <a:t> is </a:t>
            </a:r>
            <a:r>
              <a:rPr lang="en-US" sz="2800" b="1" u="sng" dirty="0">
                <a:cs typeface="Arial" charset="0"/>
              </a:rPr>
              <a:t>NOT</a:t>
            </a:r>
            <a:r>
              <a:rPr lang="en-US" sz="2800" b="1" dirty="0">
                <a:cs typeface="Arial" charset="0"/>
              </a:rPr>
              <a:t> a simple data type.  </a:t>
            </a:r>
            <a:r>
              <a:rPr lang="en-US" sz="2800" dirty="0">
                <a:latin typeface="Arial Black" pitchFamily="34" charset="0"/>
                <a:cs typeface="Arial" charset="0"/>
              </a:rPr>
              <a:t>String</a:t>
            </a:r>
            <a:r>
              <a:rPr lang="en-US" sz="2800" b="1" dirty="0">
                <a:cs typeface="Arial" charset="0"/>
              </a:rPr>
              <a:t> is a </a:t>
            </a:r>
            <a:r>
              <a:rPr lang="en-US" sz="2800" dirty="0">
                <a:latin typeface="Arial Black" pitchFamily="34" charset="0"/>
                <a:cs typeface="Arial" charset="0"/>
              </a:rPr>
              <a:t>class</a:t>
            </a:r>
            <a:r>
              <a:rPr lang="en-US" sz="2800" b="1" dirty="0">
                <a:cs typeface="Arial" charset="0"/>
              </a:rPr>
              <a:t>.</a:t>
            </a:r>
            <a:endParaRPr lang="en-US" sz="2800" dirty="0">
              <a:cs typeface="Arial" charset="0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1371600" y="1954213"/>
            <a:ext cx="5791200" cy="5857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b="1">
                <a:latin typeface="Courier New" pitchFamily="49" charset="0"/>
                <a:cs typeface="Courier New" pitchFamily="49" charset="0"/>
              </a:rPr>
              <a:t>String name = “John”;</a:t>
            </a:r>
          </a:p>
        </p:txBody>
      </p:sp>
      <p:sp>
        <p:nvSpPr>
          <p:cNvPr id="8197" name="Text Box 3"/>
          <p:cNvSpPr txBox="1">
            <a:spLocks noChangeArrowheads="1"/>
          </p:cNvSpPr>
          <p:nvPr/>
        </p:nvSpPr>
        <p:spPr bwMode="auto">
          <a:xfrm>
            <a:off x="1371600" y="3683000"/>
            <a:ext cx="2971800" cy="5842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b="1">
                <a:latin typeface="Courier New" pitchFamily="49" charset="0"/>
                <a:cs typeface="Courier New" pitchFamily="49" charset="0"/>
              </a:rPr>
              <a:t>int x = 5;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Java0801.java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// This program demonstrates multiple ways to construct String objects.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// Note that all four string objects store the same information.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Java0801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public static void main (String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String s1 = "Tango";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("s1:  " + s1);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String s2 = new String();  	   			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s2 = "Tango";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("s2:  " + s2);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String s3 = new String("Tango");	   	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("s3:  " + s3);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String s4 = new String(s3);	   			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("s4:  " + s4);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0200" y="3124200"/>
            <a:ext cx="3048000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Tango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 Tango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 Tango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</a:t>
            </a:r>
            <a:r>
              <a:rPr lang="pt-BR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Tango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1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WordArt 2"/>
          <p:cNvSpPr>
            <a:spLocks noChangeArrowheads="1" noChangeShapeType="1" noTextEdit="1"/>
          </p:cNvSpPr>
          <p:nvPr/>
        </p:nvSpPr>
        <p:spPr bwMode="auto">
          <a:xfrm>
            <a:off x="381000" y="13716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</a:t>
            </a:r>
          </a:p>
        </p:txBody>
      </p:sp>
      <p:sp>
        <p:nvSpPr>
          <p:cNvPr id="10243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8.3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0244" name="WordArt 2"/>
          <p:cNvSpPr>
            <a:spLocks noChangeArrowheads="1" noChangeShapeType="1" noTextEdit="1"/>
          </p:cNvSpPr>
          <p:nvPr/>
        </p:nvSpPr>
        <p:spPr bwMode="auto">
          <a:xfrm>
            <a:off x="381000" y="30480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48006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length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708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Java0802.java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program demonstrates the use of the &lt;length&gt; method.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It also reviews string concatenation with the &lt; + &gt; operator.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Java0802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(String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s1 = "Argentine";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s2 = "Tango";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s3 = s1 + " " + s2;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 + " has " + </a:t>
            </a: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s1.length()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" characters.");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(s2 + " has " + </a:t>
            </a:r>
            <a:r>
              <a:rPr lang="en-US" sz="24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s2.length</a:t>
            </a: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()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characters.");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(s3 + " has " + </a:t>
            </a:r>
            <a:r>
              <a:rPr lang="en-US" sz="24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s3.length</a:t>
            </a: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()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characters.");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</a:tabLst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tabLst>
                <a:tab pos="457200" algn="l"/>
                <a:tab pos="9144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0"/>
            <a:ext cx="7086600" cy="1292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Argentine </a:t>
            </a:r>
            <a:r>
              <a:rPr lang="pt-BR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has 9 characters.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Tango has 5 characters.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Argentine Tango has 15 characters.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String Method length</a:t>
            </a:r>
          </a:p>
        </p:txBody>
      </p:sp>
      <p:sp>
        <p:nvSpPr>
          <p:cNvPr id="713731" name="Text Box 3"/>
          <p:cNvSpPr txBox="1">
            <a:spLocks noChangeArrowheads="1"/>
          </p:cNvSpPr>
          <p:nvPr/>
        </p:nvSpPr>
        <p:spPr bwMode="auto">
          <a:xfrm>
            <a:off x="228600" y="1219200"/>
            <a:ext cx="8686800" cy="2739211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rial Black" pitchFamily="34" charset="0"/>
              </a:rPr>
              <a:t>int</a:t>
            </a:r>
            <a:r>
              <a:rPr lang="en-US" sz="3200" dirty="0">
                <a:latin typeface="Arial Black" pitchFamily="34" charset="0"/>
              </a:rPr>
              <a:t> count = </a:t>
            </a:r>
            <a:r>
              <a:rPr lang="en-US" sz="3200" dirty="0" err="1">
                <a:latin typeface="Arial Black" pitchFamily="34" charset="0"/>
              </a:rPr>
              <a:t>str.length</a:t>
            </a:r>
            <a:r>
              <a:rPr lang="en-US" sz="3200" dirty="0">
                <a:latin typeface="Arial Black" pitchFamily="34" charset="0"/>
              </a:rPr>
              <a:t>();</a:t>
            </a:r>
          </a:p>
          <a:p>
            <a:r>
              <a:rPr lang="en-US" sz="2800" b="1" dirty="0"/>
              <a:t> </a:t>
            </a:r>
          </a:p>
          <a:p>
            <a:r>
              <a:rPr lang="en-US" sz="2800" b="1" dirty="0"/>
              <a:t>Method </a:t>
            </a:r>
            <a:r>
              <a:rPr lang="en-US" sz="2800" dirty="0">
                <a:latin typeface="Arial Black" pitchFamily="34" charset="0"/>
              </a:rPr>
              <a:t>length</a:t>
            </a:r>
            <a:r>
              <a:rPr lang="en-US" sz="2800" b="1" dirty="0"/>
              <a:t> returns the </a:t>
            </a:r>
            <a:r>
              <a:rPr lang="en-US" sz="2800" b="1" i="1" dirty="0"/>
              <a:t>length </a:t>
            </a:r>
            <a:r>
              <a:rPr lang="en-US" sz="2800" b="1" dirty="0"/>
              <a:t>or number of characters in the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 object.</a:t>
            </a:r>
          </a:p>
          <a:p>
            <a:r>
              <a:rPr lang="en-US" sz="2800" b="1" dirty="0"/>
              <a:t> </a:t>
            </a:r>
          </a:p>
          <a:p>
            <a:r>
              <a:rPr lang="en-US" sz="2800" b="1" dirty="0"/>
              <a:t>If </a:t>
            </a:r>
            <a:r>
              <a:rPr lang="en-US" sz="2800" dirty="0" err="1">
                <a:latin typeface="Arial Black" pitchFamily="34" charset="0"/>
              </a:rPr>
              <a:t>str</a:t>
            </a:r>
            <a:r>
              <a:rPr lang="en-US" sz="2800" b="1" dirty="0"/>
              <a:t> equals </a:t>
            </a:r>
            <a:r>
              <a:rPr lang="en-US" sz="2800" dirty="0">
                <a:latin typeface="Arial Black" pitchFamily="34" charset="0"/>
              </a:rPr>
              <a:t>"Aardvark" </a:t>
            </a:r>
            <a:r>
              <a:rPr lang="en-US" sz="2800" b="1" dirty="0"/>
              <a:t>then </a:t>
            </a:r>
            <a:r>
              <a:rPr lang="en-US" sz="2800" dirty="0">
                <a:latin typeface="Arial Black" pitchFamily="34" charset="0"/>
              </a:rPr>
              <a:t>count</a:t>
            </a:r>
            <a:r>
              <a:rPr lang="en-US" sz="2800" b="1" dirty="0"/>
              <a:t> becomes </a:t>
            </a:r>
            <a:r>
              <a:rPr lang="en-US" sz="2800" dirty="0">
                <a:latin typeface="Arial Black" pitchFamily="34" charset="0"/>
              </a:rPr>
              <a:t>8</a:t>
            </a:r>
            <a:r>
              <a:rPr lang="en-US" sz="28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4663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Working with</a:t>
            </a:r>
          </a:p>
        </p:txBody>
      </p:sp>
      <p:sp>
        <p:nvSpPr>
          <p:cNvPr id="15363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8.4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5364" name="WordArt 2"/>
          <p:cNvSpPr>
            <a:spLocks noChangeArrowheads="1" noChangeShapeType="1" noTextEdit="1"/>
          </p:cNvSpPr>
          <p:nvPr/>
        </p:nvSpPr>
        <p:spPr bwMode="auto">
          <a:xfrm>
            <a:off x="381000" y="38100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Substrings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// </a:t>
            </a:r>
            <a:r>
              <a:rPr lang="en-US" sz="2100" b="1" dirty="0" smtClean="0">
                <a:latin typeface="Times New Roman" pitchFamily="18" charset="0"/>
              </a:rPr>
              <a:t>Java0803.java</a:t>
            </a:r>
            <a:endParaRPr lang="en-US" sz="21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// This program demonstrates how to access specified characters of a string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// with the &lt;substring(SI,EI)&gt; method, where SI is the Starting Index and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// EI is one more than the Ending Index.</a:t>
            </a:r>
          </a:p>
          <a:p>
            <a:pPr eaLnBrk="1" hangingPunct="1">
              <a:lnSpc>
                <a:spcPct val="110000"/>
              </a:lnSpc>
            </a:pPr>
            <a:endParaRPr lang="en-US" sz="21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public class </a:t>
            </a:r>
            <a:r>
              <a:rPr lang="en-US" sz="2100" b="1" dirty="0" smtClean="0">
                <a:latin typeface="Times New Roman" pitchFamily="18" charset="0"/>
              </a:rPr>
              <a:t>Java0803</a:t>
            </a:r>
            <a:endParaRPr lang="en-US" sz="21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public static void main (String </a:t>
            </a:r>
            <a:r>
              <a:rPr lang="en-US" sz="2100" b="1" dirty="0" err="1">
                <a:latin typeface="Times New Roman" pitchFamily="18" charset="0"/>
              </a:rPr>
              <a:t>args</a:t>
            </a:r>
            <a:r>
              <a:rPr lang="en-US" sz="2100" b="1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String s = "Racecar";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(0,4));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(1,4));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(2,4));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(2,6));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(3,6));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100" b="1" dirty="0" err="1">
                <a:latin typeface="Times New Roman" pitchFamily="18" charset="0"/>
              </a:rPr>
              <a:t>s.substring</a:t>
            </a:r>
            <a:r>
              <a:rPr lang="en-US" sz="2100" b="1" dirty="0">
                <a:latin typeface="Times New Roman" pitchFamily="18" charset="0"/>
              </a:rPr>
              <a:t>(4,7));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100" b="1" dirty="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5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800568"/>
              </p:ext>
            </p:extLst>
          </p:nvPr>
        </p:nvGraphicFramePr>
        <p:xfrm>
          <a:off x="5029200" y="1447800"/>
          <a:ext cx="3810002" cy="884238"/>
        </p:xfrm>
        <a:graphic>
          <a:graphicData uri="http://schemas.openxmlformats.org/drawingml/2006/table">
            <a:tbl>
              <a:tblPr/>
              <a:tblGrid>
                <a:gridCol w="544286"/>
                <a:gridCol w="544286"/>
                <a:gridCol w="544286"/>
                <a:gridCol w="544286"/>
                <a:gridCol w="544286"/>
                <a:gridCol w="544286"/>
                <a:gridCol w="544286"/>
              </a:tblGrid>
              <a:tr h="36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0</a:t>
                      </a:r>
                    </a:p>
                  </a:txBody>
                  <a:tcPr marT="45736" marB="4573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6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8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e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67400" y="3276600"/>
            <a:ext cx="2438400" cy="2677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Race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ace</a:t>
            </a: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ceca</a:t>
            </a: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41779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String Method substring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09600" y="1295400"/>
            <a:ext cx="8001000" cy="5273675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ourier New" pitchFamily="49" charset="0"/>
              </a:rPr>
              <a:t>s1 = “Aardvark”;</a:t>
            </a:r>
          </a:p>
          <a:p>
            <a:pPr eaLnBrk="1" hangingPunct="1"/>
            <a:r>
              <a:rPr lang="en-US" sz="2800" b="1" dirty="0">
                <a:latin typeface="Courier New" pitchFamily="49" charset="0"/>
              </a:rPr>
              <a:t>s2 = s1.substring(</a:t>
            </a:r>
            <a:r>
              <a:rPr lang="en-US" sz="2800" b="1" dirty="0" err="1">
                <a:latin typeface="Courier New" pitchFamily="49" charset="0"/>
              </a:rPr>
              <a:t>j,k</a:t>
            </a:r>
            <a:r>
              <a:rPr lang="en-US" sz="2800" b="1" dirty="0">
                <a:latin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b="1" dirty="0"/>
              <a:t>Method </a:t>
            </a:r>
            <a:r>
              <a:rPr lang="en-US" sz="2800" dirty="0">
                <a:latin typeface="Arial Black" pitchFamily="34" charset="0"/>
              </a:rPr>
              <a:t>substring</a:t>
            </a:r>
            <a:r>
              <a:rPr lang="en-US" sz="2800" b="1" dirty="0"/>
              <a:t> returns a set of consecutive characters from </a:t>
            </a:r>
            <a:r>
              <a:rPr lang="en-US" sz="2800" b="1" dirty="0" smtClean="0"/>
              <a:t>string </a:t>
            </a:r>
            <a:r>
              <a:rPr lang="en-US" sz="2800" dirty="0">
                <a:latin typeface="Arial Black" pitchFamily="34" charset="0"/>
              </a:rPr>
              <a:t>s1</a:t>
            </a:r>
            <a:r>
              <a:rPr lang="en-US" sz="2800" b="1" dirty="0"/>
              <a:t>, starting at index </a:t>
            </a:r>
            <a:r>
              <a:rPr lang="en-US" sz="2800" dirty="0">
                <a:latin typeface="Arial Black" pitchFamily="34" charset="0"/>
              </a:rPr>
              <a:t>j</a:t>
            </a:r>
            <a:r>
              <a:rPr lang="en-US" sz="2800" b="1" dirty="0"/>
              <a:t>, and ending at index </a:t>
            </a:r>
            <a:r>
              <a:rPr lang="en-US" sz="2800" dirty="0">
                <a:latin typeface="Arial Black" pitchFamily="34" charset="0"/>
              </a:rPr>
              <a:t>k-1</a:t>
            </a:r>
            <a:r>
              <a:rPr lang="en-US" sz="2800" b="1" dirty="0"/>
              <a:t>. 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/>
          </a:p>
          <a:p>
            <a:pPr eaLnBrk="1" hangingPunct="1"/>
            <a:r>
              <a:rPr lang="en-US" sz="2800" b="1" dirty="0" smtClean="0">
                <a:latin typeface="Courier New" pitchFamily="49" charset="0"/>
              </a:rPr>
              <a:t>s3 </a:t>
            </a:r>
            <a:r>
              <a:rPr lang="en-US" sz="2800" b="1" dirty="0">
                <a:latin typeface="Courier New" pitchFamily="49" charset="0"/>
              </a:rPr>
              <a:t>= s1.substring(4,7);</a:t>
            </a:r>
          </a:p>
          <a:p>
            <a:pPr eaLnBrk="1" hangingPunct="1">
              <a:lnSpc>
                <a:spcPct val="140000"/>
              </a:lnSpc>
            </a:pPr>
            <a:endParaRPr lang="en-US" sz="2800" b="1" dirty="0"/>
          </a:p>
          <a:p>
            <a:pPr eaLnBrk="1" hangingPunct="1"/>
            <a:endParaRPr lang="en-US" sz="2800" b="1" dirty="0">
              <a:latin typeface="Courier New" pitchFamily="49" charset="0"/>
            </a:endParaRPr>
          </a:p>
          <a:p>
            <a:pPr eaLnBrk="1" hangingPunct="1"/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dirty="0" smtClean="0">
                <a:latin typeface="Arial Black" pitchFamily="34" charset="0"/>
              </a:rPr>
              <a:t>s3</a:t>
            </a:r>
            <a:r>
              <a:rPr lang="en-US" sz="2800" b="1" dirty="0" smtClean="0"/>
              <a:t>  </a:t>
            </a:r>
            <a:r>
              <a:rPr lang="en-US" sz="2800" b="1" dirty="0"/>
              <a:t>becomes </a:t>
            </a:r>
            <a:r>
              <a:rPr lang="en-US" sz="2800" dirty="0">
                <a:latin typeface="Arial Black" pitchFamily="34" charset="0"/>
              </a:rPr>
              <a:t>"</a:t>
            </a:r>
            <a:r>
              <a:rPr lang="en-US" sz="2800" dirty="0" err="1">
                <a:latin typeface="Arial Black" pitchFamily="34" charset="0"/>
              </a:rPr>
              <a:t>var</a:t>
            </a:r>
            <a:r>
              <a:rPr lang="en-US" sz="2800" dirty="0">
                <a:latin typeface="Arial Black" pitchFamily="34" charset="0"/>
              </a:rPr>
              <a:t>"</a:t>
            </a:r>
            <a:endParaRPr lang="en-US" dirty="0"/>
          </a:p>
        </p:txBody>
      </p:sp>
      <p:graphicFrame>
        <p:nvGraphicFramePr>
          <p:cNvPr id="31032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449507"/>
              </p:ext>
            </p:extLst>
          </p:nvPr>
        </p:nvGraphicFramePr>
        <p:xfrm>
          <a:off x="1524000" y="4876800"/>
          <a:ext cx="6096000" cy="884238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36589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F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83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d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k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71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116682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Important Note</a:t>
            </a:r>
          </a:p>
        </p:txBody>
      </p:sp>
      <p:graphicFrame>
        <p:nvGraphicFramePr>
          <p:cNvPr id="31032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169725"/>
              </p:ext>
            </p:extLst>
          </p:nvPr>
        </p:nvGraphicFramePr>
        <p:xfrm>
          <a:off x="1524000" y="4876800"/>
          <a:ext cx="6096000" cy="884238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36589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F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83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d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k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pic>
        <p:nvPicPr>
          <p:cNvPr id="2050" name="Picture 2" descr="C:\Users\JohnSchram\AppData\Local\Microsoft\Windows\Temporary Internet Files\Content.IE5\E4G0Q3HQ\MC900433838[3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837" y="152400"/>
            <a:ext cx="1828572" cy="182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2551176" y="2438400"/>
            <a:ext cx="0" cy="23622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09600" y="2116682"/>
            <a:ext cx="8001000" cy="914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sz="3600" dirty="0" smtClean="0"/>
              <a:t>The </a:t>
            </a:r>
            <a:r>
              <a:rPr lang="en-US" sz="3600" dirty="0"/>
              <a:t>first index of a </a:t>
            </a:r>
            <a:r>
              <a:rPr lang="en-US" sz="3600" b="1" dirty="0"/>
              <a:t>String</a:t>
            </a:r>
            <a:r>
              <a:rPr lang="en-US" sz="3600" dirty="0"/>
              <a:t> is always </a:t>
            </a:r>
            <a:r>
              <a:rPr lang="en-US" sz="3600" b="1" dirty="0"/>
              <a:t>0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8256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3264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// </a:t>
            </a:r>
            <a:r>
              <a:rPr lang="en-US" sz="2100" b="1" dirty="0" smtClean="0">
                <a:latin typeface="Times New Roman" pitchFamily="18" charset="0"/>
              </a:rPr>
              <a:t>Java0804.java</a:t>
            </a:r>
            <a:endParaRPr lang="en-US" sz="21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// This program compares the two &lt;substring&gt; methods.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// Java can tell the difference, because of the different </a:t>
            </a:r>
            <a:r>
              <a:rPr lang="en-US" sz="2100" b="1" dirty="0" smtClean="0">
                <a:latin typeface="Times New Roman" pitchFamily="18" charset="0"/>
              </a:rPr>
              <a:t>parameter </a:t>
            </a:r>
            <a:r>
              <a:rPr lang="en-US" sz="2100" b="1" dirty="0">
                <a:latin typeface="Times New Roman" pitchFamily="18" charset="0"/>
              </a:rPr>
              <a:t>signatures.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public class </a:t>
            </a:r>
            <a:r>
              <a:rPr lang="en-US" sz="2100" b="1" dirty="0" smtClean="0">
                <a:latin typeface="Times New Roman" pitchFamily="18" charset="0"/>
              </a:rPr>
              <a:t>Java0804</a:t>
            </a:r>
            <a:endParaRPr lang="en-US" sz="21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public static void main (String </a:t>
            </a:r>
            <a:r>
              <a:rPr lang="en-US" sz="2100" b="1" dirty="0" err="1">
                <a:latin typeface="Times New Roman" pitchFamily="18" charset="0"/>
              </a:rPr>
              <a:t>args</a:t>
            </a:r>
            <a:r>
              <a:rPr lang="en-US" sz="2100" b="1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String s = "Racecar";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int</a:t>
            </a:r>
            <a:r>
              <a:rPr lang="en-US" sz="2100" b="1" dirty="0">
                <a:latin typeface="Times New Roman" pitchFamily="18" charset="0"/>
              </a:rPr>
              <a:t> n = </a:t>
            </a:r>
            <a:r>
              <a:rPr lang="en-US" sz="2100" b="1" dirty="0" err="1">
                <a:latin typeface="Times New Roman" pitchFamily="18" charset="0"/>
              </a:rPr>
              <a:t>s.length</a:t>
            </a:r>
            <a:r>
              <a:rPr lang="en-US" sz="2100" b="1" dirty="0" smtClean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for  (</a:t>
            </a:r>
            <a:r>
              <a:rPr lang="en-US" sz="2100" b="1" dirty="0" err="1">
                <a:latin typeface="Times New Roman" pitchFamily="18" charset="0"/>
              </a:rPr>
              <a:t>int</a:t>
            </a:r>
            <a:r>
              <a:rPr lang="en-US" sz="2100" b="1" dirty="0">
                <a:latin typeface="Times New Roman" pitchFamily="18" charset="0"/>
              </a:rPr>
              <a:t> k = 0; k &lt; n; k++)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400" dirty="0" err="1">
                <a:latin typeface="Arial Black" panose="020B0A04020102020204" pitchFamily="34" charset="0"/>
              </a:rPr>
              <a:t>s.substring</a:t>
            </a:r>
            <a:r>
              <a:rPr lang="en-US" sz="2400" dirty="0">
                <a:latin typeface="Arial Black" panose="020B0A04020102020204" pitchFamily="34" charset="0"/>
              </a:rPr>
              <a:t>(k)</a:t>
            </a:r>
            <a:r>
              <a:rPr lang="en-US" sz="2100" b="1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 smtClean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for  (</a:t>
            </a:r>
            <a:r>
              <a:rPr lang="en-US" sz="2100" b="1" dirty="0" err="1">
                <a:latin typeface="Times New Roman" pitchFamily="18" charset="0"/>
              </a:rPr>
              <a:t>int</a:t>
            </a:r>
            <a:r>
              <a:rPr lang="en-US" sz="2100" b="1" dirty="0">
                <a:latin typeface="Times New Roman" pitchFamily="18" charset="0"/>
              </a:rPr>
              <a:t> k = 0; k &lt; n; k++)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</a:t>
            </a:r>
            <a:r>
              <a:rPr lang="en-US" sz="2400" dirty="0" err="1">
                <a:latin typeface="Arial Black" panose="020B0A04020102020204" pitchFamily="34" charset="0"/>
              </a:rPr>
              <a:t>s.substring</a:t>
            </a:r>
            <a:r>
              <a:rPr lang="en-US" sz="2400" dirty="0">
                <a:latin typeface="Arial Black" panose="020B0A04020102020204" pitchFamily="34" charset="0"/>
              </a:rPr>
              <a:t>(</a:t>
            </a:r>
            <a:r>
              <a:rPr lang="en-US" sz="2400" dirty="0" err="1">
                <a:latin typeface="Arial Black" panose="020B0A04020102020204" pitchFamily="34" charset="0"/>
              </a:rPr>
              <a:t>k,n</a:t>
            </a:r>
            <a:r>
              <a:rPr lang="en-US" sz="2400" dirty="0">
                <a:latin typeface="Arial Black" panose="020B0A04020102020204" pitchFamily="34" charset="0"/>
              </a:rPr>
              <a:t>)</a:t>
            </a:r>
            <a:r>
              <a:rPr lang="en-US" sz="2100" b="1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	</a:t>
            </a:r>
            <a:r>
              <a:rPr lang="en-US" sz="2100" b="1" dirty="0" err="1">
                <a:latin typeface="Times New Roman" pitchFamily="18" charset="0"/>
              </a:rPr>
              <a:t>System.out.println</a:t>
            </a:r>
            <a:r>
              <a:rPr lang="en-US" sz="2100" b="1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100" b="1" dirty="0" smtClean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2100" b="1" dirty="0">
              <a:latin typeface="Times New Roman" pitchFamily="18" charset="0"/>
            </a:endParaRPr>
          </a:p>
        </p:txBody>
      </p:sp>
      <p:graphicFrame>
        <p:nvGraphicFramePr>
          <p:cNvPr id="6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268498"/>
              </p:ext>
            </p:extLst>
          </p:nvPr>
        </p:nvGraphicFramePr>
        <p:xfrm>
          <a:off x="5334000" y="5973762"/>
          <a:ext cx="3810002" cy="884238"/>
        </p:xfrm>
        <a:graphic>
          <a:graphicData uri="http://schemas.openxmlformats.org/drawingml/2006/table">
            <a:tbl>
              <a:tblPr/>
              <a:tblGrid>
                <a:gridCol w="544286"/>
                <a:gridCol w="544286"/>
                <a:gridCol w="544286"/>
                <a:gridCol w="544286"/>
                <a:gridCol w="544286"/>
                <a:gridCol w="544286"/>
                <a:gridCol w="544286"/>
              </a:tblGrid>
              <a:tr h="36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0</a:t>
                      </a:r>
                    </a:p>
                  </a:txBody>
                  <a:tcPr marT="45736" marB="4573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6</a:t>
                      </a:r>
                    </a:p>
                  </a:txBody>
                  <a:tcPr marT="45736" marB="457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8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e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0"/>
            <a:ext cx="2514600" cy="5632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eaLnBrk="1" hangingPunct="1"/>
            <a:r>
              <a:rPr lang="en-US" sz="4800" b="1" dirty="0" smtClean="0">
                <a:latin typeface="Arial Narrow" pitchFamily="34" charset="0"/>
              </a:rPr>
              <a:t>Overloaded String Method substring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52400" y="1295400"/>
            <a:ext cx="8839200" cy="5262979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ourier New" pitchFamily="49" charset="0"/>
              </a:rPr>
              <a:t>s1 = “Aardvark”;</a:t>
            </a:r>
          </a:p>
          <a:p>
            <a:pPr eaLnBrk="1" hangingPunct="1"/>
            <a:r>
              <a:rPr lang="en-US" sz="2800" b="1" dirty="0">
                <a:latin typeface="Courier New" pitchFamily="49" charset="0"/>
              </a:rPr>
              <a:t>s2 = </a:t>
            </a:r>
            <a:r>
              <a:rPr lang="en-US" sz="2800" b="1" dirty="0" smtClean="0">
                <a:latin typeface="Courier New" pitchFamily="49" charset="0"/>
              </a:rPr>
              <a:t>s1.substring(j);</a:t>
            </a:r>
            <a:endParaRPr lang="en-US" sz="2800" b="1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b="1" dirty="0" smtClean="0"/>
              <a:t>Method </a:t>
            </a:r>
            <a:r>
              <a:rPr lang="en-US" sz="2800" dirty="0" smtClean="0">
                <a:latin typeface="Arial Black" pitchFamily="34" charset="0"/>
              </a:rPr>
              <a:t>substring</a:t>
            </a:r>
            <a:r>
              <a:rPr lang="en-US" sz="2800" b="1" dirty="0" smtClean="0"/>
              <a:t> </a:t>
            </a:r>
            <a:r>
              <a:rPr lang="en-US" sz="2800" b="1" dirty="0"/>
              <a:t>returns a set of consecutive characters from String </a:t>
            </a:r>
            <a:r>
              <a:rPr lang="en-US" sz="2800" dirty="0">
                <a:latin typeface="Arial Black" pitchFamily="34" charset="0"/>
              </a:rPr>
              <a:t>s1</a:t>
            </a:r>
            <a:r>
              <a:rPr lang="en-US" sz="2800" b="1" dirty="0"/>
              <a:t>, starting at index </a:t>
            </a:r>
            <a:r>
              <a:rPr lang="en-US" sz="2800" dirty="0">
                <a:latin typeface="Arial Black" pitchFamily="34" charset="0"/>
              </a:rPr>
              <a:t>j</a:t>
            </a:r>
            <a:r>
              <a:rPr lang="en-US" sz="2800" b="1" dirty="0"/>
              <a:t>, </a:t>
            </a:r>
            <a:endParaRPr lang="en-US" sz="2800" b="1" dirty="0" smtClean="0"/>
          </a:p>
          <a:p>
            <a:pPr eaLnBrk="1" hangingPunct="1"/>
            <a:r>
              <a:rPr lang="en-US" sz="2800" b="1" dirty="0" smtClean="0"/>
              <a:t>and continuing all the way to the end of the string.</a:t>
            </a:r>
            <a:endParaRPr lang="en-US" sz="2800" b="1" dirty="0"/>
          </a:p>
          <a:p>
            <a:pPr eaLnBrk="1" hangingPunct="1">
              <a:lnSpc>
                <a:spcPct val="80000"/>
              </a:lnSpc>
            </a:pPr>
            <a:endParaRPr lang="en-US" sz="2800" b="1" dirty="0"/>
          </a:p>
          <a:p>
            <a:pPr eaLnBrk="1" hangingPunct="1"/>
            <a:r>
              <a:rPr lang="en-US" sz="2800" b="1" dirty="0" smtClean="0">
                <a:latin typeface="Courier New" pitchFamily="49" charset="0"/>
              </a:rPr>
              <a:t>s3 </a:t>
            </a:r>
            <a:r>
              <a:rPr lang="en-US" sz="2800" b="1" dirty="0">
                <a:latin typeface="Courier New" pitchFamily="49" charset="0"/>
              </a:rPr>
              <a:t>= </a:t>
            </a:r>
            <a:r>
              <a:rPr lang="en-US" sz="2800" b="1" dirty="0" smtClean="0">
                <a:latin typeface="Courier New" pitchFamily="49" charset="0"/>
              </a:rPr>
              <a:t>s1.substring(4);</a:t>
            </a:r>
            <a:endParaRPr lang="en-US" sz="2800" b="1" dirty="0">
              <a:latin typeface="Courier New" pitchFamily="49" charset="0"/>
            </a:endParaRPr>
          </a:p>
          <a:p>
            <a:pPr eaLnBrk="1" hangingPunct="1">
              <a:lnSpc>
                <a:spcPct val="140000"/>
              </a:lnSpc>
            </a:pPr>
            <a:endParaRPr lang="en-US" sz="2800" b="1" dirty="0"/>
          </a:p>
          <a:p>
            <a:pPr eaLnBrk="1" hangingPunct="1"/>
            <a:endParaRPr lang="en-US" sz="2800" b="1" dirty="0">
              <a:latin typeface="Courier New" pitchFamily="49" charset="0"/>
            </a:endParaRPr>
          </a:p>
          <a:p>
            <a:pPr eaLnBrk="1" hangingPunct="1"/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dirty="0" smtClean="0">
                <a:latin typeface="Arial Black" pitchFamily="34" charset="0"/>
              </a:rPr>
              <a:t>s3</a:t>
            </a:r>
            <a:r>
              <a:rPr lang="en-US" sz="2800" b="1" dirty="0" smtClean="0"/>
              <a:t>  </a:t>
            </a:r>
            <a:r>
              <a:rPr lang="en-US" sz="2800" b="1" dirty="0"/>
              <a:t>becomes </a:t>
            </a:r>
            <a:r>
              <a:rPr lang="en-US" sz="2800" dirty="0">
                <a:latin typeface="Arial Black" pitchFamily="34" charset="0"/>
              </a:rPr>
              <a:t>"</a:t>
            </a:r>
            <a:r>
              <a:rPr lang="en-US" sz="2800" dirty="0" err="1" smtClean="0">
                <a:latin typeface="Arial Black" pitchFamily="34" charset="0"/>
              </a:rPr>
              <a:t>vark</a:t>
            </a:r>
            <a:r>
              <a:rPr lang="en-US" sz="2800" dirty="0" smtClean="0">
                <a:latin typeface="Arial Black" pitchFamily="34" charset="0"/>
              </a:rPr>
              <a:t>"</a:t>
            </a:r>
            <a:endParaRPr lang="en-US" dirty="0"/>
          </a:p>
        </p:txBody>
      </p:sp>
      <p:graphicFrame>
        <p:nvGraphicFramePr>
          <p:cNvPr id="31032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174068"/>
              </p:ext>
            </p:extLst>
          </p:nvPr>
        </p:nvGraphicFramePr>
        <p:xfrm>
          <a:off x="1524000" y="4876800"/>
          <a:ext cx="6096000" cy="884238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36589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F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</a:tr>
              <a:tr h="5183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d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v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a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r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k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80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27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// </a:t>
            </a:r>
            <a:r>
              <a:rPr lang="en-US" sz="2000" b="1" dirty="0" smtClean="0">
                <a:latin typeface="Times New Roman" pitchFamily="18" charset="0"/>
              </a:rPr>
              <a:t>Java0805.java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// This program shows the &lt;</a:t>
            </a:r>
            <a:r>
              <a:rPr lang="en-US" sz="2000" b="1" dirty="0" err="1">
                <a:latin typeface="Times New Roman" pitchFamily="18" charset="0"/>
              </a:rPr>
              <a:t>indexOf</a:t>
            </a:r>
            <a:r>
              <a:rPr lang="en-US" sz="2000" b="1" dirty="0">
                <a:latin typeface="Times New Roman" pitchFamily="18" charset="0"/>
              </a:rPr>
              <a:t>&gt; method, which returns the index of the first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// occurrence of the string argument or -1 if the string is not found.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b="1" dirty="0" smtClean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 smtClean="0">
                <a:latin typeface="Times New Roman" pitchFamily="18" charset="0"/>
              </a:rPr>
              <a:t>public </a:t>
            </a:r>
            <a:r>
              <a:rPr lang="en-US" sz="2000" b="1" dirty="0">
                <a:latin typeface="Times New Roman" pitchFamily="18" charset="0"/>
              </a:rPr>
              <a:t>class </a:t>
            </a:r>
            <a:r>
              <a:rPr lang="en-US" sz="2000" b="1" dirty="0" smtClean="0">
                <a:latin typeface="Times New Roman" pitchFamily="18" charset="0"/>
              </a:rPr>
              <a:t>Java0805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public static void main (String </a:t>
            </a:r>
            <a:r>
              <a:rPr lang="en-US" sz="2000" b="1" dirty="0" err="1">
                <a:latin typeface="Times New Roman" pitchFamily="18" charset="0"/>
              </a:rPr>
              <a:t>args</a:t>
            </a:r>
            <a:r>
              <a:rPr lang="en-US" sz="2000" b="1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String s1 = "racecar";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String s2 = "racecar in the carport";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String s3 = "car</a:t>
            </a:r>
            <a:r>
              <a:rPr lang="en-US" sz="2000" b="1" dirty="0" smtClean="0">
                <a:latin typeface="Times New Roman" pitchFamily="18" charset="0"/>
              </a:rPr>
              <a:t>";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100" b="1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Arial Black" panose="020B0A04020102020204" pitchFamily="34" charset="0"/>
              </a:rPr>
              <a:t>		</a:t>
            </a:r>
            <a:r>
              <a:rPr lang="en-US" sz="2200" dirty="0" err="1">
                <a:latin typeface="Arial Black" panose="020B0A04020102020204" pitchFamily="34" charset="0"/>
              </a:rPr>
              <a:t>int</a:t>
            </a:r>
            <a:r>
              <a:rPr lang="en-US" sz="2200" dirty="0">
                <a:latin typeface="Arial Black" panose="020B0A04020102020204" pitchFamily="34" charset="0"/>
              </a:rPr>
              <a:t> index1 = s1.indexOf(s3);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Arial Black" panose="020B0A04020102020204" pitchFamily="34" charset="0"/>
              </a:rPr>
              <a:t>		</a:t>
            </a:r>
            <a:r>
              <a:rPr lang="en-US" sz="2200" dirty="0" err="1">
                <a:latin typeface="Arial Black" panose="020B0A04020102020204" pitchFamily="34" charset="0"/>
              </a:rPr>
              <a:t>int</a:t>
            </a:r>
            <a:r>
              <a:rPr lang="en-US" sz="2200" dirty="0">
                <a:latin typeface="Arial Black" panose="020B0A04020102020204" pitchFamily="34" charset="0"/>
              </a:rPr>
              <a:t> index2 = s2.indexOf(s3);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Arial Black" panose="020B0A04020102020204" pitchFamily="34" charset="0"/>
              </a:rPr>
              <a:t>		</a:t>
            </a:r>
            <a:r>
              <a:rPr lang="en-US" sz="2200" dirty="0" err="1">
                <a:latin typeface="Arial Black" panose="020B0A04020102020204" pitchFamily="34" charset="0"/>
              </a:rPr>
              <a:t>int</a:t>
            </a:r>
            <a:r>
              <a:rPr lang="en-US" sz="2200" dirty="0">
                <a:latin typeface="Arial Black" panose="020B0A04020102020204" pitchFamily="34" charset="0"/>
              </a:rPr>
              <a:t> index3 = s3.indexOf("qwerty</a:t>
            </a:r>
            <a:r>
              <a:rPr lang="en-US" sz="2200" dirty="0" smtClean="0">
                <a:latin typeface="Arial Black" panose="020B0A04020102020204" pitchFamily="34" charset="0"/>
              </a:rPr>
              <a:t>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100" dirty="0">
              <a:latin typeface="Arial Black" panose="020B0A04020102020204" pitchFamily="34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("With \"" + s1 + "\" car starts at " + index1);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("With \"" + s2 + "\" car starts at " + index2);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("With \"" + s3 + "\" Qwerty shows up at " + index3);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1" dirty="0">
                <a:latin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"racecar" car starts at 4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 "racecar in the carport" car starts at 4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 "car" Qwerty shows up at 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String Method </a:t>
            </a:r>
            <a:r>
              <a:rPr lang="en-US" sz="4800" dirty="0" err="1" smtClean="0">
                <a:latin typeface="Arial Black" pitchFamily="34" charset="0"/>
              </a:rPr>
              <a:t>indexOf</a:t>
            </a:r>
            <a:endParaRPr lang="en-US" sz="4800" dirty="0" smtClean="0">
              <a:latin typeface="Arial Black" pitchFamily="34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8763000" cy="495520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800" b="1" dirty="0"/>
          </a:p>
          <a:p>
            <a:pPr eaLnBrk="1" hangingPunct="1"/>
            <a:endParaRPr lang="en-US" sz="2800" b="1" dirty="0"/>
          </a:p>
          <a:p>
            <a:pPr eaLnBrk="1" hangingPunct="1"/>
            <a:endParaRPr lang="en-US" sz="2000" dirty="0" smtClean="0">
              <a:latin typeface="Arial Black" pitchFamily="34" charset="0"/>
            </a:endParaRPr>
          </a:p>
          <a:p>
            <a:pPr eaLnBrk="1" hangingPunct="1"/>
            <a:r>
              <a:rPr lang="en-US" sz="2500" dirty="0" err="1" smtClean="0">
                <a:latin typeface="Arial Black" pitchFamily="34" charset="0"/>
              </a:rPr>
              <a:t>indexOf</a:t>
            </a:r>
            <a:r>
              <a:rPr lang="en-US" sz="2500" b="1" dirty="0" smtClean="0"/>
              <a:t> </a:t>
            </a:r>
            <a:r>
              <a:rPr lang="en-US" sz="2500" b="1" dirty="0"/>
              <a:t>returns the </a:t>
            </a:r>
            <a:r>
              <a:rPr lang="en-US" sz="2500" b="1" u="sng" dirty="0"/>
              <a:t>first</a:t>
            </a:r>
            <a:r>
              <a:rPr lang="en-US" sz="2500" b="1" dirty="0"/>
              <a:t> occurrence </a:t>
            </a:r>
            <a:endParaRPr lang="en-US" sz="2500" b="1" dirty="0" smtClean="0"/>
          </a:p>
          <a:p>
            <a:pPr eaLnBrk="1" hangingPunct="1"/>
            <a:r>
              <a:rPr lang="en-US" sz="2500" b="1" dirty="0" smtClean="0"/>
              <a:t>of </a:t>
            </a:r>
            <a:r>
              <a:rPr lang="en-US" sz="2500" b="1" dirty="0"/>
              <a:t>a </a:t>
            </a:r>
            <a:r>
              <a:rPr lang="en-US" sz="2500" b="1" dirty="0" smtClean="0"/>
              <a:t>substring.</a:t>
            </a:r>
            <a:endParaRPr lang="en-US" sz="2500" b="1" dirty="0"/>
          </a:p>
          <a:p>
            <a:pPr eaLnBrk="1" hangingPunct="1">
              <a:tabLst>
                <a:tab pos="4343400" algn="l"/>
              </a:tabLst>
            </a:pPr>
            <a:endParaRPr lang="en-US" sz="2000" b="1" dirty="0" smtClean="0">
              <a:latin typeface="Courier New" pitchFamily="49" charset="0"/>
            </a:endParaRPr>
          </a:p>
          <a:p>
            <a:pPr eaLnBrk="1" hangingPunct="1">
              <a:tabLst>
                <a:tab pos="4343400" algn="l"/>
              </a:tabLst>
            </a:pPr>
            <a:r>
              <a:rPr lang="en-US" sz="2500" b="1" dirty="0" smtClean="0">
                <a:latin typeface="Courier New" pitchFamily="49" charset="0"/>
              </a:rPr>
              <a:t>s1.indexOf</a:t>
            </a:r>
            <a:r>
              <a:rPr lang="en-US" sz="2500" b="1" dirty="0">
                <a:latin typeface="Courier New" pitchFamily="49" charset="0"/>
              </a:rPr>
              <a:t>(“hum”);</a:t>
            </a:r>
            <a:r>
              <a:rPr lang="en-US" sz="2500" b="1" dirty="0"/>
              <a:t>  	</a:t>
            </a:r>
            <a:r>
              <a:rPr lang="en-US" sz="2500" b="1" dirty="0" smtClean="0"/>
              <a:t>returns </a:t>
            </a:r>
            <a:r>
              <a:rPr lang="en-US" sz="2500" dirty="0">
                <a:latin typeface="Arial Black" pitchFamily="34" charset="0"/>
              </a:rPr>
              <a:t>0</a:t>
            </a:r>
          </a:p>
          <a:p>
            <a:pPr eaLnBrk="1" hangingPunct="1">
              <a:tabLst>
                <a:tab pos="4343400" algn="l"/>
              </a:tabLst>
            </a:pPr>
            <a:r>
              <a:rPr lang="en-US" sz="2500" b="1" dirty="0">
                <a:latin typeface="Courier New" pitchFamily="49" charset="0"/>
              </a:rPr>
              <a:t>s1.indexOf(“</a:t>
            </a:r>
            <a:r>
              <a:rPr lang="en-US" sz="2500" b="1" dirty="0" err="1">
                <a:latin typeface="Courier New" pitchFamily="49" charset="0"/>
              </a:rPr>
              <a:t>ku</a:t>
            </a:r>
            <a:r>
              <a:rPr lang="en-US" sz="2500" b="1" dirty="0">
                <a:latin typeface="Courier New" pitchFamily="49" charset="0"/>
              </a:rPr>
              <a:t>”);</a:t>
            </a:r>
            <a:r>
              <a:rPr lang="en-US" sz="2500" b="1" dirty="0"/>
              <a:t>    	</a:t>
            </a:r>
            <a:r>
              <a:rPr lang="en-US" sz="2500" b="1" dirty="0" smtClean="0"/>
              <a:t>returns </a:t>
            </a:r>
            <a:r>
              <a:rPr lang="en-US" sz="2500" b="1" dirty="0" smtClean="0">
                <a:latin typeface="Arial Black" pitchFamily="34" charset="0"/>
              </a:rPr>
              <a:t>1</a:t>
            </a:r>
            <a:r>
              <a:rPr lang="en-US" sz="2500" dirty="0" smtClean="0">
                <a:latin typeface="Arial Black" pitchFamily="34" charset="0"/>
              </a:rPr>
              <a:t>0</a:t>
            </a:r>
          </a:p>
          <a:p>
            <a:pPr eaLnBrk="1" hangingPunct="1">
              <a:tabLst>
                <a:tab pos="4343400" algn="l"/>
              </a:tabLst>
            </a:pPr>
            <a:r>
              <a:rPr lang="en-US" sz="2500" b="1" dirty="0" smtClean="0">
                <a:latin typeface="Courier New" pitchFamily="49" charset="0"/>
              </a:rPr>
              <a:t>s1.indexOf</a:t>
            </a:r>
            <a:r>
              <a:rPr lang="en-US" sz="2500" b="1" dirty="0">
                <a:latin typeface="Courier New" pitchFamily="49" charset="0"/>
              </a:rPr>
              <a:t>(“qwerty”);</a:t>
            </a:r>
            <a:r>
              <a:rPr lang="en-US" sz="2500" b="1" dirty="0"/>
              <a:t>  	returns </a:t>
            </a:r>
            <a:r>
              <a:rPr lang="en-US" sz="2500" dirty="0">
                <a:latin typeface="Arial Black" pitchFamily="34" charset="0"/>
              </a:rPr>
              <a:t>-1</a:t>
            </a:r>
          </a:p>
          <a:p>
            <a:pPr eaLnBrk="1" hangingPunct="1">
              <a:tabLst>
                <a:tab pos="4343400" algn="l"/>
              </a:tabLst>
            </a:pPr>
            <a:endParaRPr lang="en-US" sz="2000" b="1" i="1" dirty="0" smtClean="0">
              <a:latin typeface="Arial Black" pitchFamily="34" charset="0"/>
            </a:endParaRPr>
          </a:p>
          <a:p>
            <a:pPr eaLnBrk="1" hangingPunct="1">
              <a:tabLst>
                <a:tab pos="4343400" algn="l"/>
              </a:tabLst>
            </a:pPr>
            <a:r>
              <a:rPr lang="en-US" sz="2500" b="1" dirty="0" smtClean="0"/>
              <a:t>If the substring cannot be found </a:t>
            </a:r>
          </a:p>
          <a:p>
            <a:pPr eaLnBrk="1" hangingPunct="1">
              <a:tabLst>
                <a:tab pos="4343400" algn="l"/>
              </a:tabLst>
            </a:pPr>
            <a:r>
              <a:rPr lang="en-US" sz="2500" b="1" dirty="0" smtClean="0"/>
              <a:t>a value of </a:t>
            </a:r>
            <a:r>
              <a:rPr lang="en-US" sz="2500" dirty="0" smtClean="0">
                <a:latin typeface="Arial Black" pitchFamily="34" charset="0"/>
              </a:rPr>
              <a:t>-1</a:t>
            </a:r>
            <a:r>
              <a:rPr lang="en-US" sz="2500" b="1" dirty="0" smtClean="0"/>
              <a:t> is returned.</a:t>
            </a:r>
          </a:p>
          <a:p>
            <a:pPr eaLnBrk="1" hangingPunct="1">
              <a:tabLst>
                <a:tab pos="4343400" algn="l"/>
              </a:tabLst>
            </a:pPr>
            <a:endParaRPr lang="en-US" sz="2500" b="1" dirty="0" smtClean="0"/>
          </a:p>
        </p:txBody>
      </p:sp>
      <p:graphicFrame>
        <p:nvGraphicFramePr>
          <p:cNvPr id="278679" name="Group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96998"/>
              </p:ext>
            </p:extLst>
          </p:nvPr>
        </p:nvGraphicFramePr>
        <p:xfrm>
          <a:off x="457200" y="1447800"/>
          <a:ext cx="8305800" cy="670100"/>
        </p:xfrm>
        <a:graphic>
          <a:graphicData uri="http://schemas.openxmlformats.org/drawingml/2006/table">
            <a:tbl>
              <a:tblPr/>
              <a:tblGrid>
                <a:gridCol w="508000"/>
                <a:gridCol w="354013"/>
                <a:gridCol w="354012"/>
                <a:gridCol w="352425"/>
                <a:gridCol w="357188"/>
                <a:gridCol w="355600"/>
                <a:gridCol w="350837"/>
                <a:gridCol w="357188"/>
                <a:gridCol w="352425"/>
                <a:gridCol w="355600"/>
                <a:gridCol w="357187"/>
                <a:gridCol w="350838"/>
                <a:gridCol w="355600"/>
                <a:gridCol w="352425"/>
                <a:gridCol w="357187"/>
                <a:gridCol w="355600"/>
                <a:gridCol w="350838"/>
                <a:gridCol w="357187"/>
                <a:gridCol w="354013"/>
                <a:gridCol w="354012"/>
                <a:gridCol w="355600"/>
                <a:gridCol w="352425"/>
                <a:gridCol w="355600"/>
              </a:tblGrid>
              <a:tr h="30449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</a:t>
                      </a:r>
                    </a:p>
                  </a:txBody>
                  <a:tcPr marT="45605" marB="456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6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7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9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13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14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15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16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17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18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’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6781800" y="2209800"/>
            <a:ext cx="2057400" cy="3657600"/>
            <a:chOff x="6781800" y="2438400"/>
            <a:chExt cx="2057400" cy="3657600"/>
          </a:xfrm>
        </p:grpSpPr>
        <p:pic>
          <p:nvPicPr>
            <p:cNvPr id="11" name="Picture 152" descr="TChumu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4892553"/>
              <a:ext cx="2057400" cy="1203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Line 154"/>
            <p:cNvSpPr>
              <a:spLocks noChangeShapeType="1"/>
            </p:cNvSpPr>
            <p:nvPr/>
          </p:nvSpPr>
          <p:spPr bwMode="auto">
            <a:xfrm flipV="1">
              <a:off x="8382000" y="2438400"/>
              <a:ext cx="0" cy="609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55"/>
            <p:cNvSpPr>
              <a:spLocks noChangeShapeType="1"/>
            </p:cNvSpPr>
            <p:nvPr/>
          </p:nvSpPr>
          <p:spPr bwMode="auto">
            <a:xfrm>
              <a:off x="8382000" y="3200400"/>
              <a:ext cx="0" cy="1676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53"/>
            <p:cNvSpPr txBox="1">
              <a:spLocks noChangeArrowheads="1"/>
            </p:cNvSpPr>
            <p:nvPr/>
          </p:nvSpPr>
          <p:spPr bwMode="auto">
            <a:xfrm>
              <a:off x="6781800" y="3048000"/>
              <a:ext cx="2057400" cy="1016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 b="1" dirty="0"/>
                <a:t>By the way,</a:t>
              </a:r>
            </a:p>
            <a:p>
              <a:pPr eaLnBrk="1" hangingPunct="1"/>
              <a:r>
                <a:rPr lang="en-US" sz="2000" b="1" dirty="0"/>
                <a:t>it is the State Fish of Hawaii.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0665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// </a:t>
            </a:r>
            <a:r>
              <a:rPr lang="en-US" sz="2500" b="1" dirty="0" smtClean="0">
                <a:latin typeface="Times New Roman" pitchFamily="18" charset="0"/>
              </a:rPr>
              <a:t>Java0806.java</a:t>
            </a:r>
            <a:endParaRPr lang="en-US" sz="25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// There is a an overloaded &lt;</a:t>
            </a:r>
            <a:r>
              <a:rPr lang="en-US" sz="2500" b="1" dirty="0" err="1">
                <a:latin typeface="Times New Roman" pitchFamily="18" charset="0"/>
              </a:rPr>
              <a:t>indexOf</a:t>
            </a:r>
            <a:r>
              <a:rPr lang="en-US" sz="2500" b="1" dirty="0">
                <a:latin typeface="Times New Roman" pitchFamily="18" charset="0"/>
              </a:rPr>
              <a:t>&gt; method, which uses a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// second parameter to indicate the start of the search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25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public class </a:t>
            </a:r>
            <a:r>
              <a:rPr lang="en-US" sz="2500" b="1" dirty="0" smtClean="0">
                <a:latin typeface="Times New Roman" pitchFamily="18" charset="0"/>
              </a:rPr>
              <a:t>Java0806</a:t>
            </a:r>
            <a:endParaRPr lang="en-US" sz="25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	public static void main (String </a:t>
            </a:r>
            <a:r>
              <a:rPr lang="en-US" sz="2500" b="1" dirty="0" err="1">
                <a:latin typeface="Times New Roman" pitchFamily="18" charset="0"/>
              </a:rPr>
              <a:t>args</a:t>
            </a:r>
            <a:r>
              <a:rPr lang="en-US" sz="2500" b="1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>
                <a:latin typeface="Times New Roman" pitchFamily="18" charset="0"/>
              </a:rPr>
              <a:t>		String </a:t>
            </a:r>
            <a:r>
              <a:rPr lang="en-US" sz="2500" b="1" dirty="0" err="1">
                <a:latin typeface="Times New Roman" pitchFamily="18" charset="0"/>
              </a:rPr>
              <a:t>str</a:t>
            </a:r>
            <a:r>
              <a:rPr lang="en-US" sz="2500" b="1" dirty="0">
                <a:latin typeface="Times New Roman" pitchFamily="18" charset="0"/>
              </a:rPr>
              <a:t> = "M</a:t>
            </a:r>
            <a:r>
              <a:rPr lang="en-US" sz="2500" b="1" dirty="0">
                <a:solidFill>
                  <a:srgbClr val="00B050"/>
                </a:solidFill>
                <a:latin typeface="Times New Roman" pitchFamily="18" charset="0"/>
              </a:rPr>
              <a:t>is</a:t>
            </a:r>
            <a:r>
              <a:rPr lang="en-US" sz="2500" b="1" dirty="0">
                <a:latin typeface="Times New Roman" pitchFamily="18" charset="0"/>
              </a:rPr>
              <a:t>s</a:t>
            </a:r>
            <a:r>
              <a:rPr lang="en-US" sz="2500" b="1" dirty="0">
                <a:solidFill>
                  <a:srgbClr val="00B050"/>
                </a:solidFill>
                <a:latin typeface="Times New Roman" pitchFamily="18" charset="0"/>
              </a:rPr>
              <a:t>is</a:t>
            </a:r>
            <a:r>
              <a:rPr lang="en-US" sz="2500" b="1" dirty="0">
                <a:latin typeface="Times New Roman" pitchFamily="18" charset="0"/>
              </a:rPr>
              <a:t>sippi </a:t>
            </a:r>
            <a:r>
              <a:rPr lang="en-US" sz="2500" b="1" dirty="0">
                <a:solidFill>
                  <a:srgbClr val="00B050"/>
                </a:solidFill>
                <a:latin typeface="Times New Roman" pitchFamily="18" charset="0"/>
              </a:rPr>
              <a:t>is</a:t>
            </a:r>
            <a:r>
              <a:rPr lang="en-US" sz="2500" b="1" dirty="0">
                <a:latin typeface="Times New Roman" pitchFamily="18" charset="0"/>
              </a:rPr>
              <a:t> a state and it </a:t>
            </a:r>
            <a:r>
              <a:rPr lang="en-US" sz="2500" b="1" dirty="0">
                <a:solidFill>
                  <a:srgbClr val="00B050"/>
                </a:solidFill>
                <a:latin typeface="Times New Roman" pitchFamily="18" charset="0"/>
              </a:rPr>
              <a:t>is</a:t>
            </a:r>
            <a:r>
              <a:rPr lang="en-US" sz="2500" b="1" dirty="0">
                <a:latin typeface="Times New Roman" pitchFamily="18" charset="0"/>
              </a:rPr>
              <a:t> a river.";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800" b="1" dirty="0">
                <a:latin typeface="Times New Roman" pitchFamily="18" charset="0"/>
              </a:rPr>
              <a:t>      </a:t>
            </a:r>
            <a:r>
              <a:rPr lang="en-US" sz="2800" b="1" dirty="0" smtClean="0">
                <a:latin typeface="Times New Roman" pitchFamily="18" charset="0"/>
              </a:rPr>
              <a:t>	</a:t>
            </a:r>
            <a:r>
              <a:rPr lang="en-US" sz="2800" b="1" dirty="0" err="1" smtClean="0">
                <a:latin typeface="Times New Roman" pitchFamily="18" charset="0"/>
              </a:rPr>
              <a:t>System.out.println</a:t>
            </a:r>
            <a:r>
              <a:rPr lang="en-US" sz="2800" b="1" dirty="0" smtClean="0">
                <a:latin typeface="Times New Roman" pitchFamily="18" charset="0"/>
              </a:rPr>
              <a:t>(</a:t>
            </a:r>
            <a:r>
              <a:rPr lang="en-US" sz="2800" dirty="0" err="1" smtClean="0">
                <a:latin typeface="Arial Black" panose="020B0A04020102020204" pitchFamily="34" charset="0"/>
              </a:rPr>
              <a:t>str.indexOf</a:t>
            </a:r>
            <a:r>
              <a:rPr lang="en-US" sz="2800" dirty="0">
                <a:latin typeface="Arial Black" panose="020B0A04020102020204" pitchFamily="34" charset="0"/>
              </a:rPr>
              <a:t>("is")</a:t>
            </a:r>
            <a:r>
              <a:rPr lang="en-US" sz="2800" b="1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800" b="1" dirty="0">
                <a:latin typeface="Times New Roman" pitchFamily="18" charset="0"/>
              </a:rPr>
              <a:t>      </a:t>
            </a:r>
            <a:r>
              <a:rPr lang="en-US" sz="2800" b="1" dirty="0" smtClean="0">
                <a:latin typeface="Times New Roman" pitchFamily="18" charset="0"/>
              </a:rPr>
              <a:t>	</a:t>
            </a:r>
            <a:r>
              <a:rPr lang="en-US" sz="2800" b="1" dirty="0" err="1" smtClean="0">
                <a:latin typeface="Times New Roman" pitchFamily="18" charset="0"/>
              </a:rPr>
              <a:t>System.out.println</a:t>
            </a:r>
            <a:r>
              <a:rPr lang="en-US" sz="2800" b="1" dirty="0" smtClean="0">
                <a:latin typeface="Times New Roman" pitchFamily="18" charset="0"/>
              </a:rPr>
              <a:t>(</a:t>
            </a:r>
            <a:r>
              <a:rPr lang="en-US" sz="2800" dirty="0" err="1">
                <a:latin typeface="Arial Black" panose="020B0A04020102020204" pitchFamily="34" charset="0"/>
              </a:rPr>
              <a:t>str.indexOf</a:t>
            </a:r>
            <a:r>
              <a:rPr lang="en-US" sz="2800" dirty="0">
                <a:latin typeface="Arial Black" panose="020B0A04020102020204" pitchFamily="34" charset="0"/>
              </a:rPr>
              <a:t>("</a:t>
            </a:r>
            <a:r>
              <a:rPr lang="en-US" sz="2800" dirty="0" smtClean="0">
                <a:latin typeface="Arial Black" panose="020B0A04020102020204" pitchFamily="34" charset="0"/>
              </a:rPr>
              <a:t>is",2)</a:t>
            </a:r>
            <a:r>
              <a:rPr lang="en-US" sz="2800" b="1" dirty="0" smtClean="0">
                <a:latin typeface="Times New Roman" pitchFamily="18" charset="0"/>
              </a:rPr>
              <a:t>);</a:t>
            </a:r>
            <a:endParaRPr lang="en-US" sz="28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800" b="1" dirty="0">
                <a:latin typeface="Times New Roman" pitchFamily="18" charset="0"/>
              </a:rPr>
              <a:t>      </a:t>
            </a:r>
            <a:r>
              <a:rPr lang="en-US" sz="2800" b="1" dirty="0" smtClean="0">
                <a:latin typeface="Times New Roman" pitchFamily="18" charset="0"/>
              </a:rPr>
              <a:t>	</a:t>
            </a:r>
            <a:r>
              <a:rPr lang="en-US" sz="2800" b="1" dirty="0" err="1" smtClean="0">
                <a:latin typeface="Times New Roman" pitchFamily="18" charset="0"/>
              </a:rPr>
              <a:t>System.out.println</a:t>
            </a:r>
            <a:r>
              <a:rPr lang="en-US" sz="2800" b="1" dirty="0" smtClean="0">
                <a:latin typeface="Times New Roman" pitchFamily="18" charset="0"/>
              </a:rPr>
              <a:t>(</a:t>
            </a:r>
            <a:r>
              <a:rPr lang="en-US" sz="2800" dirty="0" err="1">
                <a:latin typeface="Arial Black" panose="020B0A04020102020204" pitchFamily="34" charset="0"/>
              </a:rPr>
              <a:t>str.indexOf</a:t>
            </a:r>
            <a:r>
              <a:rPr lang="en-US" sz="2800" dirty="0">
                <a:latin typeface="Arial Black" panose="020B0A04020102020204" pitchFamily="34" charset="0"/>
              </a:rPr>
              <a:t>("</a:t>
            </a:r>
            <a:r>
              <a:rPr lang="en-US" sz="2800" dirty="0" smtClean="0">
                <a:latin typeface="Arial Black" panose="020B0A04020102020204" pitchFamily="34" charset="0"/>
              </a:rPr>
              <a:t>is",10)</a:t>
            </a:r>
            <a:r>
              <a:rPr lang="en-US" sz="2800" b="1" dirty="0" smtClean="0">
                <a:latin typeface="Times New Roman" pitchFamily="18" charset="0"/>
              </a:rPr>
              <a:t>);</a:t>
            </a:r>
            <a:endParaRPr lang="en-US" sz="2800" b="1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800" b="1" dirty="0">
                <a:latin typeface="Times New Roman" pitchFamily="18" charset="0"/>
              </a:rPr>
              <a:t>      </a:t>
            </a:r>
            <a:r>
              <a:rPr lang="en-US" sz="2800" b="1" dirty="0" smtClean="0">
                <a:latin typeface="Times New Roman" pitchFamily="18" charset="0"/>
              </a:rPr>
              <a:t>	</a:t>
            </a:r>
            <a:r>
              <a:rPr lang="en-US" sz="2800" b="1" dirty="0" err="1" smtClean="0">
                <a:latin typeface="Times New Roman" pitchFamily="18" charset="0"/>
              </a:rPr>
              <a:t>System.out.println</a:t>
            </a:r>
            <a:r>
              <a:rPr lang="en-US" sz="2800" b="1" dirty="0" smtClean="0">
                <a:latin typeface="Times New Roman" pitchFamily="18" charset="0"/>
              </a:rPr>
              <a:t>(</a:t>
            </a:r>
            <a:r>
              <a:rPr lang="en-US" sz="2800" dirty="0" err="1">
                <a:latin typeface="Arial Black" panose="020B0A04020102020204" pitchFamily="34" charset="0"/>
              </a:rPr>
              <a:t>str.indexOf</a:t>
            </a:r>
            <a:r>
              <a:rPr lang="en-US" sz="2800" dirty="0">
                <a:latin typeface="Arial Black" panose="020B0A04020102020204" pitchFamily="34" charset="0"/>
              </a:rPr>
              <a:t>("is</a:t>
            </a:r>
            <a:r>
              <a:rPr lang="en-US" sz="2800" dirty="0" smtClean="0">
                <a:latin typeface="Arial Black" panose="020B0A04020102020204" pitchFamily="34" charset="0"/>
              </a:rPr>
              <a:t>",15)</a:t>
            </a:r>
            <a:r>
              <a:rPr lang="en-US" sz="2800" b="1" dirty="0" smtClean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 smtClean="0">
                <a:latin typeface="Times New Roman" pitchFamily="18" charset="0"/>
              </a:rPr>
              <a:t> </a:t>
            </a:r>
            <a:r>
              <a:rPr lang="en-US" sz="25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500" b="1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2500" b="1" dirty="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58150" y="3805297"/>
            <a:ext cx="933450" cy="1951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4000"/>
              </a:lnSpc>
            </a:pP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4000"/>
              </a:lnSpc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94000"/>
              </a:lnSpc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lnSpc>
                <a:spcPct val="94000"/>
              </a:lnSpc>
            </a:pP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428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28600" y="914400"/>
            <a:ext cx="8763000" cy="575542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800" b="1" dirty="0"/>
          </a:p>
          <a:p>
            <a:pPr eaLnBrk="1" hangingPunct="1"/>
            <a:endParaRPr lang="en-US" sz="2800" b="1" dirty="0"/>
          </a:p>
          <a:p>
            <a:pPr eaLnBrk="1" hangingPunct="1"/>
            <a:endParaRPr lang="en-US" sz="2400" dirty="0" smtClean="0">
              <a:latin typeface="Arial Black" pitchFamily="34" charset="0"/>
            </a:endParaRPr>
          </a:p>
          <a:p>
            <a:pPr eaLnBrk="1" hangingPunct="1"/>
            <a:r>
              <a:rPr lang="en-US" sz="2500" dirty="0" err="1" smtClean="0">
                <a:latin typeface="Arial Black" pitchFamily="34" charset="0"/>
              </a:rPr>
              <a:t>indexOf</a:t>
            </a:r>
            <a:r>
              <a:rPr lang="en-US" sz="2500" b="1" dirty="0" smtClean="0"/>
              <a:t> also returns </a:t>
            </a:r>
            <a:r>
              <a:rPr lang="en-US" sz="2500" b="1" dirty="0"/>
              <a:t>the </a:t>
            </a:r>
            <a:r>
              <a:rPr lang="en-US" sz="2500" b="1" u="sng" dirty="0"/>
              <a:t>first</a:t>
            </a:r>
            <a:r>
              <a:rPr lang="en-US" sz="2500" b="1" dirty="0"/>
              <a:t> occurrence </a:t>
            </a:r>
            <a:r>
              <a:rPr lang="en-US" sz="2500" b="1" dirty="0" smtClean="0"/>
              <a:t>of </a:t>
            </a:r>
            <a:r>
              <a:rPr lang="en-US" sz="2500" b="1" dirty="0"/>
              <a:t>a </a:t>
            </a:r>
            <a:r>
              <a:rPr lang="en-US" sz="2500" b="1" dirty="0" smtClean="0"/>
              <a:t>substring </a:t>
            </a:r>
          </a:p>
          <a:p>
            <a:pPr eaLnBrk="1" hangingPunct="1"/>
            <a:r>
              <a:rPr lang="en-US" sz="2500" b="1" u="sng" dirty="0" smtClean="0"/>
              <a:t>on or after a specified index</a:t>
            </a:r>
            <a:r>
              <a:rPr lang="en-US" sz="2500" b="1" dirty="0" smtClean="0"/>
              <a:t>.</a:t>
            </a:r>
            <a:endParaRPr lang="en-US" sz="2500" b="1" dirty="0"/>
          </a:p>
          <a:p>
            <a:pPr eaLnBrk="1" hangingPunct="1">
              <a:tabLst>
                <a:tab pos="4343400" algn="l"/>
              </a:tabLst>
            </a:pPr>
            <a:endParaRPr lang="en-US" sz="2000" b="1" dirty="0" smtClean="0">
              <a:latin typeface="Courier New" pitchFamily="49" charset="0"/>
            </a:endParaRP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 smtClean="0">
                <a:latin typeface="Courier New" pitchFamily="49" charset="0"/>
              </a:rPr>
              <a:t>s1.indexOf</a:t>
            </a:r>
            <a:r>
              <a:rPr lang="en-US" sz="2500" b="1" dirty="0">
                <a:latin typeface="Courier New" pitchFamily="49" charset="0"/>
              </a:rPr>
              <a:t>(“hum</a:t>
            </a:r>
            <a:r>
              <a:rPr lang="en-US" sz="2500" b="1" dirty="0" smtClean="0">
                <a:latin typeface="Courier New" pitchFamily="49" charset="0"/>
              </a:rPr>
              <a:t>”,3);</a:t>
            </a:r>
            <a:r>
              <a:rPr lang="en-US" sz="2500" b="1" dirty="0" smtClean="0"/>
              <a:t>  </a:t>
            </a:r>
            <a:r>
              <a:rPr lang="en-US" sz="2500" b="1" dirty="0"/>
              <a:t>	returns </a:t>
            </a:r>
            <a:r>
              <a:rPr lang="en-US" sz="2500" dirty="0" smtClean="0">
                <a:latin typeface="Arial Black" pitchFamily="34" charset="0"/>
              </a:rPr>
              <a:t>4</a:t>
            </a:r>
            <a:endParaRPr lang="en-US" sz="2500" dirty="0">
              <a:latin typeface="Arial Black" pitchFamily="34" charset="0"/>
            </a:endParaRP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>
                <a:latin typeface="Courier New" pitchFamily="49" charset="0"/>
              </a:rPr>
              <a:t>s1.indexOf(“ku</a:t>
            </a:r>
            <a:r>
              <a:rPr lang="en-US" sz="2500" b="1" dirty="0" smtClean="0">
                <a:latin typeface="Courier New" pitchFamily="49" charset="0"/>
              </a:rPr>
              <a:t>”,12);</a:t>
            </a:r>
            <a:r>
              <a:rPr lang="en-US" sz="2500" b="1" dirty="0" smtClean="0"/>
              <a:t>	returns </a:t>
            </a:r>
            <a:r>
              <a:rPr lang="en-US" sz="2500" b="1" dirty="0" smtClean="0">
                <a:latin typeface="Arial Black" pitchFamily="34" charset="0"/>
              </a:rPr>
              <a:t>14</a:t>
            </a:r>
          </a:p>
          <a:p>
            <a:pPr eaLnBrk="1" hangingPunct="1">
              <a:tabLst>
                <a:tab pos="4167188" algn="l"/>
              </a:tabLst>
            </a:pPr>
            <a:endParaRPr lang="en-US" sz="2500" b="1" dirty="0" smtClean="0">
              <a:latin typeface="Arial Black" pitchFamily="34" charset="0"/>
            </a:endParaRP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>
                <a:latin typeface="Courier New" pitchFamily="49" charset="0"/>
              </a:rPr>
              <a:t>s1.indexOf(“hum</a:t>
            </a:r>
            <a:r>
              <a:rPr lang="en-US" sz="2500" b="1" dirty="0" smtClean="0">
                <a:latin typeface="Courier New" pitchFamily="49" charset="0"/>
              </a:rPr>
              <a:t>”,4);</a:t>
            </a:r>
            <a:r>
              <a:rPr lang="en-US" sz="2500" b="1" dirty="0" smtClean="0"/>
              <a:t>  </a:t>
            </a:r>
            <a:r>
              <a:rPr lang="en-US" sz="2500" b="1" dirty="0"/>
              <a:t>	returns </a:t>
            </a:r>
            <a:r>
              <a:rPr lang="en-US" sz="2500" dirty="0">
                <a:latin typeface="Arial Black" pitchFamily="34" charset="0"/>
              </a:rPr>
              <a:t>4</a:t>
            </a: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>
                <a:latin typeface="Courier New" pitchFamily="49" charset="0"/>
              </a:rPr>
              <a:t>s1.indexOf(“ku”,</a:t>
            </a:r>
            <a:r>
              <a:rPr lang="en-US" sz="2500" b="1" dirty="0" smtClean="0">
                <a:latin typeface="Courier New" pitchFamily="49" charset="0"/>
              </a:rPr>
              <a:t>14);</a:t>
            </a:r>
            <a:r>
              <a:rPr lang="en-US" sz="2500" b="1" dirty="0"/>
              <a:t>	returns </a:t>
            </a:r>
            <a:r>
              <a:rPr lang="en-US" sz="2500" b="1" dirty="0" smtClean="0">
                <a:latin typeface="Arial Black" pitchFamily="34" charset="0"/>
              </a:rPr>
              <a:t>14</a:t>
            </a:r>
          </a:p>
          <a:p>
            <a:pPr eaLnBrk="1" hangingPunct="1">
              <a:tabLst>
                <a:tab pos="4167188" algn="l"/>
              </a:tabLst>
            </a:pPr>
            <a:endParaRPr lang="en-US" sz="2500" b="1" dirty="0" smtClean="0">
              <a:latin typeface="Arial Black" pitchFamily="34" charset="0"/>
            </a:endParaRP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>
                <a:latin typeface="Courier New" pitchFamily="49" charset="0"/>
              </a:rPr>
              <a:t>s1.indexOf(“hum</a:t>
            </a:r>
            <a:r>
              <a:rPr lang="en-US" sz="2500" b="1" dirty="0" smtClean="0">
                <a:latin typeface="Courier New" pitchFamily="49" charset="0"/>
              </a:rPr>
              <a:t>”,8);</a:t>
            </a:r>
            <a:r>
              <a:rPr lang="en-US" sz="2500" b="1" dirty="0" smtClean="0"/>
              <a:t>  </a:t>
            </a:r>
            <a:r>
              <a:rPr lang="en-US" sz="2500" b="1" dirty="0"/>
              <a:t>	returns </a:t>
            </a:r>
            <a:r>
              <a:rPr lang="en-US" sz="2500" dirty="0" smtClean="0">
                <a:latin typeface="Arial Black" pitchFamily="34" charset="0"/>
              </a:rPr>
              <a:t>-1</a:t>
            </a:r>
            <a:endParaRPr lang="en-US" sz="2500" dirty="0">
              <a:latin typeface="Arial Black" pitchFamily="34" charset="0"/>
            </a:endParaRPr>
          </a:p>
          <a:p>
            <a:pPr eaLnBrk="1" hangingPunct="1">
              <a:tabLst>
                <a:tab pos="4167188" algn="l"/>
              </a:tabLst>
            </a:pPr>
            <a:r>
              <a:rPr lang="en-US" sz="2500" b="1" dirty="0">
                <a:latin typeface="Courier New" pitchFamily="49" charset="0"/>
              </a:rPr>
              <a:t>s1.indexOf(“ku”,</a:t>
            </a:r>
            <a:r>
              <a:rPr lang="en-US" sz="2500" b="1" dirty="0" smtClean="0">
                <a:latin typeface="Courier New" pitchFamily="49" charset="0"/>
              </a:rPr>
              <a:t>17);</a:t>
            </a:r>
            <a:r>
              <a:rPr lang="en-US" sz="2500" b="1" dirty="0"/>
              <a:t>	returns </a:t>
            </a:r>
            <a:r>
              <a:rPr lang="en-US" sz="2500" b="1" dirty="0" smtClean="0">
                <a:latin typeface="Arial Black" pitchFamily="34" charset="0"/>
              </a:rPr>
              <a:t>-1</a:t>
            </a:r>
          </a:p>
          <a:p>
            <a:pPr eaLnBrk="1" hangingPunct="1">
              <a:tabLst>
                <a:tab pos="4343400" algn="l"/>
              </a:tabLst>
            </a:pPr>
            <a:endParaRPr lang="en-US" dirty="0">
              <a:latin typeface="Arial Black" pitchFamily="34" charset="0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/>
            <a:r>
              <a:rPr lang="en-US" sz="4800" b="1" dirty="0" smtClean="0">
                <a:latin typeface="Arial Narrow" pitchFamily="34" charset="0"/>
              </a:rPr>
              <a:t>Overloaded String Method </a:t>
            </a:r>
            <a:r>
              <a:rPr lang="en-US" sz="4800" b="1" dirty="0" err="1" smtClean="0">
                <a:latin typeface="Arial Narrow" pitchFamily="34" charset="0"/>
              </a:rPr>
              <a:t>indexOf</a:t>
            </a:r>
            <a:endParaRPr lang="en-US" sz="4800" b="1" dirty="0" smtClean="0">
              <a:latin typeface="Arial Narrow" pitchFamily="34" charset="0"/>
            </a:endParaRPr>
          </a:p>
        </p:txBody>
      </p:sp>
      <p:graphicFrame>
        <p:nvGraphicFramePr>
          <p:cNvPr id="16" name="Group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55812"/>
              </p:ext>
            </p:extLst>
          </p:nvPr>
        </p:nvGraphicFramePr>
        <p:xfrm>
          <a:off x="457200" y="1234900"/>
          <a:ext cx="8305800" cy="670100"/>
        </p:xfrm>
        <a:graphic>
          <a:graphicData uri="http://schemas.openxmlformats.org/drawingml/2006/table">
            <a:tbl>
              <a:tblPr/>
              <a:tblGrid>
                <a:gridCol w="508000"/>
                <a:gridCol w="354013"/>
                <a:gridCol w="354012"/>
                <a:gridCol w="352425"/>
                <a:gridCol w="357188"/>
                <a:gridCol w="355600"/>
                <a:gridCol w="350837"/>
                <a:gridCol w="357188"/>
                <a:gridCol w="352425"/>
                <a:gridCol w="355600"/>
                <a:gridCol w="357187"/>
                <a:gridCol w="350838"/>
                <a:gridCol w="355600"/>
                <a:gridCol w="352425"/>
                <a:gridCol w="357187"/>
                <a:gridCol w="355600"/>
                <a:gridCol w="350838"/>
                <a:gridCol w="357187"/>
                <a:gridCol w="354013"/>
                <a:gridCol w="354012"/>
                <a:gridCol w="355600"/>
                <a:gridCol w="352425"/>
                <a:gridCol w="355600"/>
              </a:tblGrid>
              <a:tr h="30449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</a:t>
                      </a:r>
                    </a:p>
                  </a:txBody>
                  <a:tcPr marT="45605" marB="456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6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7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9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13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14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15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16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17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18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4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’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605" marB="456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152" descr="TChumu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590800"/>
            <a:ext cx="2057400" cy="120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52" descr="TChumu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99729" y="3505200"/>
            <a:ext cx="2057400" cy="120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52" descr="TChumu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419600"/>
            <a:ext cx="2057400" cy="120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52" descr="TChumu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99729" y="5334000"/>
            <a:ext cx="2057400" cy="120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3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Converting</a:t>
            </a:r>
          </a:p>
        </p:txBody>
      </p:sp>
      <p:sp>
        <p:nvSpPr>
          <p:cNvPr id="286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8.5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8676" name="WordArt 2"/>
          <p:cNvSpPr>
            <a:spLocks noChangeArrowheads="1" noChangeShapeType="1" noTextEdit="1"/>
          </p:cNvSpPr>
          <p:nvPr/>
        </p:nvSpPr>
        <p:spPr bwMode="auto">
          <a:xfrm>
            <a:off x="381000" y="38100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7265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// </a:t>
            </a:r>
            <a:r>
              <a:rPr lang="en-US" sz="1900" b="1" dirty="0" smtClean="0">
                <a:latin typeface="Times New Roman" pitchFamily="18" charset="0"/>
              </a:rPr>
              <a:t>Java0807.java</a:t>
            </a:r>
            <a:endParaRPr lang="en-US" sz="19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// This program demonstrates the &lt;</a:t>
            </a:r>
            <a:r>
              <a:rPr lang="en-US" sz="1900" b="1" dirty="0" err="1">
                <a:latin typeface="Times New Roman" pitchFamily="18" charset="0"/>
              </a:rPr>
              <a:t>valueOf</a:t>
            </a:r>
            <a:r>
              <a:rPr lang="en-US" sz="1900" b="1" dirty="0">
                <a:latin typeface="Times New Roman" pitchFamily="18" charset="0"/>
              </a:rPr>
              <a:t>&gt; method of the String class,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// which is shown to convert four data types to a string.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// Note that &lt;</a:t>
            </a:r>
            <a:r>
              <a:rPr lang="en-US" sz="1900" b="1" dirty="0" err="1">
                <a:latin typeface="Times New Roman" pitchFamily="18" charset="0"/>
              </a:rPr>
              <a:t>valueOf</a:t>
            </a:r>
            <a:r>
              <a:rPr lang="en-US" sz="1900" b="1" dirty="0">
                <a:latin typeface="Times New Roman" pitchFamily="18" charset="0"/>
              </a:rPr>
              <a:t>&gt; is a static method and must be called using &lt;</a:t>
            </a:r>
            <a:r>
              <a:rPr lang="en-US" sz="1900" b="1" dirty="0" err="1">
                <a:latin typeface="Times New Roman" pitchFamily="18" charset="0"/>
              </a:rPr>
              <a:t>String.valueOf</a:t>
            </a:r>
            <a:r>
              <a:rPr lang="en-US" sz="1900" b="1" dirty="0">
                <a:latin typeface="Times New Roman" pitchFamily="18" charset="0"/>
              </a:rPr>
              <a:t>&gt;.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 smtClean="0">
                <a:latin typeface="Times New Roman" pitchFamily="18" charset="0"/>
              </a:rPr>
              <a:t>public </a:t>
            </a:r>
            <a:r>
              <a:rPr lang="en-US" sz="1900" b="1" dirty="0">
                <a:latin typeface="Times New Roman" pitchFamily="18" charset="0"/>
              </a:rPr>
              <a:t>class </a:t>
            </a:r>
            <a:r>
              <a:rPr lang="en-US" sz="1900" b="1" dirty="0" smtClean="0">
                <a:latin typeface="Times New Roman" pitchFamily="18" charset="0"/>
              </a:rPr>
              <a:t>Java0807</a:t>
            </a:r>
            <a:endParaRPr lang="en-US" sz="19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 smtClean="0">
                <a:latin typeface="Times New Roman" pitchFamily="18" charset="0"/>
              </a:rPr>
              <a:t>	public </a:t>
            </a:r>
            <a:r>
              <a:rPr lang="en-US" sz="1900" b="1" dirty="0">
                <a:latin typeface="Times New Roman" pitchFamily="18" charset="0"/>
              </a:rPr>
              <a:t>static void main (String </a:t>
            </a:r>
            <a:r>
              <a:rPr lang="en-US" sz="1900" b="1" dirty="0" err="1">
                <a:latin typeface="Times New Roman" pitchFamily="18" charset="0"/>
              </a:rPr>
              <a:t>args</a:t>
            </a:r>
            <a:r>
              <a:rPr lang="en-US" sz="1900" b="1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String s1 = </a:t>
            </a:r>
            <a:r>
              <a:rPr lang="en-US" sz="2400" dirty="0" err="1">
                <a:latin typeface="Arial Black" panose="020B0A04020102020204" pitchFamily="34" charset="0"/>
              </a:rPr>
              <a:t>String.valueOf</a:t>
            </a:r>
            <a:r>
              <a:rPr lang="en-US" sz="2400" dirty="0">
                <a:latin typeface="Arial Black" panose="020B0A04020102020204" pitchFamily="34" charset="0"/>
              </a:rPr>
              <a:t>(1000);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String s2 = </a:t>
            </a:r>
            <a:r>
              <a:rPr lang="en-US" sz="2400" dirty="0" err="1">
                <a:latin typeface="Arial Black" panose="020B0A04020102020204" pitchFamily="34" charset="0"/>
              </a:rPr>
              <a:t>String.valueOf</a:t>
            </a:r>
            <a:r>
              <a:rPr lang="en-US" sz="2400" dirty="0">
                <a:latin typeface="Arial Black" panose="020B0A04020102020204" pitchFamily="34" charset="0"/>
              </a:rPr>
              <a:t>(123.321);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String s3 = </a:t>
            </a:r>
            <a:r>
              <a:rPr lang="en-US" sz="2400" dirty="0" err="1">
                <a:latin typeface="Arial Black" panose="020B0A04020102020204" pitchFamily="34" charset="0"/>
              </a:rPr>
              <a:t>String.valueOf</a:t>
            </a:r>
            <a:r>
              <a:rPr lang="en-US" sz="2400" dirty="0">
                <a:latin typeface="Arial Black" panose="020B0A04020102020204" pitchFamily="34" charset="0"/>
              </a:rPr>
              <a:t>(true);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String s4 = </a:t>
            </a:r>
            <a:r>
              <a:rPr lang="en-US" sz="2400" dirty="0" err="1">
                <a:latin typeface="Arial Black" panose="020B0A04020102020204" pitchFamily="34" charset="0"/>
              </a:rPr>
              <a:t>String.valueOf</a:t>
            </a:r>
            <a:r>
              <a:rPr lang="en-US" sz="2400" dirty="0">
                <a:latin typeface="Arial Black" panose="020B0A04020102020204" pitchFamily="34" charset="0"/>
              </a:rPr>
              <a:t>('A');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String s5 = s1 + s2;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("s1: " + s1);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("s2: " + s2);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("s3: " + s3);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("s4: " + s4);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("s5: " + s5);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	</a:t>
            </a:r>
            <a:r>
              <a:rPr lang="en-US" sz="1900" b="1" dirty="0" err="1">
                <a:latin typeface="Times New Roman" pitchFamily="18" charset="0"/>
              </a:rPr>
              <a:t>System.out.println</a:t>
            </a:r>
            <a:r>
              <a:rPr lang="en-US" sz="19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70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70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1900" b="1" dirty="0" smtClean="0">
                <a:latin typeface="Times New Roman" pitchFamily="18" charset="0"/>
              </a:rPr>
              <a:t>}</a:t>
            </a:r>
            <a:endParaRPr lang="en-US" sz="1900" b="1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76800" y="4306431"/>
            <a:ext cx="38862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1000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 123.321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 true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A</a:t>
            </a: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s5:  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123.321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eaLnBrk="1" hangingPunct="1"/>
            <a:r>
              <a:rPr lang="en-US" sz="3600" smtClean="0"/>
              <a:t> </a:t>
            </a:r>
            <a:r>
              <a:rPr lang="en-US" smtClean="0">
                <a:latin typeface="Arial Black" pitchFamily="34" charset="0"/>
              </a:rPr>
              <a:t>String static Method valueOf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609600" y="1295400"/>
            <a:ext cx="8001000" cy="52736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>
                <a:latin typeface="Courier New" pitchFamily="49" charset="0"/>
              </a:rPr>
              <a:t>String s1 = String.valueOf(1000);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String s2 = String.valueOf(123.321);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String s3 = String.valueOf(true);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String s4 = String.valueOf('A');</a:t>
            </a: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r>
              <a:rPr lang="en-US" sz="2800" b="1"/>
              <a:t>Method </a:t>
            </a:r>
            <a:r>
              <a:rPr lang="en-US" sz="2800">
                <a:latin typeface="Arial Black" pitchFamily="34" charset="0"/>
              </a:rPr>
              <a:t>valueOf</a:t>
            </a:r>
            <a:r>
              <a:rPr lang="en-US" sz="2800" b="1"/>
              <a:t> converts the provided parameter and returns a string.  Four overloaded </a:t>
            </a:r>
            <a:r>
              <a:rPr lang="en-US" sz="2800">
                <a:latin typeface="Arial Black" pitchFamily="34" charset="0"/>
              </a:rPr>
              <a:t>valueOf</a:t>
            </a:r>
            <a:r>
              <a:rPr lang="en-US" sz="2800" b="1"/>
              <a:t> methods are displayed.</a:t>
            </a:r>
          </a:p>
          <a:p>
            <a:pPr eaLnBrk="1" hangingPunct="1"/>
            <a:endParaRPr lang="en-US" sz="2800" b="1"/>
          </a:p>
          <a:p>
            <a:pPr eaLnBrk="1" hangingPunct="1"/>
            <a:r>
              <a:rPr lang="en-US" sz="2800" b="1"/>
              <a:t>Note that the </a:t>
            </a:r>
            <a:r>
              <a:rPr lang="en-US" sz="2800">
                <a:latin typeface="Arial Black" pitchFamily="34" charset="0"/>
              </a:rPr>
              <a:t>valueOf</a:t>
            </a:r>
            <a:r>
              <a:rPr lang="en-US" sz="2800" b="1"/>
              <a:t> method is a </a:t>
            </a:r>
            <a:r>
              <a:rPr lang="en-US" sz="2800">
                <a:latin typeface="Arial Black" pitchFamily="34" charset="0"/>
              </a:rPr>
              <a:t>static</a:t>
            </a:r>
            <a:r>
              <a:rPr lang="en-US" sz="2800" b="1"/>
              <a:t> method (or </a:t>
            </a:r>
            <a:r>
              <a:rPr lang="en-US" sz="2800">
                <a:latin typeface="Arial Black" pitchFamily="34" charset="0"/>
              </a:rPr>
              <a:t>class</a:t>
            </a:r>
            <a:r>
              <a:rPr lang="en-US" sz="2800" b="1"/>
              <a:t> method) that is called with the </a:t>
            </a:r>
            <a:r>
              <a:rPr lang="en-US" sz="2800">
                <a:latin typeface="Arial Black" pitchFamily="34" charset="0"/>
              </a:rPr>
              <a:t>String</a:t>
            </a:r>
            <a:r>
              <a:rPr lang="en-US" sz="2800" b="1"/>
              <a:t> class identifier.</a:t>
            </a:r>
          </a:p>
        </p:txBody>
      </p:sp>
    </p:spTree>
    <p:extLst>
      <p:ext uri="{BB962C8B-B14F-4D97-AF65-F5344CB8AC3E}">
        <p14:creationId xmlns:p14="http://schemas.microsoft.com/office/powerpoint/2010/main" val="29201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// </a:t>
            </a:r>
            <a:r>
              <a:rPr lang="en-US" sz="2000" b="1" dirty="0" smtClean="0">
                <a:latin typeface="Times New Roman" pitchFamily="18" charset="0"/>
              </a:rPr>
              <a:t>Java0808.java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// This program converts string values to integer and double values </a:t>
            </a:r>
            <a:r>
              <a:rPr lang="en-US" sz="2000" b="1" dirty="0" smtClean="0">
                <a:latin typeface="Times New Roman" pitchFamily="18" charset="0"/>
              </a:rPr>
              <a:t>using </a:t>
            </a:r>
            <a:r>
              <a:rPr lang="en-US" sz="2000" b="1" dirty="0">
                <a:latin typeface="Times New Roman" pitchFamily="18" charset="0"/>
              </a:rPr>
              <a:t>the </a:t>
            </a:r>
            <a:endParaRPr lang="en-US" sz="2000" b="1" dirty="0" smtClean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 smtClean="0">
                <a:latin typeface="Times New Roman" pitchFamily="18" charset="0"/>
              </a:rPr>
              <a:t>// &lt;</a:t>
            </a:r>
            <a:r>
              <a:rPr lang="en-US" sz="2000" b="1" dirty="0" err="1">
                <a:latin typeface="Times New Roman" pitchFamily="18" charset="0"/>
              </a:rPr>
              <a:t>parseInt</a:t>
            </a:r>
            <a:r>
              <a:rPr lang="en-US" sz="2000" b="1" dirty="0">
                <a:latin typeface="Times New Roman" pitchFamily="18" charset="0"/>
              </a:rPr>
              <a:t>&gt; and &lt;</a:t>
            </a:r>
            <a:r>
              <a:rPr lang="en-US" sz="2000" b="1" dirty="0" err="1">
                <a:latin typeface="Times New Roman" pitchFamily="18" charset="0"/>
              </a:rPr>
              <a:t>parseDouble</a:t>
            </a:r>
            <a:r>
              <a:rPr lang="en-US" sz="2000" b="1" dirty="0">
                <a:latin typeface="Times New Roman" pitchFamily="18" charset="0"/>
              </a:rPr>
              <a:t>&gt; methods of the &lt;Integer&gt; and &lt;Double&gt; classes.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 smtClean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public class </a:t>
            </a:r>
            <a:r>
              <a:rPr lang="en-US" sz="2000" b="1" dirty="0" smtClean="0">
                <a:latin typeface="Times New Roman" pitchFamily="18" charset="0"/>
              </a:rPr>
              <a:t>Java0808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public static void main (String </a:t>
            </a:r>
            <a:r>
              <a:rPr lang="en-US" sz="2000" b="1" dirty="0" err="1">
                <a:latin typeface="Times New Roman" pitchFamily="18" charset="0"/>
              </a:rPr>
              <a:t>args</a:t>
            </a:r>
            <a:r>
              <a:rPr lang="en-US" sz="2000" b="1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String s1 = "12345";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String s2 = "123.321";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      	</a:t>
            </a:r>
            <a:r>
              <a:rPr lang="en-US" sz="2000" b="1" dirty="0" smtClean="0">
                <a:latin typeface="Times New Roman" pitchFamily="18" charset="0"/>
              </a:rPr>
              <a:t>	String </a:t>
            </a:r>
            <a:r>
              <a:rPr lang="en-US" sz="2000" b="1" dirty="0">
                <a:latin typeface="Times New Roman" pitchFamily="18" charset="0"/>
              </a:rPr>
              <a:t>s3 = "811 Fleming Trail</a:t>
            </a:r>
            <a:r>
              <a:rPr lang="en-US" sz="2000" b="1" dirty="0" smtClean="0">
                <a:latin typeface="Times New Roman" pitchFamily="18" charset="0"/>
              </a:rPr>
              <a:t>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</a:t>
            </a:r>
            <a:r>
              <a:rPr lang="en-US" sz="2400" dirty="0" err="1">
                <a:latin typeface="Arial Black" panose="020B0A04020102020204" pitchFamily="34" charset="0"/>
              </a:rPr>
              <a:t>int</a:t>
            </a:r>
            <a:r>
              <a:rPr lang="en-US" sz="2400" dirty="0">
                <a:latin typeface="Arial Black" panose="020B0A04020102020204" pitchFamily="34" charset="0"/>
              </a:rPr>
              <a:t> n1 = </a:t>
            </a:r>
            <a:r>
              <a:rPr lang="en-US" sz="2400" dirty="0" err="1">
                <a:latin typeface="Arial Black" panose="020B0A04020102020204" pitchFamily="34" charset="0"/>
              </a:rPr>
              <a:t>Integer.parseInt</a:t>
            </a:r>
            <a:r>
              <a:rPr lang="en-US" sz="2400" dirty="0">
                <a:latin typeface="Arial Black" panose="020B0A04020102020204" pitchFamily="34" charset="0"/>
              </a:rPr>
              <a:t>(s1);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double n2 = </a:t>
            </a:r>
            <a:r>
              <a:rPr lang="en-US" sz="2400" dirty="0" err="1">
                <a:latin typeface="Arial Black" panose="020B0A04020102020204" pitchFamily="34" charset="0"/>
              </a:rPr>
              <a:t>Double.parseDouble</a:t>
            </a:r>
            <a:r>
              <a:rPr lang="en-US" sz="2400" dirty="0">
                <a:latin typeface="Arial Black" panose="020B0A04020102020204" pitchFamily="34" charset="0"/>
              </a:rPr>
              <a:t>(s2</a:t>
            </a:r>
            <a:r>
              <a:rPr lang="en-US" sz="2400" dirty="0" smtClean="0">
                <a:latin typeface="Arial Black" panose="020B0A04020102020204" pitchFamily="34" charset="0"/>
              </a:rPr>
              <a:t>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//      	</a:t>
            </a:r>
            <a:r>
              <a:rPr lang="en-US" sz="2400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int</a:t>
            </a: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n3 = </a:t>
            </a:r>
            <a:r>
              <a:rPr lang="en-US" sz="2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Integer.parseInt</a:t>
            </a:r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(s3</a:t>
            </a: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(n1 + " + " + n1 + " = " + (n1 + n1));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(n2 + " + " + n2 + " = " + (n2 + n2));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</a:rPr>
              <a:t>//    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	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</a:rPr>
              <a:t>System.out.println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(n3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</a:rPr>
              <a:t>+ " + " + n3 + " = " + (n3 + n3));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0" y="1027093"/>
            <a:ext cx="60960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i-FI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12345 </a:t>
            </a:r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+ 12345 = 24690</a:t>
            </a:r>
          </a:p>
          <a:p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123.321 + 123.321 = 246.642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WordArt 57"/>
          <p:cNvSpPr>
            <a:spLocks noChangeArrowheads="1" noChangeShapeType="1" noTextEdit="1"/>
          </p:cNvSpPr>
          <p:nvPr/>
        </p:nvSpPr>
        <p:spPr bwMode="auto">
          <a:xfrm>
            <a:off x="5867400" y="2209800"/>
            <a:ext cx="2895600" cy="170992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87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Output with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omments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 place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// </a:t>
            </a:r>
            <a:r>
              <a:rPr lang="en-US" sz="2000" b="1" dirty="0" smtClean="0">
                <a:latin typeface="Times New Roman" pitchFamily="18" charset="0"/>
              </a:rPr>
              <a:t>Java0808.java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// This program converts string values to integer and double values </a:t>
            </a:r>
            <a:r>
              <a:rPr lang="en-US" sz="2000" b="1" dirty="0" smtClean="0">
                <a:latin typeface="Times New Roman" pitchFamily="18" charset="0"/>
              </a:rPr>
              <a:t>using </a:t>
            </a:r>
            <a:r>
              <a:rPr lang="en-US" sz="2000" b="1" dirty="0">
                <a:latin typeface="Times New Roman" pitchFamily="18" charset="0"/>
              </a:rPr>
              <a:t>the </a:t>
            </a:r>
            <a:endParaRPr lang="en-US" sz="2000" b="1" dirty="0" smtClean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 smtClean="0">
                <a:latin typeface="Times New Roman" pitchFamily="18" charset="0"/>
              </a:rPr>
              <a:t>// &lt;</a:t>
            </a:r>
            <a:r>
              <a:rPr lang="en-US" sz="2000" b="1" dirty="0" err="1">
                <a:latin typeface="Times New Roman" pitchFamily="18" charset="0"/>
              </a:rPr>
              <a:t>parseInt</a:t>
            </a:r>
            <a:r>
              <a:rPr lang="en-US" sz="2000" b="1" dirty="0">
                <a:latin typeface="Times New Roman" pitchFamily="18" charset="0"/>
              </a:rPr>
              <a:t>&gt; and &lt;</a:t>
            </a:r>
            <a:r>
              <a:rPr lang="en-US" sz="2000" b="1" dirty="0" err="1">
                <a:latin typeface="Times New Roman" pitchFamily="18" charset="0"/>
              </a:rPr>
              <a:t>parseDouble</a:t>
            </a:r>
            <a:r>
              <a:rPr lang="en-US" sz="2000" b="1" dirty="0">
                <a:latin typeface="Times New Roman" pitchFamily="18" charset="0"/>
              </a:rPr>
              <a:t>&gt; methods of the &lt;Integer&gt; and &lt;Double&gt; classes.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 smtClean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public class </a:t>
            </a:r>
            <a:r>
              <a:rPr lang="en-US" sz="2000" b="1" dirty="0" smtClean="0">
                <a:latin typeface="Times New Roman" pitchFamily="18" charset="0"/>
              </a:rPr>
              <a:t>Java0808</a:t>
            </a:r>
            <a:endParaRPr lang="en-US" sz="20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public static void main (String </a:t>
            </a:r>
            <a:r>
              <a:rPr lang="en-US" sz="2000" b="1" dirty="0" err="1">
                <a:latin typeface="Times New Roman" pitchFamily="18" charset="0"/>
              </a:rPr>
              <a:t>args</a:t>
            </a:r>
            <a:r>
              <a:rPr lang="en-US" sz="2000" b="1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String s1 = "12345";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String s2 = "123.321";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      	</a:t>
            </a:r>
            <a:r>
              <a:rPr lang="en-US" sz="2000" b="1" dirty="0" smtClean="0">
                <a:latin typeface="Times New Roman" pitchFamily="18" charset="0"/>
              </a:rPr>
              <a:t>	String </a:t>
            </a:r>
            <a:r>
              <a:rPr lang="en-US" sz="2000" b="1" dirty="0">
                <a:latin typeface="Times New Roman" pitchFamily="18" charset="0"/>
              </a:rPr>
              <a:t>s3 = "811 Fleming Trail</a:t>
            </a:r>
            <a:r>
              <a:rPr lang="en-US" sz="2000" b="1" dirty="0" smtClean="0">
                <a:latin typeface="Times New Roman" pitchFamily="18" charset="0"/>
              </a:rPr>
              <a:t>";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</a:t>
            </a:r>
            <a:r>
              <a:rPr lang="en-US" sz="2400" dirty="0" err="1">
                <a:latin typeface="Arial Black" panose="020B0A04020102020204" pitchFamily="34" charset="0"/>
              </a:rPr>
              <a:t>int</a:t>
            </a:r>
            <a:r>
              <a:rPr lang="en-US" sz="2400" dirty="0">
                <a:latin typeface="Arial Black" panose="020B0A04020102020204" pitchFamily="34" charset="0"/>
              </a:rPr>
              <a:t> n1 = </a:t>
            </a:r>
            <a:r>
              <a:rPr lang="en-US" sz="2400" dirty="0" err="1">
                <a:latin typeface="Arial Black" panose="020B0A04020102020204" pitchFamily="34" charset="0"/>
              </a:rPr>
              <a:t>Integer.parseInt</a:t>
            </a:r>
            <a:r>
              <a:rPr lang="en-US" sz="2400" dirty="0">
                <a:latin typeface="Arial Black" panose="020B0A04020102020204" pitchFamily="34" charset="0"/>
              </a:rPr>
              <a:t>(s1);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>
                <a:latin typeface="Arial Black" panose="020B0A04020102020204" pitchFamily="34" charset="0"/>
              </a:rPr>
              <a:t>		double n2 = </a:t>
            </a:r>
            <a:r>
              <a:rPr lang="en-US" sz="2400" dirty="0" err="1">
                <a:latin typeface="Arial Black" panose="020B0A04020102020204" pitchFamily="34" charset="0"/>
              </a:rPr>
              <a:t>Double.parseDouble</a:t>
            </a:r>
            <a:r>
              <a:rPr lang="en-US" sz="2400" dirty="0">
                <a:latin typeface="Arial Black" panose="020B0A04020102020204" pitchFamily="34" charset="0"/>
              </a:rPr>
              <a:t>(s2</a:t>
            </a:r>
            <a:r>
              <a:rPr lang="en-US" sz="2400" dirty="0" smtClean="0">
                <a:latin typeface="Arial Black" panose="020B0A04020102020204" pitchFamily="34" charset="0"/>
              </a:rPr>
              <a:t>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400" dirty="0" smtClean="0">
                <a:latin typeface="Arial Black" panose="020B0A04020102020204" pitchFamily="34" charset="0"/>
              </a:rPr>
              <a:t>      	</a:t>
            </a:r>
            <a:r>
              <a:rPr lang="en-US" sz="2400" dirty="0" err="1" smtClean="0">
                <a:latin typeface="Arial Black" panose="020B0A04020102020204" pitchFamily="34" charset="0"/>
              </a:rPr>
              <a:t>int</a:t>
            </a:r>
            <a:r>
              <a:rPr lang="en-US" sz="2400" dirty="0" smtClean="0">
                <a:latin typeface="Arial Black" panose="020B0A04020102020204" pitchFamily="34" charset="0"/>
              </a:rPr>
              <a:t> </a:t>
            </a:r>
            <a:r>
              <a:rPr lang="en-US" sz="2400" dirty="0">
                <a:latin typeface="Arial Black" panose="020B0A04020102020204" pitchFamily="34" charset="0"/>
              </a:rPr>
              <a:t>n3 = </a:t>
            </a:r>
            <a:r>
              <a:rPr lang="en-US" sz="2400" dirty="0" err="1">
                <a:latin typeface="Arial Black" panose="020B0A04020102020204" pitchFamily="34" charset="0"/>
              </a:rPr>
              <a:t>Integer.parseInt</a:t>
            </a:r>
            <a:r>
              <a:rPr lang="en-US" sz="2400" dirty="0">
                <a:latin typeface="Arial Black" panose="020B0A04020102020204" pitchFamily="34" charset="0"/>
              </a:rPr>
              <a:t>(s3</a:t>
            </a:r>
            <a:r>
              <a:rPr lang="en-US" sz="2400" dirty="0" smtClean="0">
                <a:latin typeface="Arial Black" panose="020B0A04020102020204" pitchFamily="34" charset="0"/>
              </a:rPr>
              <a:t>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endParaRPr lang="en-US" sz="1400" b="1" dirty="0">
              <a:latin typeface="Times New Roman" pitchFamily="18" charset="0"/>
            </a:endParaRP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(n1 + " + " + n1 + " = " + (n1 + n1));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	</a:t>
            </a:r>
            <a:r>
              <a:rPr lang="en-US" sz="2000" b="1" dirty="0" err="1">
                <a:latin typeface="Times New Roman" pitchFamily="18" charset="0"/>
              </a:rPr>
              <a:t>System.out.println</a:t>
            </a:r>
            <a:r>
              <a:rPr lang="en-US" sz="2000" b="1" dirty="0">
                <a:latin typeface="Times New Roman" pitchFamily="18" charset="0"/>
              </a:rPr>
              <a:t>(n2 + " + " + n2 + " = " + (n2 + n2));</a:t>
            </a:r>
          </a:p>
          <a:p>
            <a:pPr eaLnBrk="1" hangingPunct="1"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</a:rPr>
              <a:t>      	</a:t>
            </a:r>
            <a:r>
              <a:rPr lang="en-US" sz="2000" b="1" dirty="0" err="1" smtClean="0">
                <a:latin typeface="Times New Roman" pitchFamily="18" charset="0"/>
              </a:rPr>
              <a:t>System.out.println</a:t>
            </a:r>
            <a:r>
              <a:rPr lang="en-US" sz="2000" b="1" dirty="0" smtClean="0">
                <a:latin typeface="Times New Roman" pitchFamily="18" charset="0"/>
              </a:rPr>
              <a:t>(n3 </a:t>
            </a:r>
            <a:r>
              <a:rPr lang="en-US" sz="2000" b="1" dirty="0">
                <a:latin typeface="Times New Roman" pitchFamily="18" charset="0"/>
              </a:rPr>
              <a:t>+ " + " + n3 + " = " + (n3 + n3));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2000" b="1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61963" algn="l"/>
                <a:tab pos="914400" algn="l"/>
                <a:tab pos="1376363" algn="l"/>
              </a:tabLst>
            </a:pPr>
            <a:endParaRPr lang="en-US" sz="2000" b="1" dirty="0">
              <a:latin typeface="Times New Roman" pitchFamily="18" charset="0"/>
            </a:endParaRPr>
          </a:p>
        </p:txBody>
      </p:sp>
      <p:sp>
        <p:nvSpPr>
          <p:cNvPr id="4" name="WordArt 57"/>
          <p:cNvSpPr>
            <a:spLocks noChangeArrowheads="1" noChangeShapeType="1" noTextEdit="1"/>
          </p:cNvSpPr>
          <p:nvPr/>
        </p:nvSpPr>
        <p:spPr bwMode="auto">
          <a:xfrm>
            <a:off x="5867400" y="2209800"/>
            <a:ext cx="2895600" cy="1676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87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Output with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omments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removed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2258" t="10601" r="3272" b="19145"/>
          <a:stretch/>
        </p:blipFill>
        <p:spPr>
          <a:xfrm>
            <a:off x="0" y="0"/>
            <a:ext cx="914400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2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sz="4000" b="1" smtClean="0"/>
              <a:t>Integer static method parseInt and Double static method parseDouble</a:t>
            </a:r>
            <a:endParaRPr lang="en-US" b="1" smtClean="0"/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304800" y="1828800"/>
            <a:ext cx="8458200" cy="4400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>
                <a:latin typeface="Courier New" pitchFamily="49" charset="0"/>
              </a:rPr>
              <a:t>int n1 = Integer.parseInt(s1);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double n2 = Double.parseDouble(s2); </a:t>
            </a: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r>
              <a:rPr lang="en-US" sz="2800" b="1"/>
              <a:t>Method </a:t>
            </a:r>
            <a:r>
              <a:rPr lang="en-US" sz="2800">
                <a:latin typeface="Arial Black" pitchFamily="34" charset="0"/>
              </a:rPr>
              <a:t>parseInt</a:t>
            </a:r>
            <a:r>
              <a:rPr lang="en-US" sz="2800" b="1"/>
              <a:t> converts a </a:t>
            </a:r>
            <a:r>
              <a:rPr lang="en-US" sz="2800">
                <a:latin typeface="Arial Black" pitchFamily="34" charset="0"/>
              </a:rPr>
              <a:t>String</a:t>
            </a:r>
            <a:r>
              <a:rPr lang="en-US" sz="2800" b="1"/>
              <a:t> into an </a:t>
            </a:r>
            <a:r>
              <a:rPr lang="en-US" sz="2800">
                <a:latin typeface="Arial Black" pitchFamily="34" charset="0"/>
              </a:rPr>
              <a:t>int</a:t>
            </a:r>
            <a:r>
              <a:rPr lang="en-US" sz="2800" b="1"/>
              <a:t>.</a:t>
            </a:r>
          </a:p>
          <a:p>
            <a:pPr eaLnBrk="1" hangingPunct="1"/>
            <a:r>
              <a:rPr lang="en-US" sz="2800" b="1"/>
              <a:t>Method </a:t>
            </a:r>
            <a:r>
              <a:rPr lang="en-US" sz="2800">
                <a:latin typeface="Arial Black" pitchFamily="34" charset="0"/>
              </a:rPr>
              <a:t>parseDouble</a:t>
            </a:r>
            <a:r>
              <a:rPr lang="en-US" sz="2800" b="1"/>
              <a:t> converts a </a:t>
            </a:r>
            <a:r>
              <a:rPr lang="en-US" sz="2800">
                <a:latin typeface="Arial Black" pitchFamily="34" charset="0"/>
              </a:rPr>
              <a:t>String</a:t>
            </a:r>
            <a:r>
              <a:rPr lang="en-US" sz="2800" b="1"/>
              <a:t> into a </a:t>
            </a:r>
            <a:r>
              <a:rPr lang="en-US" sz="2800">
                <a:latin typeface="Arial Black" pitchFamily="34" charset="0"/>
              </a:rPr>
              <a:t>double</a:t>
            </a:r>
            <a:r>
              <a:rPr lang="en-US" sz="2800" b="1"/>
              <a:t>.</a:t>
            </a:r>
          </a:p>
          <a:p>
            <a:pPr eaLnBrk="1" hangingPunct="1"/>
            <a:endParaRPr lang="en-US" sz="2800" b="1"/>
          </a:p>
          <a:p>
            <a:pPr eaLnBrk="1" hangingPunct="1"/>
            <a:r>
              <a:rPr lang="en-US" sz="2800" b="1"/>
              <a:t>Parameters that include non-numerical characters will compile, but will cause a </a:t>
            </a:r>
          </a:p>
          <a:p>
            <a:pPr eaLnBrk="1" hangingPunct="1"/>
            <a:r>
              <a:rPr lang="en-US" sz="2800" b="1" i="1"/>
              <a:t>run-time error.</a:t>
            </a:r>
            <a:r>
              <a:rPr lang="en-US" sz="28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037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Comparing</a:t>
            </a:r>
          </a:p>
        </p:txBody>
      </p:sp>
      <p:sp>
        <p:nvSpPr>
          <p:cNvPr id="3379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3796" name="WordArt 2"/>
          <p:cNvSpPr>
            <a:spLocks noChangeArrowheads="1" noChangeShapeType="1" noTextEdit="1"/>
          </p:cNvSpPr>
          <p:nvPr/>
        </p:nvSpPr>
        <p:spPr bwMode="auto">
          <a:xfrm>
            <a:off x="381000" y="38100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1702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Java0809.java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This program checks equality of strings using the == operator.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This program has unexpected results.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import </a:t>
            </a:r>
            <a:r>
              <a:rPr lang="en-US" sz="1700" b="1" dirty="0" err="1">
                <a:latin typeface="Times New Roman" pitchFamily="18" charset="0"/>
              </a:rPr>
              <a:t>java.util.Scanner</a:t>
            </a:r>
            <a:r>
              <a:rPr lang="en-US" sz="1700" b="1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public class Java0809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public static void main (String </a:t>
            </a:r>
            <a:r>
              <a:rPr lang="en-US" sz="1700" b="1" dirty="0" err="1">
                <a:latin typeface="Times New Roman" pitchFamily="18" charset="0"/>
              </a:rPr>
              <a:t>args</a:t>
            </a:r>
            <a:r>
              <a:rPr lang="en-US" sz="1700" b="1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Scanner input = new Scanner(System.in);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      	</a:t>
            </a:r>
            <a:r>
              <a:rPr lang="en-US" sz="1700" b="1" dirty="0" smtClean="0">
                <a:latin typeface="Times New Roman" pitchFamily="18" charset="0"/>
              </a:rPr>
              <a:t>	</a:t>
            </a:r>
            <a:r>
              <a:rPr lang="en-US" sz="1700" b="1" dirty="0" err="1" smtClean="0">
                <a:latin typeface="Times New Roman" pitchFamily="18" charset="0"/>
              </a:rPr>
              <a:t>System.out.print</a:t>
            </a:r>
            <a:r>
              <a:rPr lang="en-US" sz="1700" b="1" dirty="0">
                <a:latin typeface="Times New Roman" pitchFamily="18" charset="0"/>
              </a:rPr>
              <a:t>("Enter a string ===&gt;&gt;  ");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s1 = </a:t>
            </a:r>
            <a:r>
              <a:rPr lang="en-US" sz="1700" b="1" dirty="0" err="1">
                <a:latin typeface="Times New Roman" pitchFamily="18" charset="0"/>
              </a:rPr>
              <a:t>input.nextLine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s2 = "Waltz";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s3 = "Foxtrot";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000" dirty="0">
                <a:latin typeface="Arial Black" panose="020B0A04020102020204" pitchFamily="34" charset="0"/>
              </a:rPr>
              <a:t>		if (s1 == s2)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equals " + s2);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does not equal " + s2);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000" dirty="0">
                <a:latin typeface="Arial Black" panose="020B0A04020102020204" pitchFamily="34" charset="0"/>
              </a:rPr>
              <a:t>		if (s1 == s3)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equals " + s3);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does not equal " + s3);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}</a:t>
            </a:r>
          </a:p>
        </p:txBody>
      </p:sp>
      <p:pic>
        <p:nvPicPr>
          <p:cNvPr id="289797" name="Picture 5" descr="j0282748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2819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9798" name="Picture 6" descr="j0303364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00" y="3124200"/>
            <a:ext cx="6477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33600" y="0"/>
            <a:ext cx="70104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i-FI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Enter </a:t>
            </a:r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string ===&gt;&gt;  Foxtrot</a:t>
            </a:r>
          </a:p>
          <a:p>
            <a:endParaRPr lang="fi-FI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Foxtrot does not equal Waltz</a:t>
            </a:r>
          </a:p>
          <a:p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Foxtrot does not equal </a:t>
            </a:r>
            <a:r>
              <a:rPr lang="fi-FI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Foxtrot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897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1702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Java0810.java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This program demonstrates the &lt;equals&gt; method, which is capable of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// testing equality of string objects correctly.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import </a:t>
            </a:r>
            <a:r>
              <a:rPr lang="en-US" sz="1700" b="1" dirty="0" err="1">
                <a:latin typeface="Times New Roman" pitchFamily="18" charset="0"/>
              </a:rPr>
              <a:t>java.util</a:t>
            </a:r>
            <a:r>
              <a:rPr lang="en-US" sz="1700" b="1" dirty="0">
                <a:latin typeface="Times New Roman" pitchFamily="18" charset="0"/>
              </a:rPr>
              <a:t>.*;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public class Java0810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public static void main (String </a:t>
            </a:r>
            <a:r>
              <a:rPr lang="en-US" sz="1700" b="1" dirty="0" err="1">
                <a:latin typeface="Times New Roman" pitchFamily="18" charset="0"/>
              </a:rPr>
              <a:t>args</a:t>
            </a:r>
            <a:r>
              <a:rPr lang="en-US" sz="1700" b="1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Scanner input = new Scanner(System.in);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      	</a:t>
            </a:r>
            <a:r>
              <a:rPr lang="en-US" sz="1700" b="1" dirty="0" smtClean="0">
                <a:latin typeface="Times New Roman" pitchFamily="18" charset="0"/>
              </a:rPr>
              <a:t>	</a:t>
            </a:r>
            <a:r>
              <a:rPr lang="en-US" sz="1700" b="1" dirty="0" err="1" smtClean="0">
                <a:latin typeface="Times New Roman" pitchFamily="18" charset="0"/>
              </a:rPr>
              <a:t>System.out.print</a:t>
            </a:r>
            <a:r>
              <a:rPr lang="en-US" sz="1700" b="1" dirty="0">
                <a:latin typeface="Times New Roman" pitchFamily="18" charset="0"/>
              </a:rPr>
              <a:t>("Enter a string ===&gt;&gt;  ");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s1 = </a:t>
            </a:r>
            <a:r>
              <a:rPr lang="en-US" sz="1700" b="1" dirty="0" err="1">
                <a:latin typeface="Times New Roman" pitchFamily="18" charset="0"/>
              </a:rPr>
              <a:t>input.nextLine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s2 = "Waltz";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String s3 = "Foxtrot";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endParaRPr lang="en-US" sz="1700" b="1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000" dirty="0">
                <a:latin typeface="Arial Black" panose="020B0A04020102020204" pitchFamily="34" charset="0"/>
              </a:rPr>
              <a:t>		if (s1.equals(s2))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equals " + s2);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does not equal " + s2);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2000" dirty="0">
                <a:latin typeface="Arial Black" panose="020B0A04020102020204" pitchFamily="34" charset="0"/>
              </a:rPr>
              <a:t>		if (s1.equals(s3))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equals " + s3);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(s1 + " does not equals " + s3);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sz="1700" b="1" dirty="0" smtClean="0">
                <a:latin typeface="Times New Roman" pitchFamily="18" charset="0"/>
              </a:rPr>
              <a:t>}</a:t>
            </a:r>
            <a:endParaRPr lang="en-US" sz="1700" b="1" dirty="0">
              <a:latin typeface="Times New Roman" pitchFamily="18" charset="0"/>
            </a:endParaRPr>
          </a:p>
        </p:txBody>
      </p:sp>
      <p:pic>
        <p:nvPicPr>
          <p:cNvPr id="292870" name="Picture 6" descr="MCj0105192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895600"/>
            <a:ext cx="1814513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2871" name="Picture 7" descr="MCj0098039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667000"/>
            <a:ext cx="15652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33600" y="0"/>
            <a:ext cx="70104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i-FI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Enter </a:t>
            </a:r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string ===&gt;&gt;  Foxtrot</a:t>
            </a:r>
          </a:p>
          <a:p>
            <a:endParaRPr lang="fi-FI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Foxtrot does not equal Waltz</a:t>
            </a:r>
          </a:p>
          <a:p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Foxtrot </a:t>
            </a:r>
            <a:r>
              <a:rPr lang="fi-FI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equals Foxtrot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2928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35401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endParaRPr lang="en-US" sz="2800" b="1">
              <a:latin typeface="Courier New" pitchFamily="49" charset="0"/>
            </a:endParaRPr>
          </a:p>
          <a:p>
            <a:pPr eaLnBrk="1" hangingPunct="1"/>
            <a:r>
              <a:rPr lang="en-US" sz="2800" b="1">
                <a:latin typeface="Courier New" pitchFamily="49" charset="0"/>
              </a:rPr>
              <a:t>int x = 10;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int y = 10;</a:t>
            </a:r>
          </a:p>
          <a:p>
            <a:pPr eaLnBrk="1" hangingPunct="1"/>
            <a:r>
              <a:rPr lang="en-US" sz="2800" b="1">
                <a:latin typeface="Courier New" pitchFamily="49" charset="0"/>
              </a:rPr>
              <a:t>int z = 20;</a:t>
            </a:r>
            <a:endParaRPr lang="en-US" sz="2800" b="1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What Is Going On?  Part 1</a:t>
            </a:r>
          </a:p>
        </p:txBody>
      </p:sp>
      <p:graphicFrame>
        <p:nvGraphicFramePr>
          <p:cNvPr id="311352" name="Group 56"/>
          <p:cNvGraphicFramePr>
            <a:graphicFrameLocks noGrp="1"/>
          </p:cNvGraphicFramePr>
          <p:nvPr/>
        </p:nvGraphicFramePr>
        <p:xfrm>
          <a:off x="7620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08" name="Group 12"/>
          <p:cNvGraphicFramePr>
            <a:graphicFrameLocks noGrp="1"/>
          </p:cNvGraphicFramePr>
          <p:nvPr/>
        </p:nvGraphicFramePr>
        <p:xfrm>
          <a:off x="35052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34" name="Group 38"/>
          <p:cNvGraphicFramePr>
            <a:graphicFrameLocks noGrp="1"/>
          </p:cNvGraphicFramePr>
          <p:nvPr/>
        </p:nvGraphicFramePr>
        <p:xfrm>
          <a:off x="62484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11353" name="WordArt 57"/>
          <p:cNvSpPr>
            <a:spLocks noChangeArrowheads="1" noChangeShapeType="1" noTextEdit="1"/>
          </p:cNvSpPr>
          <p:nvPr/>
        </p:nvSpPr>
        <p:spPr bwMode="auto">
          <a:xfrm>
            <a:off x="228600" y="5029200"/>
            <a:ext cx="8672513" cy="1676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87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equality operator == works with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primitive data types like int.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x == y        x != z</a:t>
            </a:r>
          </a:p>
        </p:txBody>
      </p:sp>
      <p:sp>
        <p:nvSpPr>
          <p:cNvPr id="311354" name="Rectangle 58"/>
          <p:cNvSpPr>
            <a:spLocks noChangeArrowheads="1"/>
          </p:cNvSpPr>
          <p:nvPr/>
        </p:nvSpPr>
        <p:spPr bwMode="auto">
          <a:xfrm>
            <a:off x="685800" y="2133600"/>
            <a:ext cx="7848600" cy="762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7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13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113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53" grpId="0" animBg="1"/>
      <p:bldP spid="31135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What Is Going On?  Part 2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41910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endParaRPr lang="en-US" sz="3600" b="1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</p:txBody>
      </p:sp>
      <p:graphicFrame>
        <p:nvGraphicFramePr>
          <p:cNvPr id="311352" name="Group 56"/>
          <p:cNvGraphicFramePr>
            <a:graphicFrameLocks noGrp="1"/>
          </p:cNvGraphicFramePr>
          <p:nvPr/>
        </p:nvGraphicFramePr>
        <p:xfrm>
          <a:off x="7620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@dff6ccd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08" name="Group 12"/>
          <p:cNvGraphicFramePr>
            <a:graphicFrameLocks noGrp="1"/>
          </p:cNvGraphicFramePr>
          <p:nvPr/>
        </p:nvGraphicFramePr>
        <p:xfrm>
          <a:off x="35052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16" name="Group 20"/>
          <p:cNvGraphicFramePr>
            <a:graphicFrameLocks noGrp="1"/>
          </p:cNvGraphicFramePr>
          <p:nvPr/>
        </p:nvGraphicFramePr>
        <p:xfrm>
          <a:off x="7620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dff6ccd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Foxtrot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24" name="Group 28"/>
          <p:cNvGraphicFramePr>
            <a:graphicFrameLocks noGrp="1"/>
          </p:cNvGraphicFramePr>
          <p:nvPr/>
        </p:nvGraphicFramePr>
        <p:xfrm>
          <a:off x="35052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Waltz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7924" name="Line 36"/>
          <p:cNvSpPr>
            <a:spLocks noChangeShapeType="1"/>
          </p:cNvSpPr>
          <p:nvPr/>
        </p:nvSpPr>
        <p:spPr bwMode="auto">
          <a:xfrm>
            <a:off x="19050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46482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1334" name="Group 38"/>
          <p:cNvGraphicFramePr>
            <a:graphicFrameLocks noGrp="1"/>
          </p:cNvGraphicFramePr>
          <p:nvPr/>
        </p:nvGraphicFramePr>
        <p:xfrm>
          <a:off x="62484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342" name="Group 46"/>
          <p:cNvGraphicFramePr>
            <a:graphicFrameLocks noGrp="1"/>
          </p:cNvGraphicFramePr>
          <p:nvPr/>
        </p:nvGraphicFramePr>
        <p:xfrm>
          <a:off x="62484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Foxtrot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73914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353" name="WordArt 57"/>
          <p:cNvSpPr>
            <a:spLocks noChangeArrowheads="1" noChangeShapeType="1" noTextEdit="1"/>
          </p:cNvSpPr>
          <p:nvPr/>
        </p:nvSpPr>
        <p:spPr bwMode="auto">
          <a:xfrm>
            <a:off x="228600" y="5572125"/>
            <a:ext cx="8672513" cy="11334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870"/>
              </a:avLst>
            </a:prstTxWarp>
          </a:bodyPr>
          <a:lstStyle/>
          <a:p>
            <a:pPr algn="ctr">
              <a:defRPr/>
            </a:pP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equality operator == does not work with objects because</a:t>
            </a:r>
          </a:p>
          <a:p>
            <a:pPr algn="ctr">
              <a:defRPr/>
            </a:pP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 compares the </a:t>
            </a:r>
            <a:r>
              <a:rPr lang="en-US" sz="3600" u="sng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Shallow Values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which are </a:t>
            </a:r>
            <a:r>
              <a:rPr lang="en-US" sz="3600" u="sng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memory addresses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.</a:t>
            </a:r>
          </a:p>
        </p:txBody>
      </p:sp>
      <p:sp>
        <p:nvSpPr>
          <p:cNvPr id="311354" name="Rectangle 58"/>
          <p:cNvSpPr>
            <a:spLocks noChangeArrowheads="1"/>
          </p:cNvSpPr>
          <p:nvPr/>
        </p:nvSpPr>
        <p:spPr bwMode="auto">
          <a:xfrm>
            <a:off x="685800" y="2133600"/>
            <a:ext cx="7848600" cy="762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6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13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113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5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What Is Going On?  Part 3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41910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endParaRPr lang="en-US" sz="3600" b="1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  <a:p>
            <a:pPr algn="just" eaLnBrk="1" hangingPunct="1"/>
            <a:endParaRPr lang="en-US" sz="2800" b="1">
              <a:sym typeface="Symbol" pitchFamily="18" charset="2"/>
            </a:endParaRPr>
          </a:p>
        </p:txBody>
      </p:sp>
      <p:graphicFrame>
        <p:nvGraphicFramePr>
          <p:cNvPr id="314372" name="Group 4"/>
          <p:cNvGraphicFramePr>
            <a:graphicFrameLocks noGrp="1"/>
          </p:cNvGraphicFramePr>
          <p:nvPr/>
        </p:nvGraphicFramePr>
        <p:xfrm>
          <a:off x="7620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@dff6ccd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380" name="Group 12"/>
          <p:cNvGraphicFramePr>
            <a:graphicFrameLocks noGrp="1"/>
          </p:cNvGraphicFramePr>
          <p:nvPr/>
        </p:nvGraphicFramePr>
        <p:xfrm>
          <a:off x="35052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388" name="Group 20"/>
          <p:cNvGraphicFramePr>
            <a:graphicFrameLocks noGrp="1"/>
          </p:cNvGraphicFramePr>
          <p:nvPr/>
        </p:nvGraphicFramePr>
        <p:xfrm>
          <a:off x="7620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dff6ccd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Foxtrot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396" name="Group 28"/>
          <p:cNvGraphicFramePr>
            <a:graphicFrameLocks noGrp="1"/>
          </p:cNvGraphicFramePr>
          <p:nvPr/>
        </p:nvGraphicFramePr>
        <p:xfrm>
          <a:off x="35052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Waltz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8948" name="Line 36"/>
          <p:cNvSpPr>
            <a:spLocks noChangeShapeType="1"/>
          </p:cNvSpPr>
          <p:nvPr/>
        </p:nvSpPr>
        <p:spPr bwMode="auto">
          <a:xfrm>
            <a:off x="19050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49" name="Line 37"/>
          <p:cNvSpPr>
            <a:spLocks noChangeShapeType="1"/>
          </p:cNvSpPr>
          <p:nvPr/>
        </p:nvSpPr>
        <p:spPr bwMode="auto">
          <a:xfrm>
            <a:off x="46482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4406" name="Group 38"/>
          <p:cNvGraphicFramePr>
            <a:graphicFrameLocks noGrp="1"/>
          </p:cNvGraphicFramePr>
          <p:nvPr/>
        </p:nvGraphicFramePr>
        <p:xfrm>
          <a:off x="6248400" y="16002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414" name="Group 46"/>
          <p:cNvGraphicFramePr>
            <a:graphicFrameLocks noGrp="1"/>
          </p:cNvGraphicFramePr>
          <p:nvPr/>
        </p:nvGraphicFramePr>
        <p:xfrm>
          <a:off x="62484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Foxtrot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8966" name="Line 54"/>
          <p:cNvSpPr>
            <a:spLocks noChangeShapeType="1"/>
          </p:cNvSpPr>
          <p:nvPr/>
        </p:nvSpPr>
        <p:spPr bwMode="auto">
          <a:xfrm>
            <a:off x="7391400" y="28194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4423" name="WordArt 55"/>
          <p:cNvSpPr>
            <a:spLocks noChangeArrowheads="1" noChangeShapeType="1" noTextEdit="1"/>
          </p:cNvSpPr>
          <p:nvPr/>
        </p:nvSpPr>
        <p:spPr bwMode="auto">
          <a:xfrm>
            <a:off x="228600" y="5572125"/>
            <a:ext cx="8672513" cy="11334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870"/>
              </a:avLst>
            </a:prstTxWarp>
          </a:bodyPr>
          <a:lstStyle/>
          <a:p>
            <a:pPr algn="ctr">
              <a:defRPr/>
            </a:pP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equals method should be used with objects like Strings because</a:t>
            </a:r>
          </a:p>
          <a:p>
            <a:pPr algn="ctr">
              <a:defRPr/>
            </a:pP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 compares the </a:t>
            </a:r>
            <a:r>
              <a:rPr lang="en-US" sz="3600" u="sng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Deep Values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which is the </a:t>
            </a:r>
            <a:r>
              <a:rPr lang="en-US" sz="3600" u="sng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actual information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stored.</a:t>
            </a:r>
          </a:p>
        </p:txBody>
      </p:sp>
      <p:sp>
        <p:nvSpPr>
          <p:cNvPr id="314424" name="Rectangle 56"/>
          <p:cNvSpPr>
            <a:spLocks noChangeArrowheads="1"/>
          </p:cNvSpPr>
          <p:nvPr/>
        </p:nvSpPr>
        <p:spPr bwMode="auto">
          <a:xfrm>
            <a:off x="685800" y="4495800"/>
            <a:ext cx="7848600" cy="762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5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44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144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4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752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</a:t>
            </a:r>
            <a:br>
              <a:rPr lang="en-US" sz="4800" smtClean="0">
                <a:latin typeface="Arial Black" pitchFamily="34" charset="0"/>
              </a:rPr>
            </a:br>
            <a:r>
              <a:rPr lang="en-US" sz="4800" smtClean="0">
                <a:latin typeface="Arial Black" pitchFamily="34" charset="0"/>
              </a:rPr>
              <a:t>Bottom Line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57200" y="1847850"/>
            <a:ext cx="8305800" cy="397031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2800" b="1" dirty="0"/>
              <a:t>If you are comparing simple data types like 2 </a:t>
            </a:r>
            <a:r>
              <a:rPr lang="en-US" sz="2800" dirty="0" err="1">
                <a:latin typeface="Arial Black" pitchFamily="34" charset="0"/>
              </a:rPr>
              <a:t>int</a:t>
            </a:r>
            <a:r>
              <a:rPr lang="en-US" sz="2800" b="1" dirty="0" err="1"/>
              <a:t>s</a:t>
            </a:r>
            <a:r>
              <a:rPr lang="en-US" sz="2800" b="1" dirty="0"/>
              <a:t>, 2 </a:t>
            </a:r>
            <a:r>
              <a:rPr lang="en-US" sz="2800" dirty="0">
                <a:latin typeface="Arial Black" pitchFamily="34" charset="0"/>
              </a:rPr>
              <a:t>double</a:t>
            </a:r>
            <a:r>
              <a:rPr lang="en-US" sz="2800" b="1" dirty="0"/>
              <a:t>s, 2 </a:t>
            </a:r>
            <a:r>
              <a:rPr lang="en-US" sz="2800" dirty="0">
                <a:latin typeface="Arial Black" pitchFamily="34" charset="0"/>
              </a:rPr>
              <a:t>char</a:t>
            </a:r>
            <a:r>
              <a:rPr lang="en-US" sz="2800" b="1" dirty="0"/>
              <a:t>s or 2 </a:t>
            </a:r>
            <a:r>
              <a:rPr lang="en-US" sz="2800" dirty="0" err="1">
                <a:latin typeface="Arial Black" pitchFamily="34" charset="0"/>
              </a:rPr>
              <a:t>boolean</a:t>
            </a:r>
            <a:r>
              <a:rPr lang="en-US" sz="2800" b="1" dirty="0" err="1"/>
              <a:t>s</a:t>
            </a:r>
            <a:r>
              <a:rPr lang="en-US" sz="2800" b="1" dirty="0"/>
              <a:t>, use the </a:t>
            </a:r>
            <a:r>
              <a:rPr lang="en-US" sz="2800" dirty="0">
                <a:latin typeface="Arial Black" pitchFamily="34" charset="0"/>
              </a:rPr>
              <a:t>==</a:t>
            </a:r>
            <a:r>
              <a:rPr lang="en-US" sz="2800" b="1" dirty="0"/>
              <a:t> operator.</a:t>
            </a:r>
          </a:p>
          <a:p>
            <a:pPr algn="just" eaLnBrk="1" hangingPunct="1"/>
            <a:endParaRPr lang="en-US" sz="2800" b="1" dirty="0"/>
          </a:p>
          <a:p>
            <a:pPr algn="just" eaLnBrk="1" hangingPunct="1"/>
            <a:r>
              <a:rPr lang="en-US" sz="2800" b="1" dirty="0"/>
              <a:t>If you are comparing </a:t>
            </a:r>
            <a:r>
              <a:rPr lang="en-US" sz="2800" b="1" i="1" dirty="0"/>
              <a:t>objects</a:t>
            </a:r>
            <a:r>
              <a:rPr lang="en-US" sz="2800" b="1" dirty="0"/>
              <a:t> – and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s are </a:t>
            </a:r>
            <a:r>
              <a:rPr lang="en-US" sz="2800" b="1" i="1" dirty="0"/>
              <a:t>objects</a:t>
            </a:r>
            <a:r>
              <a:rPr lang="en-US" sz="2800" b="1" dirty="0"/>
              <a:t> – you need to use the </a:t>
            </a:r>
            <a:r>
              <a:rPr lang="en-US" sz="2800" dirty="0">
                <a:latin typeface="Arial Black" pitchFamily="34" charset="0"/>
              </a:rPr>
              <a:t>equals</a:t>
            </a:r>
            <a:r>
              <a:rPr lang="en-US" sz="2800" b="1" dirty="0"/>
              <a:t> method.</a:t>
            </a:r>
          </a:p>
          <a:p>
            <a:pPr algn="just" eaLnBrk="1" hangingPunct="1"/>
            <a:endParaRPr lang="en-US" sz="2800" b="1" dirty="0"/>
          </a:p>
          <a:p>
            <a:pPr algn="just" eaLnBrk="1" hangingPunct="1"/>
            <a:r>
              <a:rPr lang="en-US" sz="2800" b="1" dirty="0"/>
              <a:t>The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 class has its own </a:t>
            </a:r>
            <a:r>
              <a:rPr lang="en-US" sz="2800" dirty="0">
                <a:latin typeface="Arial Black" pitchFamily="34" charset="0"/>
              </a:rPr>
              <a:t>equals</a:t>
            </a:r>
            <a:r>
              <a:rPr lang="en-US" sz="2800" b="1" dirty="0"/>
              <a:t> method.</a:t>
            </a:r>
          </a:p>
          <a:p>
            <a:pPr algn="just" eaLnBrk="1" hangingPunct="1"/>
            <a:r>
              <a:rPr lang="en-US" sz="2800" b="1" dirty="0"/>
              <a:t>For other classes, you have to create your own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  <p:pic>
        <p:nvPicPr>
          <p:cNvPr id="41988" name="Picture 2" descr="C:\Documents and Settings\JohnSchram\Local Settings\Temporary Internet Files\Content.IE5\TD4835CH\MCj0282890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0"/>
            <a:ext cx="174307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3" descr="C:\Documents and Settings\JohnSchram\Local Settings\Temporary Internet Files\Content.IE5\BGQVOQO6\MCj0326764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90488"/>
            <a:ext cx="1819275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Java0811.java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This program demonstrates the &lt;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compareTo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&gt; method, which returns an integer value.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The returned value indicates which string alphabetically goes before the other.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If the value is negative, the original string goes first.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If the value is positive, the parameter string goes first.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// If the value is zero, both strings are equal.</a:t>
            </a:r>
          </a:p>
          <a:p>
            <a:pPr eaLnBrk="1" hangingPunct="1">
              <a:lnSpc>
                <a:spcPct val="92000"/>
              </a:lnSpc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public class Java0811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public static void main (String 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String s1 = "AARDVARK";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String s2 = "ZEBRA";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String s3 = "AARDVARK";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String s4 = "BART";</a:t>
            </a:r>
          </a:p>
          <a:p>
            <a:pPr eaLnBrk="1" hangingPunct="1">
              <a:lnSpc>
                <a:spcPct val="92000"/>
              </a:lnSpc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Arial Black" panose="020B0A04020102020204" pitchFamily="34" charset="0"/>
                <a:cs typeface="Times New Roman" pitchFamily="18" charset="0"/>
              </a:rPr>
              <a:t>int</a:t>
            </a: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 value1 = s1.compareTo(s2);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Arial Black" panose="020B0A04020102020204" pitchFamily="34" charset="0"/>
                <a:cs typeface="Times New Roman" pitchFamily="18" charset="0"/>
              </a:rPr>
              <a:t>int</a:t>
            </a: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 value2 = s1.compareTo(s3);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Arial Black" panose="020B0A04020102020204" pitchFamily="34" charset="0"/>
                <a:cs typeface="Times New Roman" pitchFamily="18" charset="0"/>
              </a:rPr>
              <a:t>int</a:t>
            </a: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 value3 = s2.compareTo(s1);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Arial Black" panose="020B0A04020102020204" pitchFamily="34" charset="0"/>
                <a:cs typeface="Times New Roman" pitchFamily="18" charset="0"/>
              </a:rPr>
              <a:t>int</a:t>
            </a:r>
            <a:r>
              <a:rPr lang="en-US" sz="2000" dirty="0">
                <a:latin typeface="Arial Black" panose="020B0A04020102020204" pitchFamily="34" charset="0"/>
                <a:cs typeface="Times New Roman" pitchFamily="18" charset="0"/>
              </a:rPr>
              <a:t> value4 = s1.compareTo(s4</a:t>
            </a:r>
            <a:r>
              <a:rPr lang="en-US" sz="2000" dirty="0" smtClean="0">
                <a:latin typeface="Arial Black" panose="020B0A04020102020204" pitchFamily="34" charset="0"/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ct val="92000"/>
              </a:lnSpc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("value1:  " +  value1);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("value2:  " +  value2);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("value3:  " +  value3);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("value4:  " +  value4);</a:t>
            </a:r>
          </a:p>
          <a:p>
            <a:pPr eaLnBrk="1" hangingPunct="1">
              <a:lnSpc>
                <a:spcPct val="92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70000"/>
              </a:lnSpc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0" y="3505200"/>
            <a:ext cx="32004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value1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-25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value2:  0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value3:  25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value4:  -1</a:t>
            </a:r>
            <a:endParaRPr lang="fi-FI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5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817263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String Methods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equals and </a:t>
            </a:r>
            <a:r>
              <a:rPr lang="en-US" sz="4800" dirty="0" err="1" smtClean="0">
                <a:latin typeface="Arial Black" pitchFamily="34" charset="0"/>
              </a:rPr>
              <a:t>compareTo</a:t>
            </a:r>
            <a:endParaRPr lang="en-US" sz="4800" dirty="0" smtClean="0">
              <a:latin typeface="Arial Black" pitchFamily="34" charset="0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57200" y="1817263"/>
            <a:ext cx="8305800" cy="46597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2800" b="1" dirty="0">
                <a:latin typeface="Courier New" pitchFamily="49" charset="0"/>
              </a:rPr>
              <a:t>if (s1.equals(s2))		</a:t>
            </a:r>
          </a:p>
          <a:p>
            <a:pPr algn="just" eaLnBrk="1" hangingPunct="1"/>
            <a:r>
              <a:rPr lang="en-US" sz="2800" b="1" dirty="0" err="1">
                <a:latin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</a:rPr>
              <a:t> </a:t>
            </a:r>
            <a:r>
              <a:rPr lang="en-US" sz="2800" b="1" dirty="0" smtClean="0">
                <a:latin typeface="Courier New" pitchFamily="49" charset="0"/>
              </a:rPr>
              <a:t>difference = </a:t>
            </a:r>
            <a:r>
              <a:rPr lang="en-US" sz="2800" b="1" dirty="0">
                <a:latin typeface="Courier New" pitchFamily="49" charset="0"/>
              </a:rPr>
              <a:t>s3.compareTo(s4);</a:t>
            </a:r>
          </a:p>
          <a:p>
            <a:pPr algn="just" eaLnBrk="1" hangingPunct="1">
              <a:lnSpc>
                <a:spcPct val="80000"/>
              </a:lnSpc>
            </a:pPr>
            <a:endParaRPr lang="en-US" sz="2800" b="1" dirty="0">
              <a:latin typeface="Courier New" pitchFamily="49" charset="0"/>
            </a:endParaRPr>
          </a:p>
          <a:p>
            <a:pPr algn="just" eaLnBrk="1" hangingPunct="1"/>
            <a:r>
              <a:rPr lang="en-US" sz="2800" b="1" dirty="0"/>
              <a:t>Method </a:t>
            </a:r>
            <a:r>
              <a:rPr lang="en-US" sz="2800" dirty="0">
                <a:latin typeface="Arial Black" pitchFamily="34" charset="0"/>
              </a:rPr>
              <a:t>equals</a:t>
            </a:r>
            <a:r>
              <a:rPr lang="en-US" sz="2800" b="1" dirty="0"/>
              <a:t> returns </a:t>
            </a:r>
            <a:r>
              <a:rPr lang="en-US" sz="2800" dirty="0">
                <a:latin typeface="Arial Black" pitchFamily="34" charset="0"/>
              </a:rPr>
              <a:t>true</a:t>
            </a:r>
            <a:r>
              <a:rPr lang="en-US" sz="2800" b="1" dirty="0"/>
              <a:t> if </a:t>
            </a:r>
            <a:r>
              <a:rPr lang="en-US" sz="2800" dirty="0">
                <a:latin typeface="Arial Black" pitchFamily="34" charset="0"/>
              </a:rPr>
              <a:t>s1 </a:t>
            </a:r>
            <a:r>
              <a:rPr lang="en-US" sz="2800" b="1" dirty="0"/>
              <a:t>is equal </a:t>
            </a:r>
          </a:p>
          <a:p>
            <a:pPr algn="just" eaLnBrk="1" hangingPunct="1"/>
            <a:r>
              <a:rPr lang="en-US" sz="2800" b="1" dirty="0"/>
              <a:t>to </a:t>
            </a:r>
            <a:r>
              <a:rPr lang="en-US" sz="2800" dirty="0">
                <a:latin typeface="Arial Black" pitchFamily="34" charset="0"/>
              </a:rPr>
              <a:t>s2</a:t>
            </a:r>
            <a:r>
              <a:rPr lang="en-US" sz="2800" b="1" dirty="0"/>
              <a:t>, and </a:t>
            </a:r>
            <a:r>
              <a:rPr lang="en-US" sz="2800" dirty="0">
                <a:latin typeface="Arial Black" pitchFamily="34" charset="0"/>
              </a:rPr>
              <a:t>false</a:t>
            </a:r>
            <a:r>
              <a:rPr lang="en-US" sz="2800" b="1" dirty="0"/>
              <a:t> </a:t>
            </a:r>
            <a:r>
              <a:rPr lang="en-US" sz="1400" b="1" dirty="0"/>
              <a:t> </a:t>
            </a:r>
            <a:r>
              <a:rPr lang="en-US" sz="2800" b="1" dirty="0"/>
              <a:t>otherwise.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b="1" dirty="0"/>
          </a:p>
          <a:p>
            <a:pPr algn="just" eaLnBrk="1" hangingPunct="1"/>
            <a:r>
              <a:rPr lang="en-US" sz="2800" b="1" dirty="0"/>
              <a:t>Method </a:t>
            </a:r>
            <a:r>
              <a:rPr lang="en-US" sz="2800" dirty="0" err="1">
                <a:latin typeface="Arial Black" pitchFamily="34" charset="0"/>
              </a:rPr>
              <a:t>compareTo</a:t>
            </a:r>
            <a:r>
              <a:rPr lang="en-US" sz="2800" b="1" dirty="0"/>
              <a:t> returns an </a:t>
            </a:r>
            <a:r>
              <a:rPr lang="en-US" sz="2800" dirty="0" err="1">
                <a:latin typeface="Arial Black" pitchFamily="34" charset="0"/>
              </a:rPr>
              <a:t>int</a:t>
            </a:r>
            <a:r>
              <a:rPr lang="en-US" sz="2800" b="1" dirty="0"/>
              <a:t> </a:t>
            </a:r>
            <a:r>
              <a:rPr lang="en-US" sz="2800" b="1" dirty="0" smtClean="0"/>
              <a:t>value </a:t>
            </a:r>
          </a:p>
          <a:p>
            <a:pPr algn="just" eaLnBrk="1" hangingPunct="1"/>
            <a:r>
              <a:rPr lang="en-US" sz="2800" b="1" dirty="0" smtClean="0"/>
              <a:t>based on </a:t>
            </a:r>
            <a:r>
              <a:rPr lang="en-US" sz="2800" b="1" dirty="0"/>
              <a:t>the </a:t>
            </a:r>
            <a:r>
              <a:rPr lang="en-US" sz="2800" b="1" i="1" dirty="0"/>
              <a:t>difference</a:t>
            </a:r>
            <a:r>
              <a:rPr lang="en-US" sz="2800" b="1" dirty="0"/>
              <a:t> between </a:t>
            </a:r>
            <a:r>
              <a:rPr lang="en-US" sz="2800" dirty="0">
                <a:latin typeface="Arial Black" pitchFamily="34" charset="0"/>
              </a:rPr>
              <a:t>s3</a:t>
            </a:r>
            <a:r>
              <a:rPr lang="en-US" sz="2800" b="1" dirty="0"/>
              <a:t> and </a:t>
            </a:r>
            <a:r>
              <a:rPr lang="en-US" sz="2800" dirty="0">
                <a:latin typeface="Arial Black" pitchFamily="34" charset="0"/>
              </a:rPr>
              <a:t>s4</a:t>
            </a:r>
            <a:r>
              <a:rPr lang="en-US" sz="2800" b="1" dirty="0" smtClean="0"/>
              <a:t>.</a:t>
            </a:r>
          </a:p>
          <a:p>
            <a:pPr algn="just" eaLnBrk="1" hangingPunct="1"/>
            <a:r>
              <a:rPr lang="en-US" sz="2800" b="1" dirty="0" smtClean="0"/>
              <a:t>If the </a:t>
            </a:r>
            <a:r>
              <a:rPr lang="en-US" sz="2800" dirty="0" err="1" smtClean="0">
                <a:latin typeface="Arial Black" pitchFamily="34" charset="0"/>
              </a:rPr>
              <a:t>int</a:t>
            </a:r>
            <a:r>
              <a:rPr lang="en-US" sz="2800" b="1" dirty="0" smtClean="0"/>
              <a:t> value is 0, </a:t>
            </a:r>
            <a:r>
              <a:rPr lang="en-US" sz="2800" dirty="0" smtClean="0">
                <a:latin typeface="Arial Black" pitchFamily="34" charset="0"/>
              </a:rPr>
              <a:t>s3</a:t>
            </a:r>
            <a:r>
              <a:rPr lang="en-US" sz="2800" b="1" dirty="0" smtClean="0"/>
              <a:t> and </a:t>
            </a:r>
            <a:r>
              <a:rPr lang="en-US" sz="2800" dirty="0" smtClean="0">
                <a:latin typeface="Arial Black" pitchFamily="34" charset="0"/>
              </a:rPr>
              <a:t>s4</a:t>
            </a:r>
            <a:r>
              <a:rPr lang="en-US" sz="2800" b="1" dirty="0" smtClean="0"/>
              <a:t> are </a:t>
            </a:r>
            <a:r>
              <a:rPr lang="en-US" sz="2800" b="1" u="sng" dirty="0" smtClean="0"/>
              <a:t>equal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algn="just" eaLnBrk="1" hangingPunct="1"/>
            <a:r>
              <a:rPr lang="en-US" sz="2800" b="1" dirty="0"/>
              <a:t>If the </a:t>
            </a:r>
            <a:r>
              <a:rPr lang="en-US" sz="2800" dirty="0" err="1">
                <a:latin typeface="Arial Black" pitchFamily="34" charset="0"/>
              </a:rPr>
              <a:t>int</a:t>
            </a:r>
            <a:r>
              <a:rPr lang="en-US" sz="2800" b="1" dirty="0"/>
              <a:t> value is </a:t>
            </a:r>
            <a:r>
              <a:rPr lang="en-US" sz="2800" b="1" i="1" dirty="0" smtClean="0">
                <a:cs typeface="Arial" charset="0"/>
              </a:rPr>
              <a:t>negative</a:t>
            </a:r>
            <a:r>
              <a:rPr lang="en-US" sz="2800" b="1" dirty="0" smtClean="0">
                <a:cs typeface="Arial" charset="0"/>
              </a:rPr>
              <a:t>, </a:t>
            </a:r>
            <a:r>
              <a:rPr lang="en-US" sz="2800" dirty="0" smtClean="0">
                <a:latin typeface="Arial Black" pitchFamily="34" charset="0"/>
              </a:rPr>
              <a:t>s3 </a:t>
            </a:r>
            <a:r>
              <a:rPr lang="en-US" sz="2800" b="1" dirty="0"/>
              <a:t>goes </a:t>
            </a:r>
            <a:r>
              <a:rPr lang="en-US" sz="2800" b="1" u="sng" dirty="0"/>
              <a:t>before</a:t>
            </a:r>
            <a:r>
              <a:rPr lang="en-US" sz="2800" dirty="0">
                <a:latin typeface="Arial Black" pitchFamily="34" charset="0"/>
              </a:rPr>
              <a:t> </a:t>
            </a:r>
            <a:r>
              <a:rPr lang="en-US" sz="2800" dirty="0" smtClean="0">
                <a:latin typeface="Arial Black" pitchFamily="34" charset="0"/>
              </a:rPr>
              <a:t>s4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algn="just" eaLnBrk="1" hangingPunct="1"/>
            <a:r>
              <a:rPr lang="en-US" sz="2800" b="1" dirty="0"/>
              <a:t>If the </a:t>
            </a:r>
            <a:r>
              <a:rPr lang="en-US" sz="2800" dirty="0" err="1">
                <a:latin typeface="Arial Black" pitchFamily="34" charset="0"/>
              </a:rPr>
              <a:t>int</a:t>
            </a:r>
            <a:r>
              <a:rPr lang="en-US" sz="2800" b="1" dirty="0"/>
              <a:t> value is </a:t>
            </a:r>
            <a:r>
              <a:rPr lang="en-US" sz="2800" b="1" i="1" dirty="0" smtClean="0">
                <a:cs typeface="Arial" charset="0"/>
              </a:rPr>
              <a:t>positive</a:t>
            </a:r>
            <a:r>
              <a:rPr lang="en-US" sz="2800" b="1" dirty="0" smtClean="0">
                <a:cs typeface="Arial" charset="0"/>
              </a:rPr>
              <a:t>, </a:t>
            </a:r>
            <a:r>
              <a:rPr lang="en-US" sz="2800" dirty="0" smtClean="0">
                <a:latin typeface="Arial Black" pitchFamily="34" charset="0"/>
              </a:rPr>
              <a:t>s3 </a:t>
            </a:r>
            <a:r>
              <a:rPr lang="en-US" sz="2800" b="1" dirty="0"/>
              <a:t>goes </a:t>
            </a:r>
            <a:r>
              <a:rPr lang="en-US" sz="2800" b="1" u="sng" dirty="0"/>
              <a:t>after</a:t>
            </a:r>
            <a:r>
              <a:rPr lang="en-US" sz="2800" b="1" dirty="0"/>
              <a:t> </a:t>
            </a:r>
            <a:r>
              <a:rPr lang="en-US" sz="2800" dirty="0" smtClean="0">
                <a:latin typeface="Arial Black" pitchFamily="34" charset="0"/>
              </a:rPr>
              <a:t>s4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2811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Altering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379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3796" name="WordArt 2"/>
          <p:cNvSpPr>
            <a:spLocks noChangeArrowheads="1" noChangeShapeType="1" noTextEdit="1"/>
          </p:cNvSpPr>
          <p:nvPr/>
        </p:nvSpPr>
        <p:spPr bwMode="auto">
          <a:xfrm>
            <a:off x="381000" y="38100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424669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// Java0812.java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// This program demonstrates using the &lt;trim&gt; method, which removes all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// white space characters at the beginning and end of a string object.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// NOTE: "White Spaces" are invisible characters like spaces and tabs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4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public class Java0812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public static void main (String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</a:pPr>
            <a:r>
              <a:rPr lang="en-US" sz="2000" b="1" dirty="0" smtClean="0">
                <a:latin typeface="Arial Black" panose="020B0A04020102020204" pitchFamily="34" charset="0"/>
                <a:cs typeface="Times New Roman" pitchFamily="18" charset="0"/>
              </a:rPr>
              <a:t>      	String </a:t>
            </a: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s1 = "AARDVARK";</a:t>
            </a:r>
          </a:p>
          <a:p>
            <a:pPr eaLnBrk="1" hangingPunct="1">
              <a:lnSpc>
                <a:spcPct val="94000"/>
              </a:lnSpc>
            </a:pP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latin typeface="Arial Black" panose="020B0A04020102020204" pitchFamily="34" charset="0"/>
                <a:cs typeface="Times New Roman" pitchFamily="18" charset="0"/>
              </a:rPr>
              <a:t>	String </a:t>
            </a: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s2 = "     </a:t>
            </a:r>
            <a:r>
              <a:rPr lang="en-US" sz="2000" b="1" dirty="0" smtClean="0">
                <a:latin typeface="Arial Black" panose="020B0A04020102020204" pitchFamily="34" charset="0"/>
                <a:cs typeface="Times New Roman" pitchFamily="18" charset="0"/>
              </a:rPr>
              <a:t>         AARDVARK\t\t";</a:t>
            </a:r>
            <a:endParaRPr lang="en-US" sz="2000" b="1" dirty="0">
              <a:latin typeface="Arial Black" panose="020B0A0402010202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latin typeface="Arial Black" panose="020B0A04020102020204" pitchFamily="34" charset="0"/>
                <a:cs typeface="Times New Roman" pitchFamily="18" charset="0"/>
              </a:rPr>
              <a:t>	String </a:t>
            </a: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s3 = s1.trim();</a:t>
            </a:r>
          </a:p>
          <a:p>
            <a:pPr eaLnBrk="1" hangingPunct="1">
              <a:lnSpc>
                <a:spcPct val="94000"/>
              </a:lnSpc>
            </a:pP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latin typeface="Arial Black" panose="020B0A04020102020204" pitchFamily="34" charset="0"/>
                <a:cs typeface="Times New Roman" pitchFamily="18" charset="0"/>
              </a:rPr>
              <a:t>	String </a:t>
            </a:r>
            <a:r>
              <a:rPr lang="en-US" sz="2000" b="1" dirty="0">
                <a:latin typeface="Arial Black" panose="020B0A04020102020204" pitchFamily="34" charset="0"/>
                <a:cs typeface="Times New Roman" pitchFamily="18" charset="0"/>
              </a:rPr>
              <a:t>s4 = s2.trim();</a:t>
            </a:r>
          </a:p>
          <a:p>
            <a:pPr eaLnBrk="1" hangingPunct="1">
              <a:lnSpc>
                <a:spcPct val="94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("start" + s1 + "end");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("start" + s2 + "end");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("start" + s3 + "end");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("start" + s4 + "end");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("s1 length: " +  s1.length());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("s2 length: " +  s2.length());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("s3 length: " +  s3.length());</a:t>
            </a:r>
          </a:p>
          <a:p>
            <a:pPr eaLnBrk="1" hangingPunct="1">
              <a:lnSpc>
                <a:spcPct val="94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("s4 length: " +  s4.length());</a:t>
            </a:r>
          </a:p>
          <a:p>
            <a:pPr eaLnBrk="1" hangingPunct="1">
              <a:lnSpc>
                <a:spcPct val="8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1400" y="0"/>
            <a:ext cx="5562600" cy="23429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startAARDVARKend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     AARDVARK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	   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startAARDVARKend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startAARDVARKend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s1 length: 8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s2 length: 15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s3 length: 8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s4 length: 8</a:t>
            </a:r>
          </a:p>
        </p:txBody>
      </p:sp>
    </p:spTree>
    <p:extLst>
      <p:ext uri="{BB962C8B-B14F-4D97-AF65-F5344CB8AC3E}">
        <p14:creationId xmlns:p14="http://schemas.microsoft.com/office/powerpoint/2010/main" val="68017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676401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String Method trim and White Space characters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52400" y="1676400"/>
            <a:ext cx="8839200" cy="505663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"White Spaces" are invisible characters like spaces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&amp; tabs.</a:t>
            </a:r>
          </a:p>
          <a:p>
            <a:pPr algn="just" eaLnBrk="1" hangingPunct="1"/>
            <a:endParaRPr lang="en-US" b="1" dirty="0">
              <a:latin typeface="Courier New" pitchFamily="49" charset="0"/>
            </a:endParaRPr>
          </a:p>
          <a:p>
            <a:pPr algn="just" eaLnBrk="1" hangingPunct="1"/>
            <a:r>
              <a:rPr lang="en-US" sz="2400" b="1" dirty="0">
                <a:latin typeface="Courier New" pitchFamily="49" charset="0"/>
              </a:rPr>
              <a:t> String s1 = "AARDVARK";</a:t>
            </a:r>
          </a:p>
          <a:p>
            <a:pPr algn="just" eaLnBrk="1" hangingPunct="1"/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</a:rPr>
              <a:t>String </a:t>
            </a:r>
            <a:r>
              <a:rPr lang="en-US" sz="2400" b="1" dirty="0">
                <a:latin typeface="Courier New" pitchFamily="49" charset="0"/>
              </a:rPr>
              <a:t>s2 = "     AARDVARK\t\t";</a:t>
            </a:r>
          </a:p>
          <a:p>
            <a:pPr algn="just" eaLnBrk="1" hangingPunct="1"/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</a:rPr>
              <a:t>String </a:t>
            </a:r>
            <a:r>
              <a:rPr lang="en-US" sz="2400" b="1" dirty="0">
                <a:latin typeface="Courier New" pitchFamily="49" charset="0"/>
              </a:rPr>
              <a:t>s3 = s1.trim();</a:t>
            </a:r>
          </a:p>
          <a:p>
            <a:pPr algn="just" eaLnBrk="1" hangingPunct="1"/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</a:rPr>
              <a:t>String </a:t>
            </a:r>
            <a:r>
              <a:rPr lang="en-US" sz="2400" b="1" dirty="0">
                <a:latin typeface="Courier New" pitchFamily="49" charset="0"/>
              </a:rPr>
              <a:t>s4 = s2.trim();</a:t>
            </a:r>
          </a:p>
          <a:p>
            <a:pPr algn="just" eaLnBrk="1" hangingPunct="1"/>
            <a:endParaRPr lang="en-US" b="1" dirty="0" smtClean="0"/>
          </a:p>
          <a:p>
            <a:pPr algn="just" eaLnBrk="1" hangingPunct="1"/>
            <a:r>
              <a:rPr lang="en-US" sz="2400" b="1" dirty="0" smtClean="0"/>
              <a:t>Method </a:t>
            </a:r>
            <a:r>
              <a:rPr lang="en-US" sz="2400" dirty="0" smtClean="0">
                <a:latin typeface="Arial Black" pitchFamily="34" charset="0"/>
              </a:rPr>
              <a:t>trim</a:t>
            </a:r>
            <a:r>
              <a:rPr lang="en-US" sz="2400" b="1" dirty="0" smtClean="0"/>
              <a:t> removes all </a:t>
            </a:r>
            <a:r>
              <a:rPr lang="en-US" sz="2400" b="1" i="1" dirty="0" smtClean="0"/>
              <a:t>white space</a:t>
            </a:r>
            <a:r>
              <a:rPr lang="en-US" sz="2400" b="1" dirty="0" smtClean="0"/>
              <a:t> characters at the beginning and end of a string object.</a:t>
            </a:r>
          </a:p>
          <a:p>
            <a:pPr algn="just" eaLnBrk="1" hangingPunct="1"/>
            <a:endParaRPr lang="en-US" sz="1400" b="1" dirty="0" smtClean="0"/>
          </a:p>
          <a:p>
            <a:pPr algn="just" eaLnBrk="1" hangingPunct="1"/>
            <a:endParaRPr lang="en-US" sz="2400" b="1" dirty="0" smtClean="0"/>
          </a:p>
          <a:p>
            <a:pPr algn="just" eaLnBrk="1" hangingPunct="1"/>
            <a:endParaRPr lang="en-US" sz="2400" b="1" dirty="0"/>
          </a:p>
          <a:p>
            <a:pPr algn="just" eaLnBrk="1" hangingPunct="1"/>
            <a:endParaRPr lang="en-US" sz="2400" b="1" dirty="0" smtClean="0"/>
          </a:p>
          <a:p>
            <a:pPr algn="just" eaLnBrk="1" hangingPunct="1"/>
            <a:endParaRPr lang="en-US" sz="2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01340"/>
              </p:ext>
            </p:extLst>
          </p:nvPr>
        </p:nvGraphicFramePr>
        <p:xfrm>
          <a:off x="163449" y="5120640"/>
          <a:ext cx="881710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352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s1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s2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spc="-40" baseline="0" dirty="0" smtClean="0">
                          <a:latin typeface="Arial Narrow" panose="020B0606020202030204" pitchFamily="34" charset="0"/>
                        </a:rPr>
                        <a:t>space</a:t>
                      </a:r>
                      <a:endParaRPr lang="en-US" sz="1600" i="1" spc="-40" baseline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spc="-40" baseline="0" smtClean="0">
                          <a:latin typeface="Arial Narrow" panose="020B0606020202030204" pitchFamily="34" charset="0"/>
                        </a:rPr>
                        <a:t>space</a:t>
                      </a:r>
                      <a:endParaRPr lang="en-US" sz="1600" i="1" spc="-40" baseline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spc="-40" baseline="0" smtClean="0">
                          <a:latin typeface="Arial Narrow" panose="020B0606020202030204" pitchFamily="34" charset="0"/>
                        </a:rPr>
                        <a:t>space</a:t>
                      </a:r>
                      <a:endParaRPr lang="en-US" sz="1600" i="1" spc="-40" baseline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spc="-40" baseline="0" smtClean="0">
                          <a:latin typeface="Arial Narrow" panose="020B0606020202030204" pitchFamily="34" charset="0"/>
                        </a:rPr>
                        <a:t>space</a:t>
                      </a:r>
                      <a:endParaRPr lang="en-US" sz="1600" i="1" spc="-40" baseline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spc="-40" baseline="0" dirty="0" smtClean="0">
                          <a:latin typeface="Arial Narrow" panose="020B0606020202030204" pitchFamily="34" charset="0"/>
                        </a:rPr>
                        <a:t>space</a:t>
                      </a:r>
                      <a:endParaRPr lang="en-US" sz="1600" i="1" spc="-40" baseline="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tab</a:t>
                      </a:r>
                      <a:endParaRPr lang="en-US" sz="1600" i="1" dirty="0"/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tab</a:t>
                      </a:r>
                      <a:endParaRPr lang="en-US" sz="1600" i="1" dirty="0"/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s3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s4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03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latin typeface="Times New Roman" pitchFamily="18" charset="0"/>
              </a:rPr>
              <a:t>// Java0813.java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// This program demonstrates using the &lt;</a:t>
            </a:r>
            <a:r>
              <a:rPr lang="en-US" sz="2200" b="1" dirty="0" err="1">
                <a:latin typeface="Times New Roman" pitchFamily="18" charset="0"/>
              </a:rPr>
              <a:t>toUpperCase</a:t>
            </a:r>
            <a:r>
              <a:rPr lang="en-US" sz="2200" b="1" dirty="0" smtClean="0">
                <a:latin typeface="Times New Roman" pitchFamily="18" charset="0"/>
              </a:rPr>
              <a:t>&gt;</a:t>
            </a:r>
          </a:p>
          <a:p>
            <a:pPr eaLnBrk="1" hangingPunct="1"/>
            <a:r>
              <a:rPr lang="en-US" sz="2200" b="1" dirty="0" smtClean="0">
                <a:latin typeface="Times New Roman" pitchFamily="18" charset="0"/>
              </a:rPr>
              <a:t>// and </a:t>
            </a:r>
            <a:r>
              <a:rPr lang="en-US" sz="2200" b="1" dirty="0">
                <a:latin typeface="Times New Roman" pitchFamily="18" charset="0"/>
              </a:rPr>
              <a:t>&lt;</a:t>
            </a:r>
            <a:r>
              <a:rPr lang="en-US" sz="2200" b="1" dirty="0" err="1">
                <a:latin typeface="Times New Roman" pitchFamily="18" charset="0"/>
              </a:rPr>
              <a:t>toLowerCase</a:t>
            </a:r>
            <a:r>
              <a:rPr lang="en-US" sz="2200" b="1" dirty="0">
                <a:latin typeface="Times New Roman" pitchFamily="18" charset="0"/>
              </a:rPr>
              <a:t>&gt; methods.</a:t>
            </a:r>
          </a:p>
          <a:p>
            <a:pPr eaLnBrk="1" hangingPunct="1"/>
            <a:endParaRPr lang="en-US" b="1" dirty="0">
              <a:latin typeface="Times New Roman" pitchFamily="18" charset="0"/>
            </a:endParaRPr>
          </a:p>
          <a:p>
            <a:pPr eaLnBrk="1" hangingPunct="1"/>
            <a:r>
              <a:rPr lang="en-US" sz="2200" b="1" dirty="0" smtClean="0">
                <a:latin typeface="Times New Roman" pitchFamily="18" charset="0"/>
              </a:rPr>
              <a:t>public </a:t>
            </a:r>
            <a:r>
              <a:rPr lang="en-US" sz="2200" b="1" dirty="0">
                <a:latin typeface="Times New Roman" pitchFamily="18" charset="0"/>
              </a:rPr>
              <a:t>class Java0813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	public static void main (String </a:t>
            </a:r>
            <a:r>
              <a:rPr lang="en-US" sz="2200" b="1" dirty="0" err="1">
                <a:latin typeface="Times New Roman" pitchFamily="18" charset="0"/>
              </a:rPr>
              <a:t>args</a:t>
            </a:r>
            <a:r>
              <a:rPr lang="en-US" sz="2200" b="1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 smtClean="0">
                <a:latin typeface="Arial Black" panose="020B0A04020102020204" pitchFamily="34" charset="0"/>
              </a:rPr>
              <a:t>      </a:t>
            </a:r>
            <a:r>
              <a:rPr lang="en-US" sz="2400" dirty="0">
                <a:latin typeface="Arial Black" panose="020B0A04020102020204" pitchFamily="34" charset="0"/>
              </a:rPr>
              <a:t>	</a:t>
            </a:r>
            <a:r>
              <a:rPr lang="en-US" sz="2400" dirty="0" smtClean="0">
                <a:latin typeface="Arial Black" panose="020B0A04020102020204" pitchFamily="34" charset="0"/>
              </a:rPr>
              <a:t>String </a:t>
            </a:r>
            <a:r>
              <a:rPr lang="en-US" sz="2400" dirty="0">
                <a:latin typeface="Arial Black" panose="020B0A04020102020204" pitchFamily="34" charset="0"/>
              </a:rPr>
              <a:t>s1 = "</a:t>
            </a:r>
            <a:r>
              <a:rPr lang="en-US" sz="2400" dirty="0" err="1">
                <a:latin typeface="Arial Black" panose="020B0A04020102020204" pitchFamily="34" charset="0"/>
              </a:rPr>
              <a:t>aardVARK</a:t>
            </a:r>
            <a:r>
              <a:rPr lang="en-US" sz="2400" dirty="0">
                <a:latin typeface="Arial Black" panose="020B0A04020102020204" pitchFamily="34" charset="0"/>
              </a:rPr>
              <a:t> for SALE, only $12.00!";</a:t>
            </a:r>
          </a:p>
          <a:p>
            <a:pPr eaLnBrk="1" hangingPunct="1"/>
            <a:r>
              <a:rPr lang="en-US" sz="2400" dirty="0">
                <a:latin typeface="Arial Black" panose="020B0A04020102020204" pitchFamily="34" charset="0"/>
              </a:rPr>
              <a:t>      	</a:t>
            </a:r>
            <a:r>
              <a:rPr lang="en-US" sz="2400" dirty="0" smtClean="0">
                <a:latin typeface="Arial Black" panose="020B0A04020102020204" pitchFamily="34" charset="0"/>
              </a:rPr>
              <a:t>String </a:t>
            </a:r>
            <a:r>
              <a:rPr lang="en-US" sz="2400" dirty="0">
                <a:latin typeface="Arial Black" panose="020B0A04020102020204" pitchFamily="34" charset="0"/>
              </a:rPr>
              <a:t>s2 = "</a:t>
            </a:r>
            <a:r>
              <a:rPr lang="en-US" sz="2400" dirty="0" err="1">
                <a:latin typeface="Arial Black" panose="020B0A04020102020204" pitchFamily="34" charset="0"/>
              </a:rPr>
              <a:t>AARDvark</a:t>
            </a:r>
            <a:r>
              <a:rPr lang="en-US" sz="2400" dirty="0">
                <a:latin typeface="Arial Black" panose="020B0A04020102020204" pitchFamily="34" charset="0"/>
              </a:rPr>
              <a:t> FOR sale, ONLY $12.00!";</a:t>
            </a:r>
          </a:p>
          <a:p>
            <a:pPr eaLnBrk="1" hangingPunct="1"/>
            <a:r>
              <a:rPr lang="en-US" sz="2400" dirty="0">
                <a:latin typeface="Arial Black" panose="020B0A04020102020204" pitchFamily="34" charset="0"/>
              </a:rPr>
              <a:t>      	</a:t>
            </a:r>
            <a:r>
              <a:rPr lang="en-US" sz="2400" dirty="0" smtClean="0">
                <a:latin typeface="Arial Black" panose="020B0A04020102020204" pitchFamily="34" charset="0"/>
              </a:rPr>
              <a:t>String </a:t>
            </a:r>
            <a:r>
              <a:rPr lang="en-US" sz="2400" dirty="0">
                <a:latin typeface="Arial Black" panose="020B0A04020102020204" pitchFamily="34" charset="0"/>
              </a:rPr>
              <a:t>s3 = s1.toUpperCase();</a:t>
            </a:r>
          </a:p>
          <a:p>
            <a:pPr eaLnBrk="1" hangingPunct="1"/>
            <a:r>
              <a:rPr lang="en-US" sz="2400" dirty="0">
                <a:latin typeface="Arial Black" panose="020B0A04020102020204" pitchFamily="34" charset="0"/>
              </a:rPr>
              <a:t>      	</a:t>
            </a:r>
            <a:r>
              <a:rPr lang="en-US" sz="2400" dirty="0" smtClean="0">
                <a:latin typeface="Arial Black" panose="020B0A04020102020204" pitchFamily="34" charset="0"/>
              </a:rPr>
              <a:t>String </a:t>
            </a:r>
            <a:r>
              <a:rPr lang="en-US" sz="2400" dirty="0">
                <a:latin typeface="Arial Black" panose="020B0A04020102020204" pitchFamily="34" charset="0"/>
              </a:rPr>
              <a:t>s4 = s2.toLowerCase();</a:t>
            </a:r>
          </a:p>
          <a:p>
            <a:pPr eaLnBrk="1" hangingPunct="1"/>
            <a:endParaRPr lang="en-US" b="1" dirty="0">
              <a:latin typeface="Times New Roman" pitchFamily="18" charset="0"/>
            </a:endParaRP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      	</a:t>
            </a:r>
            <a:r>
              <a:rPr lang="en-US" sz="2200" b="1" dirty="0" smtClean="0">
                <a:latin typeface="Times New Roman" pitchFamily="18" charset="0"/>
              </a:rPr>
              <a:t>	</a:t>
            </a:r>
            <a:r>
              <a:rPr lang="en-US" sz="2200" b="1" dirty="0" err="1" smtClean="0">
                <a:latin typeface="Times New Roman" pitchFamily="18" charset="0"/>
              </a:rPr>
              <a:t>System.out.println</a:t>
            </a:r>
            <a:r>
              <a:rPr lang="en-US" sz="2200" b="1" dirty="0" smtClean="0">
                <a:latin typeface="Times New Roman" pitchFamily="18" charset="0"/>
              </a:rPr>
              <a:t>(s1</a:t>
            </a:r>
            <a:r>
              <a:rPr lang="en-US" sz="2200" b="1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      	</a:t>
            </a:r>
            <a:r>
              <a:rPr lang="en-US" sz="2200" b="1" dirty="0" smtClean="0">
                <a:latin typeface="Times New Roman" pitchFamily="18" charset="0"/>
              </a:rPr>
              <a:t>	</a:t>
            </a:r>
            <a:r>
              <a:rPr lang="en-US" sz="2200" b="1" dirty="0" err="1" smtClean="0">
                <a:latin typeface="Times New Roman" pitchFamily="18" charset="0"/>
              </a:rPr>
              <a:t>System.out.println</a:t>
            </a:r>
            <a:r>
              <a:rPr lang="en-US" sz="2200" b="1" dirty="0" smtClean="0">
                <a:latin typeface="Times New Roman" pitchFamily="18" charset="0"/>
              </a:rPr>
              <a:t>(s2</a:t>
            </a:r>
            <a:r>
              <a:rPr lang="en-US" sz="2200" b="1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      	</a:t>
            </a:r>
            <a:r>
              <a:rPr lang="en-US" sz="2200" b="1" dirty="0" smtClean="0">
                <a:latin typeface="Times New Roman" pitchFamily="18" charset="0"/>
              </a:rPr>
              <a:t>	</a:t>
            </a:r>
            <a:r>
              <a:rPr lang="en-US" sz="2200" b="1" dirty="0" err="1" smtClean="0">
                <a:latin typeface="Times New Roman" pitchFamily="18" charset="0"/>
              </a:rPr>
              <a:t>System.out.println</a:t>
            </a:r>
            <a:r>
              <a:rPr lang="en-US" sz="2200" b="1" dirty="0" smtClean="0">
                <a:latin typeface="Times New Roman" pitchFamily="18" charset="0"/>
              </a:rPr>
              <a:t>(s3</a:t>
            </a:r>
            <a:r>
              <a:rPr lang="en-US" sz="2200" b="1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      	</a:t>
            </a:r>
            <a:r>
              <a:rPr lang="en-US" sz="2200" b="1" dirty="0" smtClean="0">
                <a:latin typeface="Times New Roman" pitchFamily="18" charset="0"/>
              </a:rPr>
              <a:t>	</a:t>
            </a:r>
            <a:r>
              <a:rPr lang="en-US" sz="2200" b="1" dirty="0" err="1" smtClean="0">
                <a:latin typeface="Times New Roman" pitchFamily="18" charset="0"/>
              </a:rPr>
              <a:t>System.out.println</a:t>
            </a:r>
            <a:r>
              <a:rPr lang="en-US" sz="2200" b="1" dirty="0" smtClean="0">
                <a:latin typeface="Times New Roman" pitchFamily="18" charset="0"/>
              </a:rPr>
              <a:t>(s4</a:t>
            </a:r>
            <a:r>
              <a:rPr lang="en-US" sz="2200" b="1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      	</a:t>
            </a:r>
            <a:r>
              <a:rPr lang="en-US" sz="2200" b="1" dirty="0" smtClean="0">
                <a:latin typeface="Times New Roman" pitchFamily="18" charset="0"/>
              </a:rPr>
              <a:t>	</a:t>
            </a:r>
            <a:r>
              <a:rPr lang="en-US" sz="2200" b="1" dirty="0" err="1" smtClean="0">
                <a:latin typeface="Times New Roman" pitchFamily="18" charset="0"/>
              </a:rPr>
              <a:t>System.out.println</a:t>
            </a:r>
            <a:r>
              <a:rPr lang="en-US" sz="2200" b="1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200" b="1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2400" y="4467761"/>
            <a:ext cx="518160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aardVARK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SALE, only $12.00!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AARDvark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FOR sale, ONLY $12.00!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AARDVARK FOR SALE, ONLY $12.00!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aardvark for sale, only $12.00!</a:t>
            </a:r>
            <a:endParaRPr lang="fi-FI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3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11313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 Black" pitchFamily="34" charset="0"/>
              </a:rPr>
              <a:t>String Methods </a:t>
            </a:r>
            <a:r>
              <a:rPr lang="en-US" dirty="0" err="1" smtClean="0">
                <a:latin typeface="Arial Black" pitchFamily="34" charset="0"/>
              </a:rPr>
              <a:t>toUpperCase</a:t>
            </a:r>
            <a:r>
              <a:rPr lang="en-US" dirty="0" smtClean="0">
                <a:latin typeface="Arial Black" pitchFamily="34" charset="0"/>
              </a:rPr>
              <a:t/>
            </a:r>
            <a:br>
              <a:rPr lang="en-US" dirty="0" smtClean="0">
                <a:latin typeface="Arial Black" pitchFamily="34" charset="0"/>
              </a:rPr>
            </a:br>
            <a:r>
              <a:rPr lang="en-US" dirty="0" smtClean="0">
                <a:latin typeface="Arial Black" pitchFamily="34" charset="0"/>
              </a:rPr>
              <a:t>and </a:t>
            </a:r>
            <a:r>
              <a:rPr lang="en-US" dirty="0" err="1" smtClean="0">
                <a:latin typeface="Arial Black" pitchFamily="34" charset="0"/>
              </a:rPr>
              <a:t>toLowerCase</a:t>
            </a:r>
            <a:r>
              <a:rPr lang="en-US" sz="4000" b="1" dirty="0" smtClean="0"/>
              <a:t> </a:t>
            </a:r>
            <a:endParaRPr lang="en-US" dirty="0" smtClean="0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609600" y="1611313"/>
            <a:ext cx="8001000" cy="500444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ourier New" pitchFamily="49" charset="0"/>
              </a:rPr>
              <a:t>s1 = s2.toUpperCase</a:t>
            </a:r>
            <a:r>
              <a:rPr lang="en-US" sz="2800" b="1" dirty="0" smtClean="0">
                <a:latin typeface="Courier New" pitchFamily="49" charset="0"/>
              </a:rPr>
              <a:t>();</a:t>
            </a:r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b="1" dirty="0">
                <a:latin typeface="Courier New" pitchFamily="49" charset="0"/>
              </a:rPr>
              <a:t>s3 = </a:t>
            </a:r>
            <a:r>
              <a:rPr lang="en-US" sz="2800" b="1" dirty="0" smtClean="0">
                <a:latin typeface="Courier New" pitchFamily="49" charset="0"/>
              </a:rPr>
              <a:t>s1.toLowerCase();</a:t>
            </a:r>
            <a:endParaRPr lang="en-US" sz="2800" b="1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800" b="1" dirty="0"/>
          </a:p>
          <a:p>
            <a:pPr eaLnBrk="1" hangingPunct="1"/>
            <a:r>
              <a:rPr lang="en-US" sz="2800" b="1" dirty="0"/>
              <a:t>Method </a:t>
            </a:r>
            <a:r>
              <a:rPr lang="en-US" sz="2800" dirty="0" err="1">
                <a:latin typeface="Arial Black" pitchFamily="34" charset="0"/>
              </a:rPr>
              <a:t>toUpperCase</a:t>
            </a:r>
            <a:r>
              <a:rPr lang="en-US" sz="2800" b="1" dirty="0"/>
              <a:t> returns a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 where all letters are upper-case.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>
              <a:latin typeface="Courier New" pitchFamily="49" charset="0"/>
            </a:endParaRPr>
          </a:p>
          <a:p>
            <a:pPr eaLnBrk="1" hangingPunct="1"/>
            <a:r>
              <a:rPr lang="en-US" sz="2800" b="1" dirty="0"/>
              <a:t>Method </a:t>
            </a:r>
            <a:r>
              <a:rPr lang="en-US" sz="2800" dirty="0" err="1">
                <a:latin typeface="Arial Black" pitchFamily="34" charset="0"/>
              </a:rPr>
              <a:t>toLowerCase</a:t>
            </a:r>
            <a:r>
              <a:rPr lang="en-US" sz="2800" b="1" dirty="0"/>
              <a:t> returns a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 </a:t>
            </a:r>
            <a:r>
              <a:rPr lang="en-US" sz="2800" b="1" dirty="0" smtClean="0"/>
              <a:t>where all letters are lower-case.</a:t>
            </a:r>
            <a:endParaRPr lang="en-US" sz="2800" b="1" dirty="0"/>
          </a:p>
          <a:p>
            <a:pPr eaLnBrk="1" hangingPunct="1">
              <a:lnSpc>
                <a:spcPct val="80000"/>
              </a:lnSpc>
            </a:pPr>
            <a:endParaRPr lang="en-US" sz="2800" b="1" dirty="0"/>
          </a:p>
          <a:p>
            <a:pPr eaLnBrk="1" hangingPunct="1"/>
            <a:r>
              <a:rPr lang="en-US" sz="2800" b="1" dirty="0"/>
              <a:t>Any characters that are not letters will be ignored by both methods and returned in their same relative </a:t>
            </a:r>
            <a:r>
              <a:rPr lang="en-US" sz="2800" dirty="0">
                <a:latin typeface="Arial Black" pitchFamily="34" charset="0"/>
              </a:rPr>
              <a:t>String</a:t>
            </a:r>
            <a:r>
              <a:rPr lang="en-US" sz="2800" b="1" dirty="0"/>
              <a:t> position.</a:t>
            </a:r>
            <a:r>
              <a:rPr lang="en-US" sz="2400" dirty="0"/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5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1295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 Black" pitchFamily="34" charset="0"/>
              </a:rPr>
              <a:t>Altering the Original String</a:t>
            </a:r>
            <a:endParaRPr lang="en-US" dirty="0" smtClean="0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52400" y="1218486"/>
            <a:ext cx="8839200" cy="4801314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600" dirty="0"/>
              <a:t>Remember, </a:t>
            </a:r>
            <a:r>
              <a:rPr lang="en-US" sz="2600" b="1" dirty="0"/>
              <a:t>String</a:t>
            </a:r>
            <a:r>
              <a:rPr lang="en-US" sz="2600" dirty="0"/>
              <a:t> methods do not alter the original </a:t>
            </a:r>
            <a:r>
              <a:rPr lang="en-US" sz="2600" b="1" dirty="0"/>
              <a:t>String</a:t>
            </a:r>
            <a:r>
              <a:rPr lang="en-US" sz="2600" dirty="0"/>
              <a:t> object.  They return an altered </a:t>
            </a:r>
            <a:r>
              <a:rPr lang="en-US" sz="2600" i="1" dirty="0"/>
              <a:t>copy</a:t>
            </a:r>
            <a:r>
              <a:rPr lang="en-US" sz="2600" dirty="0"/>
              <a:t> of the </a:t>
            </a:r>
            <a:r>
              <a:rPr lang="en-US" sz="2600" b="1" dirty="0"/>
              <a:t>String</a:t>
            </a:r>
            <a:r>
              <a:rPr lang="en-US" sz="2600" dirty="0"/>
              <a:t> object.  </a:t>
            </a:r>
            <a:endParaRPr lang="en-US" sz="2600" dirty="0" smtClean="0"/>
          </a:p>
          <a:p>
            <a:endParaRPr lang="en-US" sz="2600" dirty="0"/>
          </a:p>
          <a:p>
            <a:r>
              <a:rPr lang="en-US" sz="2600" dirty="0"/>
              <a:t>To alter the original </a:t>
            </a:r>
            <a:r>
              <a:rPr lang="en-US" sz="2600" b="1" dirty="0"/>
              <a:t>String</a:t>
            </a:r>
            <a:r>
              <a:rPr lang="en-US" sz="2600" dirty="0"/>
              <a:t> object, you need a statement that assigns the new copy back to the original object.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Examples:</a:t>
            </a:r>
          </a:p>
          <a:p>
            <a:r>
              <a:rPr lang="en-US" sz="2800" dirty="0">
                <a:latin typeface="Arial Black" pitchFamily="34" charset="0"/>
              </a:rPr>
              <a:t>s1 = s1.toUpperCase();</a:t>
            </a:r>
          </a:p>
          <a:p>
            <a:r>
              <a:rPr lang="en-US" sz="2800" dirty="0">
                <a:latin typeface="Arial Black" pitchFamily="34" charset="0"/>
              </a:rPr>
              <a:t>s2 = s2.toLowerCase();</a:t>
            </a:r>
          </a:p>
          <a:p>
            <a:r>
              <a:rPr lang="en-US" sz="2800" dirty="0">
                <a:latin typeface="Arial Black" pitchFamily="34" charset="0"/>
              </a:rPr>
              <a:t>s3 = </a:t>
            </a:r>
            <a:r>
              <a:rPr lang="en-US" sz="2800" dirty="0" smtClean="0">
                <a:latin typeface="Arial Black" pitchFamily="34" charset="0"/>
              </a:rPr>
              <a:t>s3.trim();</a:t>
            </a:r>
            <a:endParaRPr lang="en-US" sz="2800" dirty="0">
              <a:latin typeface="Arial Black" pitchFamily="34" charset="0"/>
            </a:endParaRPr>
          </a:p>
          <a:p>
            <a:r>
              <a:rPr lang="en-US" sz="2800" dirty="0">
                <a:latin typeface="Arial Black" pitchFamily="34" charset="0"/>
              </a:rPr>
              <a:t>s4 = s4.substring(1,5</a:t>
            </a:r>
            <a:r>
              <a:rPr lang="en-US" sz="2800" dirty="0" smtClean="0">
                <a:latin typeface="Arial Black" pitchFamily="34" charset="0"/>
              </a:rPr>
              <a:t>);	</a:t>
            </a:r>
          </a:p>
          <a:p>
            <a:endParaRPr lang="en-US" sz="800" dirty="0">
              <a:latin typeface="Arial Black" pitchFamily="34" charset="0"/>
            </a:endParaRPr>
          </a:p>
        </p:txBody>
      </p:sp>
      <p:pic>
        <p:nvPicPr>
          <p:cNvPr id="4" name="Picture 4" descr="MMAG00293_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7" y="3382090"/>
            <a:ext cx="229076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08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</p:spPr>
        <p:txBody>
          <a:bodyPr/>
          <a:lstStyle/>
          <a:p>
            <a:pPr eaLnBrk="1" hangingPunct="1"/>
            <a:r>
              <a:rPr lang="en-US" sz="5400" dirty="0" smtClean="0">
                <a:latin typeface="Arial Black" pitchFamily="34" charset="0"/>
              </a:rPr>
              <a:t>AP</a:t>
            </a:r>
            <a:r>
              <a:rPr lang="en-US" sz="5400" baseline="30000" dirty="0" smtClean="0">
                <a:latin typeface="Arial Black" pitchFamily="34" charset="0"/>
              </a:rPr>
              <a:t>®</a:t>
            </a:r>
            <a:r>
              <a:rPr lang="en-US" sz="5400" dirty="0" smtClean="0">
                <a:latin typeface="Arial Black" pitchFamily="34" charset="0"/>
              </a:rPr>
              <a:t> Exam Alert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0" y="1628775"/>
            <a:ext cx="9144000" cy="224676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/>
              <a:t>Many </a:t>
            </a:r>
            <a:r>
              <a:rPr lang="en-US" sz="2800" dirty="0" smtClean="0">
                <a:latin typeface="Arial Black" pitchFamily="34" charset="0"/>
              </a:rPr>
              <a:t>String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ethods</a:t>
            </a:r>
            <a:r>
              <a:rPr lang="en-US" sz="2800" b="1" dirty="0" smtClean="0"/>
              <a:t> </a:t>
            </a:r>
            <a:r>
              <a:rPr lang="en-US" sz="2800" b="1" dirty="0"/>
              <a:t>have been introduced.  </a:t>
            </a:r>
          </a:p>
          <a:p>
            <a:pPr eaLnBrk="1" hangingPunct="1"/>
            <a:r>
              <a:rPr lang="en-US" sz="2800" b="1" dirty="0"/>
              <a:t>Not all of these methods will be tested.  Only the following methods are part of the </a:t>
            </a:r>
            <a:r>
              <a:rPr lang="en-US" sz="2800" b="1" dirty="0" smtClean="0"/>
              <a:t>AP</a:t>
            </a:r>
            <a:r>
              <a:rPr lang="en-US" sz="2800" b="1" baseline="30000" dirty="0" smtClean="0"/>
              <a:t>®</a:t>
            </a:r>
            <a:r>
              <a:rPr lang="en-US" sz="2800" b="1" dirty="0" smtClean="0"/>
              <a:t> </a:t>
            </a:r>
            <a:r>
              <a:rPr lang="en-US" sz="2800" b="1" dirty="0"/>
              <a:t>Java Subset:</a:t>
            </a:r>
          </a:p>
          <a:p>
            <a:pPr eaLnBrk="1" hangingPunct="1"/>
            <a:r>
              <a:rPr lang="en-US" sz="2800" dirty="0"/>
              <a:t> </a:t>
            </a:r>
          </a:p>
          <a:p>
            <a:pPr algn="ctr" eaLnBrk="1" hangingPunct="1"/>
            <a:r>
              <a:rPr lang="en-US" sz="2800" b="1" spc="-10" dirty="0" err="1" smtClean="0">
                <a:latin typeface="Arial Black" pitchFamily="34" charset="0"/>
              </a:rPr>
              <a:t>compareTo</a:t>
            </a:r>
            <a:r>
              <a:rPr lang="en-US" sz="2800" b="1" spc="-10" dirty="0">
                <a:latin typeface="Arial Black" pitchFamily="34" charset="0"/>
              </a:rPr>
              <a:t> </a:t>
            </a:r>
            <a:r>
              <a:rPr lang="en-US" sz="2800" b="1" spc="-10" dirty="0" smtClean="0">
                <a:latin typeface="Arial Black" pitchFamily="34" charset="0"/>
              </a:rPr>
              <a:t> equals  length  substring  </a:t>
            </a:r>
            <a:r>
              <a:rPr lang="en-US" sz="2800" b="1" spc="-10" dirty="0" err="1" smtClean="0">
                <a:latin typeface="Arial Black" pitchFamily="34" charset="0"/>
              </a:rPr>
              <a:t>indexOf</a:t>
            </a:r>
            <a:endParaRPr lang="en-US" sz="2800" spc="-10" dirty="0">
              <a:latin typeface="Arial Black" pitchFamily="34" charset="0"/>
            </a:endParaRPr>
          </a:p>
        </p:txBody>
      </p:sp>
      <p:pic>
        <p:nvPicPr>
          <p:cNvPr id="47108" name="Picture 4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513" y="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5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6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7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2" name="Picture 8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13" y="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3" name="Picture 9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MMAG00293_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619" y="4038600"/>
            <a:ext cx="229076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8.8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Utility Library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Adding Methods to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408412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// Utility.java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// This file contains useful methods that can be used by several different programs.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import </a:t>
            </a:r>
            <a:r>
              <a:rPr lang="en-US" sz="1600" dirty="0" err="1">
                <a:latin typeface="Times New Roman" pitchFamily="18" charset="0"/>
              </a:rPr>
              <a:t>java.awt</a:t>
            </a:r>
            <a:r>
              <a:rPr lang="en-US" sz="1600" dirty="0">
                <a:latin typeface="Times New Roman" pitchFamily="18" charset="0"/>
              </a:rPr>
              <a:t>.*;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import </a:t>
            </a:r>
            <a:r>
              <a:rPr lang="en-US" sz="1600" dirty="0" err="1">
                <a:latin typeface="Times New Roman" pitchFamily="18" charset="0"/>
              </a:rPr>
              <a:t>java.applet</a:t>
            </a:r>
            <a:r>
              <a:rPr lang="en-US" sz="1600" dirty="0">
                <a:latin typeface="Times New Roman" pitchFamily="18" charset="0"/>
              </a:rPr>
              <a:t>.*;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class Utility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public static 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random(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min, 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max)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range = max - min + 1;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spc="-60" dirty="0" err="1" smtClean="0">
                <a:latin typeface="Times New Roman" pitchFamily="18" charset="0"/>
              </a:rPr>
              <a:t>randomNumber</a:t>
            </a:r>
            <a:r>
              <a:rPr lang="en-US" sz="1600" spc="-60" dirty="0" smtClean="0">
                <a:latin typeface="Times New Roman" pitchFamily="18" charset="0"/>
              </a:rPr>
              <a:t> = (</a:t>
            </a:r>
            <a:r>
              <a:rPr lang="en-US" sz="1600" spc="-60" dirty="0" err="1">
                <a:latin typeface="Times New Roman" pitchFamily="18" charset="0"/>
              </a:rPr>
              <a:t>int</a:t>
            </a:r>
            <a:r>
              <a:rPr lang="en-US" sz="1600" spc="-60" dirty="0">
                <a:latin typeface="Times New Roman" pitchFamily="18" charset="0"/>
              </a:rPr>
              <a:t>)(</a:t>
            </a:r>
            <a:r>
              <a:rPr lang="en-US" sz="1600" spc="-60" dirty="0" err="1">
                <a:latin typeface="Times New Roman" pitchFamily="18" charset="0"/>
              </a:rPr>
              <a:t>Math.random</a:t>
            </a:r>
            <a:r>
              <a:rPr lang="en-US" sz="1600" spc="-60" dirty="0" smtClean="0">
                <a:latin typeface="Times New Roman" pitchFamily="18" charset="0"/>
              </a:rPr>
              <a:t>() * range) + min</a:t>
            </a:r>
            <a:r>
              <a:rPr lang="en-US" sz="1600" spc="-60" dirty="0">
                <a:latin typeface="Times New Roman" pitchFamily="18" charset="0"/>
              </a:rPr>
              <a:t>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   	return </a:t>
            </a:r>
            <a:r>
              <a:rPr lang="en-US" sz="1600" dirty="0" err="1">
                <a:latin typeface="Times New Roman" pitchFamily="18" charset="0"/>
              </a:rPr>
              <a:t>randomNumber</a:t>
            </a:r>
            <a:r>
              <a:rPr lang="en-US" sz="1600" dirty="0">
                <a:latin typeface="Times New Roman" pitchFamily="18" charset="0"/>
              </a:rPr>
              <a:t>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public static void </a:t>
            </a:r>
            <a:r>
              <a:rPr lang="en-US" sz="1600" dirty="0" err="1">
                <a:latin typeface="Times New Roman" pitchFamily="18" charset="0"/>
              </a:rPr>
              <a:t>setBackground</a:t>
            </a:r>
            <a:r>
              <a:rPr lang="en-US" sz="1600" dirty="0">
                <a:latin typeface="Times New Roman" pitchFamily="18" charset="0"/>
              </a:rPr>
              <a:t>(Graphics g, Color c)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	</a:t>
            </a:r>
            <a:r>
              <a:rPr lang="en-US" sz="1600" dirty="0" err="1" smtClean="0">
                <a:latin typeface="Times New Roman" pitchFamily="18" charset="0"/>
              </a:rPr>
              <a:t>g.setColor</a:t>
            </a:r>
            <a:r>
              <a:rPr lang="en-US" sz="1600" dirty="0" smtClean="0">
                <a:latin typeface="Times New Roman" pitchFamily="18" charset="0"/>
              </a:rPr>
              <a:t>(c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g.fillRect</a:t>
            </a:r>
            <a:r>
              <a:rPr lang="en-US" sz="1600" dirty="0" smtClean="0">
                <a:latin typeface="Times New Roman" pitchFamily="18" charset="0"/>
              </a:rPr>
              <a:t>(0,0,1000,650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public static void </a:t>
            </a:r>
            <a:r>
              <a:rPr lang="en-US" sz="1600" dirty="0" err="1">
                <a:latin typeface="Times New Roman" pitchFamily="18" charset="0"/>
              </a:rPr>
              <a:t>setRandomColor</a:t>
            </a:r>
            <a:r>
              <a:rPr lang="en-US" sz="1600" dirty="0">
                <a:latin typeface="Times New Roman" pitchFamily="18" charset="0"/>
              </a:rPr>
              <a:t>(Graphics g)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red   = random(0,255);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green = random(0,255);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blue  = random(0,255);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    	</a:t>
            </a:r>
            <a:r>
              <a:rPr lang="en-US" sz="1600" dirty="0" err="1" smtClean="0">
                <a:latin typeface="Times New Roman" pitchFamily="18" charset="0"/>
              </a:rPr>
              <a:t>g.setColor</a:t>
            </a:r>
            <a:r>
              <a:rPr lang="en-US" sz="1600" dirty="0" smtClean="0">
                <a:latin typeface="Times New Roman" pitchFamily="18" charset="0"/>
              </a:rPr>
              <a:t>(new </a:t>
            </a:r>
            <a:r>
              <a:rPr lang="en-US" sz="1600" dirty="0">
                <a:latin typeface="Times New Roman" pitchFamily="18" charset="0"/>
              </a:rPr>
              <a:t>Color(red, green, blue));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}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334000" y="856357"/>
            <a:ext cx="3810000" cy="6001643"/>
          </a:xfrm>
          <a:prstGeom prst="rect">
            <a:avLst/>
          </a:prstGeom>
          <a:solidFill>
            <a:srgbClr val="C0FFFF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	public static void skip(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n)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for (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j = 1; j &lt;= n; j++)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spc="-50" dirty="0">
                <a:latin typeface="Times New Roman" pitchFamily="18" charset="0"/>
              </a:rPr>
              <a:t>  	public static void </a:t>
            </a:r>
            <a:r>
              <a:rPr lang="en-US" sz="1600" spc="-50" dirty="0" err="1">
                <a:latin typeface="Times New Roman" pitchFamily="18" charset="0"/>
              </a:rPr>
              <a:t>rightJustify</a:t>
            </a:r>
            <a:r>
              <a:rPr lang="en-US" sz="1600" spc="-50" dirty="0">
                <a:latin typeface="Times New Roman" pitchFamily="18" charset="0"/>
              </a:rPr>
              <a:t>(String text)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len</a:t>
            </a:r>
            <a:r>
              <a:rPr lang="en-US" sz="1600" dirty="0">
                <a:latin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</a:rPr>
              <a:t>text.length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numSpaces</a:t>
            </a:r>
            <a:r>
              <a:rPr lang="en-US" sz="1600" dirty="0">
                <a:latin typeface="Times New Roman" pitchFamily="18" charset="0"/>
              </a:rPr>
              <a:t> = 80 - </a:t>
            </a:r>
            <a:r>
              <a:rPr lang="en-US" sz="1600" dirty="0" err="1">
                <a:latin typeface="Times New Roman" pitchFamily="18" charset="0"/>
              </a:rPr>
              <a:t>len</a:t>
            </a:r>
            <a:r>
              <a:rPr lang="en-US" sz="1600" dirty="0">
                <a:latin typeface="Times New Roman" pitchFamily="18" charset="0"/>
              </a:rPr>
              <a:t>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for (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j = 1; j &lt;= </a:t>
            </a:r>
            <a:r>
              <a:rPr lang="en-US" sz="1600" dirty="0" err="1">
                <a:latin typeface="Times New Roman" pitchFamily="18" charset="0"/>
              </a:rPr>
              <a:t>numSpaces</a:t>
            </a:r>
            <a:r>
              <a:rPr lang="en-US" sz="1600" dirty="0">
                <a:latin typeface="Times New Roman" pitchFamily="18" charset="0"/>
              </a:rPr>
              <a:t>; j++)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	</a:t>
            </a:r>
            <a:r>
              <a:rPr lang="en-US" sz="1600" dirty="0" err="1">
                <a:latin typeface="Times New Roman" pitchFamily="18" charset="0"/>
              </a:rPr>
              <a:t>System.out.print</a:t>
            </a:r>
            <a:r>
              <a:rPr lang="en-US" sz="1600" dirty="0">
                <a:latin typeface="Times New Roman" pitchFamily="18" charset="0"/>
              </a:rPr>
              <a:t>(" ");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(text);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public static void center(String text)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len</a:t>
            </a:r>
            <a:r>
              <a:rPr lang="en-US" sz="1600" dirty="0">
                <a:latin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</a:rPr>
              <a:t>text.length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numSpaces</a:t>
            </a:r>
            <a:r>
              <a:rPr lang="en-US" sz="1600" dirty="0">
                <a:latin typeface="Times New Roman" pitchFamily="18" charset="0"/>
              </a:rPr>
              <a:t> = (80 - </a:t>
            </a:r>
            <a:r>
              <a:rPr lang="en-US" sz="1600" dirty="0" err="1">
                <a:latin typeface="Times New Roman" pitchFamily="18" charset="0"/>
              </a:rPr>
              <a:t>len</a:t>
            </a:r>
            <a:r>
              <a:rPr lang="en-US" sz="1600" dirty="0">
                <a:latin typeface="Times New Roman" pitchFamily="18" charset="0"/>
              </a:rPr>
              <a:t>) / 2;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for (</a:t>
            </a:r>
            <a:r>
              <a:rPr lang="en-US" sz="1600" dirty="0" err="1">
                <a:latin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</a:rPr>
              <a:t> j = 1; j &lt;= </a:t>
            </a:r>
            <a:r>
              <a:rPr lang="en-US" sz="1600" dirty="0" err="1">
                <a:latin typeface="Times New Roman" pitchFamily="18" charset="0"/>
              </a:rPr>
              <a:t>numSpaces</a:t>
            </a:r>
            <a:r>
              <a:rPr lang="en-US" sz="1600" dirty="0">
                <a:latin typeface="Times New Roman" pitchFamily="18" charset="0"/>
              </a:rPr>
              <a:t>; j++)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	</a:t>
            </a:r>
            <a:r>
              <a:rPr lang="en-US" sz="1600" dirty="0" err="1">
                <a:latin typeface="Times New Roman" pitchFamily="18" charset="0"/>
              </a:rPr>
              <a:t>System.out.print</a:t>
            </a:r>
            <a:r>
              <a:rPr lang="en-US" sz="1600" dirty="0">
                <a:latin typeface="Times New Roman" pitchFamily="18" charset="0"/>
              </a:rPr>
              <a:t>(" ");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(text);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  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  <p:pic>
        <p:nvPicPr>
          <p:cNvPr id="1026" name="Picture 2" descr="C:\Users\JohnSchram\AppData\Local\Microsoft\Windows\Temporary Internet Files\Content.IE5\3CVVRU9R\MC90044003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24000"/>
            <a:ext cx="1257086" cy="88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51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// Java0814.java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spc="-20" dirty="0">
                <a:latin typeface="Times New Roman" pitchFamily="18" charset="0"/>
              </a:rPr>
              <a:t>// This program utilized the new methods added to the &lt;Utility&gt; class.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public class Java0814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Utility.skip</a:t>
            </a:r>
            <a:r>
              <a:rPr lang="en-US" sz="2400" dirty="0">
                <a:latin typeface="Times New Roman" pitchFamily="18" charset="0"/>
              </a:rPr>
              <a:t>(3);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("Text output is left-justified by default.");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Utility.skip</a:t>
            </a:r>
            <a:r>
              <a:rPr lang="en-US" sz="2400" dirty="0" smtClean="0">
                <a:latin typeface="Times New Roman" pitchFamily="18" charset="0"/>
              </a:rPr>
              <a:t>(4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Utility.rightJustify</a:t>
            </a:r>
            <a:r>
              <a:rPr lang="en-US" sz="2400" dirty="0">
                <a:latin typeface="Times New Roman" pitchFamily="18" charset="0"/>
              </a:rPr>
              <a:t>("This text is right-justified.");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Utility.skip</a:t>
            </a:r>
            <a:r>
              <a:rPr lang="en-US" sz="2400" dirty="0" smtClean="0">
                <a:latin typeface="Times New Roman" pitchFamily="18" charset="0"/>
              </a:rPr>
              <a:t>(5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Utility.center</a:t>
            </a:r>
            <a:r>
              <a:rPr lang="en-US" sz="2400" dirty="0">
                <a:latin typeface="Times New Roman" pitchFamily="18" charset="0"/>
              </a:rPr>
              <a:t>("This text is centered.");</a:t>
            </a:r>
          </a:p>
          <a:p>
            <a:pPr eaLnBrk="1" hangingPunct="1">
              <a:lnSpc>
                <a:spcPct val="114000"/>
              </a:lnSpc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      	</a:t>
            </a:r>
            <a:r>
              <a:rPr lang="en-US" sz="2400" dirty="0" err="1" smtClean="0">
                <a:latin typeface="Times New Roman" pitchFamily="18" charset="0"/>
              </a:rPr>
              <a:t>Utility.skip</a:t>
            </a:r>
            <a:r>
              <a:rPr lang="en-US" sz="2400" dirty="0" smtClean="0">
                <a:latin typeface="Times New Roman" pitchFamily="18" charset="0"/>
              </a:rPr>
              <a:t>(2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1430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</a:tabLst>
            </a:pPr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414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33889" r="58229" b="54444"/>
          <a:stretch/>
        </p:blipFill>
        <p:spPr bwMode="auto">
          <a:xfrm>
            <a:off x="137160" y="484632"/>
            <a:ext cx="266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921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8.9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820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Magpie AP</a:t>
            </a:r>
            <a:r>
              <a:rPr lang="en-US" sz="3600" kern="10" baseline="3000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®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Lab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15240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 to the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34070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442621"/>
          </a:xfrm>
        </p:spPr>
        <p:txBody>
          <a:bodyPr/>
          <a:lstStyle/>
          <a:p>
            <a:pPr eaLnBrk="1" hangingPunct="1"/>
            <a:r>
              <a:rPr lang="en-US" sz="72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Magpie </a:t>
            </a:r>
            <a:r>
              <a:rPr lang="en-US" sz="72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Chatbot</a:t>
            </a:r>
            <a:endParaRPr lang="en-US" sz="7200" dirty="0" smtClean="0">
              <a:latin typeface="Arial Narrow" panose="020B0606020202030204" pitchFamily="34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8600" y="1442621"/>
            <a:ext cx="8686800" cy="526297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i="1" dirty="0" smtClean="0"/>
              <a:t>Magpie</a:t>
            </a:r>
            <a:r>
              <a:rPr lang="en-US" sz="2800" b="1" dirty="0" smtClean="0"/>
              <a:t> is the first of 3 “AP</a:t>
            </a:r>
            <a:r>
              <a:rPr lang="en-US" sz="2800" b="1" baseline="30000" dirty="0" smtClean="0"/>
              <a:t>®</a:t>
            </a:r>
            <a:r>
              <a:rPr lang="en-US" sz="2800" b="1" dirty="0" smtClean="0"/>
              <a:t> Labs” created by the College Board</a:t>
            </a:r>
            <a:r>
              <a:rPr lang="en-US" sz="2800" b="1" baseline="30000" dirty="0" smtClean="0"/>
              <a:t>®</a:t>
            </a:r>
            <a:r>
              <a:rPr lang="en-US" sz="2800" b="1" dirty="0" smtClean="0"/>
              <a:t> </a:t>
            </a:r>
            <a:r>
              <a:rPr lang="en-US" sz="2800" b="1" dirty="0"/>
              <a:t>to introduce students to key computer science programming concepts</a:t>
            </a:r>
            <a:r>
              <a:rPr lang="en-US" sz="2800" dirty="0"/>
              <a:t>. </a:t>
            </a:r>
            <a:endParaRPr lang="en-US" sz="2800" dirty="0" smtClean="0"/>
          </a:p>
          <a:p>
            <a:pPr eaLnBrk="1" hangingPunct="1"/>
            <a:endParaRPr lang="en-US" sz="2800" b="1" dirty="0"/>
          </a:p>
          <a:p>
            <a:pPr eaLnBrk="1" hangingPunct="1"/>
            <a:r>
              <a:rPr lang="en-US" sz="2800" b="1" dirty="0" smtClean="0"/>
              <a:t>This specific </a:t>
            </a:r>
            <a:r>
              <a:rPr lang="en-US" sz="2800" b="1" i="1" dirty="0" smtClean="0"/>
              <a:t>AP</a:t>
            </a:r>
            <a:r>
              <a:rPr lang="en-US" sz="2800" b="1" i="1" baseline="30000" dirty="0" smtClean="0"/>
              <a:t>®</a:t>
            </a:r>
            <a:r>
              <a:rPr lang="en-US" sz="2800" b="1" i="1" dirty="0" smtClean="0"/>
              <a:t> Lab is </a:t>
            </a:r>
            <a:r>
              <a:rPr lang="en-US" sz="2800" b="1" dirty="0" smtClean="0"/>
              <a:t>a program that simulates having a conversation with the computer by using a </a:t>
            </a:r>
            <a:r>
              <a:rPr lang="en-US" sz="2800" b="1" i="1" dirty="0" err="1" smtClean="0"/>
              <a:t>Chatbot</a:t>
            </a:r>
            <a:r>
              <a:rPr lang="en-US" sz="2800" b="1" dirty="0" smtClean="0"/>
              <a:t> program.</a:t>
            </a:r>
          </a:p>
          <a:p>
            <a:pPr eaLnBrk="1" hangingPunct="1"/>
            <a:endParaRPr lang="en-US" sz="2800" b="1" dirty="0"/>
          </a:p>
          <a:p>
            <a:pPr eaLnBrk="1" hangingPunct="1"/>
            <a:r>
              <a:rPr lang="en-US" sz="2800" b="1" dirty="0" smtClean="0"/>
              <a:t>Each stage &amp; sub-stage has a </a:t>
            </a:r>
            <a:r>
              <a:rPr lang="en-US" sz="2800" dirty="0" smtClean="0">
                <a:latin typeface="Arial Black" panose="020B0A04020102020204" pitchFamily="34" charset="0"/>
              </a:rPr>
              <a:t>Magpie</a:t>
            </a:r>
            <a:r>
              <a:rPr lang="en-US" sz="2800" b="1" dirty="0" smtClean="0"/>
              <a:t> class file, which looks at what you type and determines the appropriate response, and a </a:t>
            </a:r>
            <a:r>
              <a:rPr lang="en-US" sz="2800" dirty="0" err="1" smtClean="0">
                <a:latin typeface="Arial Black" panose="020B0A04020102020204" pitchFamily="34" charset="0"/>
              </a:rPr>
              <a:t>MagpieRunner</a:t>
            </a:r>
            <a:r>
              <a:rPr lang="en-US" sz="2800" b="1" dirty="0" smtClean="0"/>
              <a:t> class file which is the driving class.</a:t>
            </a:r>
          </a:p>
        </p:txBody>
      </p:sp>
      <p:pic>
        <p:nvPicPr>
          <p:cNvPr id="1026" name="Picture 2" descr="C:\Users\JohnSchram\AppData\Local\Microsoft\Windows\Temporary Internet Files\Content.IE5\OE5MU63T\MC900441415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7150"/>
            <a:ext cx="17589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JohnSchram\AppData\Local\Microsoft\Windows\Temporary Internet Files\Content.IE5\OE5MU63T\MC900441415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08850" y="57150"/>
            <a:ext cx="17589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Narrow" panose="020B0606020202030204" pitchFamily="34" charset="0"/>
              </a:rPr>
              <a:t>The Turing Test for Artificial Intelligence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59" t="19471" r="22947" b="4532"/>
          <a:stretch/>
        </p:blipFill>
        <p:spPr bwMode="auto">
          <a:xfrm>
            <a:off x="1295400" y="838200"/>
            <a:ext cx="6570785" cy="525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28600" y="6027003"/>
            <a:ext cx="8686800" cy="830997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/>
              <a:t>If the interrogator cannot distinguish between the </a:t>
            </a:r>
            <a:r>
              <a:rPr lang="en-US" sz="2400" dirty="0" smtClean="0"/>
              <a:t>human </a:t>
            </a:r>
          </a:p>
          <a:p>
            <a:pPr algn="ctr"/>
            <a:r>
              <a:rPr lang="en-US" sz="2400" dirty="0" smtClean="0"/>
              <a:t>and the machine, it means the machine is </a:t>
            </a:r>
            <a:r>
              <a:rPr lang="en-US" sz="2400" i="1" dirty="0" smtClean="0"/>
              <a:t>intelligent</a:t>
            </a:r>
            <a:r>
              <a:rPr lang="en-US" sz="2400" dirty="0" smtClean="0"/>
              <a:t>.</a:t>
            </a:r>
            <a:endParaRPr lang="en-US" sz="2400" b="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0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337371"/>
          </a:xfrm>
        </p:spPr>
        <p:txBody>
          <a:bodyPr/>
          <a:lstStyle/>
          <a:p>
            <a:pPr eaLnBrk="1" hangingPunct="1"/>
            <a:r>
              <a:rPr lang="en-US" sz="4800" dirty="0" smtClean="0">
                <a:solidFill>
                  <a:schemeClr val="tx1"/>
                </a:solidFill>
                <a:latin typeface="Arial Black" pitchFamily="34" charset="0"/>
              </a:rPr>
              <a:t>Magpie Program Goal</a:t>
            </a:r>
            <a:endParaRPr lang="en-US" sz="4800" dirty="0" smtClean="0">
              <a:latin typeface="Arial Black" pitchFamily="34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8600" y="1337370"/>
            <a:ext cx="8686800" cy="353943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b="1" dirty="0"/>
              <a:t>The goals of the Magpie program are to give </a:t>
            </a:r>
            <a:r>
              <a:rPr lang="en-US" sz="2800" b="1" dirty="0" smtClean="0"/>
              <a:t>students an </a:t>
            </a:r>
            <a:r>
              <a:rPr lang="en-US" sz="2800" b="1" dirty="0"/>
              <a:t>opportunity to use string processing and compound control structures in a program</a:t>
            </a:r>
            <a:r>
              <a:rPr lang="en-US" sz="2800" b="1" dirty="0" smtClean="0"/>
              <a:t>.</a:t>
            </a:r>
          </a:p>
          <a:p>
            <a:endParaRPr lang="en-US" sz="2800" b="1" dirty="0"/>
          </a:p>
          <a:p>
            <a:r>
              <a:rPr lang="en-US" sz="2800" b="1" dirty="0"/>
              <a:t>It is </a:t>
            </a:r>
            <a:r>
              <a:rPr lang="en-US" sz="2800" b="1" u="sng" dirty="0" smtClean="0"/>
              <a:t>NOT</a:t>
            </a:r>
            <a:r>
              <a:rPr lang="en-US" sz="2800" b="1" dirty="0" smtClean="0"/>
              <a:t> the </a:t>
            </a:r>
            <a:r>
              <a:rPr lang="en-US" sz="2800" b="1" dirty="0"/>
              <a:t>goal of this first </a:t>
            </a:r>
            <a:r>
              <a:rPr lang="en-US" sz="2800" b="1" dirty="0" smtClean="0"/>
              <a:t>AP</a:t>
            </a:r>
            <a:r>
              <a:rPr lang="en-US" sz="2800" b="1" baseline="30000" dirty="0" smtClean="0"/>
              <a:t>®</a:t>
            </a:r>
            <a:r>
              <a:rPr lang="en-US" sz="2800" b="1" dirty="0" smtClean="0"/>
              <a:t> </a:t>
            </a:r>
            <a:r>
              <a:rPr lang="en-US" sz="2800" b="1" dirty="0"/>
              <a:t>lab to create a computer program that will pass the </a:t>
            </a:r>
            <a:r>
              <a:rPr lang="en-US" sz="2800" b="1" i="1" dirty="0"/>
              <a:t>Turing </a:t>
            </a:r>
            <a:r>
              <a:rPr lang="en-US" sz="2800" b="1" i="1" dirty="0" smtClean="0"/>
              <a:t>Test </a:t>
            </a:r>
            <a:r>
              <a:rPr lang="en-US" sz="2800" b="1" dirty="0"/>
              <a:t>and achieve a considerable level of artificial intelligence.</a:t>
            </a:r>
            <a:r>
              <a:rPr lang="en-US" sz="28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483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337371"/>
          </a:xfrm>
        </p:spPr>
        <p:txBody>
          <a:bodyPr/>
          <a:lstStyle/>
          <a:p>
            <a:pPr eaLnBrk="1" hangingPunct="1"/>
            <a:r>
              <a:rPr lang="en-US" sz="5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So why is this a </a:t>
            </a:r>
            <a:r>
              <a:rPr lang="en-US" sz="5400" i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Magpie </a:t>
            </a:r>
            <a:r>
              <a:rPr lang="en-US" sz="5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Chatbot</a:t>
            </a:r>
            <a:r>
              <a:rPr lang="en-US" sz="5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?</a:t>
            </a:r>
            <a:endParaRPr lang="en-US" sz="5400" dirty="0" smtClean="0">
              <a:latin typeface="Arial Narrow" panose="020B0606020202030204" pitchFamily="34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8600" y="1337370"/>
            <a:ext cx="8686800" cy="95410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b="1" dirty="0"/>
              <a:t>Apparently, magpies </a:t>
            </a:r>
            <a:r>
              <a:rPr lang="en-US" sz="2800" b="1" i="1" dirty="0"/>
              <a:t>chatter </a:t>
            </a:r>
            <a:r>
              <a:rPr lang="en-US" sz="2800" b="1" dirty="0"/>
              <a:t>a lot.  You may have heard the expression, “Chattering like a magpie”.</a:t>
            </a:r>
            <a:endParaRPr lang="en-US" sz="28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26" y="3573515"/>
            <a:ext cx="4084674" cy="3055885"/>
          </a:xfrm>
          <a:prstGeom prst="rect">
            <a:avLst/>
          </a:prstGeom>
        </p:spPr>
      </p:pic>
      <p:sp>
        <p:nvSpPr>
          <p:cNvPr id="3" name="PubOvalCallout"/>
          <p:cNvSpPr>
            <a:spLocks noEditPoints="1" noChangeArrowheads="1"/>
          </p:cNvSpPr>
          <p:nvPr/>
        </p:nvSpPr>
        <p:spPr bwMode="auto">
          <a:xfrm flipH="1">
            <a:off x="2438400" y="2638425"/>
            <a:ext cx="6172200" cy="2466975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66337" y="2773680"/>
            <a:ext cx="4129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Blah, blah,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blah</a:t>
            </a:r>
            <a:r>
              <a:rPr lang="en-US" sz="2400" dirty="0" smtClean="0"/>
              <a:t>,</a:t>
            </a:r>
            <a:r>
              <a:rPr lang="en-US" sz="2400" dirty="0"/>
              <a:t> </a:t>
            </a:r>
            <a:r>
              <a:rPr lang="en-US" sz="2400" dirty="0" smtClean="0"/>
              <a:t>blah…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580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493776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/*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A program to carry on conversations with a human user.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This is the initial version that:  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   only provides a greeting. 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author Laurie White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version April 2012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Divided into stages and altered May 2014 by Leon 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Schram</a:t>
            </a:r>
            <a:endParaRPr lang="en-US" b="1" dirty="0">
              <a:latin typeface="Arial Narrow" panose="020B0606020202030204" pitchFamily="34" charset="0"/>
              <a:cs typeface="Times New Roman" pitchFamily="18" charset="0"/>
            </a:endParaRP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*/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public class Magpie2a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{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public String 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getGreeting</a:t>
            </a:r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()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{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	return "Hello, let's talk.";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}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}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457575" y="2579906"/>
            <a:ext cx="5686425" cy="427809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/*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A simple class to run the Magpie class.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author Laurie White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version April 2012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* Divided into stages and altered May 2014 by Leon 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Schram</a:t>
            </a:r>
            <a:endParaRPr lang="en-US" b="1" dirty="0">
              <a:latin typeface="Arial Narrow" panose="020B0606020202030204" pitchFamily="34" charset="0"/>
              <a:cs typeface="Times New Roman" pitchFamily="18" charset="0"/>
            </a:endParaRP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Arial Narrow" panose="020B0606020202030204" pitchFamily="34" charset="0"/>
                <a:cs typeface="Times New Roman" pitchFamily="18" charset="0"/>
              </a:rPr>
              <a:t>*/</a:t>
            </a:r>
          </a:p>
          <a:p>
            <a:endParaRPr lang="en-US" b="1" dirty="0">
              <a:latin typeface="Arial Narrow" panose="020B0606020202030204" pitchFamily="34" charset="0"/>
              <a:cs typeface="Times New Roman" pitchFamily="18" charset="0"/>
            </a:endParaRP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public class MagpieRunner2a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{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public static void main(String[] 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args</a:t>
            </a:r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)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{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	Magpie2a 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maggie</a:t>
            </a:r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= new Magpie2a();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	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System.out.println</a:t>
            </a:r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 (</a:t>
            </a:r>
            <a:r>
              <a:rPr lang="en-US" b="1" dirty="0" err="1">
                <a:latin typeface="Arial Narrow" panose="020B0606020202030204" pitchFamily="34" charset="0"/>
                <a:cs typeface="Times New Roman" pitchFamily="18" charset="0"/>
              </a:rPr>
              <a:t>maggie.getGreeting</a:t>
            </a:r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());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	}</a:t>
            </a:r>
          </a:p>
          <a:p>
            <a:r>
              <a:rPr lang="en-US" b="1" dirty="0">
                <a:latin typeface="Arial Narrow" panose="020B0606020202030204" pitchFamily="34" charset="0"/>
                <a:cs typeface="Times New Roman" pitchFamily="18" charset="0"/>
              </a:rPr>
              <a:t>}</a:t>
            </a:r>
            <a:r>
              <a:rPr lang="en-US" sz="2000" b="1" dirty="0">
                <a:latin typeface="Arial Narrow" panose="020B0606020202030204" pitchFamily="34" charset="0"/>
                <a:cs typeface="Times New Roman" pitchFamily="18" charset="0"/>
              </a:rPr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4846320"/>
            <a:ext cx="3457575" cy="201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let's talk</a:t>
            </a:r>
            <a:r>
              <a:rPr lang="pt-B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8.10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Response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Initial </a:t>
            </a:r>
            <a:r>
              <a:rPr lang="en-US" sz="3600" kern="10" dirty="0" err="1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Chatbot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64159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simple class to run the Magpie class.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May 2014 by Leon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MagpieRunner2b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Magpie2b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maggie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Magpie2b();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maggie.getGreeting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Scanner in = new Scanner (System.in);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statement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in.nextLine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while (!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statement.equals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("Bye"))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maggie.getResponse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(statement));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statement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in.nextLine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495800" y="1600200"/>
            <a:ext cx="4495800" cy="1200329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 smtClean="0"/>
              <a:t>NOTE: Starting with Stage 2B the </a:t>
            </a:r>
            <a:r>
              <a:rPr lang="en-US" sz="2400" b="0" dirty="0" err="1" smtClean="0">
                <a:latin typeface="Arial Black" panose="020B0A04020102020204" pitchFamily="34" charset="0"/>
              </a:rPr>
              <a:t>MagpieRunner</a:t>
            </a:r>
            <a:r>
              <a:rPr lang="en-US" sz="2400" dirty="0" smtClean="0"/>
              <a:t> class is virtually unchanged.  </a:t>
            </a:r>
            <a:endParaRPr lang="en-US" sz="2400" b="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2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736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is the initial version that: 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Uses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strings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Handles responding to simple words and phrases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May 2014 by Leon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Magpie2b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"Hello, let's talk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.";   }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response = "";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("no") &gt;= 0)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if (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("mother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 &gt;= 0 ||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("father") &gt;= 0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||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("sister")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&gt;= 0 ||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("brother") &gt;= 0)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"Tell me more about your family.";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"I don't know what to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say.";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461" t="8276" r="38857" b="17536"/>
          <a:stretch/>
        </p:blipFill>
        <p:spPr>
          <a:xfrm>
            <a:off x="3200400" y="-1"/>
            <a:ext cx="594360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9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8.11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Random Responses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</a:t>
            </a:r>
            <a:r>
              <a:rPr lang="en-US" sz="3600" kern="10" dirty="0" err="1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Chatbot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Adds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95449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is the initial version that:   *    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Uses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strings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Handles responding to simple words and phrases 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version uses a nested if to handle default responses.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May 2014 by Leon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Magpie2c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"Hello, let's talk.";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response = "";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("no") &gt;= 0)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if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("mother") &gt;=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("father") &gt;= 0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("sister") &gt;=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("brother") &gt;= 0)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"Tell me more about your family.";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</a:t>
            </a:r>
            <a:r>
              <a:rPr lang="en-US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getRandomResponse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39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String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getRandomResponse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final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NUMBER_OF_RESPONSES = 4;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double r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Math.random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)(r * NUMBER_OF_RESPONSES);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response = "";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0)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"Interesting, tell me more.";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if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1)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"Hmmm.";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if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2)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"Do you really think so?";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if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3)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"You don't say.";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761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l="2716" t="3542" r="8947" b="9758"/>
          <a:stretch/>
        </p:blipFill>
        <p:spPr>
          <a:xfrm>
            <a:off x="1562100" y="0"/>
            <a:ext cx="5981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8.12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Negative Response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Improving the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73507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is the initial version that: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Uses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strings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  Handles responding to simple words and phrases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May 2014 by Leon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Magpie3a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"Hello, let's talk</a:t>
            </a:r>
            <a:r>
              <a:rPr 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.";   }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response = "";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		if (</a:t>
            </a:r>
            <a:r>
              <a:rPr lang="en-US" sz="24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statement.indexOf</a:t>
            </a: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("no") &gt;= 0)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4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"I don't know what to say.";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5578996"/>
            <a:ext cx="9144000" cy="1279004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sz="2400" spc="-20" dirty="0" smtClean="0"/>
              <a:t>This </a:t>
            </a:r>
            <a:r>
              <a:rPr lang="en-US" sz="2400" b="0" spc="-20" dirty="0" smtClean="0">
                <a:latin typeface="Arial Black" panose="020B0A04020102020204" pitchFamily="34" charset="0"/>
              </a:rPr>
              <a:t>if</a:t>
            </a:r>
            <a:r>
              <a:rPr lang="en-US" sz="2400" spc="-20" dirty="0" smtClean="0"/>
              <a:t> statement is triggered anytime </a:t>
            </a:r>
            <a:r>
              <a:rPr lang="en-US" sz="2400" b="0" spc="-20" dirty="0" smtClean="0">
                <a:latin typeface="Arial Black" panose="020B0A04020102020204" pitchFamily="34" charset="0"/>
              </a:rPr>
              <a:t>statement</a:t>
            </a:r>
            <a:r>
              <a:rPr lang="en-US" sz="2400" spc="-20" dirty="0" smtClean="0"/>
              <a:t> contains the word “</a:t>
            </a:r>
            <a:r>
              <a:rPr lang="en-US" sz="2400" b="0" spc="-20" dirty="0" smtClean="0">
                <a:latin typeface="Arial Black" panose="020B0A04020102020204" pitchFamily="34" charset="0"/>
              </a:rPr>
              <a:t>no</a:t>
            </a:r>
            <a:r>
              <a:rPr lang="en-US" sz="2400" spc="-20" dirty="0" smtClean="0"/>
              <a:t>”.  The problem is that it is case-sensitive and it does not distinguish between “</a:t>
            </a:r>
            <a:r>
              <a:rPr lang="en-US" sz="2400" b="0" spc="-20" dirty="0" smtClean="0">
                <a:latin typeface="Arial Black" panose="020B0A04020102020204" pitchFamily="34" charset="0"/>
              </a:rPr>
              <a:t>no</a:t>
            </a:r>
            <a:r>
              <a:rPr lang="en-US" sz="2400" spc="-20" dirty="0" smtClean="0"/>
              <a:t>” and words that contain “</a:t>
            </a:r>
            <a:r>
              <a:rPr lang="en-US" sz="2400" b="0" spc="-20" dirty="0">
                <a:latin typeface="Arial Black" panose="020B0A04020102020204" pitchFamily="34" charset="0"/>
              </a:rPr>
              <a:t>no</a:t>
            </a:r>
            <a:r>
              <a:rPr lang="en-US" sz="2400" spc="-20" dirty="0" smtClean="0"/>
              <a:t>” like “</a:t>
            </a:r>
            <a:r>
              <a:rPr lang="en-US" sz="2400" b="0" u="sng" spc="-20" dirty="0" smtClean="0">
                <a:latin typeface="Arial Black" panose="020B0A04020102020204" pitchFamily="34" charset="0"/>
              </a:rPr>
              <a:t>no</a:t>
            </a:r>
            <a:r>
              <a:rPr lang="en-US" sz="2400" b="0" spc="-20" dirty="0" smtClean="0">
                <a:latin typeface="Arial Black" panose="020B0A04020102020204" pitchFamily="34" charset="0"/>
              </a:rPr>
              <a:t>t</a:t>
            </a:r>
            <a:r>
              <a:rPr lang="en-US" sz="2400" spc="-20" dirty="0" smtClean="0"/>
              <a:t>”, “</a:t>
            </a:r>
            <a:r>
              <a:rPr lang="en-US" sz="2400" b="0" u="sng" spc="-20" dirty="0" smtClean="0">
                <a:latin typeface="Arial Black" panose="020B0A04020102020204" pitchFamily="34" charset="0"/>
              </a:rPr>
              <a:t>no</a:t>
            </a:r>
            <a:r>
              <a:rPr lang="en-US" sz="2400" b="0" spc="-20" dirty="0" smtClean="0">
                <a:latin typeface="Arial Black" panose="020B0A04020102020204" pitchFamily="34" charset="0"/>
              </a:rPr>
              <a:t>tice</a:t>
            </a:r>
            <a:r>
              <a:rPr lang="en-US" sz="2400" spc="-20" dirty="0" smtClean="0"/>
              <a:t>”, “</a:t>
            </a:r>
            <a:r>
              <a:rPr lang="en-US" sz="2400" b="0" u="sng" spc="-20" dirty="0" smtClean="0">
                <a:latin typeface="Arial Black" panose="020B0A04020102020204" pitchFamily="34" charset="0"/>
              </a:rPr>
              <a:t>no</a:t>
            </a:r>
            <a:r>
              <a:rPr lang="en-US" sz="2400" b="0" spc="-20" dirty="0" smtClean="0">
                <a:latin typeface="Arial Black" panose="020B0A04020102020204" pitchFamily="34" charset="0"/>
              </a:rPr>
              <a:t>rmal</a:t>
            </a:r>
            <a:r>
              <a:rPr lang="en-US" sz="2400" spc="-20" dirty="0" smtClean="0"/>
              <a:t>”, “</a:t>
            </a:r>
            <a:r>
              <a:rPr lang="en-US" sz="2400" b="0" u="sng" spc="-20" dirty="0" smtClean="0">
                <a:latin typeface="Arial Black" panose="020B0A04020102020204" pitchFamily="34" charset="0"/>
              </a:rPr>
              <a:t>no</a:t>
            </a:r>
            <a:r>
              <a:rPr lang="en-US" sz="2400" b="0" spc="-20" dirty="0" smtClean="0">
                <a:latin typeface="Arial Black" panose="020B0A04020102020204" pitchFamily="34" charset="0"/>
              </a:rPr>
              <a:t>w</a:t>
            </a:r>
            <a:r>
              <a:rPr lang="en-US" sz="2400" spc="-20" dirty="0" smtClean="0"/>
              <a:t>”, “</a:t>
            </a:r>
            <a:r>
              <a:rPr lang="en-US" sz="2400" b="0" spc="-20" dirty="0" smtClean="0">
                <a:latin typeface="Arial Black" panose="020B0A04020102020204" pitchFamily="34" charset="0"/>
              </a:rPr>
              <a:t>s</a:t>
            </a:r>
            <a:r>
              <a:rPr lang="en-US" sz="2400" b="0" u="sng" spc="-20" dirty="0" smtClean="0">
                <a:latin typeface="Arial Black" panose="020B0A04020102020204" pitchFamily="34" charset="0"/>
              </a:rPr>
              <a:t>no</a:t>
            </a:r>
            <a:r>
              <a:rPr lang="en-US" sz="2400" b="0" spc="-20" dirty="0" smtClean="0">
                <a:latin typeface="Arial Black" panose="020B0A04020102020204" pitchFamily="34" charset="0"/>
              </a:rPr>
              <a:t>w</a:t>
            </a:r>
            <a:r>
              <a:rPr lang="en-US" sz="2400" spc="-20" dirty="0" smtClean="0"/>
              <a:t>” and </a:t>
            </a:r>
            <a:r>
              <a:rPr lang="en-US" sz="2400" spc="-20" dirty="0"/>
              <a:t>“</a:t>
            </a:r>
            <a:r>
              <a:rPr lang="en-US" sz="2400" b="0" spc="-20" dirty="0">
                <a:latin typeface="Arial Black" panose="020B0A04020102020204" pitchFamily="34" charset="0"/>
              </a:rPr>
              <a:t>k</a:t>
            </a:r>
            <a:r>
              <a:rPr lang="en-US" sz="2400" b="0" u="sng" spc="-20" dirty="0">
                <a:latin typeface="Arial Black" panose="020B0A04020102020204" pitchFamily="34" charset="0"/>
              </a:rPr>
              <a:t>no</a:t>
            </a:r>
            <a:r>
              <a:rPr lang="en-US" sz="2400" b="0" spc="-20" dirty="0">
                <a:latin typeface="Arial Black" panose="020B0A04020102020204" pitchFamily="34" charset="0"/>
              </a:rPr>
              <a:t>w</a:t>
            </a:r>
            <a:r>
              <a:rPr lang="en-US" sz="2400" spc="-20" dirty="0" smtClean="0"/>
              <a:t>”.</a:t>
            </a:r>
            <a:endParaRPr lang="en-US" sz="2400" b="0" spc="-20" dirty="0">
              <a:latin typeface="Arial Black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2577" t="7047" r="28669" b="18173"/>
          <a:stretch/>
        </p:blipFill>
        <p:spPr>
          <a:xfrm>
            <a:off x="3810001" y="0"/>
            <a:ext cx="5334000" cy="427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8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version starts to correct the "no" substring logic error.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Variable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position.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Magpie3b finds the word "no" in the middle of a phrase, but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creates exception errors when "no" is at the start or end of a phrase.  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****************************************************************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July 2014 by Leon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Magpie3b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"Hello, let's talk.";   }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"";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if </a:t>
            </a: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findKeyword</a:t>
            </a: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(statement, "no") &gt;= 0)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"I don't know what to say.";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3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9619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findKeyword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phrase, String goal)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phrase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phrase.trim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phrase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phrase.toLowerCase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goal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goal.toLowerCase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phrase.indexOf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(goal);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0)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String before = " ";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= " ";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before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after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+ 1);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 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{</a:t>
            </a:r>
          </a:p>
          <a:p>
            <a:pPr eaLnBrk="1" hangingPunct="1">
              <a:lnSpc>
                <a:spcPct val="9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return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}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-1;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1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3752" t="38710" r="745" b="4252"/>
          <a:stretch/>
        </p:blipFill>
        <p:spPr bwMode="auto">
          <a:xfrm>
            <a:off x="0" y="-2"/>
            <a:ext cx="9144000" cy="49190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0" y="4919008"/>
            <a:ext cx="9144000" cy="1938992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/>
              <a:t>The output may give the impression that we have properly dealt with the “</a:t>
            </a:r>
            <a:r>
              <a:rPr lang="en-US" sz="2400" b="0" dirty="0">
                <a:latin typeface="Arial Black" panose="020B0A04020102020204" pitchFamily="34" charset="0"/>
              </a:rPr>
              <a:t>no</a:t>
            </a:r>
            <a:r>
              <a:rPr lang="en-US" sz="2400" dirty="0"/>
              <a:t>” issue; however, we do need to consider 2 special cases.  What if </a:t>
            </a:r>
            <a:r>
              <a:rPr lang="en-US" sz="2400" dirty="0" smtClean="0"/>
              <a:t>“</a:t>
            </a:r>
            <a:r>
              <a:rPr lang="en-US" sz="2400" b="0" dirty="0">
                <a:latin typeface="Arial Black" panose="020B0A04020102020204" pitchFamily="34" charset="0"/>
              </a:rPr>
              <a:t>no</a:t>
            </a:r>
            <a:r>
              <a:rPr lang="en-US" sz="2400" dirty="0" smtClean="0"/>
              <a:t>” </a:t>
            </a:r>
            <a:r>
              <a:rPr lang="en-US" sz="2400" dirty="0"/>
              <a:t>is at the </a:t>
            </a:r>
            <a:r>
              <a:rPr lang="en-US" sz="2400" dirty="0" smtClean="0"/>
              <a:t>beginning </a:t>
            </a:r>
            <a:r>
              <a:rPr lang="en-US" sz="2400" dirty="0"/>
              <a:t>of the statement?  That would mean there is no character before </a:t>
            </a:r>
            <a:r>
              <a:rPr lang="en-US" sz="2400" dirty="0" smtClean="0"/>
              <a:t>it.  What if </a:t>
            </a:r>
            <a:r>
              <a:rPr lang="en-US" sz="2400" dirty="0"/>
              <a:t>“no” is at the </a:t>
            </a:r>
            <a:r>
              <a:rPr lang="en-US" sz="2400" dirty="0" smtClean="0"/>
              <a:t>end.  </a:t>
            </a:r>
            <a:r>
              <a:rPr lang="en-US" sz="2400" dirty="0"/>
              <a:t>Then there </a:t>
            </a:r>
            <a:r>
              <a:rPr lang="en-US" sz="2400" dirty="0" smtClean="0"/>
              <a:t>is no character </a:t>
            </a:r>
            <a:r>
              <a:rPr lang="en-US" sz="2400" dirty="0"/>
              <a:t>after </a:t>
            </a:r>
            <a:r>
              <a:rPr lang="en-US" sz="2400" dirty="0" smtClean="0"/>
              <a:t>it.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896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 rotWithShape="1">
          <a:blip r:embed="rId2"/>
          <a:srcRect l="20966" t="56902" r="172" b="2914"/>
          <a:stretch/>
        </p:blipFill>
        <p:spPr bwMode="auto">
          <a:xfrm>
            <a:off x="0" y="0"/>
            <a:ext cx="9144000" cy="3657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>
            <a:picLocks/>
          </p:cNvPicPr>
          <p:nvPr/>
        </p:nvPicPr>
        <p:blipFill rotWithShape="1">
          <a:blip r:embed="rId3"/>
          <a:srcRect l="20966" t="62270" r="173" b="3221"/>
          <a:stretch/>
        </p:blipFill>
        <p:spPr bwMode="auto">
          <a:xfrm>
            <a:off x="0" y="3657600"/>
            <a:ext cx="9144000" cy="3200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572000" y="376535"/>
            <a:ext cx="2590800" cy="46166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 smtClean="0"/>
              <a:t>End with “</a:t>
            </a:r>
            <a:r>
              <a:rPr lang="en-US" sz="2400" b="0" dirty="0" smtClean="0">
                <a:latin typeface="Arial Black" panose="020B0A04020102020204" pitchFamily="34" charset="0"/>
              </a:rPr>
              <a:t>no</a:t>
            </a:r>
            <a:r>
              <a:rPr lang="en-US" sz="2400" dirty="0" smtClean="0"/>
              <a:t>”</a:t>
            </a:r>
            <a:endParaRPr lang="en-US" sz="2400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572000" y="4034135"/>
            <a:ext cx="2590800" cy="46166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 smtClean="0"/>
              <a:t>Begin with “</a:t>
            </a:r>
            <a:r>
              <a:rPr lang="en-US" sz="2400" b="0" dirty="0" smtClean="0">
                <a:latin typeface="Arial Black" panose="020B0A04020102020204" pitchFamily="34" charset="0"/>
              </a:rPr>
              <a:t>no</a:t>
            </a:r>
            <a:r>
              <a:rPr lang="en-US" sz="2400" dirty="0" smtClean="0"/>
              <a:t>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952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version starts to correct the "no" substring logic error.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Variable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position.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Magpie3c finds "no" at the start, middle and end of the phrase.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There is a problem with a phrase like "I know of no other way".   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*******************************************************************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July 2014 by Leon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Magpie3c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"Hello, let's talk.";   }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"";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findKeyword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(statement, "no") &gt;= 0)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response = "I don't know what to say.";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6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17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findKeyword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phrase, String goal)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phrase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phrase.trim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goal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goal.toLowerCase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= "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   String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= " ";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(goal);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0)  // case when "no" starts the phrase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after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+ 1);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      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return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else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 // case when "no" ends the phrase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before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return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  // case when "no" is in the middle of the phrase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before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after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+ 1);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 ||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0;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afterOK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return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   </a:t>
            </a:r>
          </a:p>
          <a:p>
            <a:pPr eaLnBrk="1" hangingPunct="1">
              <a:lnSpc>
                <a:spcPct val="85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-1;   // case when "no" is not found</a:t>
            </a:r>
          </a:p>
          <a:p>
            <a:pPr eaLnBrk="1" hangingPunct="1">
              <a:lnSpc>
                <a:spcPct val="6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521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0" y="5300008"/>
            <a:ext cx="9144000" cy="156966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/>
              <a:t>What if “</a:t>
            </a:r>
            <a:r>
              <a:rPr lang="en-US" sz="2400" b="0" dirty="0">
                <a:latin typeface="Arial Black" panose="020B0A04020102020204" pitchFamily="34" charset="0"/>
              </a:rPr>
              <a:t>no</a:t>
            </a:r>
            <a:r>
              <a:rPr lang="en-US" sz="2400" dirty="0"/>
              <a:t>” was found, but it was part of another word like “</a:t>
            </a:r>
            <a:r>
              <a:rPr lang="en-US" sz="2400" b="0" dirty="0">
                <a:latin typeface="Arial Black" panose="020B0A04020102020204" pitchFamily="34" charset="0"/>
              </a:rPr>
              <a:t>not</a:t>
            </a:r>
            <a:r>
              <a:rPr lang="en-US" sz="2400" dirty="0"/>
              <a:t>” or “</a:t>
            </a:r>
            <a:r>
              <a:rPr lang="en-US" sz="2400" b="0" dirty="0">
                <a:latin typeface="Arial Black" panose="020B0A04020102020204" pitchFamily="34" charset="0"/>
              </a:rPr>
              <a:t>know</a:t>
            </a:r>
            <a:r>
              <a:rPr lang="en-US" sz="2400" dirty="0"/>
              <a:t>”?  In that case we should not immediately give up because the </a:t>
            </a:r>
            <a:r>
              <a:rPr lang="en-US" sz="2400" b="0" dirty="0" err="1">
                <a:latin typeface="Arial Black" panose="020B0A04020102020204" pitchFamily="34" charset="0"/>
              </a:rPr>
              <a:t>indexOf</a:t>
            </a:r>
            <a:r>
              <a:rPr lang="en-US" sz="2400" dirty="0"/>
              <a:t> method has only given us the location of the first instance of </a:t>
            </a:r>
            <a:r>
              <a:rPr lang="en-US" sz="2400" dirty="0" smtClean="0"/>
              <a:t>“</a:t>
            </a:r>
            <a:r>
              <a:rPr lang="en-US" sz="2400" b="0" dirty="0">
                <a:latin typeface="Arial Black" panose="020B0A04020102020204" pitchFamily="34" charset="0"/>
              </a:rPr>
              <a:t>no</a:t>
            </a:r>
            <a:r>
              <a:rPr lang="en-US" sz="2400" dirty="0" smtClean="0"/>
              <a:t>” </a:t>
            </a:r>
            <a:r>
              <a:rPr lang="en-US" sz="2400" dirty="0"/>
              <a:t>in the string.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9667" t="30499" r="745" b="4066"/>
          <a:stretch/>
        </p:blipFill>
        <p:spPr bwMode="auto">
          <a:xfrm>
            <a:off x="0" y="0"/>
            <a:ext cx="9144000" cy="52878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7917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 program to carry on conversations with a human user.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version shows an abbreviated style of programming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used by Laurie White in her version.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This version also handled "I know of no way" with a loop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***********************************************************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author Laurie White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version April 2012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Divided into stages and altered May 2014 by Leon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Magpie3d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getGreeting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"Hello, let's talk.";   }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String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getResponse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response = "";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if (</a:t>
            </a:r>
            <a:r>
              <a:rPr lang="en-US" sz="20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statement.length</a:t>
            </a: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() == 0)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"Say something, please.";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else if (</a:t>
            </a:r>
            <a:r>
              <a:rPr lang="en-US" sz="20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findKeyword</a:t>
            </a: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(statement, "no") &gt;= 0)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"Why so negative?";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			response = "I don't know what to say.";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response;</a:t>
            </a:r>
          </a:p>
          <a:p>
            <a:pPr eaLnBrk="1" hangingPunct="1">
              <a:lnSpc>
                <a:spcPct val="9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11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8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findKeyword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statement, String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goal,int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startPos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phrase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statement.trim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phrase.toLowerCase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goal.toLowerCase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startPos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while 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psn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&gt;= 0)</a:t>
            </a:r>
            <a:b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{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= " ", after = " ";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{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before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}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phrase.length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{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after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phrase.substring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goal.length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+ 1).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}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0) ||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0)) 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&amp;&amp;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 &lt; 0) ||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after.compareTo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 &gt; 0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{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}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phrase.indexOf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goal.toLowerCase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}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return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-1;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private </a:t>
            </a:r>
            <a:r>
              <a:rPr lang="en-US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findKeyword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(String statement, String goal)</a:t>
            </a:r>
            <a:b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{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return </a:t>
            </a:r>
            <a:r>
              <a:rPr lang="en-US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findKeyword</a:t>
            </a: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(statement, goal, 0</a:t>
            </a: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7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   	}</a:t>
            </a:r>
          </a:p>
          <a:p>
            <a:pPr eaLnBrk="1" hangingPunct="1">
              <a:lnSpc>
                <a:spcPct val="70000"/>
              </a:lnSpc>
              <a:tabLst>
                <a:tab pos="346075" algn="l"/>
                <a:tab pos="690563" algn="l"/>
                <a:tab pos="1025525" algn="l"/>
                <a:tab pos="1371600" algn="l"/>
                <a:tab pos="1828800" algn="l"/>
                <a:tab pos="2286000" algn="l"/>
              </a:tabLst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12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17" t="3750" r="23552" b="51632"/>
          <a:stretch/>
        </p:blipFill>
        <p:spPr bwMode="auto">
          <a:xfrm>
            <a:off x="0" y="1"/>
            <a:ext cx="5486400" cy="4492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217" t="48368" r="36819" b="7014"/>
          <a:stretch/>
        </p:blipFill>
        <p:spPr bwMode="auto">
          <a:xfrm>
            <a:off x="4572000" y="2329700"/>
            <a:ext cx="4572000" cy="4528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504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5001</TotalTime>
  <Words>3087</Words>
  <Application>Microsoft Office PowerPoint</Application>
  <PresentationFormat>On-screen Show (4:3)</PresentationFormat>
  <Paragraphs>1284</Paragraphs>
  <Slides>72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Default Design</vt:lpstr>
      <vt:lpstr>PowerPoint Presentation</vt:lpstr>
      <vt:lpstr>PowerPoint Presentation</vt:lpstr>
      <vt:lpstr>String Processing</vt:lpstr>
      <vt:lpstr>String Definition</vt:lpstr>
      <vt:lpstr>String Variables vs. String Literals</vt:lpstr>
      <vt:lpstr>PowerPoint Presentation</vt:lpstr>
      <vt:lpstr>Is String a Simple Data Type?</vt:lpstr>
      <vt:lpstr>PowerPoint Presentation</vt:lpstr>
      <vt:lpstr>PowerPoint Presentation</vt:lpstr>
      <vt:lpstr>PowerPoint Presentation</vt:lpstr>
      <vt:lpstr>String Method length</vt:lpstr>
      <vt:lpstr>PowerPoint Presentation</vt:lpstr>
      <vt:lpstr>PowerPoint Presentation</vt:lpstr>
      <vt:lpstr>String Method substring</vt:lpstr>
      <vt:lpstr>Important Note</vt:lpstr>
      <vt:lpstr>PowerPoint Presentation</vt:lpstr>
      <vt:lpstr>Overloaded String Method substring</vt:lpstr>
      <vt:lpstr>PowerPoint Presentation</vt:lpstr>
      <vt:lpstr>String Method indexOf</vt:lpstr>
      <vt:lpstr>PowerPoint Presentation</vt:lpstr>
      <vt:lpstr>Overloaded String Method indexOf</vt:lpstr>
      <vt:lpstr>PowerPoint Presentation</vt:lpstr>
      <vt:lpstr>PowerPoint Presentation</vt:lpstr>
      <vt:lpstr> String static Method valueOf</vt:lpstr>
      <vt:lpstr>PowerPoint Presentation</vt:lpstr>
      <vt:lpstr>PowerPoint Presentation</vt:lpstr>
      <vt:lpstr>Integer static method parseInt and Double static method parseDouble</vt:lpstr>
      <vt:lpstr>PowerPoint Presentation</vt:lpstr>
      <vt:lpstr>PowerPoint Presentation</vt:lpstr>
      <vt:lpstr>PowerPoint Presentation</vt:lpstr>
      <vt:lpstr>What Is Going On?  Part 1</vt:lpstr>
      <vt:lpstr>What Is Going On?  Part 2</vt:lpstr>
      <vt:lpstr>What Is Going On?  Part 3</vt:lpstr>
      <vt:lpstr>The Bottom Line</vt:lpstr>
      <vt:lpstr>PowerPoint Presentation</vt:lpstr>
      <vt:lpstr>String Methods equals and compareTo</vt:lpstr>
      <vt:lpstr>PowerPoint Presentation</vt:lpstr>
      <vt:lpstr>PowerPoint Presentation</vt:lpstr>
      <vt:lpstr>String Method trim and White Space characters</vt:lpstr>
      <vt:lpstr>PowerPoint Presentation</vt:lpstr>
      <vt:lpstr>String Methods toUpperCase and toLowerCase </vt:lpstr>
      <vt:lpstr>Altering the Original String</vt:lpstr>
      <vt:lpstr>AP® Exam Alert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Magpie Chatbot</vt:lpstr>
      <vt:lpstr>The Turing Test for Artificial Intelligence</vt:lpstr>
      <vt:lpstr>Magpie Program Goal</vt:lpstr>
      <vt:lpstr>So why is this a Magpie Chatbot?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RISD - Berkner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Schram</dc:creator>
  <cp:lastModifiedBy>leonschram</cp:lastModifiedBy>
  <cp:revision>513</cp:revision>
  <dcterms:created xsi:type="dcterms:W3CDTF">2003-07-04T03:08:29Z</dcterms:created>
  <dcterms:modified xsi:type="dcterms:W3CDTF">2015-06-02T02:01:58Z</dcterms:modified>
</cp:coreProperties>
</file>