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4"/>
  </p:notesMasterIdLst>
  <p:sldIdLst>
    <p:sldId id="297" r:id="rId2"/>
    <p:sldId id="257" r:id="rId3"/>
    <p:sldId id="264" r:id="rId4"/>
    <p:sldId id="265" r:id="rId5"/>
    <p:sldId id="259" r:id="rId6"/>
    <p:sldId id="263" r:id="rId7"/>
    <p:sldId id="301" r:id="rId8"/>
    <p:sldId id="305" r:id="rId9"/>
    <p:sldId id="306" r:id="rId10"/>
    <p:sldId id="307" r:id="rId11"/>
    <p:sldId id="308" r:id="rId12"/>
    <p:sldId id="309" r:id="rId13"/>
    <p:sldId id="310" r:id="rId14"/>
    <p:sldId id="268" r:id="rId15"/>
    <p:sldId id="269" r:id="rId16"/>
    <p:sldId id="293" r:id="rId17"/>
    <p:sldId id="294" r:id="rId18"/>
    <p:sldId id="295" r:id="rId19"/>
    <p:sldId id="291" r:id="rId20"/>
    <p:sldId id="311" r:id="rId21"/>
    <p:sldId id="312" r:id="rId22"/>
    <p:sldId id="299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8" d="100"/>
          <a:sy n="88" d="100"/>
        </p:scale>
        <p:origin x="-115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566FB92-910E-49C7-90E6-9034DEC70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F5E74CF-8FF2-42B2-8C27-BB0B1FC6D8C6}" type="slidenum">
              <a:rPr lang="en-US" sz="1200"/>
              <a:pPr algn="r" eaLnBrk="1" hangingPunct="1"/>
              <a:t>1</a:t>
            </a:fld>
            <a:endParaRPr 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094492-F065-4A39-A76F-EC1F54E3BA4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E819B4-0F3C-4E87-A97D-9E90BB48C416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AFF6AAF-74BE-4655-BA1A-9D77DF0AA4E3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95BBC0-2171-48DE-BF60-0992A6563A85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104122F-66B6-4258-8137-3FF698DD3D71}" type="slidenum">
              <a:rPr lang="en-US" smtClean="0"/>
              <a:pPr eaLnBrk="1" hangingPunct="1"/>
              <a:t>14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05C00A-6B1D-4F22-A329-C6026C9125FE}" type="slidenum">
              <a:rPr lang="en-US" smtClean="0"/>
              <a:pPr eaLnBrk="1" hangingPunct="1"/>
              <a:t>15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150AB32-347F-4AB8-8051-7E4222350DFD}" type="slidenum">
              <a:rPr lang="en-US" smtClean="0"/>
              <a:pPr eaLnBrk="1" hangingPunct="1"/>
              <a:t>16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CEE234A-36DD-4A33-8A07-A5AC9031A276}" type="slidenum">
              <a:rPr lang="en-US" smtClean="0"/>
              <a:pPr eaLnBrk="1" hangingPunct="1"/>
              <a:t>17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A9950C-2823-4DB1-9577-50B9A3696B7D}" type="slidenum">
              <a:rPr lang="en-US" smtClean="0"/>
              <a:pPr eaLnBrk="1" hangingPunct="1"/>
              <a:t>18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19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20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21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7251C6-3EF5-4A5A-BBEC-685F946C88C5}" type="slidenum">
              <a:rPr lang="en-US" smtClean="0"/>
              <a:pPr eaLnBrk="1" hangingPunct="1"/>
              <a:t>22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14286-9B7B-49A1-A3FF-7C157B85A5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6216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EB4CB-6F5A-434B-964F-6FED9743FE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42673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4557F-915A-4D00-8818-B62A6FA01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9836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DEC62-3AD0-463F-BFCB-2468BD666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5604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83E37-FF2A-4C19-9111-1F324C4A1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4462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2C0E6-B5E2-48BA-8666-10E80EBA3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4591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C7328-06CF-4AE8-82C1-47314A933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070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FA345-B070-4C3A-A07C-ADA0B0BD86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08459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DB4B6-EC17-4F52-AB74-04DD6ACCD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57094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F8DF3-A8D8-4047-A22C-4F6E0B856D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8966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52FE9-3041-48DD-9551-BAEB49B35A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77818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7D833B9-E58D-4F73-AB8F-FD53129F2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marL="0" indent="0" algn="ctr" eaLnBrk="1" hangingPunct="1">
              <a:buFontTx/>
              <a:buNone/>
            </a:pPr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marL="0" indent="0" algn="ctr" eaLnBrk="1" hangingPunct="1">
              <a:buFontTx/>
              <a:buNone/>
            </a:pPr>
            <a:r>
              <a:rPr lang="en-US" sz="3600" b="1" dirty="0" smtClean="0"/>
              <a:t>You will have 30 seconds per question.</a:t>
            </a:r>
          </a:p>
          <a:p>
            <a:pPr marL="0" indent="0" algn="ctr" eaLnBrk="1" hangingPunct="1">
              <a:buFontTx/>
              <a:buNone/>
            </a:pPr>
            <a:endParaRPr lang="en-US" sz="3600" b="1" dirty="0" smtClean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08.01-08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902534"/>
              </p:ext>
            </p:extLst>
          </p:nvPr>
        </p:nvGraphicFramePr>
        <p:xfrm>
          <a:off x="2819400" y="1539294"/>
          <a:ext cx="3581400" cy="4864554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Quiz 08.01-08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	11.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	12.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	13.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	14.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	15.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	16.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	17.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	18.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		19.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		20.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3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77974"/>
              </p:ext>
            </p:extLst>
          </p:nvPr>
        </p:nvGraphicFramePr>
        <p:xfrm>
          <a:off x="457200" y="1371600"/>
          <a:ext cx="8305800" cy="5029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2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not really a simple data type (and is actually a class)?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double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char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boolean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(e)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02</a:t>
            </a:r>
          </a:p>
        </p:txBody>
      </p:sp>
      <p:graphicFrame>
        <p:nvGraphicFramePr>
          <p:cNvPr id="1846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46033"/>
              </p:ext>
            </p:extLst>
          </p:nvPr>
        </p:nvGraphicFramePr>
        <p:xfrm>
          <a:off x="457200" y="1143000"/>
          <a:ext cx="8305800" cy="465734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72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is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literal?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rank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"John Smith"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"Admiral"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romanUcPeriod"/>
                        <a:tabLst/>
                      </a:pPr>
                      <a:endParaRPr kumimoji="0" lang="en-US" sz="32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1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199046"/>
              </p:ext>
            </p:extLst>
          </p:nvPr>
        </p:nvGraphicFramePr>
        <p:xfrm>
          <a:off x="5029200" y="2057400"/>
          <a:ext cx="3733800" cy="3733800"/>
        </p:xfrm>
        <a:graphic>
          <a:graphicData uri="http://schemas.openxmlformats.org/drawingml/2006/table">
            <a:tbl>
              <a:tblPr/>
              <a:tblGrid>
                <a:gridCol w="3733800"/>
              </a:tblGrid>
              <a:tr h="3733800">
                <a:tc>
                  <a:txBody>
                    <a:bodyPr/>
                    <a:lstStyle/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 and II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III and IV only</a:t>
                      </a:r>
                    </a:p>
                    <a:p>
                      <a:pPr marL="690563" marR="0" lvl="0" indent="-690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I, II, III and IV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03</a:t>
            </a:r>
          </a:p>
        </p:txBody>
      </p:sp>
      <p:graphicFrame>
        <p:nvGraphicFramePr>
          <p:cNvPr id="12306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59635"/>
              </p:ext>
            </p:extLst>
          </p:nvPr>
        </p:nvGraphicFramePr>
        <p:xfrm>
          <a:off x="457200" y="1371600"/>
          <a:ext cx="8305800" cy="509016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92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declares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object?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s1  =  "Aardvark";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s2  =  new String("Aardvark");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s3 = new String(animal);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String s4 = new String(s3);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(d)	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19714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s1 = "Argentine";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s2 = "Tango";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s3 = s1 + " " + s2;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System.out.println(s3.length());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ArgentineTango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Argentine Tango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529633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(0,4));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ceca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94855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796936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(2,6));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ceca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80159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479829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(4,7));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275433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09097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(4));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52786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38583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s.substring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(1));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acecar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Racecar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83652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422990"/>
              </p:ext>
            </p:extLst>
          </p:nvPr>
        </p:nvGraphicFramePr>
        <p:xfrm>
          <a:off x="381000" y="946150"/>
          <a:ext cx="8305800" cy="582164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8216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s1 = "racecar";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s2 = "car";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 index = s1.indexOf(s2);</a:t>
                      </a:r>
                      <a:b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System.out.println(index);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9554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11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906096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</a:t>
                      </a:r>
                      <a:r>
                        <a:rPr lang="en-US" sz="24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output of the following program segment?</a:t>
                      </a:r>
                      <a:endParaRPr lang="en-US" sz="24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String 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"Mississippi is a state and it is a river.";</a:t>
                      </a:r>
                    </a:p>
                    <a:p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System.out.println(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str.indexOf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("is",10));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4330682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12</a:t>
            </a:r>
            <a:endParaRPr lang="en-US" sz="3600" b="1" dirty="0"/>
          </a:p>
        </p:txBody>
      </p:sp>
      <p:graphicFrame>
        <p:nvGraphicFramePr>
          <p:cNvPr id="21527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68410"/>
              </p:ext>
            </p:extLst>
          </p:nvPr>
        </p:nvGraphicFramePr>
        <p:xfrm>
          <a:off x="457200" y="1371600"/>
          <a:ext cx="8305800" cy="460246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6021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method converts primitive data type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values to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variables?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Integer.parseInt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Double.parseDouble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String.valueOf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All of the above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13</a:t>
            </a:r>
            <a:endParaRPr lang="en-US" sz="3600" b="1" dirty="0"/>
          </a:p>
        </p:txBody>
      </p:sp>
      <p:graphicFrame>
        <p:nvGraphicFramePr>
          <p:cNvPr id="1332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437325"/>
              </p:ext>
            </p:extLst>
          </p:nvPr>
        </p:nvGraphicFramePr>
        <p:xfrm>
          <a:off x="457200" y="1371600"/>
          <a:ext cx="8305800" cy="53705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37051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"All of the methods of the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class are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32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methods."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	True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		</a:t>
                      </a:r>
                      <a:r>
                        <a:rPr kumimoji="0" lang="en-US" sz="32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String.valueOf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charset="0"/>
                        </a:rPr>
                        <a:t> is a class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14</a:t>
            </a:r>
            <a:endParaRPr lang="en-US" sz="3600" b="1" dirty="0"/>
          </a:p>
        </p:txBody>
      </p:sp>
      <p:graphicFrame>
        <p:nvGraphicFramePr>
          <p:cNvPr id="14345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124136"/>
              </p:ext>
            </p:extLst>
          </p:nvPr>
        </p:nvGraphicFramePr>
        <p:xfrm>
          <a:off x="457200" y="1371600"/>
          <a:ext cx="8305800" cy="50657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65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are </a:t>
                      </a: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simple/primitive data types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and you need to check if they are equal, which command would you use?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!=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!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15</a:t>
            </a:r>
            <a:endParaRPr lang="en-US" sz="3600" b="1" dirty="0"/>
          </a:p>
        </p:txBody>
      </p:sp>
      <p:graphicFrame>
        <p:nvGraphicFramePr>
          <p:cNvPr id="4" name="Group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127692"/>
              </p:ext>
            </p:extLst>
          </p:nvPr>
        </p:nvGraphicFramePr>
        <p:xfrm>
          <a:off x="457200" y="1371600"/>
          <a:ext cx="8305800" cy="5065713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65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and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are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 and you need to check if they are equal, which command would you use?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 y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== y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x != y 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(d)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(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if ( !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x.equals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(y) )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16</a:t>
            </a:r>
            <a:endParaRPr lang="en-US" sz="3600" b="1" dirty="0"/>
          </a:p>
        </p:txBody>
      </p:sp>
      <p:graphicFrame>
        <p:nvGraphicFramePr>
          <p:cNvPr id="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286518"/>
              </p:ext>
            </p:extLst>
          </p:nvPr>
        </p:nvGraphicFramePr>
        <p:xfrm>
          <a:off x="457200" y="1371600"/>
          <a:ext cx="8305800" cy="509012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allows you find the location of "and" in "Standard".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indexOf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charAt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length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concat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substr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421252"/>
              </p:ext>
            </p:extLst>
          </p:nvPr>
        </p:nvGraphicFramePr>
        <p:xfrm>
          <a:off x="457200" y="1371600"/>
          <a:ext cx="8305800" cy="51632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can check for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equality?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 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equals 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compareTo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of the above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 and c only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17</a:t>
            </a:r>
            <a:endParaRPr lang="en-US" sz="3600" b="1" dirty="0"/>
          </a:p>
        </p:txBody>
      </p:sp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305362"/>
              </p:ext>
            </p:extLst>
          </p:nvPr>
        </p:nvGraphicFramePr>
        <p:xfrm>
          <a:off x="457200" y="1371600"/>
          <a:ext cx="8305800" cy="409037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Which String method removes white space?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trim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remove</a:t>
                      </a: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trimWhite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18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22424503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058574"/>
              </p:ext>
            </p:extLst>
          </p:nvPr>
        </p:nvGraphicFramePr>
        <p:xfrm>
          <a:off x="457200" y="1371600"/>
          <a:ext cx="8305800" cy="467559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96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Which String method alters all letters to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uppercase letters?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upperCase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toCapital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toUpperCase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914400" marR="0" lvl="0" indent="-914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19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654397357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1" name="Group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914743"/>
              </p:ext>
            </p:extLst>
          </p:nvPr>
        </p:nvGraphicFramePr>
        <p:xfrm>
          <a:off x="457200" y="1143000"/>
          <a:ext cx="8305800" cy="525471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162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output of the program segment below?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some unknown String value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String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pqr</a:t>
                      </a: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= </a:t>
                      </a: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different unknown String value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 =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abc.compareTo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pqr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y = 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pqr.compareTo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abc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z = x + y;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System.out.println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(z);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5475" algn="l"/>
                          <a:tab pos="914400" algn="l"/>
                          <a:tab pos="1371600" algn="l"/>
                          <a:tab pos="1828800" algn="l"/>
                          <a:tab pos="2454275" algn="l"/>
                          <a:tab pos="3657600" algn="l"/>
                          <a:tab pos="4114800" algn="l"/>
                          <a:tab pos="5486400" algn="l"/>
                          <a:tab pos="6111875" algn="l"/>
                        </a:tabLst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-1		(b)	0	(c)	error	(d)	cannot be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625475" algn="l"/>
                          <a:tab pos="914400" algn="l"/>
                          <a:tab pos="1371600" algn="l"/>
                          <a:tab pos="1828800" algn="l"/>
                          <a:tab pos="2454275" algn="l"/>
                          <a:tab pos="3657600" algn="l"/>
                          <a:tab pos="4114800" algn="l"/>
                          <a:tab pos="5486400" algn="l"/>
                          <a:tab pos="6111875" algn="l"/>
                        </a:tabLst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							determined</a:t>
                      </a: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20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6419263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Words>500</Words>
  <Application>Microsoft Office PowerPoint</Application>
  <PresentationFormat>On-screen Show (4:3)</PresentationFormat>
  <Paragraphs>222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104</cp:revision>
  <dcterms:created xsi:type="dcterms:W3CDTF">2005-09-25T13:05:16Z</dcterms:created>
  <dcterms:modified xsi:type="dcterms:W3CDTF">2015-08-28T14:32:11Z</dcterms:modified>
</cp:coreProperties>
</file>