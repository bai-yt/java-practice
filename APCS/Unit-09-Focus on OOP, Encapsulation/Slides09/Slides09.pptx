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66" r:id="rId3"/>
    <p:sldId id="496" r:id="rId4"/>
    <p:sldId id="567" r:id="rId5"/>
    <p:sldId id="633" r:id="rId6"/>
    <p:sldId id="524" r:id="rId7"/>
    <p:sldId id="569" r:id="rId8"/>
    <p:sldId id="634" r:id="rId9"/>
    <p:sldId id="527" r:id="rId10"/>
    <p:sldId id="528" r:id="rId11"/>
    <p:sldId id="523" r:id="rId12"/>
    <p:sldId id="571" r:id="rId13"/>
    <p:sldId id="573" r:id="rId14"/>
    <p:sldId id="529" r:id="rId15"/>
    <p:sldId id="635" r:id="rId16"/>
    <p:sldId id="530" r:id="rId17"/>
    <p:sldId id="636" r:id="rId18"/>
    <p:sldId id="638" r:id="rId19"/>
    <p:sldId id="639" r:id="rId20"/>
    <p:sldId id="568" r:id="rId21"/>
    <p:sldId id="531" r:id="rId22"/>
    <p:sldId id="640" r:id="rId23"/>
    <p:sldId id="637" r:id="rId24"/>
    <p:sldId id="641" r:id="rId25"/>
    <p:sldId id="594" r:id="rId26"/>
    <p:sldId id="581" r:id="rId27"/>
    <p:sldId id="556" r:id="rId28"/>
    <p:sldId id="539" r:id="rId29"/>
    <p:sldId id="538" r:id="rId30"/>
    <p:sldId id="540" r:id="rId31"/>
    <p:sldId id="541" r:id="rId32"/>
    <p:sldId id="542" r:id="rId33"/>
    <p:sldId id="543" r:id="rId34"/>
    <p:sldId id="545" r:id="rId35"/>
    <p:sldId id="546" r:id="rId36"/>
    <p:sldId id="547" r:id="rId37"/>
    <p:sldId id="548" r:id="rId38"/>
    <p:sldId id="549" r:id="rId39"/>
    <p:sldId id="550" r:id="rId40"/>
    <p:sldId id="551" r:id="rId41"/>
    <p:sldId id="552" r:id="rId42"/>
    <p:sldId id="595" r:id="rId43"/>
    <p:sldId id="596" r:id="rId44"/>
    <p:sldId id="597" r:id="rId45"/>
    <p:sldId id="598" r:id="rId46"/>
    <p:sldId id="600" r:id="rId47"/>
    <p:sldId id="601" r:id="rId48"/>
    <p:sldId id="599" r:id="rId49"/>
    <p:sldId id="602" r:id="rId50"/>
    <p:sldId id="603" r:id="rId51"/>
    <p:sldId id="606" r:id="rId52"/>
    <p:sldId id="607" r:id="rId53"/>
    <p:sldId id="608" r:id="rId54"/>
    <p:sldId id="609" r:id="rId55"/>
    <p:sldId id="562" r:id="rId56"/>
    <p:sldId id="582" r:id="rId57"/>
    <p:sldId id="583" r:id="rId58"/>
    <p:sldId id="584" r:id="rId59"/>
    <p:sldId id="585" r:id="rId60"/>
    <p:sldId id="586" r:id="rId61"/>
    <p:sldId id="587" r:id="rId62"/>
    <p:sldId id="588" r:id="rId63"/>
    <p:sldId id="589" r:id="rId64"/>
    <p:sldId id="590" r:id="rId65"/>
    <p:sldId id="591" r:id="rId66"/>
    <p:sldId id="592" r:id="rId67"/>
    <p:sldId id="593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00"/>
    <a:srgbClr val="FF99CC"/>
    <a:srgbClr val="00FFCC"/>
    <a:srgbClr val="FF8000"/>
    <a:srgbClr val="FF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3" autoAdjust="0"/>
    <p:restoredTop sz="94681" autoAdjust="0"/>
  </p:normalViewPr>
  <p:slideViewPr>
    <p:cSldViewPr>
      <p:cViewPr varScale="1">
        <p:scale>
          <a:sx n="87" d="100"/>
          <a:sy n="87" d="100"/>
        </p:scale>
        <p:origin x="-696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2765A-D7CB-4AAB-ADE9-F7E4802407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2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D9810-8682-4B4C-BD2A-52348A2725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8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60C6F-39B9-49FF-BA7B-288FC5AEA9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3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43519-E627-42DF-A078-FB1476FD07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FC30F-B3CA-42E7-B6DF-C9B6AF44A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5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D1D8E-312E-4923-82E2-350C8C79B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66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B916-D7E0-4872-9664-8DDAEA105F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2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C0A7D-FFE7-4E61-A61F-A2B1D38D21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9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91F7D-0893-473F-8110-949F6F686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7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324AC-A1EC-4CFF-8B5D-BC1BAF13DC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5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0EF028-EC5E-4218-BED9-A7EA33D40E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9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810A5628-DD68-49D1-9BFE-B5AFDF8A9A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gif"/><Relationship Id="rId4" Type="http://schemas.openxmlformats.org/officeDocument/2006/relationships/image" Target="../media/image52.gi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6"/>
          <p:cNvSpPr>
            <a:spLocks noChangeArrowheads="1" noChangeShapeType="1" noTextEdit="1"/>
          </p:cNvSpPr>
          <p:nvPr/>
        </p:nvSpPr>
        <p:spPr bwMode="auto">
          <a:xfrm>
            <a:off x="685800" y="1654175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</a:t>
            </a:r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9 </a:t>
            </a:r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Slides</a:t>
            </a:r>
          </a:p>
        </p:txBody>
      </p:sp>
      <p:sp>
        <p:nvSpPr>
          <p:cNvPr id="2051" name="WordArt 18"/>
          <p:cNvSpPr>
            <a:spLocks noChangeArrowheads="1" noChangeShapeType="1" noTextEdit="1"/>
          </p:cNvSpPr>
          <p:nvPr/>
        </p:nvSpPr>
        <p:spPr bwMode="auto">
          <a:xfrm>
            <a:off x="371475" y="3924300"/>
            <a:ext cx="84010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Focus </a:t>
            </a:r>
            <a:r>
              <a:rPr lang="en-US" sz="3600" kern="1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on OOP: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Encapsulation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2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13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 err="1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</a:t>
            </a:r>
            <a:r>
              <a:rPr lang="fr-FR" sz="7200" kern="10" baseline="3000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®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075" name="WordArt 2"/>
          <p:cNvSpPr>
            <a:spLocks noChangeArrowheads="1" noChangeShapeType="1" noTextEdit="1"/>
          </p:cNvSpPr>
          <p:nvPr/>
        </p:nvSpPr>
        <p:spPr bwMode="auto">
          <a:xfrm>
            <a:off x="457200" y="1828800"/>
            <a:ext cx="8382000" cy="35814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b="1" smtClean="0"/>
              <a:t>Objects, Variables &amp; Methods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52400" y="1255713"/>
            <a:ext cx="8839200" cy="453548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Java encapsulates data and action modules that access the data in one container, called an </a:t>
            </a:r>
            <a:r>
              <a:rPr lang="en-US" sz="3200" i="1" dirty="0">
                <a:latin typeface="Arial" pitchFamily="34" charset="0"/>
                <a:cs typeface="Arial" pitchFamily="34" charset="0"/>
                <a:sym typeface="Symbol" pitchFamily="18" charset="2"/>
              </a:rPr>
              <a:t>object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.</a:t>
            </a:r>
          </a:p>
          <a:p>
            <a:pPr eaLnBrk="1" hangingPunct="1"/>
            <a:endParaRPr lang="en-US" sz="320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Object members that perform some task are called </a:t>
            </a:r>
            <a:r>
              <a:rPr lang="en-US" sz="3200" i="1" dirty="0">
                <a:latin typeface="Arial" pitchFamily="34" charset="0"/>
                <a:cs typeface="Arial" pitchFamily="34" charset="0"/>
                <a:sym typeface="Symbol" pitchFamily="18" charset="2"/>
              </a:rPr>
              <a:t>methods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.</a:t>
            </a:r>
          </a:p>
          <a:p>
            <a:pPr eaLnBrk="1" hangingPunct="1"/>
            <a:endParaRPr lang="en-US" sz="320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1" hangingPunct="1"/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Object members that store data are called </a:t>
            </a:r>
            <a:r>
              <a:rPr lang="en-US" sz="3200" i="1" dirty="0">
                <a:latin typeface="Arial" pitchFamily="34" charset="0"/>
                <a:cs typeface="Arial" pitchFamily="34" charset="0"/>
                <a:sym typeface="Symbol" pitchFamily="18" charset="2"/>
              </a:rPr>
              <a:t>attributes</a:t>
            </a:r>
            <a:r>
              <a:rPr lang="en-US" sz="3200" dirty="0">
                <a:latin typeface="Arial" pitchFamily="34" charset="0"/>
                <a:cs typeface="Arial" pitchFamily="34" charset="0"/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9219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Creating a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New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sz="4800" dirty="0" smtClean="0">
                <a:latin typeface="Arial Black" pitchFamily="34" charset="0"/>
              </a:rPr>
              <a:t>The Card Case Study</a:t>
            </a:r>
          </a:p>
        </p:txBody>
      </p:sp>
      <p:graphicFrame>
        <p:nvGraphicFramePr>
          <p:cNvPr id="623651" name="Group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006050"/>
              </p:ext>
            </p:extLst>
          </p:nvPr>
        </p:nvGraphicFramePr>
        <p:xfrm>
          <a:off x="91440" y="777240"/>
          <a:ext cx="8915400" cy="6065520"/>
        </p:xfrm>
        <a:graphic>
          <a:graphicData uri="http://schemas.openxmlformats.org/drawingml/2006/table">
            <a:tbl>
              <a:tblPr/>
              <a:tblGrid>
                <a:gridCol w="2804160"/>
                <a:gridCol w="6111240"/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Card Methods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Card Attributes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getSuit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suit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Spades, Hearts, Diamonds &amp; Clubs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getRank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rank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Two, Three…Ten, Jack, Queen, King, 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3108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getPointValue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pointValue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Different values for different games…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pic>
        <p:nvPicPr>
          <p:cNvPr id="27672" name="Picture 37" descr="j030342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876800"/>
            <a:ext cx="198141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49602"/>
              </p:ext>
            </p:extLst>
          </p:nvPr>
        </p:nvGraphicFramePr>
        <p:xfrm>
          <a:off x="3124200" y="4648200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149"/>
                <a:gridCol w="783771"/>
              </a:tblGrid>
              <a:tr h="365760"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Poker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2…10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2…10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Jack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11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Queen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12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King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13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Ace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14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958658"/>
              </p:ext>
            </p:extLst>
          </p:nvPr>
        </p:nvGraphicFramePr>
        <p:xfrm>
          <a:off x="6934200" y="4648200"/>
          <a:ext cx="182880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6800"/>
                <a:gridCol w="762000"/>
              </a:tblGrid>
              <a:tr h="365760"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Sumba Canasta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baseline="0" dirty="0" smtClean="0">
                          <a:latin typeface="Arial Narrow" panose="020B0606020202030204" pitchFamily="34" charset="0"/>
                        </a:rPr>
                        <a:t>2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3…7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5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8…King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Ace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Joker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50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04726"/>
              </p:ext>
            </p:extLst>
          </p:nvPr>
        </p:nvGraphicFramePr>
        <p:xfrm>
          <a:off x="5029200" y="4648200"/>
          <a:ext cx="16459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149"/>
                <a:gridCol w="783771"/>
              </a:tblGrid>
              <a:tr h="365760"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Black Jack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2…10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2…10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Jack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Queen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King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10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Ace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2000" b="1" dirty="0" smtClean="0">
                          <a:latin typeface="Arial Narrow" panose="020B0606020202030204" pitchFamily="34" charset="0"/>
                        </a:rPr>
                        <a:t>11, 1</a:t>
                      </a:r>
                      <a:endParaRPr lang="en-US" sz="2000" b="1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rgbClr val="00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55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Java0901.java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Card Case Study #01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shows a minimal class declaration.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This class has no practical value, but it compiles and executes.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Java0901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("JAVA0901.JAVA");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Card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Card();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b="0" dirty="0"/>
          </a:p>
          <a:p>
            <a:r>
              <a:rPr lang="en-US" sz="2600" b="0" dirty="0"/>
              <a:t>class Card</a:t>
            </a:r>
          </a:p>
          <a:p>
            <a:r>
              <a:rPr lang="en-US" sz="2600" b="0" dirty="0"/>
              <a:t>{</a:t>
            </a:r>
          </a:p>
          <a:p>
            <a:r>
              <a:rPr lang="en-US" sz="2600" b="0" dirty="0"/>
              <a:t>}</a:t>
            </a:r>
          </a:p>
        </p:txBody>
      </p:sp>
      <p:pic>
        <p:nvPicPr>
          <p:cNvPr id="28676" name="Picture 13" descr="j023260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244725"/>
            <a:ext cx="1855788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04494" y="5257800"/>
            <a:ext cx="358140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Java0901.JAVA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9.3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20483" name="WordArt 2"/>
          <p:cNvSpPr>
            <a:spLocks noChangeArrowheads="1" noChangeShapeType="1" noTextEdit="1"/>
          </p:cNvSpPr>
          <p:nvPr/>
        </p:nvSpPr>
        <p:spPr bwMode="auto">
          <a:xfrm>
            <a:off x="457200" y="38100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Attribute Access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20484" name="WordArt 3"/>
          <p:cNvSpPr>
            <a:spLocks noChangeArrowheads="1" noChangeShapeType="1" noTextEdit="1"/>
          </p:cNvSpPr>
          <p:nvPr/>
        </p:nvSpPr>
        <p:spPr bwMode="auto">
          <a:xfrm>
            <a:off x="1066800" y="1524000"/>
            <a:ext cx="70104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4144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Restricting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Java0902.java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Card Case Study #02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Data fields, called attributes or instance variables,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are added to the &lt;Card&gt; class.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Java0902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("JAVA0902.JAVA");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Card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Card();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0" dirty="0" smtClean="0">
                <a:cs typeface="Times New Roman" panose="02020603050405020304" pitchFamily="18" charset="0"/>
              </a:rPr>
              <a:t>class </a:t>
            </a:r>
            <a:r>
              <a:rPr lang="en-US" sz="2200" b="0" dirty="0">
                <a:cs typeface="Times New Roman" panose="02020603050405020304" pitchFamily="18" charset="0"/>
              </a:rPr>
              <a:t>Card</a:t>
            </a:r>
          </a:p>
          <a:p>
            <a:r>
              <a:rPr lang="en-US" sz="2200" b="0" dirty="0">
                <a:cs typeface="Times New Roman" panose="02020603050405020304" pitchFamily="18" charset="0"/>
              </a:rPr>
              <a:t>{</a:t>
            </a:r>
          </a:p>
          <a:p>
            <a:r>
              <a:rPr lang="en-US" sz="2200" b="0" dirty="0">
                <a:cs typeface="Times New Roman" panose="02020603050405020304" pitchFamily="18" charset="0"/>
              </a:rPr>
              <a:t>   String suit;      </a:t>
            </a:r>
            <a:r>
              <a:rPr lang="en-US" sz="2200" b="0" dirty="0" smtClean="0">
                <a:cs typeface="Times New Roman" panose="02020603050405020304" pitchFamily="18" charset="0"/>
              </a:rPr>
              <a:t>	// </a:t>
            </a:r>
            <a:r>
              <a:rPr lang="en-US" sz="2200" b="0" dirty="0">
                <a:cs typeface="Times New Roman" panose="02020603050405020304" pitchFamily="18" charset="0"/>
              </a:rPr>
              <a:t>Clubs, Diamonds, Hearts, Spades</a:t>
            </a:r>
          </a:p>
          <a:p>
            <a:r>
              <a:rPr lang="en-US" sz="2200" b="0" dirty="0">
                <a:cs typeface="Times New Roman" panose="02020603050405020304" pitchFamily="18" charset="0"/>
              </a:rPr>
              <a:t>   String rank;      </a:t>
            </a:r>
            <a:r>
              <a:rPr lang="en-US" sz="2200" b="0" dirty="0" smtClean="0">
                <a:cs typeface="Times New Roman" panose="02020603050405020304" pitchFamily="18" charset="0"/>
              </a:rPr>
              <a:t>	// </a:t>
            </a:r>
            <a:r>
              <a:rPr lang="en-US" sz="2200" b="0" dirty="0">
                <a:cs typeface="Times New Roman" panose="02020603050405020304" pitchFamily="18" charset="0"/>
              </a:rPr>
              <a:t>Number, Jack, Queen, King, Ace</a:t>
            </a:r>
          </a:p>
          <a:p>
            <a:r>
              <a:rPr lang="en-US" sz="2200" b="0" dirty="0">
                <a:cs typeface="Times New Roman" panose="02020603050405020304" pitchFamily="18" charset="0"/>
              </a:rPr>
              <a:t>   </a:t>
            </a:r>
            <a:r>
              <a:rPr lang="en-US" sz="2200" b="0" dirty="0" err="1">
                <a:cs typeface="Times New Roman" panose="02020603050405020304" pitchFamily="18" charset="0"/>
              </a:rPr>
              <a:t>int</a:t>
            </a:r>
            <a:r>
              <a:rPr lang="en-US" sz="2200" b="0" dirty="0">
                <a:cs typeface="Times New Roman" panose="02020603050405020304" pitchFamily="18" charset="0"/>
              </a:rPr>
              <a:t> </a:t>
            </a:r>
            <a:r>
              <a:rPr lang="en-US" sz="2200" b="0" dirty="0" err="1">
                <a:cs typeface="Times New Roman" panose="02020603050405020304" pitchFamily="18" charset="0"/>
              </a:rPr>
              <a:t>pointValue</a:t>
            </a:r>
            <a:r>
              <a:rPr lang="en-US" sz="2200" b="0" dirty="0">
                <a:cs typeface="Times New Roman" panose="02020603050405020304" pitchFamily="18" charset="0"/>
              </a:rPr>
              <a:t>; </a:t>
            </a:r>
            <a:r>
              <a:rPr lang="en-US" sz="2200" b="0" dirty="0" smtClean="0">
                <a:cs typeface="Times New Roman" panose="02020603050405020304" pitchFamily="18" charset="0"/>
              </a:rPr>
              <a:t>	// </a:t>
            </a:r>
            <a:r>
              <a:rPr lang="en-US" sz="2200" b="0" dirty="0">
                <a:cs typeface="Times New Roman" panose="02020603050405020304" pitchFamily="18" charset="0"/>
              </a:rPr>
              <a:t>Number, 10 for picture, 11 for Ace</a:t>
            </a:r>
          </a:p>
          <a:p>
            <a:r>
              <a:rPr lang="en-US" sz="2200" b="0" dirty="0"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3962400"/>
            <a:ext cx="358140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Java0902.JAVA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C:\Documents and Settings\JohnSchram\Local Settings\Temporary Internet Files\Content.IE5\S8ZHBEE9\MCj0433900000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1600200"/>
            <a:ext cx="17145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92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Java0903.java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Card Case Study #03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&lt;Card&gt; attributes are accessed directly by the &lt;main&gt; method.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violates encapsulation, even though it compiles, and executes.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approach greatly compromises program reliability.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Java0903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("JAVA0903.JAVA");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r>
              <a:rPr lang="en-US" sz="2200" b="0" dirty="0">
                <a:cs typeface="Times New Roman" pitchFamily="18" charset="0"/>
              </a:rPr>
              <a:t>   </a:t>
            </a:r>
            <a:r>
              <a:rPr lang="en-US" sz="2200" b="0" dirty="0" smtClean="0">
                <a:cs typeface="Times New Roman" pitchFamily="18" charset="0"/>
              </a:rPr>
              <a:t>	   </a:t>
            </a:r>
            <a:r>
              <a:rPr lang="en-US" sz="2200" b="0" dirty="0">
                <a:cs typeface="Times New Roman" pitchFamily="18" charset="0"/>
              </a:rPr>
              <a:t>	</a:t>
            </a:r>
            <a:r>
              <a:rPr lang="en-US" sz="2200" b="0" dirty="0" err="1">
                <a:cs typeface="Times New Roman" pitchFamily="18" charset="0"/>
              </a:rPr>
              <a:t>card.suit</a:t>
            </a:r>
            <a:r>
              <a:rPr lang="en-US" sz="2200" b="0" dirty="0">
                <a:cs typeface="Times New Roman" pitchFamily="18" charset="0"/>
              </a:rPr>
              <a:t> = "Hearts";</a:t>
            </a:r>
          </a:p>
          <a:p>
            <a:r>
              <a:rPr lang="en-US" sz="2200" b="0" dirty="0">
                <a:cs typeface="Times New Roman" pitchFamily="18" charset="0"/>
              </a:rPr>
              <a:t>      	</a:t>
            </a:r>
            <a:r>
              <a:rPr lang="en-US" sz="2200" b="0" dirty="0" err="1" smtClean="0">
                <a:cs typeface="Times New Roman" pitchFamily="18" charset="0"/>
              </a:rPr>
              <a:t>card.rank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"King";</a:t>
            </a:r>
          </a:p>
          <a:p>
            <a:r>
              <a:rPr lang="en-US" sz="2200" b="0" dirty="0">
                <a:cs typeface="Times New Roman" pitchFamily="18" charset="0"/>
              </a:rPr>
              <a:t>      	</a:t>
            </a:r>
            <a:r>
              <a:rPr lang="en-US" sz="2200" b="0" dirty="0" err="1" smtClean="0">
                <a:cs typeface="Times New Roman" pitchFamily="18" charset="0"/>
              </a:rPr>
              <a:t>card.pointValue</a:t>
            </a:r>
            <a:r>
              <a:rPr lang="en-US" sz="2200" b="0" dirty="0" smtClean="0">
                <a:cs typeface="Times New Roman" pitchFamily="18" charset="0"/>
              </a:rPr>
              <a:t> </a:t>
            </a:r>
            <a:r>
              <a:rPr lang="en-US" sz="2200" b="0" dirty="0">
                <a:cs typeface="Times New Roman" pitchFamily="18" charset="0"/>
              </a:rPr>
              <a:t>= 10;</a:t>
            </a:r>
          </a:p>
          <a:p>
            <a:r>
              <a:rPr lang="en-US" sz="2200" b="0" dirty="0">
                <a:cs typeface="Times New Roman" pitchFamily="18" charset="0"/>
              </a:rPr>
              <a:t>      	</a:t>
            </a:r>
            <a:r>
              <a:rPr lang="en-US" sz="2200" b="0" dirty="0" err="1" smtClean="0">
                <a:cs typeface="Times New Roman" pitchFamily="18" charset="0"/>
              </a:rPr>
              <a:t>System.out.println</a:t>
            </a:r>
            <a:r>
              <a:rPr lang="en-US" sz="2200" b="0" dirty="0">
                <a:cs typeface="Times New Roman" pitchFamily="18" charset="0"/>
              </a:rPr>
              <a:t>("Suit: </a:t>
            </a:r>
            <a:r>
              <a:rPr lang="en-US" sz="2200" b="0" dirty="0" smtClean="0">
                <a:cs typeface="Times New Roman" pitchFamily="18" charset="0"/>
              </a:rPr>
              <a:t>	" </a:t>
            </a:r>
            <a:r>
              <a:rPr lang="en-US" sz="2200" b="0" dirty="0">
                <a:cs typeface="Times New Roman" pitchFamily="18" charset="0"/>
              </a:rPr>
              <a:t>+ </a:t>
            </a:r>
            <a:r>
              <a:rPr lang="en-US" sz="2200" b="0" dirty="0" err="1">
                <a:cs typeface="Times New Roman" pitchFamily="18" charset="0"/>
              </a:rPr>
              <a:t>card.suit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r>
              <a:rPr lang="en-US" sz="2200" b="0" dirty="0">
                <a:cs typeface="Times New Roman" pitchFamily="18" charset="0"/>
              </a:rPr>
              <a:t>      	</a:t>
            </a:r>
            <a:r>
              <a:rPr lang="en-US" sz="2200" b="0" dirty="0" err="1" smtClean="0">
                <a:cs typeface="Times New Roman" pitchFamily="18" charset="0"/>
              </a:rPr>
              <a:t>System.out.println</a:t>
            </a:r>
            <a:r>
              <a:rPr lang="en-US" sz="2200" b="0" dirty="0">
                <a:cs typeface="Times New Roman" pitchFamily="18" charset="0"/>
              </a:rPr>
              <a:t>("Rank: </a:t>
            </a:r>
            <a:r>
              <a:rPr lang="en-US" sz="2200" b="0" dirty="0" smtClean="0">
                <a:cs typeface="Times New Roman" pitchFamily="18" charset="0"/>
              </a:rPr>
              <a:t>	" </a:t>
            </a:r>
            <a:r>
              <a:rPr lang="en-US" sz="2200" b="0" dirty="0">
                <a:cs typeface="Times New Roman" pitchFamily="18" charset="0"/>
              </a:rPr>
              <a:t>+ </a:t>
            </a:r>
            <a:r>
              <a:rPr lang="en-US" sz="2200" b="0" dirty="0" err="1">
                <a:cs typeface="Times New Roman" pitchFamily="18" charset="0"/>
              </a:rPr>
              <a:t>card.rank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r>
              <a:rPr lang="en-US" sz="2200" b="0" dirty="0">
                <a:cs typeface="Times New Roman" pitchFamily="18" charset="0"/>
              </a:rPr>
              <a:t>      	</a:t>
            </a:r>
            <a:r>
              <a:rPr lang="en-US" sz="2200" b="0" dirty="0" err="1" smtClean="0">
                <a:cs typeface="Times New Roman" pitchFamily="18" charset="0"/>
              </a:rPr>
              <a:t>System.out.println</a:t>
            </a:r>
            <a:r>
              <a:rPr lang="en-US" sz="2200" b="0" dirty="0">
                <a:cs typeface="Times New Roman" pitchFamily="18" charset="0"/>
              </a:rPr>
              <a:t>("Value</a:t>
            </a:r>
            <a:r>
              <a:rPr lang="en-US" sz="2200" b="0" dirty="0" smtClean="0">
                <a:cs typeface="Times New Roman" pitchFamily="18" charset="0"/>
              </a:rPr>
              <a:t>:	" </a:t>
            </a:r>
            <a:r>
              <a:rPr lang="en-US" sz="2200" b="0" dirty="0">
                <a:cs typeface="Times New Roman" pitchFamily="18" charset="0"/>
              </a:rPr>
              <a:t>+ </a:t>
            </a:r>
            <a:r>
              <a:rPr lang="en-US" sz="2200" b="0" dirty="0" err="1">
                <a:cs typeface="Times New Roman" pitchFamily="18" charset="0"/>
              </a:rPr>
              <a:t>card.pointValue</a:t>
            </a:r>
            <a:r>
              <a:rPr lang="en-US" sz="2200" b="0" dirty="0">
                <a:cs typeface="Times New Roman" pitchFamily="18" charset="0"/>
              </a:rPr>
              <a:t>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019800" y="2209800"/>
            <a:ext cx="3124200" cy="261610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Card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String suit;  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String rank;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6" name="Picture 6" descr="C:\Users\JohnSchram\AppData\Local\Microsoft\Windows\Temporary Internet Files\Content.IE5\6H7XVADK\MC900433803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5052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191000" y="0"/>
            <a:ext cx="49530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JAVA0903.JAVA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Suit:  Hearts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Rank:  King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Value: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 descr="C:\Documents and Settings\JohnSchram\Local Settings\Temporary Internet Files\Content.IE5\JD8BINI2\MCj0432477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179" y="298451"/>
            <a:ext cx="1605821" cy="137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Java0904.java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Card Case Study #04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All the variables in the &lt;Card&gt; class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1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// are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now declared as private access.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This prevents improper, public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access</a:t>
            </a:r>
          </a:p>
          <a:p>
            <a:pPr>
              <a:lnSpc>
                <a:spcPct val="91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 the data variables.</a:t>
            </a:r>
          </a:p>
          <a:p>
            <a:pPr>
              <a:lnSpc>
                <a:spcPct val="91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1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Java0904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("JAVA0904.JAVA");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card.suit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"Hearts";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card.rank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"King";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card.pointValue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10;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("Suit: 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card.suit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("Rank: 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card.rank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("Value: " 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card.pointValue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1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1000"/>
              </a:lnSpc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7" descr="C:\Users\JohnSchram\AppData\Local\Microsoft\Windows\Temporary Internet Files\Content.IE5\4IKOJ3QF\MC900442136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810000"/>
            <a:ext cx="1371600" cy="1380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562600" y="0"/>
            <a:ext cx="3592286" cy="2215991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class Card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0" dirty="0">
                <a:cs typeface="Times New Roman" pitchFamily="18" charset="0"/>
              </a:rPr>
              <a:t>private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suit;     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0" dirty="0">
                <a:cs typeface="Times New Roman" pitchFamily="18" charset="0"/>
              </a:rPr>
              <a:t>private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rank;    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cs typeface="Times New Roman" pitchFamily="18" charset="0"/>
              </a:rPr>
              <a:t>private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7" name="Picture 7" descr="MCj0233626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667000"/>
            <a:ext cx="1300163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7" t="25108" r="22250" b="19041"/>
          <a:stretch/>
        </p:blipFill>
        <p:spPr bwMode="auto">
          <a:xfrm>
            <a:off x="-1" y="-2"/>
            <a:ext cx="5486401" cy="403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private &amp; public Members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1255713"/>
            <a:ext cx="8382000" cy="48466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dirty="0">
                <a:latin typeface="Arial" charset="0"/>
                <a:sym typeface="Symbol" pitchFamily="18" charset="2"/>
              </a:rPr>
              <a:t>Members in a class need to be declared as </a:t>
            </a:r>
            <a:r>
              <a:rPr lang="en-US" sz="2800" b="0" dirty="0">
                <a:sym typeface="Symbol" pitchFamily="18" charset="2"/>
              </a:rPr>
              <a:t>private</a:t>
            </a:r>
            <a:r>
              <a:rPr lang="en-US" sz="2800" dirty="0">
                <a:latin typeface="Arial" charset="0"/>
                <a:sym typeface="Symbol" pitchFamily="18" charset="2"/>
              </a:rPr>
              <a:t> or </a:t>
            </a:r>
            <a:r>
              <a:rPr lang="en-US" sz="2800" b="0" dirty="0">
                <a:sym typeface="Symbol" pitchFamily="18" charset="2"/>
              </a:rPr>
              <a:t>public</a:t>
            </a:r>
            <a:r>
              <a:rPr lang="en-US" sz="2800" dirty="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/>
            <a:endParaRPr lang="en-US" sz="28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 b="0" dirty="0">
                <a:sym typeface="Symbol" pitchFamily="18" charset="2"/>
              </a:rPr>
              <a:t>private</a:t>
            </a:r>
            <a:r>
              <a:rPr lang="en-US" sz="2800" dirty="0">
                <a:latin typeface="Arial" charset="0"/>
                <a:sym typeface="Symbol" pitchFamily="18" charset="2"/>
              </a:rPr>
              <a:t> members cannot be accessed by any program segments outside the class.  </a:t>
            </a:r>
          </a:p>
          <a:p>
            <a:pPr eaLnBrk="1" hangingPunct="1"/>
            <a:endParaRPr lang="en-US" sz="28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 dirty="0">
                <a:latin typeface="Arial" charset="0"/>
                <a:sym typeface="Symbol" pitchFamily="18" charset="2"/>
              </a:rPr>
              <a:t>Data attributes of a class usually need to be declared </a:t>
            </a:r>
            <a:r>
              <a:rPr lang="en-US" sz="2800" b="0" dirty="0">
                <a:sym typeface="Symbol" pitchFamily="18" charset="2"/>
              </a:rPr>
              <a:t>private</a:t>
            </a:r>
            <a:r>
              <a:rPr lang="en-US" sz="2800" dirty="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/>
            <a:endParaRPr lang="en-US" sz="28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 b="0" dirty="0">
                <a:sym typeface="Symbol" pitchFamily="18" charset="2"/>
              </a:rPr>
              <a:t>public</a:t>
            </a:r>
            <a:r>
              <a:rPr lang="en-US" sz="2800" dirty="0">
                <a:latin typeface="Arial" charset="0"/>
                <a:sym typeface="Symbol" pitchFamily="18" charset="2"/>
              </a:rPr>
              <a:t> members of a class can be accessed by program segments outside the class.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31242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“Mr. Schram, how does using </a:t>
            </a:r>
            <a:r>
              <a:rPr lang="en-US" b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private</a:t>
            </a:r>
            <a:r>
              <a:rPr lang="en-US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 give you any security when you can just change it back to </a:t>
            </a:r>
            <a:r>
              <a:rPr lang="en-US" b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public</a:t>
            </a:r>
            <a:r>
              <a:rPr lang="en-US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?”</a:t>
            </a:r>
            <a:endParaRPr lang="en-US" smtClean="0">
              <a:latin typeface="Arial Black" pitchFamily="34" charset="0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304800" y="3276600"/>
            <a:ext cx="8534400" cy="31083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Think of any video game that you</a:t>
            </a:r>
          </a:p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have ever purchased.</a:t>
            </a:r>
          </a:p>
          <a:p>
            <a:pPr eaLnBrk="1" hangingPunct="1"/>
            <a:endParaRPr lang="en-US" sz="28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>
                <a:latin typeface="Arial" charset="0"/>
                <a:sym typeface="Symbol" pitchFamily="18" charset="2"/>
              </a:rPr>
              <a:t>Do you ever see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source code</a:t>
            </a:r>
            <a:r>
              <a:rPr lang="en-US" sz="2800">
                <a:latin typeface="Arial" charset="0"/>
                <a:sym typeface="Symbol" pitchFamily="18" charset="2"/>
              </a:rPr>
              <a:t>?</a:t>
            </a:r>
          </a:p>
          <a:p>
            <a:pPr eaLnBrk="1" hangingPunct="1"/>
            <a:endParaRPr lang="en-US" sz="280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Only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programmers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 have the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source code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.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What they sell to users is an </a:t>
            </a:r>
            <a:r>
              <a:rPr lang="en-US" sz="2800" i="1">
                <a:latin typeface="Arial" charset="0"/>
                <a:cs typeface="Arial" charset="0"/>
                <a:sym typeface="Symbol" pitchFamily="18" charset="2"/>
              </a:rPr>
              <a:t>executable file</a:t>
            </a:r>
            <a:r>
              <a:rPr lang="en-US" sz="2800">
                <a:latin typeface="Arial" charset="0"/>
                <a:cs typeface="Arial" charset="0"/>
                <a:sym typeface="Symbol" pitchFamily="18" charset="2"/>
              </a:rPr>
              <a:t>. </a:t>
            </a:r>
          </a:p>
        </p:txBody>
      </p:sp>
      <p:pic>
        <p:nvPicPr>
          <p:cNvPr id="24580" name="Picture 4" descr="j034329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3429000"/>
            <a:ext cx="1820862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9.4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9219" name="WordArt 2"/>
          <p:cNvSpPr>
            <a:spLocks noChangeArrowheads="1" noChangeShapeType="1" noTextEdit="1"/>
          </p:cNvSpPr>
          <p:nvPr/>
        </p:nvSpPr>
        <p:spPr bwMode="auto">
          <a:xfrm>
            <a:off x="381000" y="15240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Get &amp; Set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115759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Java0905.java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Card Case Study #05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&lt;Card&gt; class now has three methods to return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data values of &lt;Card&gt; class objects.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Note that Java assigns initial values to object data.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Java0905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("JAVA0905.JAVA");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("Suit: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card.suit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("Rank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card.rank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773" name="Picture 5" descr="C:\Users\JohnSchram\AppData\Local\Microsoft\Windows\Temporary Internet Files\Content.IE5\6H7XVADK\MC90006521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802941"/>
            <a:ext cx="1724558" cy="161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62600" y="0"/>
            <a:ext cx="35814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JAVA0905.JAVA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Suit:  null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Rank:  null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Value: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 rotWithShape="1">
          <a:blip r:embed="rId2"/>
          <a:srcRect l="1823" t="14331" r="1520" b="8465"/>
          <a:stretch/>
        </p:blipFill>
        <p:spPr bwMode="auto">
          <a:xfrm>
            <a:off x="0" y="3564053"/>
            <a:ext cx="9144000" cy="32939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56405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Card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suit;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rank;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String suit</a:t>
            </a:r>
            <a:r>
              <a:rPr lang="en-US" sz="2400" dirty="0" smtClean="0">
                <a:cs typeface="Times New Roman" pitchFamily="18" charset="0"/>
              </a:rPr>
              <a:t>()   	{   return </a:t>
            </a:r>
            <a:r>
              <a:rPr lang="en-US" sz="2400" dirty="0">
                <a:cs typeface="Times New Roman" pitchFamily="18" charset="0"/>
              </a:rPr>
              <a:t>suit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String rank</a:t>
            </a:r>
            <a:r>
              <a:rPr lang="en-US" sz="2400" dirty="0" smtClean="0">
                <a:cs typeface="Times New Roman" pitchFamily="18" charset="0"/>
              </a:rPr>
              <a:t>()   	{   return </a:t>
            </a:r>
            <a:r>
              <a:rPr lang="en-US" sz="2400" dirty="0">
                <a:cs typeface="Times New Roman" pitchFamily="18" charset="0"/>
              </a:rPr>
              <a:t>rank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</a:t>
            </a:r>
            <a:r>
              <a:rPr lang="en-US" sz="2400" dirty="0" err="1">
                <a:cs typeface="Times New Roman" pitchFamily="18" charset="0"/>
              </a:rPr>
              <a:t>int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pointValue</a:t>
            </a:r>
            <a:r>
              <a:rPr lang="en-US" sz="2400" dirty="0" smtClean="0">
                <a:cs typeface="Times New Roman" pitchFamily="18" charset="0"/>
              </a:rPr>
              <a:t>() 	{   return </a:t>
            </a:r>
            <a:r>
              <a:rPr lang="en-US" sz="2400" dirty="0" err="1">
                <a:cs typeface="Times New Roman" pitchFamily="18" charset="0"/>
              </a:rPr>
              <a:t>pointValue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32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Java0906.java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Card Case Study #06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This program is identical to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Java0905.java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The names of the return methods are changed.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It is a common convention to call methods that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return attribute values "get" methods.</a:t>
            </a:r>
          </a:p>
          <a:p>
            <a:pPr>
              <a:lnSpc>
                <a:spcPct val="95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Java0906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JAVA0906.JAVA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("Suit:  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600" dirty="0" err="1">
                <a:cs typeface="Times New Roman" pitchFamily="18" charset="0"/>
              </a:rPr>
              <a:t>card.</a:t>
            </a:r>
            <a:r>
              <a:rPr lang="en-US" sz="2600" b="0" dirty="0" err="1">
                <a:cs typeface="Times New Roman" pitchFamily="18" charset="0"/>
              </a:rPr>
              <a:t>getSuit</a:t>
            </a:r>
            <a:r>
              <a:rPr lang="en-US" sz="2600" b="0" dirty="0">
                <a:cs typeface="Times New Roman" pitchFamily="18" charset="0"/>
              </a:rPr>
              <a:t>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("Rank: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600" b="0" dirty="0" err="1">
                <a:cs typeface="Times New Roman" pitchFamily="18" charset="0"/>
              </a:rPr>
              <a:t>card.getRank</a:t>
            </a:r>
            <a:r>
              <a:rPr lang="en-US" sz="2600" b="0" dirty="0">
                <a:cs typeface="Times New Roman" pitchFamily="18" charset="0"/>
              </a:rPr>
              <a:t>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600" b="0" spc="-30" dirty="0" err="1">
                <a:cs typeface="Times New Roman" pitchFamily="18" charset="0"/>
              </a:rPr>
              <a:t>card.getPointValue</a:t>
            </a:r>
            <a:r>
              <a:rPr lang="en-US" sz="2600" b="0" spc="-30" dirty="0">
                <a:cs typeface="Times New Roman" pitchFamily="18" charset="0"/>
              </a:rPr>
              <a:t>()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5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5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796" name="Picture 6" descr="MCj0311576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905000"/>
            <a:ext cx="1817688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 rotWithShape="1">
          <a:blip r:embed="rId2"/>
          <a:srcRect l="1823" t="14331" r="1520" b="8465"/>
          <a:stretch/>
        </p:blipFill>
        <p:spPr bwMode="auto">
          <a:xfrm>
            <a:off x="0" y="3564053"/>
            <a:ext cx="9144000" cy="32939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356405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Card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suit;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rank;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48006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String </a:t>
            </a:r>
            <a:r>
              <a:rPr lang="en-US" sz="2400" dirty="0" err="1" smtClean="0">
                <a:cs typeface="Times New Roman" pitchFamily="18" charset="0"/>
              </a:rPr>
              <a:t>getSuit</a:t>
            </a:r>
            <a:r>
              <a:rPr lang="en-US" sz="2400" dirty="0" smtClean="0">
                <a:cs typeface="Times New Roman" pitchFamily="18" charset="0"/>
              </a:rPr>
              <a:t>()  		 	{   return </a:t>
            </a:r>
            <a:r>
              <a:rPr lang="en-US" sz="2400" dirty="0">
                <a:cs typeface="Times New Roman" pitchFamily="18" charset="0"/>
              </a:rPr>
              <a:t>suit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48006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String </a:t>
            </a:r>
            <a:r>
              <a:rPr lang="en-US" sz="2400" dirty="0" err="1" smtClean="0">
                <a:cs typeface="Times New Roman" pitchFamily="18" charset="0"/>
              </a:rPr>
              <a:t>getRank</a:t>
            </a:r>
            <a:r>
              <a:rPr lang="en-US" sz="2400" dirty="0" smtClean="0">
                <a:cs typeface="Times New Roman" pitchFamily="18" charset="0"/>
              </a:rPr>
              <a:t>()  	 	{   return </a:t>
            </a:r>
            <a:r>
              <a:rPr lang="en-US" sz="2400" dirty="0">
                <a:cs typeface="Times New Roman" pitchFamily="18" charset="0"/>
              </a:rPr>
              <a:t>rank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pPr>
              <a:lnSpc>
                <a:spcPct val="13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283075" algn="l"/>
                <a:tab pos="4572000" algn="l"/>
                <a:tab pos="48006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 public </a:t>
            </a:r>
            <a:r>
              <a:rPr lang="en-US" sz="2400" dirty="0" err="1">
                <a:cs typeface="Times New Roman" pitchFamily="18" charset="0"/>
              </a:rPr>
              <a:t>int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 smtClean="0">
                <a:cs typeface="Times New Roman" pitchFamily="18" charset="0"/>
              </a:rPr>
              <a:t>getPointValue</a:t>
            </a:r>
            <a:r>
              <a:rPr lang="en-US" sz="2400" dirty="0" smtClean="0">
                <a:cs typeface="Times New Roman" pitchFamily="18" charset="0"/>
              </a:rPr>
              <a:t>() 	{   return </a:t>
            </a:r>
            <a:r>
              <a:rPr lang="en-US" sz="2400" dirty="0" err="1">
                <a:cs typeface="Times New Roman" pitchFamily="18" charset="0"/>
              </a:rPr>
              <a:t>pointValue</a:t>
            </a:r>
            <a:r>
              <a:rPr lang="en-US" sz="2400" dirty="0" smtClean="0">
                <a:cs typeface="Times New Roman" pitchFamily="18" charset="0"/>
              </a:rPr>
              <a:t>;   }</a:t>
            </a:r>
            <a:endParaRPr lang="en-US" sz="2400" dirty="0"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8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Java0907.java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Card Case Study #07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The &lt;Card&gt; class adds three "set" methods  to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// alter the data attributes of &lt;Card&gt; objects.</a:t>
            </a:r>
          </a:p>
          <a:p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public class Java0907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("JAVA0907.JAVA");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</a:t>
            </a:r>
            <a:r>
              <a:rPr lang="en-US" sz="2400" b="0" dirty="0" err="1" smtClean="0">
                <a:cs typeface="Times New Roman" pitchFamily="18" charset="0"/>
              </a:rPr>
              <a:t>card.setSuit</a:t>
            </a:r>
            <a:r>
              <a:rPr lang="en-US" sz="2400" b="0" dirty="0">
                <a:cs typeface="Times New Roman" pitchFamily="18" charset="0"/>
              </a:rPr>
              <a:t>("Clubs");</a:t>
            </a:r>
          </a:p>
          <a:p>
            <a:r>
              <a:rPr lang="en-US" sz="2400" b="0" dirty="0">
                <a:cs typeface="Times New Roman" pitchFamily="18" charset="0"/>
              </a:rPr>
              <a:t>    </a:t>
            </a:r>
            <a:r>
              <a:rPr lang="en-US" sz="2400" b="0" dirty="0" smtClean="0">
                <a:cs typeface="Times New Roman" pitchFamily="18" charset="0"/>
              </a:rPr>
              <a:t>		</a:t>
            </a:r>
            <a:r>
              <a:rPr lang="en-US" sz="2400" b="0" dirty="0" err="1" smtClean="0">
                <a:cs typeface="Times New Roman" pitchFamily="18" charset="0"/>
              </a:rPr>
              <a:t>card.setRank</a:t>
            </a:r>
            <a:r>
              <a:rPr lang="en-US" sz="2400" b="0" dirty="0">
                <a:cs typeface="Times New Roman" pitchFamily="18" charset="0"/>
              </a:rPr>
              <a:t>("Seven");</a:t>
            </a:r>
          </a:p>
          <a:p>
            <a:r>
              <a:rPr lang="en-US" sz="2400" b="0" dirty="0">
                <a:cs typeface="Times New Roman" pitchFamily="18" charset="0"/>
              </a:rPr>
              <a:t>    </a:t>
            </a:r>
            <a:r>
              <a:rPr lang="en-US" sz="2400" b="0" dirty="0" smtClean="0">
                <a:cs typeface="Times New Roman" pitchFamily="18" charset="0"/>
              </a:rPr>
              <a:t>		</a:t>
            </a:r>
            <a:r>
              <a:rPr lang="en-US" sz="2400" b="0" dirty="0" err="1" smtClean="0">
                <a:cs typeface="Times New Roman" pitchFamily="18" charset="0"/>
              </a:rPr>
              <a:t>card.setPointValue</a:t>
            </a:r>
            <a:r>
              <a:rPr lang="en-US" sz="2400" b="0" dirty="0" smtClean="0">
                <a:cs typeface="Times New Roman" pitchFamily="18" charset="0"/>
              </a:rPr>
              <a:t>(7</a:t>
            </a:r>
            <a:r>
              <a:rPr lang="en-US" sz="2400" b="0" dirty="0">
                <a:cs typeface="Times New Roman" pitchFamily="18" charset="0"/>
              </a:rPr>
              <a:t>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283075" algn="l"/>
                <a:tab pos="5089525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("Suit: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"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card.getSuit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283075" algn="l"/>
                <a:tab pos="5089525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("Rank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card.getRank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283075" algn="l"/>
                <a:tab pos="5089525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("Value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card.getPointValue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37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Card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suit;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rank;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private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getSuit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suit; }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getRank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rank; }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getPointValue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2578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</a:t>
            </a:r>
            <a:r>
              <a:rPr lang="en-US" sz="2400" dirty="0" smtClean="0">
                <a:cs typeface="Times New Roman" pitchFamily="18" charset="0"/>
              </a:rPr>
              <a:t>	public </a:t>
            </a:r>
            <a:r>
              <a:rPr lang="en-US" sz="2400" dirty="0">
                <a:cs typeface="Times New Roman" pitchFamily="18" charset="0"/>
              </a:rPr>
              <a:t>void </a:t>
            </a:r>
            <a:r>
              <a:rPr lang="en-US" sz="2400" dirty="0" err="1">
                <a:cs typeface="Times New Roman" pitchFamily="18" charset="0"/>
              </a:rPr>
              <a:t>setSuit</a:t>
            </a:r>
            <a:r>
              <a:rPr lang="en-US" sz="2400" dirty="0">
                <a:cs typeface="Times New Roman" pitchFamily="18" charset="0"/>
              </a:rPr>
              <a:t>(String s)    </a:t>
            </a:r>
            <a:r>
              <a:rPr lang="en-US" sz="2400" dirty="0" smtClean="0">
                <a:cs typeface="Times New Roman" pitchFamily="18" charset="0"/>
              </a:rPr>
              <a:t>	{ </a:t>
            </a:r>
            <a:r>
              <a:rPr lang="en-US" sz="2400" dirty="0">
                <a:cs typeface="Times New Roman" pitchFamily="18" charset="0"/>
              </a:rPr>
              <a:t>suit = s; }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2578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2578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</a:t>
            </a:r>
            <a:r>
              <a:rPr lang="en-US" sz="2400" dirty="0" smtClean="0">
                <a:cs typeface="Times New Roman" pitchFamily="18" charset="0"/>
              </a:rPr>
              <a:t>	public </a:t>
            </a:r>
            <a:r>
              <a:rPr lang="en-US" sz="2400" dirty="0">
                <a:cs typeface="Times New Roman" pitchFamily="18" charset="0"/>
              </a:rPr>
              <a:t>void </a:t>
            </a:r>
            <a:r>
              <a:rPr lang="en-US" sz="2400" dirty="0" err="1">
                <a:cs typeface="Times New Roman" pitchFamily="18" charset="0"/>
              </a:rPr>
              <a:t>setRank</a:t>
            </a:r>
            <a:r>
              <a:rPr lang="en-US" sz="2400" dirty="0">
                <a:cs typeface="Times New Roman" pitchFamily="18" charset="0"/>
              </a:rPr>
              <a:t>(String r) </a:t>
            </a:r>
            <a:r>
              <a:rPr lang="en-US" sz="2400" dirty="0" smtClean="0">
                <a:cs typeface="Times New Roman" pitchFamily="18" charset="0"/>
              </a:rPr>
              <a:t>	{ </a:t>
            </a:r>
            <a:r>
              <a:rPr lang="en-US" sz="2400" dirty="0">
                <a:cs typeface="Times New Roman" pitchFamily="18" charset="0"/>
              </a:rPr>
              <a:t>rank = r; }</a:t>
            </a: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cs typeface="Times New Roman" pitchFamily="18" charset="0"/>
            </a:endParaRPr>
          </a:p>
          <a:p>
            <a:pPr>
              <a:lnSpc>
                <a:spcPct val="110000"/>
              </a:lnSpc>
              <a:tabLst>
                <a:tab pos="228600" algn="l"/>
                <a:tab pos="463550" algn="l"/>
                <a:tab pos="914400" algn="l"/>
                <a:tab pos="137795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400" dirty="0">
                <a:cs typeface="Times New Roman" pitchFamily="18" charset="0"/>
              </a:rPr>
              <a:t>  </a:t>
            </a:r>
            <a:r>
              <a:rPr lang="en-US" sz="2400" dirty="0" smtClean="0">
                <a:cs typeface="Times New Roman" pitchFamily="18" charset="0"/>
              </a:rPr>
              <a:t>	public </a:t>
            </a:r>
            <a:r>
              <a:rPr lang="en-US" sz="2400" dirty="0">
                <a:cs typeface="Times New Roman" pitchFamily="18" charset="0"/>
              </a:rPr>
              <a:t>void </a:t>
            </a:r>
            <a:r>
              <a:rPr lang="en-US" sz="2400" dirty="0" err="1">
                <a:cs typeface="Times New Roman" pitchFamily="18" charset="0"/>
              </a:rPr>
              <a:t>setPointValue</a:t>
            </a:r>
            <a:r>
              <a:rPr lang="en-US" sz="2400" dirty="0">
                <a:cs typeface="Times New Roman" pitchFamily="18" charset="0"/>
              </a:rPr>
              <a:t>(</a:t>
            </a:r>
            <a:r>
              <a:rPr lang="en-US" sz="2400" dirty="0" err="1">
                <a:cs typeface="Times New Roman" pitchFamily="18" charset="0"/>
              </a:rPr>
              <a:t>int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pV</a:t>
            </a:r>
            <a:r>
              <a:rPr lang="en-US" sz="2400" dirty="0">
                <a:cs typeface="Times New Roman" pitchFamily="18" charset="0"/>
              </a:rPr>
              <a:t>) </a:t>
            </a:r>
            <a:r>
              <a:rPr lang="en-US" sz="2400" dirty="0" smtClean="0">
                <a:cs typeface="Times New Roman" pitchFamily="18" charset="0"/>
              </a:rPr>
              <a:t>{ </a:t>
            </a:r>
            <a:r>
              <a:rPr lang="en-US" sz="2400" dirty="0" err="1">
                <a:cs typeface="Times New Roman" pitchFamily="18" charset="0"/>
              </a:rPr>
              <a:t>pointValue</a:t>
            </a:r>
            <a:r>
              <a:rPr lang="en-US" sz="2400" dirty="0">
                <a:cs typeface="Times New Roman" pitchFamily="18" charset="0"/>
              </a:rPr>
              <a:t> = </a:t>
            </a:r>
            <a:r>
              <a:rPr lang="en-US" sz="2400" dirty="0" err="1">
                <a:cs typeface="Times New Roman" pitchFamily="18" charset="0"/>
              </a:rPr>
              <a:t>pV</a:t>
            </a:r>
            <a:r>
              <a:rPr lang="en-US" sz="2400" dirty="0">
                <a:cs typeface="Times New Roman" pitchFamily="18" charset="0"/>
              </a:rPr>
              <a:t>; }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32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9.5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5363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Constructor</a:t>
            </a:r>
          </a:p>
        </p:txBody>
      </p:sp>
      <p:sp>
        <p:nvSpPr>
          <p:cNvPr id="15364" name="WordArt 3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</a:p>
        </p:txBody>
      </p:sp>
      <p:pic>
        <p:nvPicPr>
          <p:cNvPr id="15365" name="Picture 2" descr="C:\Documents and Settings\JohnSchram\Local Settings\Temporary Internet Files\Content.IE5\BTRTFM96\MCj0440418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2362200"/>
            <a:ext cx="1752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3" descr="C:\Documents and Settings\JohnSchram\Local Settings\Temporary Internet Files\Content.IE5\J2XVZ0KZ\MCj04404200000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191000"/>
            <a:ext cx="19970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4" descr="C:\Documents and Settings\JohnSchram\Local Settings\Temporary Internet Files\Content.IE5\DOVD8D41\MCj04280790000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752600"/>
            <a:ext cx="1219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Java0908.java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Card Case Study #08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This &lt;Card&gt; class uses a constructor to initialize variables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during the instantiation of a new &lt;Card&gt; object.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// This is an example of increasing reliability by an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automatic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constructor call.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public class Java0908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("JAVA0908.JAVA");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Card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card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= new Card();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("Suit: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card.getSuit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("Rank: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card.getRank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("Value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card.getPointValue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403725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Card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suit;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rank;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public </a:t>
            </a:r>
            <a:r>
              <a:rPr lang="en-US" sz="2400" b="0" dirty="0">
                <a:cs typeface="Times New Roman" pitchFamily="18" charset="0"/>
              </a:rPr>
              <a:t>Card()</a:t>
            </a:r>
          </a:p>
          <a:p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{</a:t>
            </a:r>
            <a:endParaRPr lang="en-US" sz="2400" b="0" dirty="0">
              <a:cs typeface="Times New Roman" pitchFamily="18" charset="0"/>
            </a:endParaRPr>
          </a:p>
          <a:p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suit </a:t>
            </a:r>
            <a:r>
              <a:rPr lang="en-US" sz="2400" b="0" dirty="0">
                <a:cs typeface="Times New Roman" pitchFamily="18" charset="0"/>
              </a:rPr>
              <a:t>= "Clubs";</a:t>
            </a:r>
          </a:p>
          <a:p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rank </a:t>
            </a:r>
            <a:r>
              <a:rPr lang="en-US" sz="2400" b="0" dirty="0">
                <a:cs typeface="Times New Roman" pitchFamily="18" charset="0"/>
              </a:rPr>
              <a:t>= "Two";</a:t>
            </a:r>
          </a:p>
          <a:p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</a:t>
            </a:r>
            <a:r>
              <a:rPr lang="en-US" sz="2400" b="0" dirty="0" err="1" smtClean="0">
                <a:cs typeface="Times New Roman" pitchFamily="18" charset="0"/>
              </a:rPr>
              <a:t>pointValue</a:t>
            </a:r>
            <a:r>
              <a:rPr lang="en-US" sz="2400" b="0" dirty="0" smtClean="0">
                <a:cs typeface="Times New Roman" pitchFamily="18" charset="0"/>
              </a:rPr>
              <a:t> </a:t>
            </a:r>
            <a:r>
              <a:rPr lang="en-US" sz="2400" b="0" dirty="0">
                <a:cs typeface="Times New Roman" pitchFamily="18" charset="0"/>
              </a:rPr>
              <a:t>= 2;</a:t>
            </a:r>
          </a:p>
          <a:p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}</a:t>
            </a:r>
            <a:endParaRPr lang="en-US" sz="2400" b="0" dirty="0"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getSuit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    { return suit; }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getRank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    { return rank; }</a:t>
            </a: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getPointValue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() { return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4419600"/>
            <a:ext cx="1676400" cy="2227545"/>
          </a:xfrm>
          <a:prstGeom prst="rect">
            <a:avLst/>
          </a:prstGeom>
        </p:spPr>
      </p:pic>
      <p:pic>
        <p:nvPicPr>
          <p:cNvPr id="4" name="Picture 2" descr="C:\Users\JohnSchram\AppData\Local\Microsoft\Windows\Temporary Internet Files\Content.IE5\4IKOJ3QF\MC900127649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240" y="78907"/>
            <a:ext cx="4647160" cy="395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565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Java0909.java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Card Case Study #09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A second, overloaded constructor, method is added to the program.</a:t>
            </a:r>
          </a:p>
          <a:p>
            <a:r>
              <a:rPr lang="en-US" sz="2400" spc="-30" dirty="0">
                <a:latin typeface="Times New Roman" pitchFamily="18" charset="0"/>
                <a:cs typeface="Times New Roman" pitchFamily="18" charset="0"/>
              </a:rPr>
              <a:t>// It is now possible to specify Card object details during instantiation.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class Java0909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("JAVA0909.JAVA");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cs typeface="Times New Roman" pitchFamily="18" charset="0"/>
              </a:rPr>
              <a:t>		Card </a:t>
            </a:r>
            <a:r>
              <a:rPr lang="en-US" sz="2400" dirty="0" err="1">
                <a:cs typeface="Times New Roman" pitchFamily="18" charset="0"/>
              </a:rPr>
              <a:t>card</a:t>
            </a:r>
            <a:r>
              <a:rPr lang="en-US" sz="2400" dirty="0">
                <a:cs typeface="Times New Roman" pitchFamily="18" charset="0"/>
              </a:rPr>
              <a:t> = new Card("Diamonds","Queen",10);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("Suit: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card.getSuit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("Rank: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card.getRank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("Value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	"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card.getPointValue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88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Card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String suit;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String rank;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Card()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suit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"Clubs";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rank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"Two";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2;</a:t>
            </a:r>
          </a:p>
          <a:p>
            <a:pPr>
              <a:lnSpc>
                <a:spcPct val="88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public </a:t>
            </a:r>
            <a:r>
              <a:rPr lang="en-US" sz="2400" b="0" dirty="0">
                <a:cs typeface="Times New Roman" pitchFamily="18" charset="0"/>
              </a:rPr>
              <a:t>Card(String s, String r, </a:t>
            </a:r>
            <a:r>
              <a:rPr lang="en-US" sz="2400" b="0" dirty="0" err="1">
                <a:cs typeface="Times New Roman" pitchFamily="18" charset="0"/>
              </a:rPr>
              <a:t>int</a:t>
            </a:r>
            <a:r>
              <a:rPr lang="en-US" sz="2400" b="0" dirty="0">
                <a:cs typeface="Times New Roman" pitchFamily="18" charset="0"/>
              </a:rPr>
              <a:t> </a:t>
            </a:r>
            <a:r>
              <a:rPr lang="en-US" sz="2400" b="0" dirty="0" err="1">
                <a:cs typeface="Times New Roman" pitchFamily="18" charset="0"/>
              </a:rPr>
              <a:t>pV</a:t>
            </a:r>
            <a:r>
              <a:rPr lang="en-US" sz="2400" b="0" dirty="0">
                <a:cs typeface="Times New Roman" pitchFamily="18" charset="0"/>
              </a:rPr>
              <a:t>)</a:t>
            </a: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{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  </a:t>
            </a:r>
            <a:r>
              <a:rPr lang="en-US" sz="2400" b="0" dirty="0" smtClean="0">
                <a:cs typeface="Times New Roman" pitchFamily="18" charset="0"/>
              </a:rPr>
              <a:t>	suit </a:t>
            </a:r>
            <a:r>
              <a:rPr lang="en-US" sz="2400" b="0" dirty="0">
                <a:cs typeface="Times New Roman" pitchFamily="18" charset="0"/>
              </a:rPr>
              <a:t>= s;</a:t>
            </a: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rank </a:t>
            </a:r>
            <a:r>
              <a:rPr lang="en-US" sz="2400" b="0" dirty="0">
                <a:cs typeface="Times New Roman" pitchFamily="18" charset="0"/>
              </a:rPr>
              <a:t>= r;</a:t>
            </a: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   </a:t>
            </a:r>
            <a:r>
              <a:rPr lang="en-US" sz="2400" b="0" dirty="0" smtClean="0">
                <a:cs typeface="Times New Roman" pitchFamily="18" charset="0"/>
              </a:rPr>
              <a:t>	</a:t>
            </a:r>
            <a:r>
              <a:rPr lang="en-US" sz="2400" b="0" dirty="0" err="1" smtClean="0">
                <a:cs typeface="Times New Roman" pitchFamily="18" charset="0"/>
              </a:rPr>
              <a:t>pointValue</a:t>
            </a:r>
            <a:r>
              <a:rPr lang="en-US" sz="2400" b="0" dirty="0" smtClean="0">
                <a:cs typeface="Times New Roman" pitchFamily="18" charset="0"/>
              </a:rPr>
              <a:t> </a:t>
            </a:r>
            <a:r>
              <a:rPr lang="en-US" sz="2400" b="0" dirty="0">
                <a:cs typeface="Times New Roman" pitchFamily="18" charset="0"/>
              </a:rPr>
              <a:t>= </a:t>
            </a:r>
            <a:r>
              <a:rPr lang="en-US" sz="2400" b="0" dirty="0" err="1">
                <a:cs typeface="Times New Roman" pitchFamily="18" charset="0"/>
              </a:rPr>
              <a:t>pV</a:t>
            </a:r>
            <a:r>
              <a:rPr lang="en-US" sz="2400" b="0" dirty="0">
                <a:cs typeface="Times New Roman" pitchFamily="18" charset="0"/>
              </a:rPr>
              <a:t>;</a:t>
            </a:r>
          </a:p>
          <a:p>
            <a:pPr>
              <a:lnSpc>
                <a:spcPct val="88000"/>
              </a:lnSpc>
            </a:pPr>
            <a:r>
              <a:rPr lang="en-US" sz="2400" b="0" dirty="0">
                <a:cs typeface="Times New Roman" pitchFamily="18" charset="0"/>
              </a:rPr>
              <a:t>   </a:t>
            </a:r>
            <a:r>
              <a:rPr lang="en-US" sz="2400" b="0" dirty="0" smtClean="0">
                <a:cs typeface="Times New Roman" pitchFamily="18" charset="0"/>
              </a:rPr>
              <a:t>	}</a:t>
            </a:r>
            <a:endParaRPr lang="en-US" sz="2400" b="0" dirty="0">
              <a:cs typeface="Times New Roman" pitchFamily="18" charset="0"/>
            </a:endParaRPr>
          </a:p>
          <a:p>
            <a:pPr>
              <a:lnSpc>
                <a:spcPct val="88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368675" algn="l"/>
                <a:tab pos="4237038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getSuit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suit;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368675" algn="l"/>
                <a:tab pos="4237038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getRank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rank;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8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368675" algn="l"/>
                <a:tab pos="4237038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getPointValue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{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}</a:t>
            </a:r>
          </a:p>
          <a:p>
            <a:pPr>
              <a:lnSpc>
                <a:spcPct val="88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2" r="6080"/>
          <a:stretch/>
        </p:blipFill>
        <p:spPr bwMode="auto">
          <a:xfrm>
            <a:off x="4800600" y="228600"/>
            <a:ext cx="358438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36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b="1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Instantiation</a:t>
            </a:r>
            <a:r>
              <a:rPr lang="en-US" smtClean="0">
                <a:latin typeface="Arial Black" pitchFamily="34" charset="0"/>
                <a:sym typeface="Symbol" pitchFamily="18" charset="2"/>
              </a:rPr>
              <a:t> </a:t>
            </a:r>
            <a:r>
              <a:rPr lang="en-US" smtClean="0">
                <a:latin typeface="Arial Black" pitchFamily="34" charset="0"/>
              </a:rPr>
              <a:t>&amp; C</a:t>
            </a:r>
            <a:r>
              <a:rPr lang="en-US" b="1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onstruction</a:t>
            </a:r>
            <a:endParaRPr lang="en-US" smtClean="0">
              <a:latin typeface="Arial Black" pitchFamily="34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1255713"/>
            <a:ext cx="8382000" cy="52609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A </a:t>
            </a:r>
            <a:r>
              <a:rPr lang="en-US" sz="2400" dirty="0">
                <a:sym typeface="Symbol" pitchFamily="18" charset="2"/>
              </a:rPr>
              <a:t>class</a:t>
            </a:r>
            <a:r>
              <a:rPr lang="en-US" sz="2400" dirty="0">
                <a:latin typeface="Arial" charset="0"/>
                <a:sym typeface="Symbol" pitchFamily="18" charset="2"/>
              </a:rPr>
              <a:t> is a template that can form many objects.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An </a:t>
            </a:r>
            <a:r>
              <a:rPr lang="en-US" sz="2400" i="1" dirty="0">
                <a:latin typeface="Arial" pitchFamily="34" charset="0"/>
                <a:cs typeface="Arial" pitchFamily="34" charset="0"/>
                <a:sym typeface="Symbol" pitchFamily="18" charset="2"/>
              </a:rPr>
              <a:t>object</a:t>
            </a:r>
            <a:r>
              <a:rPr lang="en-US" sz="2400" dirty="0">
                <a:latin typeface="Arial" charset="0"/>
                <a:sym typeface="Symbol" pitchFamily="18" charset="2"/>
              </a:rPr>
              <a:t> is a single variable instance of a class.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Objects are sometimes called </a:t>
            </a:r>
            <a:r>
              <a:rPr lang="en-US" sz="2400" i="1" dirty="0">
                <a:latin typeface="Arial" pitchFamily="34" charset="0"/>
                <a:cs typeface="Arial" pitchFamily="34" charset="0"/>
                <a:sym typeface="Symbol" pitchFamily="18" charset="2"/>
              </a:rPr>
              <a:t>instances</a:t>
            </a:r>
            <a:r>
              <a:rPr lang="en-US" sz="2400" dirty="0">
                <a:latin typeface="Arial" charset="0"/>
                <a:sym typeface="Symbol" pitchFamily="18" charset="2"/>
              </a:rPr>
              <a:t>.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An object is created with the </a:t>
            </a:r>
            <a:r>
              <a:rPr lang="en-US" sz="2400" b="0" dirty="0">
                <a:sym typeface="Symbol" pitchFamily="18" charset="2"/>
              </a:rPr>
              <a:t>new</a:t>
            </a:r>
            <a:r>
              <a:rPr lang="en-US" sz="2400" dirty="0">
                <a:latin typeface="Arial" charset="0"/>
                <a:sym typeface="Symbol" pitchFamily="18" charset="2"/>
              </a:rPr>
              <a:t> operator.  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The creation of a new object is called: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	</a:t>
            </a:r>
            <a:r>
              <a:rPr lang="en-US" sz="2400" i="1" dirty="0">
                <a:latin typeface="+mn-lt"/>
                <a:sym typeface="Symbol" pitchFamily="18" charset="2"/>
              </a:rPr>
              <a:t>instantiation</a:t>
            </a:r>
            <a:r>
              <a:rPr lang="en-US" sz="2400" dirty="0">
                <a:latin typeface="Arial" charset="0"/>
                <a:sym typeface="Symbol" pitchFamily="18" charset="2"/>
              </a:rPr>
              <a:t> of an object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	</a:t>
            </a:r>
            <a:r>
              <a:rPr lang="en-US" sz="2400" i="1" dirty="0">
                <a:latin typeface="+mn-lt"/>
                <a:sym typeface="Symbol" pitchFamily="18" charset="2"/>
              </a:rPr>
              <a:t>construction</a:t>
            </a:r>
            <a:r>
              <a:rPr lang="en-US" sz="2400" dirty="0">
                <a:latin typeface="Arial" charset="0"/>
                <a:sym typeface="Symbol" pitchFamily="18" charset="2"/>
              </a:rPr>
              <a:t> of an object</a:t>
            </a: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endParaRPr lang="en-US" sz="2400" dirty="0">
              <a:latin typeface="Arial" charset="0"/>
              <a:sym typeface="Symbol" pitchFamily="18" charset="2"/>
            </a:endParaRPr>
          </a:p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/>
            </a:pPr>
            <a:r>
              <a:rPr lang="en-US" sz="2400" dirty="0">
                <a:latin typeface="Arial" charset="0"/>
                <a:sym typeface="Symbol" pitchFamily="18" charset="2"/>
              </a:rPr>
              <a:t>The special method that is called during the </a:t>
            </a:r>
            <a:r>
              <a:rPr lang="en-US" sz="2400" i="1" dirty="0">
                <a:latin typeface="+mn-lt"/>
                <a:sym typeface="Symbol" pitchFamily="18" charset="2"/>
              </a:rPr>
              <a:t>instantiation</a:t>
            </a:r>
            <a:r>
              <a:rPr lang="en-US" sz="2400" dirty="0">
                <a:latin typeface="Arial" charset="0"/>
                <a:sym typeface="Symbol" pitchFamily="18" charset="2"/>
              </a:rPr>
              <a:t> of a </a:t>
            </a:r>
            <a:r>
              <a:rPr lang="en-US" sz="2400" b="0" dirty="0">
                <a:sym typeface="Symbol" pitchFamily="18" charset="2"/>
              </a:rPr>
              <a:t>new</a:t>
            </a:r>
            <a:r>
              <a:rPr lang="en-US" sz="2400" dirty="0">
                <a:latin typeface="Arial" charset="0"/>
                <a:sym typeface="Symbol" pitchFamily="18" charset="2"/>
              </a:rPr>
              <a:t> object is the </a:t>
            </a:r>
            <a:r>
              <a:rPr lang="en-US" sz="2400" i="1" dirty="0">
                <a:latin typeface="Arial" pitchFamily="34" charset="0"/>
                <a:cs typeface="Arial" pitchFamily="34" charset="0"/>
                <a:sym typeface="Symbol" pitchFamily="18" charset="2"/>
              </a:rPr>
              <a:t>constructor</a:t>
            </a:r>
            <a:r>
              <a:rPr lang="en-US" sz="2400" dirty="0"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27652" name="Picture 4" descr="C:\Program Files\Microsoft Office\MEDIA\CAGCAT10\j0199549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438400"/>
            <a:ext cx="167005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9" descr="C:\Documents and Settings\JohnSchram\Local Settings\Temporary Internet Files\Content.IE5\HBASB2PV\MCj0432555000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810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63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C</a:t>
            </a:r>
            <a:r>
              <a:rPr lang="en-US" sz="4800" b="1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onstructor Notes</a:t>
            </a:r>
            <a:endParaRPr lang="en-US" sz="4800" smtClean="0">
              <a:latin typeface="Arial Black" pitchFamily="34" charset="0"/>
            </a:endParaRP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52400" y="685800"/>
            <a:ext cx="8839200" cy="6138863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Constructors</a:t>
            </a:r>
            <a:r>
              <a:rPr lang="en-US" sz="2300">
                <a:latin typeface="Arial" charset="0"/>
                <a:sym typeface="Symbol" pitchFamily="18" charset="2"/>
              </a:rPr>
              <a:t>  are methods, which are called during the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instantiation</a:t>
            </a:r>
            <a:r>
              <a:rPr lang="en-US" sz="2300">
                <a:latin typeface="Arial" charset="0"/>
                <a:sym typeface="Symbol" pitchFamily="18" charset="2"/>
              </a:rPr>
              <a:t>  of an object with the </a:t>
            </a:r>
            <a:r>
              <a:rPr lang="en-US" sz="2300" b="0">
                <a:sym typeface="Symbol" pitchFamily="18" charset="2"/>
              </a:rPr>
              <a:t>new</a:t>
            </a:r>
            <a:r>
              <a:rPr lang="en-US" sz="2300">
                <a:latin typeface="Arial" charset="0"/>
                <a:sym typeface="Symbol" pitchFamily="18" charset="2"/>
              </a:rPr>
              <a:t>  operator.</a:t>
            </a:r>
          </a:p>
          <a:p>
            <a:pPr eaLnBrk="1" hangingPunct="1">
              <a:lnSpc>
                <a:spcPct val="90000"/>
              </a:lnSpc>
            </a:pPr>
            <a:endParaRPr lang="en-US" sz="20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The primary purpose of a constructor is to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initialize all the attributes of newly created object.</a:t>
            </a:r>
          </a:p>
          <a:p>
            <a:pPr eaLnBrk="1" hangingPunct="1">
              <a:lnSpc>
                <a:spcPct val="90000"/>
              </a:lnSpc>
            </a:pPr>
            <a:endParaRPr lang="en-US" sz="20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Constructors have the same identifier as the </a:t>
            </a:r>
            <a:r>
              <a:rPr lang="en-US" sz="2300" b="0">
                <a:sym typeface="Symbol" pitchFamily="18" charset="2"/>
              </a:rPr>
              <a:t>class</a:t>
            </a:r>
            <a:r>
              <a:rPr lang="en-US" sz="230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0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Constructors are neither </a:t>
            </a:r>
            <a:r>
              <a:rPr lang="en-US" sz="2300" b="0">
                <a:sym typeface="Symbol" pitchFamily="18" charset="2"/>
              </a:rPr>
              <a:t>void</a:t>
            </a:r>
            <a:r>
              <a:rPr lang="en-US" sz="2300">
                <a:latin typeface="Arial" charset="0"/>
                <a:sym typeface="Symbol" pitchFamily="18" charset="2"/>
              </a:rPr>
              <a:t>  methods nor are they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 b="0">
                <a:sym typeface="Symbol" pitchFamily="18" charset="2"/>
              </a:rPr>
              <a:t>return</a:t>
            </a:r>
            <a:r>
              <a:rPr lang="en-US" sz="2300">
                <a:latin typeface="Arial" charset="0"/>
                <a:sym typeface="Symbol" pitchFamily="18" charset="2"/>
              </a:rPr>
              <a:t>  methods.  They are simply </a:t>
            </a:r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constructors</a:t>
            </a:r>
            <a:r>
              <a:rPr lang="en-US" sz="230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6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Constructors are always declared </a:t>
            </a:r>
            <a:r>
              <a:rPr lang="en-US" sz="2300" b="0">
                <a:sym typeface="Symbol" pitchFamily="18" charset="2"/>
              </a:rPr>
              <a:t>public</a:t>
            </a:r>
            <a:r>
              <a:rPr lang="en-US" sz="2300">
                <a:latin typeface="Arial" charset="0"/>
                <a:sym typeface="Symbol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sz="26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Constructors can be </a:t>
            </a:r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overloaded</a:t>
            </a:r>
            <a:r>
              <a:rPr lang="en-US" sz="2300">
                <a:latin typeface="Arial" charset="0"/>
                <a:sym typeface="Symbol" pitchFamily="18" charset="2"/>
              </a:rPr>
              <a:t>  methods. 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The method identifier can be the same, but the method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signature</a:t>
            </a:r>
            <a:r>
              <a:rPr lang="en-US" sz="2300">
                <a:latin typeface="Arial" charset="0"/>
                <a:sym typeface="Symbol" pitchFamily="18" charset="2"/>
              </a:rPr>
              <a:t> (which is the </a:t>
            </a:r>
            <a:r>
              <a:rPr lang="en-US" sz="2300" u="sng">
                <a:latin typeface="Arial" charset="0"/>
                <a:sym typeface="Symbol" pitchFamily="18" charset="2"/>
              </a:rPr>
              <a:t>parameter list</a:t>
            </a:r>
            <a:r>
              <a:rPr lang="en-US" sz="2300">
                <a:latin typeface="Arial" charset="0"/>
                <a:sym typeface="Symbol" pitchFamily="18" charset="2"/>
              </a:rPr>
              <a:t>) must be different.</a:t>
            </a:r>
          </a:p>
          <a:p>
            <a:pPr eaLnBrk="1" hangingPunct="1">
              <a:lnSpc>
                <a:spcPct val="90000"/>
              </a:lnSpc>
            </a:pPr>
            <a:endParaRPr lang="en-US" sz="2300">
              <a:latin typeface="Arial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A constructor with no parameters </a:t>
            </a:r>
          </a:p>
          <a:p>
            <a:pPr eaLnBrk="1" hangingPunct="1">
              <a:lnSpc>
                <a:spcPct val="90000"/>
              </a:lnSpc>
            </a:pPr>
            <a:r>
              <a:rPr lang="en-US" sz="2300">
                <a:latin typeface="Arial" charset="0"/>
                <a:sym typeface="Symbol" pitchFamily="18" charset="2"/>
              </a:rPr>
              <a:t>is called a </a:t>
            </a:r>
            <a:r>
              <a:rPr lang="en-US" sz="2300" i="1">
                <a:latin typeface="Arial" charset="0"/>
                <a:cs typeface="Arial" charset="0"/>
                <a:sym typeface="Symbol" pitchFamily="18" charset="2"/>
              </a:rPr>
              <a:t>default constructor</a:t>
            </a:r>
            <a:r>
              <a:rPr lang="en-US" sz="2300">
                <a:latin typeface="Arial" charset="0"/>
                <a:sym typeface="Symbol" pitchFamily="18" charset="2"/>
              </a:rPr>
              <a:t>.</a:t>
            </a:r>
          </a:p>
        </p:txBody>
      </p:sp>
      <p:pic>
        <p:nvPicPr>
          <p:cNvPr id="34821" name="Picture 10" descr="C:\Documents and Settings\JohnSchram\Local Settings\Temporary Internet Files\Content.IE5\Q9PCVH2I\MMj03652600000[1]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159543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10" descr="overload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3479800"/>
            <a:ext cx="15875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C:\Documents and Settings\JohnSchram\Local Settings\Temporary Internet Files\Content.IE5\FXR10CRP\MCj04338060000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0"/>
            <a:ext cx="73152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C:\Documents and Settings\JohnSchram\Local Settings\Temporary Internet Files\Content.IE5\D94HGVXA\MCj04338100000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731520" cy="73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 descr="C:\Documents and Settings\JohnSchram\Local Settings\Temporary Internet Files\Content.IE5\3ZH45KL3\MCj04339490000[1]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371600"/>
            <a:ext cx="1295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86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3011" name="WordArt 2"/>
          <p:cNvSpPr>
            <a:spLocks noChangeArrowheads="1" noChangeShapeType="1" noTextEdit="1"/>
          </p:cNvSpPr>
          <p:nvPr/>
        </p:nvSpPr>
        <p:spPr bwMode="auto">
          <a:xfrm>
            <a:off x="457200" y="1676400"/>
            <a:ext cx="6858000" cy="2362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356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Cube</a:t>
            </a:r>
          </a:p>
        </p:txBody>
      </p:sp>
      <p:sp>
        <p:nvSpPr>
          <p:cNvPr id="43012" name="WordArt 3"/>
          <p:cNvSpPr>
            <a:spLocks noChangeArrowheads="1" noChangeShapeType="1" noTextEdit="1"/>
          </p:cNvSpPr>
          <p:nvPr/>
        </p:nvSpPr>
        <p:spPr bwMode="auto">
          <a:xfrm>
            <a:off x="457200" y="3733800"/>
            <a:ext cx="83820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Case Study</a:t>
            </a:r>
          </a:p>
        </p:txBody>
      </p:sp>
      <p:pic>
        <p:nvPicPr>
          <p:cNvPr id="43013" name="Picture 4" descr="C:\Documents and Settings\JohnSchram\Local Settings\Temporary Internet Files\Content.IE5\URQ75OAI\MCDD01732_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447800"/>
            <a:ext cx="6826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The Cube Case Study</a:t>
            </a:r>
          </a:p>
        </p:txBody>
      </p:sp>
      <p:graphicFrame>
        <p:nvGraphicFramePr>
          <p:cNvPr id="637978" name="Group 26"/>
          <p:cNvGraphicFramePr>
            <a:graphicFrameLocks noGrp="1"/>
          </p:cNvGraphicFramePr>
          <p:nvPr/>
        </p:nvGraphicFramePr>
        <p:xfrm>
          <a:off x="228600" y="990600"/>
          <a:ext cx="8534400" cy="3251200"/>
        </p:xfrm>
        <a:graphic>
          <a:graphicData uri="http://schemas.openxmlformats.org/drawingml/2006/table">
            <a:tbl>
              <a:tblPr/>
              <a:tblGrid>
                <a:gridCol w="4648200"/>
                <a:gridCol w="3886200"/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Cube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</a:rPr>
                        <a:t>Cube Data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Draw Cube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Coordinate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Erase Cube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 Coordinate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CC"/>
                    </a:solidFill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Move Cube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pic>
        <p:nvPicPr>
          <p:cNvPr id="44052" name="Picture 24" descr="j03117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288" y="4495800"/>
            <a:ext cx="11715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53" name="Picture 25" descr="j03117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1000" y="4572000"/>
            <a:ext cx="11699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54" name="Picture 27" descr="j01779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419600"/>
            <a:ext cx="3657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0173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// Java0910.java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// Cube Case Study #1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// Stage #1 presents a &lt;Cube&gt; class with a default constructor.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// This program does not display a cube.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// The Cube Case Study uses applets.  Run the html file to execute.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public class Java0910 extends Applet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public void paint(Graphics g)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	Cube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cube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= new Cube(g);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class Cube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tlX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;	//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X coordinate of the Cube's position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tlY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;	// 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y coordinate of the Cube's position</a:t>
            </a:r>
          </a:p>
          <a:p>
            <a:pPr eaLnBrk="1" hangingPunct="1"/>
            <a:endParaRPr lang="en-US" sz="1600" dirty="0" smtClean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public Cube(Graphics g)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tlX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= 50;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1800" dirty="0" err="1" smtClean="0">
                <a:latin typeface="Times New Roman" pitchFamily="18" charset="0"/>
                <a:sym typeface="Symbol" pitchFamily="18" charset="2"/>
              </a:rPr>
              <a:t>tlY</a:t>
            </a:r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 = 50;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  <a:sym typeface="Symbol" pitchFamily="18" charset="2"/>
              </a:rPr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0"/>
            <a:ext cx="5334000" cy="389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6435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//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Java0911.java   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Cube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Case Study #2</a:t>
            </a:r>
            <a:endParaRPr lang="en-US" sz="1600" dirty="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// Stage #2 presents adds a &lt;draw&gt; method to display one cube object.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Java0911 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extends Applet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public void paint(Graphics g)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	Cube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cube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= new Cube(g);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cube.draw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(g);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class Cube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tlX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;				//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X coordinate of the Cube's position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tlY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;				//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y coordinate of the Cube's position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public Cube(Graphics g)   	{ 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tlX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= 50; 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tlY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= 50;  }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public void draw(Graphics g)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int</a:t>
            </a:r>
            <a:r>
              <a:rPr lang="en-US" sz="1600" b="0" dirty="0">
                <a:sym typeface="Symbol" pitchFamily="18" charset="2"/>
              </a:rPr>
              <a:t> tlX2 = </a:t>
            </a:r>
            <a:r>
              <a:rPr lang="en-US" sz="1600" b="0" dirty="0" err="1">
                <a:sym typeface="Symbol" pitchFamily="18" charset="2"/>
              </a:rPr>
              <a:t>tlX</a:t>
            </a:r>
            <a:r>
              <a:rPr lang="en-US" sz="1600" b="0" dirty="0">
                <a:sym typeface="Symbol" pitchFamily="18" charset="2"/>
              </a:rPr>
              <a:t> + 12;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int</a:t>
            </a:r>
            <a:r>
              <a:rPr lang="en-US" sz="1600" b="0" dirty="0">
                <a:sym typeface="Symbol" pitchFamily="18" charset="2"/>
              </a:rPr>
              <a:t> tlY2 = </a:t>
            </a:r>
            <a:r>
              <a:rPr lang="en-US" sz="1600" b="0" dirty="0" err="1">
                <a:sym typeface="Symbol" pitchFamily="18" charset="2"/>
              </a:rPr>
              <a:t>tlY</a:t>
            </a:r>
            <a:r>
              <a:rPr lang="en-US" sz="1600" b="0" dirty="0">
                <a:sym typeface="Symbol" pitchFamily="18" charset="2"/>
              </a:rPr>
              <a:t> + 12;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g.setColor</a:t>
            </a:r>
            <a:r>
              <a:rPr lang="en-US" sz="1600" b="0" dirty="0">
                <a:sym typeface="Symbol" pitchFamily="18" charset="2"/>
              </a:rPr>
              <a:t>(</a:t>
            </a:r>
            <a:r>
              <a:rPr lang="en-US" sz="1600" b="0" dirty="0" err="1">
                <a:sym typeface="Symbol" pitchFamily="18" charset="2"/>
              </a:rPr>
              <a:t>Color.black</a:t>
            </a:r>
            <a:r>
              <a:rPr lang="en-US" sz="1600" b="0" dirty="0">
                <a:sym typeface="Symbol" pitchFamily="18" charset="2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g.drawRect</a:t>
            </a:r>
            <a:r>
              <a:rPr lang="en-US" sz="1600" b="0" dirty="0">
                <a:sym typeface="Symbol" pitchFamily="18" charset="2"/>
              </a:rPr>
              <a:t>(tlX,tlY,50,50);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g.drawRect</a:t>
            </a:r>
            <a:r>
              <a:rPr lang="en-US" sz="1600" b="0" dirty="0">
                <a:sym typeface="Symbol" pitchFamily="18" charset="2"/>
              </a:rPr>
              <a:t>(tlX2,tlY2,50,50);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g.drawLine</a:t>
            </a:r>
            <a:r>
              <a:rPr lang="en-US" sz="1600" b="0" dirty="0">
                <a:sym typeface="Symbol" pitchFamily="18" charset="2"/>
              </a:rPr>
              <a:t>(tlX,tlY,tlX2,tlY2);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g.drawLine</a:t>
            </a:r>
            <a:r>
              <a:rPr lang="en-US" sz="1600" b="0" dirty="0">
                <a:sym typeface="Symbol" pitchFamily="18" charset="2"/>
              </a:rPr>
              <a:t>(tlX+50,tlY,tlX2+50,tlY2);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g.drawLine</a:t>
            </a:r>
            <a:r>
              <a:rPr lang="en-US" sz="1600" b="0" dirty="0">
                <a:sym typeface="Symbol" pitchFamily="18" charset="2"/>
              </a:rPr>
              <a:t>(tlX,tlY+50,tlX2,tlY2+50);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	</a:t>
            </a:r>
            <a:r>
              <a:rPr lang="en-US" sz="1600" b="0" dirty="0" err="1">
                <a:sym typeface="Symbol" pitchFamily="18" charset="2"/>
              </a:rPr>
              <a:t>g.drawLine</a:t>
            </a:r>
            <a:r>
              <a:rPr lang="en-US" sz="1600" b="0" dirty="0">
                <a:sym typeface="Symbol" pitchFamily="18" charset="2"/>
              </a:rPr>
              <a:t>(tlX+50,tlY+50,tlX2+50,tlY2+50);		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b="0" dirty="0">
                <a:sym typeface="Symbol" pitchFamily="18" charset="2"/>
              </a:rPr>
              <a:t>	}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} </a:t>
            </a:r>
          </a:p>
        </p:txBody>
      </p:sp>
      <p:pic>
        <p:nvPicPr>
          <p:cNvPr id="46084" name="Picture 8" descr="C:\Documents and Settings\JohnSchram\Local Settings\Temporary Internet Files\Content.IE5\HBASB2PV\MPj043871500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5" t="1666" r="18587" b="8333"/>
          <a:stretch>
            <a:fillRect/>
          </a:stretch>
        </p:blipFill>
        <p:spPr bwMode="auto">
          <a:xfrm>
            <a:off x="6455832" y="4114800"/>
            <a:ext cx="2230967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76" b="73111"/>
          <a:stretch/>
        </p:blipFill>
        <p:spPr bwMode="auto">
          <a:xfrm>
            <a:off x="5562600" y="0"/>
            <a:ext cx="3581400" cy="265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21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40070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216675"/>
              </p:ext>
            </p:extLst>
          </p:nvPr>
        </p:nvGraphicFramePr>
        <p:xfrm>
          <a:off x="0" y="0"/>
          <a:ext cx="9144000" cy="6851692"/>
        </p:xfrm>
        <a:graphic>
          <a:graphicData uri="http://schemas.openxmlformats.org/drawingml/2006/table">
            <a:tbl>
              <a:tblPr/>
              <a:tblGrid>
                <a:gridCol w="4191000"/>
                <a:gridCol w="4953000"/>
              </a:tblGrid>
              <a:tr h="105723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charset="0"/>
                        </a:rPr>
                        <a:t>// Java0912.java    Cube Case Study #3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charset="0"/>
                        </a:rPr>
                        <a:t>// Stage #3 adds a second, overloaded constructor.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charset="0"/>
                        </a:rPr>
                        <a:t>// It is now possible to specify the size and the location of the cube.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charset="0"/>
                        </a:rPr>
                        <a:t>// The &lt;draw&gt; method needs to be altered to handle different cube sizes.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84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java.awt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java.applet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 class Java0912 extends Applet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void paint(Graphics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 cube1 = new Cube(g,50,50,50);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cube1.draw(g);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 cube2 = new Cube(g,400,50,100);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cube2.draw(g);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 cube3 = new Cube(g,50,300,150);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cube3.draw(g);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 cube4 = new Cube(g,400,300,200);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cube4.draw(g);				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class Cube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size;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public Cube(Graphics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50;  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= 50;   size = 50;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public Cube(Graphics g,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x,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y,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s)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= x;  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= y;   size = s;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public void draw(Graphics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tlX2 =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+ size/3;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tlY2 =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+ size/3;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g.setColor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Color.black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g.drawRect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tlX,tlY,size,size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g.drawRect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(tlX2,tlY2,size,size);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(tlX,tlY,tlX2,tlY2);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(tlX+size,tlY,tlX2+size,tlY2);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(tlX,tlY+size,tlX2,tlY2+size);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(tlX+size,tlY+size,tlX2+size,tlY2+size);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}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53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//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Java0913.java    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Cube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Case Study #4</a:t>
            </a:r>
            <a:endParaRPr lang="en-US" sz="16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// Stage #4 adds a &lt;move&gt; method, which updates the cube's coordinates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// and draws a cube at the new location.</a:t>
            </a:r>
          </a:p>
          <a:p>
            <a:pPr eaLnBrk="1" hangingPunct="1"/>
            <a:r>
              <a:rPr lang="en-US" sz="1600" b="0" dirty="0">
                <a:solidFill>
                  <a:srgbClr val="006000"/>
                </a:solidFill>
                <a:sym typeface="Symbol" pitchFamily="18" charset="2"/>
              </a:rPr>
              <a:t>// Only new methods are shown.</a:t>
            </a:r>
          </a:p>
          <a:p>
            <a:pPr eaLnBrk="1" hangingPunct="1"/>
            <a:endParaRPr lang="en-US" sz="1600" b="0" i="1" dirty="0">
              <a:sym typeface="Symbol" pitchFamily="18" charset="2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public class </a:t>
            </a:r>
            <a:r>
              <a:rPr lang="en-US" sz="1600" dirty="0" smtClean="0">
                <a:latin typeface="Times New Roman" pitchFamily="18" charset="0"/>
                <a:sym typeface="Symbol" pitchFamily="18" charset="2"/>
              </a:rPr>
              <a:t>Java0913 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extends Applet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public void paint(Graphics g)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	Cube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cube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= new Cube(g,50,50,50);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	for (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x = 50; x &lt; 750; x += 50)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cube.move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(g,x,300);						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70000"/>
              </a:lnSpc>
            </a:pPr>
            <a:endParaRPr lang="en-US" sz="1600" dirty="0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class Cube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{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tlX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;	//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X coordinate of the Cube's position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tlY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;	//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topleft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y coordinate of the Cube's position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private </a:t>
            </a:r>
            <a:r>
              <a:rPr lang="en-US" sz="1600" dirty="0" err="1">
                <a:latin typeface="Times New Roman" pitchFamily="18" charset="0"/>
                <a:sym typeface="Symbol" pitchFamily="18" charset="2"/>
              </a:rPr>
              <a:t>int</a:t>
            </a:r>
            <a:r>
              <a:rPr lang="en-US" sz="1600" dirty="0">
                <a:latin typeface="Times New Roman" pitchFamily="18" charset="0"/>
                <a:sym typeface="Symbol" pitchFamily="18" charset="2"/>
              </a:rPr>
              <a:t> size;	// the size of the cube along one edge</a:t>
            </a:r>
          </a:p>
          <a:p>
            <a:pPr eaLnBrk="1" hangingPunct="1"/>
            <a:r>
              <a:rPr lang="en-US" sz="1600" dirty="0">
                <a:latin typeface="Times New Roman" pitchFamily="18" charset="0"/>
                <a:sym typeface="Symbol" pitchFamily="18" charset="2"/>
              </a:rPr>
              <a:t>		</a:t>
            </a:r>
          </a:p>
          <a:p>
            <a:pPr eaLnBrk="1" hangingPunct="1"/>
            <a:r>
              <a:rPr lang="en-US" sz="1800" b="0" dirty="0">
                <a:sym typeface="Symbol" pitchFamily="18" charset="2"/>
              </a:rPr>
              <a:t>	public void move(Graphics g, </a:t>
            </a:r>
            <a:r>
              <a:rPr lang="en-US" sz="1800" b="0" dirty="0" err="1">
                <a:sym typeface="Symbol" pitchFamily="18" charset="2"/>
              </a:rPr>
              <a:t>int</a:t>
            </a:r>
            <a:r>
              <a:rPr lang="en-US" sz="1800" b="0" dirty="0">
                <a:sym typeface="Symbol" pitchFamily="18" charset="2"/>
              </a:rPr>
              <a:t> x, </a:t>
            </a:r>
            <a:r>
              <a:rPr lang="en-US" sz="1800" b="0" dirty="0" err="1">
                <a:sym typeface="Symbol" pitchFamily="18" charset="2"/>
              </a:rPr>
              <a:t>int</a:t>
            </a:r>
            <a:r>
              <a:rPr lang="en-US" sz="1800" b="0" dirty="0">
                <a:sym typeface="Symbol" pitchFamily="18" charset="2"/>
              </a:rPr>
              <a:t> y)</a:t>
            </a:r>
          </a:p>
          <a:p>
            <a:pPr eaLnBrk="1" hangingPunct="1"/>
            <a:r>
              <a:rPr lang="en-US" sz="1800" b="0" dirty="0">
                <a:sym typeface="Symbol" pitchFamily="18" charset="2"/>
              </a:rPr>
              <a:t>	{</a:t>
            </a:r>
          </a:p>
          <a:p>
            <a:pPr eaLnBrk="1" hangingPunct="1"/>
            <a:r>
              <a:rPr lang="en-US" sz="1800" b="0" dirty="0">
                <a:sym typeface="Symbol" pitchFamily="18" charset="2"/>
              </a:rPr>
              <a:t>		</a:t>
            </a:r>
            <a:r>
              <a:rPr lang="en-US" sz="1800" b="0" dirty="0" err="1">
                <a:sym typeface="Symbol" pitchFamily="18" charset="2"/>
              </a:rPr>
              <a:t>tlX</a:t>
            </a:r>
            <a:r>
              <a:rPr lang="en-US" sz="1800" b="0" dirty="0">
                <a:sym typeface="Symbol" pitchFamily="18" charset="2"/>
              </a:rPr>
              <a:t> = x;   </a:t>
            </a:r>
            <a:r>
              <a:rPr lang="en-US" sz="1800" b="0" dirty="0" err="1">
                <a:sym typeface="Symbol" pitchFamily="18" charset="2"/>
              </a:rPr>
              <a:t>tlY</a:t>
            </a:r>
            <a:r>
              <a:rPr lang="en-US" sz="1800" b="0" dirty="0">
                <a:sym typeface="Symbol" pitchFamily="18" charset="2"/>
              </a:rPr>
              <a:t> = y;   draw(g);</a:t>
            </a:r>
          </a:p>
          <a:p>
            <a:pPr eaLnBrk="1" hangingPunct="1"/>
            <a:r>
              <a:rPr lang="en-US" sz="1800" b="0" dirty="0">
                <a:sym typeface="Symbol" pitchFamily="18" charset="2"/>
              </a:rPr>
              <a:t>	}</a:t>
            </a:r>
          </a:p>
          <a:p>
            <a:pPr eaLnBrk="1" hangingPunct="1">
              <a:lnSpc>
                <a:spcPct val="110000"/>
              </a:lnSpc>
            </a:pPr>
            <a:r>
              <a:rPr lang="en-US" sz="1600" dirty="0">
                <a:latin typeface="Times New Roman" pitchFamily="18" charset="0"/>
                <a:sym typeface="Symbol" pitchFamily="18" charset="2"/>
              </a:rPr>
              <a:t>}</a:t>
            </a:r>
          </a:p>
        </p:txBody>
      </p:sp>
      <p:pic>
        <p:nvPicPr>
          <p:cNvPr id="49156" name="Picture 3" descr="C:\Documents and Settings\JohnSchram\Local Settings\Temporary Internet Files\Content.IE5\Q5HCWLPK\MPj04386840000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1"/>
          <a:stretch>
            <a:fillRect/>
          </a:stretch>
        </p:blipFill>
        <p:spPr bwMode="auto">
          <a:xfrm>
            <a:off x="6096000" y="4419600"/>
            <a:ext cx="25908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73"/>
          <a:stretch/>
        </p:blipFill>
        <p:spPr bwMode="auto">
          <a:xfrm>
            <a:off x="4343401" y="0"/>
            <a:ext cx="4800600" cy="4230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21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44130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792856"/>
              </p:ext>
            </p:extLst>
          </p:nvPr>
        </p:nvGraphicFramePr>
        <p:xfrm>
          <a:off x="0" y="0"/>
          <a:ext cx="9144000" cy="6878638"/>
        </p:xfrm>
        <a:graphic>
          <a:graphicData uri="http://schemas.openxmlformats.org/drawingml/2006/table">
            <a:tbl>
              <a:tblPr/>
              <a:tblGrid>
                <a:gridCol w="3733800"/>
                <a:gridCol w="5410200"/>
              </a:tblGrid>
              <a:tr h="9205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Java0914.java    Cube Case Study #5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Stage #5 adds an &lt;erase&gt; method, which erases the cube at the current [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tlX,tlY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] coordinates.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This program has a problem because the cube object is erased immediately after it is drawn.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java.awt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java.applet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public class Java0914 extends Applet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public void paint(Graphics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Cube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= new Cube(g,50,50,50);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for 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x = 50; x &lt; 750; x += 50)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cube.move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(g,x,300);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cube.erase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(g);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}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class Cube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;	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X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;	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// 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y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size;	// the size of the cube along one edge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public void erase(Graphics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tlX2 =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+ size/3;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tlY2 =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+ size/3;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g.setColor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Color.white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g.drawRect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tlX,tlY,size,size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g.drawRect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(tlX2,tlY2,size,size);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(tlX,tlY,tlX2,tlY2);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(tlX+size,tlY,tlX2+size,tlY2);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(tlX,tlY+size,tlX2,tlY2+size);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g.drawLine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(tlX+size,tlY+size,tlX2+size,tlY2+size);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WordArt 16"/>
          <p:cNvSpPr>
            <a:spLocks noChangeArrowheads="1" noChangeShapeType="1" noTextEdit="1"/>
          </p:cNvSpPr>
          <p:nvPr/>
        </p:nvSpPr>
        <p:spPr bwMode="auto">
          <a:xfrm>
            <a:off x="685800" y="685800"/>
            <a:ext cx="7848600" cy="5715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It </a:t>
            </a:r>
            <a:r>
              <a:rPr lang="en-US" sz="3600" kern="1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seems </a:t>
            </a:r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like there is no output.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problem is the output is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so fast you cannot see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21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46168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972820"/>
              </p:ext>
            </p:extLst>
          </p:nvPr>
        </p:nvGraphicFramePr>
        <p:xfrm>
          <a:off x="0" y="0"/>
          <a:ext cx="9144000" cy="6878638"/>
        </p:xfrm>
        <a:graphic>
          <a:graphicData uri="http://schemas.openxmlformats.org/drawingml/2006/table">
            <a:tbl>
              <a:tblPr/>
              <a:tblGrid>
                <a:gridCol w="3733800"/>
                <a:gridCol w="5410200"/>
              </a:tblGrid>
              <a:tr h="9205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Java0915.java    Cube Case Study #6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Stage #6 adds a &lt;delay&gt; method which stops program execution for a specified number of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milli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seconds.  This makes the cube visible and creates a simple type of animation.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581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java.awt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java.applet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public class Java0915 extends Applet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public void paint(Graphics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Cube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= new Cube(g,50,50,50);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for (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x = 50; x &lt; 750; x += 50)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cube.move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(g,x,300);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cube.delay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(100);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cube.erase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(g);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class Cube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;	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X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;	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</a:t>
                      </a: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y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size;	// the size of the cube along one edge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Arial" pitchFamily="34" charset="0"/>
                          <a:sym typeface="Symbol" pitchFamily="18" charset="2"/>
                        </a:rPr>
                        <a:t>	public void delay(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Arial" pitchFamily="34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  <a:cs typeface="Arial" pitchFamily="34" charset="0"/>
                          <a:sym typeface="Symbol" pitchFamily="18" charset="2"/>
                        </a:rPr>
                        <a:t> 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long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startDelay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=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System.currentTimeMillis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long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endDelay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=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while (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endDelay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-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startDelay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&lt; 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		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endDelay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 =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System.currentTimeMillis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anose="02020603050405020304" pitchFamily="18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2238" name="Picture 19" descr="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781550"/>
            <a:ext cx="1765183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04800" y="3810000"/>
            <a:ext cx="990600" cy="990600"/>
            <a:chOff x="672" y="2400"/>
            <a:chExt cx="624" cy="624"/>
          </a:xfrm>
        </p:grpSpPr>
        <p:sp>
          <p:nvSpPr>
            <p:cNvPr id="53253" name="Rectangle 5"/>
            <p:cNvSpPr>
              <a:spLocks noChangeArrowheads="1"/>
            </p:cNvSpPr>
            <p:nvPr/>
          </p:nvSpPr>
          <p:spPr bwMode="auto">
            <a:xfrm>
              <a:off x="672" y="2400"/>
              <a:ext cx="48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4" name="Rectangle 6"/>
            <p:cNvSpPr>
              <a:spLocks noChangeArrowheads="1"/>
            </p:cNvSpPr>
            <p:nvPr/>
          </p:nvSpPr>
          <p:spPr bwMode="auto">
            <a:xfrm>
              <a:off x="816" y="2544"/>
              <a:ext cx="48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5" name="Line 7"/>
            <p:cNvSpPr>
              <a:spLocks noChangeShapeType="1"/>
            </p:cNvSpPr>
            <p:nvPr/>
          </p:nvSpPr>
          <p:spPr bwMode="auto">
            <a:xfrm>
              <a:off x="672" y="240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6" name="Line 8"/>
            <p:cNvSpPr>
              <a:spLocks noChangeShapeType="1"/>
            </p:cNvSpPr>
            <p:nvPr/>
          </p:nvSpPr>
          <p:spPr bwMode="auto">
            <a:xfrm>
              <a:off x="1152" y="28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7" name="Line 9"/>
            <p:cNvSpPr>
              <a:spLocks noChangeShapeType="1"/>
            </p:cNvSpPr>
            <p:nvPr/>
          </p:nvSpPr>
          <p:spPr bwMode="auto">
            <a:xfrm>
              <a:off x="1152" y="240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8" name="Line 10"/>
            <p:cNvSpPr>
              <a:spLocks noChangeShapeType="1"/>
            </p:cNvSpPr>
            <p:nvPr/>
          </p:nvSpPr>
          <p:spPr bwMode="auto">
            <a:xfrm>
              <a:off x="672" y="2880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7180" name="WordArt 12"/>
          <p:cNvSpPr>
            <a:spLocks noChangeArrowheads="1" noChangeShapeType="1" noTextEdit="1"/>
          </p:cNvSpPr>
          <p:nvPr/>
        </p:nvSpPr>
        <p:spPr bwMode="auto">
          <a:xfrm>
            <a:off x="1676400" y="990600"/>
            <a:ext cx="5943600" cy="4038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404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Note: Output simulated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with PowerPoint</a:t>
            </a:r>
          </a:p>
          <a:p>
            <a:pPr algn="ctr"/>
            <a:endParaRPr lang="en-US" sz="20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Try This: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For smoother output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change the delay to 10 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and the x+=20 to x+=2.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4.78563E-6 L 1.04583 4.78563E-6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64718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8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421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sz="1600">
              <a:latin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648243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85482"/>
              </p:ext>
            </p:extLst>
          </p:nvPr>
        </p:nvGraphicFramePr>
        <p:xfrm>
          <a:off x="0" y="0"/>
          <a:ext cx="9144000" cy="6815312"/>
        </p:xfrm>
        <a:graphic>
          <a:graphicData uri="http://schemas.openxmlformats.org/drawingml/2006/table">
            <a:tbl>
              <a:tblPr/>
              <a:tblGrid>
                <a:gridCol w="4343400"/>
                <a:gridCol w="4800600"/>
              </a:tblGrid>
              <a:tr h="92046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Java0916.java     Cube Case Study #7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Stage #7 adds three methods that return the values of instance variables.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// They are methods &lt;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getX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&gt;, &lt;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getY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&gt; and &lt;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getSize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&gt;.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894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java.awt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import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java.applet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.*;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public class Java0916 extends Applet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public void paint(Graphics 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Cube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= new Cube(g,50,50,50);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Cube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= new Cube(g,400,300,200);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cube.draw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(g);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("Top Left X: " +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							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cube.getX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("Top Left Y: " +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							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cube.getY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System.out.println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("Cube Size:  " +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								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cube.getSize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768475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2968625" algn="l"/>
                          <a:tab pos="3208338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class Cube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{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tlX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//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X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tlY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//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topleft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y coordinate of the Cube's position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private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 size;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// the size of the cube along one edge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	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public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getX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  		{   return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tlX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; 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	public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getY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  		{  return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tlY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;  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Black" pitchFamily="34" charset="0"/>
                        <a:sym typeface="Symbol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	public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int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getSize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Black" pitchFamily="34" charset="0"/>
                          <a:sym typeface="Symbol" pitchFamily="18" charset="2"/>
                        </a:rPr>
                        <a:t>()  	{  return size;  	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5425" algn="l"/>
                          <a:tab pos="465138" algn="l"/>
                          <a:tab pos="688975" algn="l"/>
                          <a:tab pos="914400" algn="l"/>
                          <a:tab pos="1139825" algn="l"/>
                          <a:tab pos="1379538" algn="l"/>
                          <a:tab pos="1603375" algn="l"/>
                          <a:tab pos="1828800" algn="l"/>
                          <a:tab pos="2054225" algn="l"/>
                          <a:tab pos="2293938" algn="l"/>
                          <a:tab pos="2517775" algn="l"/>
                          <a:tab pos="2743200" algn="l"/>
                          <a:tab pos="4227513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285" name="WordArt 13"/>
          <p:cNvSpPr>
            <a:spLocks noChangeArrowheads="1" noChangeShapeType="1" noTextEdit="1"/>
          </p:cNvSpPr>
          <p:nvPr/>
        </p:nvSpPr>
        <p:spPr bwMode="auto">
          <a:xfrm>
            <a:off x="457200" y="5791200"/>
            <a:ext cx="8153400" cy="685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98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Outputs shown on the next 3 slides.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WordArt 5"/>
          <p:cNvSpPr>
            <a:spLocks noChangeArrowheads="1" noChangeShapeType="1" noTextEdit="1"/>
          </p:cNvSpPr>
          <p:nvPr/>
        </p:nvSpPr>
        <p:spPr bwMode="auto">
          <a:xfrm>
            <a:off x="381000" y="533400"/>
            <a:ext cx="5791200" cy="2895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27164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GUI Output of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Program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Java0916.java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t="62128" r="30500" b="17766"/>
          <a:stretch/>
        </p:blipFill>
        <p:spPr bwMode="auto">
          <a:xfrm>
            <a:off x="0" y="4396154"/>
            <a:ext cx="9144000" cy="2461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50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WordArt 6"/>
          <p:cNvSpPr>
            <a:spLocks noChangeArrowheads="1" noChangeShapeType="1" noTextEdit="1"/>
          </p:cNvSpPr>
          <p:nvPr/>
        </p:nvSpPr>
        <p:spPr bwMode="auto">
          <a:xfrm>
            <a:off x="381000" y="2895600"/>
            <a:ext cx="8305800" cy="1219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solidFill>
                  <a:srgbClr val="C0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Possible Text Outputs of</a:t>
            </a:r>
          </a:p>
          <a:p>
            <a:pPr algn="ctr"/>
            <a:r>
              <a:rPr lang="en-US" sz="3600" kern="10" dirty="0">
                <a:solidFill>
                  <a:srgbClr val="C0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Program </a:t>
            </a:r>
            <a:r>
              <a:rPr lang="en-US" sz="3600" kern="10" dirty="0" smtClean="0">
                <a:solidFill>
                  <a:srgbClr val="C0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Java0916.java</a:t>
            </a:r>
            <a:endParaRPr lang="en-US" sz="3600" kern="10" dirty="0">
              <a:solidFill>
                <a:srgbClr val="C00000"/>
              </a:soli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6325" name="Text Box 9"/>
          <p:cNvSpPr txBox="1">
            <a:spLocks noChangeArrowheads="1"/>
          </p:cNvSpPr>
          <p:nvPr/>
        </p:nvSpPr>
        <p:spPr bwMode="auto">
          <a:xfrm>
            <a:off x="3962400" y="838200"/>
            <a:ext cx="2895600" cy="94297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600" dirty="0">
                <a:latin typeface="Arial" charset="0"/>
                <a:sym typeface="Symbol" pitchFamily="18" charset="2"/>
              </a:rPr>
              <a:t>Located behind the GUI window</a:t>
            </a:r>
            <a:endParaRPr lang="en-US" sz="2800" dirty="0">
              <a:latin typeface="Arial" charset="0"/>
              <a:sym typeface="Symbol" pitchFamily="18" charset="2"/>
            </a:endParaRPr>
          </a:p>
        </p:txBody>
      </p:sp>
      <p:sp>
        <p:nvSpPr>
          <p:cNvPr id="56326" name="Text Box 11"/>
          <p:cNvSpPr txBox="1">
            <a:spLocks noChangeArrowheads="1"/>
          </p:cNvSpPr>
          <p:nvPr/>
        </p:nvSpPr>
        <p:spPr bwMode="auto">
          <a:xfrm>
            <a:off x="3886200" y="5180002"/>
            <a:ext cx="3276600" cy="892552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600" dirty="0">
                <a:latin typeface="Arial" charset="0"/>
                <a:sym typeface="Symbol" pitchFamily="18" charset="2"/>
              </a:rPr>
              <a:t>Located at the bottom of </a:t>
            </a:r>
            <a:r>
              <a:rPr lang="en-US" sz="2600" dirty="0" err="1" smtClean="0">
                <a:latin typeface="Arial" charset="0"/>
                <a:sym typeface="Symbol" pitchFamily="18" charset="2"/>
              </a:rPr>
              <a:t>jGRASP</a:t>
            </a:r>
            <a:endParaRPr lang="en-US" sz="2800" dirty="0">
              <a:latin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Text Box 5"/>
          <p:cNvSpPr txBox="1">
            <a:spLocks noChangeArrowheads="1"/>
          </p:cNvSpPr>
          <p:nvPr/>
        </p:nvSpPr>
        <p:spPr bwMode="auto">
          <a:xfrm>
            <a:off x="3810000" y="3048000"/>
            <a:ext cx="4419600" cy="28956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254125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800" dirty="0">
                <a:latin typeface="Arial" charset="0"/>
                <a:sym typeface="Symbol" pitchFamily="18" charset="2"/>
              </a:rPr>
              <a:t>You might get this output when switching between the GUI and Text windows.</a:t>
            </a:r>
          </a:p>
          <a:p>
            <a:pPr eaLnBrk="1" hangingPunct="1"/>
            <a:endParaRPr lang="en-US" sz="18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1800" dirty="0">
                <a:latin typeface="Arial" charset="0"/>
                <a:sym typeface="Symbol" pitchFamily="18" charset="2"/>
              </a:rPr>
              <a:t>This happens if you drag </a:t>
            </a:r>
            <a:r>
              <a:rPr lang="en-US" sz="1800" dirty="0" smtClean="0">
                <a:latin typeface="Arial" charset="0"/>
                <a:sym typeface="Symbol" pitchFamily="18" charset="2"/>
              </a:rPr>
              <a:t>something </a:t>
            </a:r>
            <a:r>
              <a:rPr lang="en-US" sz="1800" dirty="0">
                <a:latin typeface="Arial" charset="0"/>
                <a:sym typeface="Symbol" pitchFamily="18" charset="2"/>
              </a:rPr>
              <a:t>in front of the GUI </a:t>
            </a:r>
            <a:r>
              <a:rPr lang="en-US" sz="1800" dirty="0" smtClean="0">
                <a:latin typeface="Arial" charset="0"/>
                <a:sym typeface="Symbol" pitchFamily="18" charset="2"/>
              </a:rPr>
              <a:t>window or resize it.</a:t>
            </a:r>
            <a:endParaRPr lang="en-US" sz="1800" dirty="0">
              <a:latin typeface="Arial" charset="0"/>
              <a:sym typeface="Symbol" pitchFamily="18" charset="2"/>
            </a:endParaRPr>
          </a:p>
          <a:p>
            <a:pPr eaLnBrk="1" hangingPunct="1"/>
            <a:endParaRPr lang="en-US" sz="1800" dirty="0">
              <a:latin typeface="Arial" charset="0"/>
              <a:sym typeface="Symbol" pitchFamily="18" charset="2"/>
            </a:endParaRPr>
          </a:p>
          <a:p>
            <a:pPr eaLnBrk="1" hangingPunct="1"/>
            <a:r>
              <a:rPr lang="en-US" sz="1800" dirty="0">
                <a:latin typeface="Arial" charset="0"/>
                <a:sym typeface="Symbol" pitchFamily="18" charset="2"/>
              </a:rPr>
              <a:t>The GUI window will need to be refreshed which will cause the </a:t>
            </a:r>
            <a:r>
              <a:rPr lang="en-US" sz="1800" b="0" dirty="0">
                <a:sym typeface="Symbol" pitchFamily="18" charset="2"/>
              </a:rPr>
              <a:t>paint</a:t>
            </a:r>
            <a:r>
              <a:rPr lang="en-US" sz="1800" dirty="0">
                <a:latin typeface="Arial" charset="0"/>
                <a:sym typeface="Symbol" pitchFamily="18" charset="2"/>
              </a:rPr>
              <a:t> method to be called repeatedly.</a:t>
            </a:r>
            <a:endParaRPr lang="en-US" sz="1800" b="0" i="1" dirty="0">
              <a:sym typeface="Symbol" pitchFamily="18" charset="2"/>
            </a:endParaRPr>
          </a:p>
        </p:txBody>
      </p:sp>
      <p:sp>
        <p:nvSpPr>
          <p:cNvPr id="57348" name="WordArt 6"/>
          <p:cNvSpPr>
            <a:spLocks noChangeArrowheads="1" noChangeShapeType="1" noTextEdit="1"/>
          </p:cNvSpPr>
          <p:nvPr/>
        </p:nvSpPr>
        <p:spPr bwMode="auto">
          <a:xfrm>
            <a:off x="3505200" y="914400"/>
            <a:ext cx="4419600" cy="1789113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58074"/>
              </a:avLst>
            </a:prstTxWarp>
            <a:scene3d>
              <a:camera prst="legacyPerspectiveFront">
                <a:rot lat="20519987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Weird Output!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58371" name="WordArt 2"/>
          <p:cNvSpPr>
            <a:spLocks noChangeArrowheads="1" noChangeShapeType="1" noTextEdit="1"/>
          </p:cNvSpPr>
          <p:nvPr/>
        </p:nvSpPr>
        <p:spPr bwMode="auto">
          <a:xfrm>
            <a:off x="387246" y="14478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Consequences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8372" name="WordArt 3"/>
          <p:cNvSpPr>
            <a:spLocks noChangeArrowheads="1" noChangeShapeType="1" noTextEdit="1"/>
          </p:cNvSpPr>
          <p:nvPr/>
        </p:nvSpPr>
        <p:spPr bwMode="auto">
          <a:xfrm>
            <a:off x="2128837" y="3962400"/>
            <a:ext cx="48768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of Scope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49403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Java0917.java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This program demonstrates how one variable name &lt;counter&gt;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 can be declared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twice correctly.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It also shows &lt;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myAge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&gt; declared twice incorrectly.</a:t>
            </a:r>
          </a:p>
          <a:p>
            <a:pPr>
              <a:lnSpc>
                <a:spcPct val="9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Java0917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counter = 1; counter &lt;= 5; counter++)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(counter + "  ");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counter = 10; counter &lt;= 15; counter++)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(counter + "  ");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myAge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16;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myAge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25;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0" t="65000" r="5562" b="7553"/>
          <a:stretch/>
        </p:blipFill>
        <p:spPr bwMode="auto">
          <a:xfrm>
            <a:off x="0" y="-2"/>
            <a:ext cx="9144000" cy="266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10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Java0918.java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demonstrates the scope of a variable.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var1 = 10;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("var1 in main is " + var1);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("var2 inside the main method for loop is ");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var2 = 1; var2 &lt; 10; var2++)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(var2 + "  ");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Boo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Boo(var1);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("var4 in Boo is "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boo.getData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());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class Boo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var4;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Boo(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var3)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var4 = var3;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("var3 in constructor is " + var3);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getData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	return var4;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var1 in main is 10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var2 inside the main method for loop is 1  2  3  4  5  6  7  8  9  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var3 in constructor is 10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var4 in Boo is 10</a:t>
            </a:r>
          </a:p>
        </p:txBody>
      </p:sp>
    </p:spTree>
    <p:extLst>
      <p:ext uri="{BB962C8B-B14F-4D97-AF65-F5344CB8AC3E}">
        <p14:creationId xmlns:p14="http://schemas.microsoft.com/office/powerpoint/2010/main" val="159904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Java0918.java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demonstrates the scope of a variable.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var1 = 10;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("var1 in main is " + var1);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("var2 inside the main method for loop is ");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var2 = 1; var2 &lt; 10; var2++)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(var2 + "  ");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Boo 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boo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= new Boo(var1);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("var4 in Boo is " + 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boo.getData</a:t>
            </a:r>
            <a:r>
              <a:rPr lang="en-US" sz="2000" dirty="0" smtClean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());</a:t>
            </a:r>
            <a:endParaRPr lang="en-US" sz="2000" dirty="0">
              <a:solidFill>
                <a:srgbClr val="006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105400" y="877668"/>
            <a:ext cx="3505200" cy="91440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4800" dirty="0">
                <a:latin typeface="Arial Narrow" pitchFamily="34" charset="0"/>
                <a:sym typeface="Symbol" pitchFamily="18" charset="2"/>
              </a:rPr>
              <a:t>S</a:t>
            </a:r>
            <a:r>
              <a:rPr lang="en-US" sz="4800" dirty="0" smtClean="0">
                <a:latin typeface="Arial Narrow" pitchFamily="34" charset="0"/>
                <a:sym typeface="Symbol" pitchFamily="18" charset="2"/>
              </a:rPr>
              <a:t>cope of var1</a:t>
            </a:r>
            <a:endParaRPr lang="en-US" sz="5400" dirty="0">
              <a:latin typeface="Arial Narrow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9037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Java0918.java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// This program demonstrates the scope of a variable.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Java0918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var1 = 10;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("var1 in main is " + var1);</a:t>
            </a:r>
          </a:p>
          <a:p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("var2 inside the main method for loop is ");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for (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var2 = 1; var2 &lt; 10; var2++)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</a:t>
            </a:r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(var2 + "  ");</a:t>
            </a:r>
          </a:p>
          <a:p>
            <a:r>
              <a:rPr lang="en-US" sz="20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Boo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new Boo(var1);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("var4 in Boo is " +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boo.getData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());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105400" y="877667"/>
            <a:ext cx="3505200" cy="91440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4800" dirty="0">
                <a:latin typeface="Arial Narrow" pitchFamily="34" charset="0"/>
                <a:sym typeface="Symbol" pitchFamily="18" charset="2"/>
              </a:rPr>
              <a:t>S</a:t>
            </a:r>
            <a:r>
              <a:rPr lang="en-US" sz="4800" dirty="0" smtClean="0">
                <a:latin typeface="Arial Narrow" pitchFamily="34" charset="0"/>
                <a:sym typeface="Symbol" pitchFamily="18" charset="2"/>
              </a:rPr>
              <a:t>cope of var2</a:t>
            </a:r>
            <a:endParaRPr lang="en-US" sz="5400" dirty="0">
              <a:latin typeface="Arial Narrow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494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class Boo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var4;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public Boo(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var3)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var4 = var3;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("var3 in constructor is " + var3);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getData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	return var4;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5105400" y="877667"/>
            <a:ext cx="3505200" cy="91440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4800" dirty="0">
                <a:latin typeface="Arial Narrow" pitchFamily="34" charset="0"/>
                <a:sym typeface="Symbol" pitchFamily="18" charset="2"/>
              </a:rPr>
              <a:t>S</a:t>
            </a:r>
            <a:r>
              <a:rPr lang="en-US" sz="4800" dirty="0" smtClean="0">
                <a:latin typeface="Arial Narrow" pitchFamily="34" charset="0"/>
                <a:sym typeface="Symbol" pitchFamily="18" charset="2"/>
              </a:rPr>
              <a:t>cope of var3</a:t>
            </a:r>
            <a:endParaRPr lang="en-US" sz="5400" dirty="0">
              <a:latin typeface="Arial Narrow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200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class Boo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var4;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public Boo(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var3)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var4 = var3;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("var3 in constructor is " + var3);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getData</a:t>
            </a:r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	return var4;</a:t>
            </a:r>
          </a:p>
          <a:p>
            <a:r>
              <a:rPr lang="en-US" sz="2600" dirty="0">
                <a:solidFill>
                  <a:srgbClr val="006000"/>
                </a:solidFill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5105400" y="877666"/>
            <a:ext cx="3505200" cy="91440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4800" dirty="0">
                <a:latin typeface="Arial Narrow" pitchFamily="34" charset="0"/>
                <a:sym typeface="Symbol" pitchFamily="18" charset="2"/>
              </a:rPr>
              <a:t>S</a:t>
            </a:r>
            <a:r>
              <a:rPr lang="en-US" sz="4800" dirty="0" smtClean="0">
                <a:latin typeface="Arial Narrow" pitchFamily="34" charset="0"/>
                <a:sym typeface="Symbol" pitchFamily="18" charset="2"/>
              </a:rPr>
              <a:t>cope of var4</a:t>
            </a:r>
            <a:endParaRPr lang="en-US" sz="5400" dirty="0">
              <a:latin typeface="Arial Narrow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5774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9144000" cy="1255713"/>
          </a:xfrm>
        </p:spPr>
        <p:txBody>
          <a:bodyPr/>
          <a:lstStyle/>
          <a:p>
            <a:pPr eaLnBrk="1" hangingPunct="1"/>
            <a:r>
              <a:rPr lang="en-US" sz="5400" b="1" dirty="0" smtClean="0">
                <a:solidFill>
                  <a:schemeClr val="tx1"/>
                </a:solidFill>
                <a:latin typeface="Arial Black" pitchFamily="34" charset="0"/>
                <a:sym typeface="Symbol" pitchFamily="18" charset="2"/>
              </a:rPr>
              <a:t>Scope Definition</a:t>
            </a:r>
            <a:endParaRPr lang="en-US" sz="5400" dirty="0" smtClean="0">
              <a:latin typeface="Arial Black" pitchFamily="34" charset="0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381000" y="1255713"/>
            <a:ext cx="8382000" cy="224676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What is scope?  The scope of a variable - simple, primitive data type or complex object - is the segment of a program during which a variable is defined, has allocated memory to store values and can be accessed.  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81000" y="3872805"/>
            <a:ext cx="8382000" cy="1384995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If two variables have the same identifier and also the same scope, Java will object with a duplicate definition compile error.</a:t>
            </a:r>
          </a:p>
        </p:txBody>
      </p:sp>
    </p:spTree>
    <p:extLst>
      <p:ext uri="{BB962C8B-B14F-4D97-AF65-F5344CB8AC3E}">
        <p14:creationId xmlns:p14="http://schemas.microsoft.com/office/powerpoint/2010/main" val="212145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Java0919.java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This program shows the logic problem that results from using two variables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with the same name identifier, but two different scopes.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Java0919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Widget w = new Widget(</a:t>
            </a:r>
            <a:r>
              <a:rPr lang="en-US" sz="2000" b="0" dirty="0">
                <a:cs typeface="Times New Roman" pitchFamily="18" charset="0"/>
              </a:rPr>
              <a:t>100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("Object w has "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w.getWidgets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 + " widgets");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class Widget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Widget(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0" dirty="0" err="1">
                <a:cs typeface="Times New Roman" pitchFamily="18" charset="0"/>
              </a:rPr>
              <a:t>numWidgets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dirty="0" err="1" smtClean="0">
                <a:cs typeface="Times New Roman" pitchFamily="18" charset="0"/>
              </a:rPr>
              <a:t>numWidgets</a:t>
            </a:r>
            <a:r>
              <a:rPr lang="en-US" sz="1800" dirty="0" smtClean="0">
                <a:cs typeface="Times New Roman" pitchFamily="18" charset="0"/>
              </a:rPr>
              <a:t> </a:t>
            </a:r>
            <a:r>
              <a:rPr lang="en-US" sz="1800" dirty="0">
                <a:cs typeface="Times New Roman" pitchFamily="18" charset="0"/>
              </a:rPr>
              <a:t>= </a:t>
            </a:r>
            <a:r>
              <a:rPr lang="en-US" sz="1800" dirty="0" err="1">
                <a:cs typeface="Times New Roman" pitchFamily="18" charset="0"/>
              </a:rPr>
              <a:t>numWidgets</a:t>
            </a:r>
            <a:r>
              <a:rPr lang="en-US" sz="1800" dirty="0">
                <a:cs typeface="Times New Roman" pitchFamily="18" charset="0"/>
              </a:rPr>
              <a:t>;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return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;		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2895600"/>
            <a:ext cx="57150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Object w has 0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widgets</a:t>
            </a:r>
          </a:p>
        </p:txBody>
      </p:sp>
    </p:spTree>
    <p:extLst>
      <p:ext uri="{BB962C8B-B14F-4D97-AF65-F5344CB8AC3E}">
        <p14:creationId xmlns:p14="http://schemas.microsoft.com/office/powerpoint/2010/main" val="69088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Java0920.java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Using different variable names is one solution to the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problem caused by program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Java0919.java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Java0920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Widget w = new Widget(</a:t>
            </a:r>
            <a:r>
              <a:rPr lang="en-US" sz="2000" b="0" dirty="0">
                <a:cs typeface="Times New Roman" pitchFamily="18" charset="0"/>
              </a:rPr>
              <a:t>100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("Object w has "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w.getWidgets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 + " widgets");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class Widget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Widget(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0" dirty="0" err="1" smtClean="0">
                <a:cs typeface="Times New Roman" pitchFamily="18" charset="0"/>
              </a:rPr>
              <a:t>nW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b="0" dirty="0" err="1" smtClean="0">
                <a:cs typeface="Times New Roman" pitchFamily="18" charset="0"/>
              </a:rPr>
              <a:t>numWidgets</a:t>
            </a:r>
            <a:r>
              <a:rPr lang="en-US" sz="2000" b="0" dirty="0" smtClean="0">
                <a:cs typeface="Times New Roman" pitchFamily="18" charset="0"/>
              </a:rPr>
              <a:t> </a:t>
            </a:r>
            <a:r>
              <a:rPr lang="en-US" sz="2000" b="0" dirty="0">
                <a:cs typeface="Times New Roman" pitchFamily="18" charset="0"/>
              </a:rPr>
              <a:t>= </a:t>
            </a:r>
            <a:r>
              <a:rPr lang="en-US" sz="2000" b="0" dirty="0" err="1" smtClean="0">
                <a:cs typeface="Times New Roman" pitchFamily="18" charset="0"/>
              </a:rPr>
              <a:t>nW</a:t>
            </a:r>
            <a:r>
              <a:rPr lang="en-US" sz="2000" b="0" dirty="0" smtClean="0">
                <a:cs typeface="Times New Roman" pitchFamily="18" charset="0"/>
              </a:rPr>
              <a:t>;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000" b="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return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;		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895600"/>
            <a:ext cx="62484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Object w has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 widgets</a:t>
            </a:r>
          </a:p>
        </p:txBody>
      </p:sp>
    </p:spTree>
    <p:extLst>
      <p:ext uri="{BB962C8B-B14F-4D97-AF65-F5344CB8AC3E}">
        <p14:creationId xmlns:p14="http://schemas.microsoft.com/office/powerpoint/2010/main" val="35717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Java0921.java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Using the &lt;this&gt; reference is a second solution to the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// problem in program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Java0919.java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Java0921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Widget w = new Widget(</a:t>
            </a:r>
            <a:r>
              <a:rPr lang="en-US" sz="2000" b="0" dirty="0">
                <a:cs typeface="Times New Roman" pitchFamily="18" charset="0"/>
              </a:rPr>
              <a:t>100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("Object w has " +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w.getWidgets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 + " widgets");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class Widget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Widget(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0" dirty="0" err="1">
                <a:cs typeface="Times New Roman" pitchFamily="18" charset="0"/>
              </a:rPr>
              <a:t>numWidgets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 err="1">
                <a:cs typeface="Times New Roman" pitchFamily="18" charset="0"/>
              </a:rPr>
              <a:t>this.numWidgets</a:t>
            </a:r>
            <a:r>
              <a:rPr lang="en-US" sz="2000" dirty="0">
                <a:cs typeface="Times New Roman" pitchFamily="18" charset="0"/>
              </a:rPr>
              <a:t> = </a:t>
            </a:r>
            <a:r>
              <a:rPr lang="en-US" sz="2000" dirty="0" err="1">
                <a:cs typeface="Times New Roman" pitchFamily="18" charset="0"/>
              </a:rPr>
              <a:t>numWidgets</a:t>
            </a:r>
            <a:r>
              <a:rPr lang="en-US" sz="2000" dirty="0">
                <a:cs typeface="Times New Roman" pitchFamily="18" charset="0"/>
              </a:rPr>
              <a:t>;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// required use of this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getWidgets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202238" algn="l"/>
                <a:tab pos="5365750" algn="l"/>
                <a:tab pos="5943600" algn="l"/>
                <a:tab pos="6340475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dirty="0">
                <a:cs typeface="Times New Roman" pitchFamily="18" charset="0"/>
              </a:rPr>
              <a:t>return </a:t>
            </a:r>
            <a:r>
              <a:rPr lang="en-US" sz="2000" dirty="0" err="1">
                <a:cs typeface="Times New Roman" pitchFamily="18" charset="0"/>
              </a:rPr>
              <a:t>this.numWidgets</a:t>
            </a:r>
            <a:r>
              <a:rPr lang="en-US" sz="2000" dirty="0">
                <a:cs typeface="Times New Roman" pitchFamily="18" charset="0"/>
              </a:rPr>
              <a:t>;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//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optional use of this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313113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895600"/>
            <a:ext cx="6248400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Object w has </a:t>
            </a:r>
            <a:r>
              <a:rPr lang="en-US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 widgets</a:t>
            </a:r>
          </a:p>
        </p:txBody>
      </p:sp>
    </p:spTree>
    <p:extLst>
      <p:ext uri="{BB962C8B-B14F-4D97-AF65-F5344CB8AC3E}">
        <p14:creationId xmlns:p14="http://schemas.microsoft.com/office/powerpoint/2010/main" val="278376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Java0922.java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// Comparing the value of the three &lt;Widget&gt; objects demonstrates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// that the &lt;this&gt; reference value is equal to the current object used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public class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Java0922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public static void main(String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[])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Widget w1 = new Widget(100);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("w1 value:   " + w1);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Widget w2 = new Widget(100);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("w2 value:   " + w2);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Widget w3 = new Widget(100);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("w3 value:   " + w3);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581400" y="4411176"/>
            <a:ext cx="5562600" cy="244682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3550" algn="l"/>
                <a:tab pos="914400" algn="l"/>
                <a:tab pos="1377950" algn="l"/>
                <a:tab pos="1828800" algn="l"/>
                <a:tab pos="229235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342063" algn="l"/>
                <a:tab pos="6858000" algn="l"/>
                <a:tab pos="7315200" algn="l"/>
                <a:tab pos="7772400" algn="l"/>
                <a:tab pos="82296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class Widget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private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public Widget(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this.numWidgets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numWidgets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("this value: " + this);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pPr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76800" y="1026855"/>
            <a:ext cx="4229100" cy="25545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this value: Widget@1db9742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w1 value:   Widget@1db9742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this value: Widget@106d69c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w2 value:   Widget@106d69c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this value: Widget@52e922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w3 value:   Widget@52e922</a:t>
            </a:r>
            <a:endParaRPr lang="en-US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57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9.8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58371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</a:t>
            </a:r>
          </a:p>
        </p:txBody>
      </p:sp>
      <p:sp>
        <p:nvSpPr>
          <p:cNvPr id="58372" name="WordArt 3"/>
          <p:cNvSpPr>
            <a:spLocks noChangeArrowheads="1" noChangeShapeType="1" noTextEdit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Class or Static Methods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48323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Class methods are sometimes called </a:t>
            </a:r>
            <a:r>
              <a:rPr lang="en-US" sz="2800" i="1">
                <a:latin typeface="Arial" charset="0"/>
                <a:cs typeface="Arial" charset="0"/>
              </a:rPr>
              <a:t>static </a:t>
            </a:r>
            <a:r>
              <a:rPr lang="en-US" sz="2800">
                <a:latin typeface="Arial" charset="0"/>
                <a:cs typeface="Arial" charset="0"/>
              </a:rPr>
              <a:t>methods because they have the keyword </a:t>
            </a:r>
            <a:r>
              <a:rPr lang="en-US" sz="2800" b="0">
                <a:cs typeface="Arial" charset="0"/>
              </a:rPr>
              <a:t>static</a:t>
            </a:r>
            <a:r>
              <a:rPr lang="en-US" sz="2800">
                <a:latin typeface="Arial" charset="0"/>
                <a:cs typeface="Arial" charset="0"/>
              </a:rPr>
              <a:t> in their heading.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 class method is called with the class identifier, not with an object of the class.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This is practical when there is no need to make multiple objects of a class.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 good example is Java’s </a:t>
            </a:r>
            <a:r>
              <a:rPr lang="en-US" sz="2800" b="0">
                <a:cs typeface="Arial" charset="0"/>
              </a:rPr>
              <a:t>Math</a:t>
            </a:r>
            <a:r>
              <a:rPr lang="en-US" sz="2800">
                <a:latin typeface="Arial" charset="0"/>
                <a:cs typeface="Arial" charset="0"/>
              </a:rPr>
              <a:t> class. </a:t>
            </a:r>
            <a:endParaRPr lang="en-US" sz="2800">
              <a:latin typeface="Arial" charset="0"/>
              <a:cs typeface="Arial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609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Class or Static Methods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04800" y="1322388"/>
            <a:ext cx="8534400" cy="507841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  <a:tab pos="1379538" algn="l"/>
                <a:tab pos="18288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public class Demo 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static void main(String args[])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Piggy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.initData();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Piggy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.showData();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Piggy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.addData(1200);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Piggy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.showData();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}      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class Piggy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b="0">
                <a:cs typeface="Times New Roman" pitchFamily="18" charset="0"/>
              </a:rPr>
              <a:t>static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double savings;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b="0">
                <a:cs typeface="Times New Roman" pitchFamily="18" charset="0"/>
              </a:rPr>
              <a:t>static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void initData()  		{  savings = 0;  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b="0">
                <a:cs typeface="Times New Roman" pitchFamily="18" charset="0"/>
              </a:rPr>
              <a:t>static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void addData(double s) 	{  savings += s;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</a:t>
            </a:r>
            <a:r>
              <a:rPr lang="en-US" sz="1800" b="0">
                <a:cs typeface="Times New Roman" pitchFamily="18" charset="0"/>
              </a:rPr>
              <a:t>static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void showData()  	{  System.out.println("Savings: " + savings);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44036" name="Picture 2" descr="C:\Documents and Settings\JohnSchram\Local Settings\Temporary Internet Files\Content.IE5\XF1FXK3R\MC900232896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81200"/>
            <a:ext cx="1536700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702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48323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Object methods are sometimes called </a:t>
            </a:r>
            <a:r>
              <a:rPr lang="en-US" sz="2800" i="1">
                <a:latin typeface="Arial" charset="0"/>
                <a:cs typeface="Arial" charset="0"/>
              </a:rPr>
              <a:t>non-static </a:t>
            </a:r>
            <a:r>
              <a:rPr lang="en-US" sz="2800">
                <a:latin typeface="Arial" charset="0"/>
                <a:cs typeface="Arial" charset="0"/>
              </a:rPr>
              <a:t>methods because they do NOT have the keyword </a:t>
            </a:r>
            <a:r>
              <a:rPr lang="en-US" sz="2800" b="0">
                <a:cs typeface="Arial" charset="0"/>
              </a:rPr>
              <a:t>static</a:t>
            </a:r>
            <a:r>
              <a:rPr lang="en-US" sz="2800">
                <a:latin typeface="Arial" charset="0"/>
                <a:cs typeface="Arial" charset="0"/>
              </a:rPr>
              <a:t> in their heading.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Object methods are meant for those situations where multiple objects of a class must be constructed.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An object must be constructed first with the </a:t>
            </a:r>
            <a:r>
              <a:rPr lang="en-US" sz="2800" b="0">
                <a:cs typeface="Arial" charset="0"/>
              </a:rPr>
              <a:t>new</a:t>
            </a:r>
            <a:r>
              <a:rPr lang="en-US" sz="2800">
                <a:latin typeface="Arial" charset="0"/>
                <a:cs typeface="Arial" charset="0"/>
              </a:rPr>
              <a:t> operator, and then object methods are called by using the </a:t>
            </a:r>
            <a:r>
              <a:rPr lang="en-US" sz="2800" i="1">
                <a:latin typeface="Arial" charset="0"/>
                <a:cs typeface="Arial" charset="0"/>
              </a:rPr>
              <a:t>object identifier</a:t>
            </a:r>
            <a:r>
              <a:rPr lang="en-US" sz="2800">
                <a:latin typeface="Arial" charset="0"/>
                <a:cs typeface="Arial" charset="0"/>
              </a:rPr>
              <a:t>.</a:t>
            </a:r>
            <a:endParaRPr lang="en-US" sz="2800">
              <a:latin typeface="Arial" charset="0"/>
              <a:cs typeface="Arial" charset="0"/>
              <a:sym typeface="Symbol" pitchFamily="18" charset="2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>
                <a:cs typeface="Arial" charset="0"/>
              </a:rPr>
              <a:t>Object or Non-Static Methods</a:t>
            </a:r>
          </a:p>
        </p:txBody>
      </p:sp>
    </p:spTree>
    <p:extLst>
      <p:ext uri="{BB962C8B-B14F-4D97-AF65-F5344CB8AC3E}">
        <p14:creationId xmlns:p14="http://schemas.microsoft.com/office/powerpoint/2010/main" val="281609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3"/>
          <p:cNvSpPr txBox="1">
            <a:spLocks noChangeArrowheads="1"/>
          </p:cNvSpPr>
          <p:nvPr/>
        </p:nvSpPr>
        <p:spPr bwMode="auto">
          <a:xfrm>
            <a:off x="304800" y="1322388"/>
            <a:ext cx="8534400" cy="535463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public class Demo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static void main(String args[])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Piggy </a:t>
            </a:r>
            <a:r>
              <a:rPr lang="en-US" sz="1800" b="0">
                <a:cs typeface="Times New Roman" pitchFamily="18" charset="0"/>
              </a:rPr>
              <a:t>tom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= new Piggy();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tom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.initData();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tom</a:t>
            </a:r>
            <a:r>
              <a:rPr lang="pt-BR" sz="1800">
                <a:latin typeface="Times New Roman" pitchFamily="18" charset="0"/>
                <a:cs typeface="Times New Roman" pitchFamily="18" charset="0"/>
              </a:rPr>
              <a:t>.showData();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pt-BR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tom</a:t>
            </a:r>
            <a:r>
              <a:rPr lang="pt-BR" sz="1800">
                <a:latin typeface="Times New Roman" pitchFamily="18" charset="0"/>
                <a:cs typeface="Times New Roman" pitchFamily="18" charset="0"/>
              </a:rPr>
              <a:t>.addData(1200);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pt-BR" sz="180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1800" b="0">
                <a:cs typeface="Times New Roman" pitchFamily="18" charset="0"/>
              </a:rPr>
              <a:t>tom</a:t>
            </a:r>
            <a:r>
              <a:rPr lang="pt-BR" sz="1800">
                <a:latin typeface="Times New Roman" pitchFamily="18" charset="0"/>
                <a:cs typeface="Times New Roman" pitchFamily="18" charset="0"/>
              </a:rPr>
              <a:t>.showData();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pt-BR" sz="18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}      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class Piggy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private double savings;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void initData()   		{   savings = 0;    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void addData(double s)   	{   savings += s;  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	public void showData()    {   System.out.println("Savings: " + savings);    }</a:t>
            </a:r>
          </a:p>
          <a:p>
            <a:pPr eaLnBrk="1" hangingPunct="1"/>
            <a:r>
              <a:rPr lang="en-US" sz="180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8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>
                <a:cs typeface="Arial" charset="0"/>
              </a:rPr>
              <a:t>Object or Non-Static Methods</a:t>
            </a:r>
          </a:p>
        </p:txBody>
      </p:sp>
      <p:pic>
        <p:nvPicPr>
          <p:cNvPr id="46084" name="Picture 4" descr="C:\Users\JohnSchram\AppData\Local\Microsoft\Windows\Temporary Internet Files\Content.IE5\SJX1ZHQW\MM900283581[1]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438400"/>
            <a:ext cx="188595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&quot;No&quot; Symbol 1"/>
          <p:cNvSpPr/>
          <p:nvPr/>
        </p:nvSpPr>
        <p:spPr bwMode="auto">
          <a:xfrm>
            <a:off x="5334000" y="1828800"/>
            <a:ext cx="2743200" cy="2743200"/>
          </a:xfrm>
          <a:prstGeom prst="noSmoking">
            <a:avLst>
              <a:gd name="adj" fmla="val 7341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6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Public Methods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18462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Essentially, </a:t>
            </a:r>
            <a:r>
              <a:rPr lang="en-US" sz="2800" b="0">
                <a:cs typeface="Arial" charset="0"/>
              </a:rPr>
              <a:t>public </a:t>
            </a:r>
            <a:r>
              <a:rPr lang="en-US" sz="2800">
                <a:latin typeface="Arial" charset="0"/>
                <a:cs typeface="Arial" charset="0"/>
              </a:rPr>
              <a:t>methods 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can be accessed anywhere.  </a:t>
            </a:r>
          </a:p>
          <a:p>
            <a:pPr eaLnBrk="1" hangingPunct="1"/>
            <a:endParaRPr lang="en-US" sz="30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The majority of methods are </a:t>
            </a:r>
            <a:r>
              <a:rPr lang="en-US" sz="2800" b="0">
                <a:cs typeface="Arial" charset="0"/>
              </a:rPr>
              <a:t>public</a:t>
            </a:r>
            <a:r>
              <a:rPr lang="en-US" sz="2800">
                <a:latin typeface="Arial" charset="0"/>
                <a:cs typeface="Arial" charset="0"/>
              </a:rPr>
              <a:t>. </a:t>
            </a:r>
            <a:endParaRPr lang="en-US" sz="2800">
              <a:latin typeface="Arial" charset="0"/>
              <a:cs typeface="Arial" charset="0"/>
              <a:sym typeface="Symbol" pitchFamily="18" charset="2"/>
            </a:endParaRP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2438400" y="3957638"/>
            <a:ext cx="4343400" cy="227806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b="0">
                <a:cs typeface="Times New Roman" pitchFamily="18" charset="0"/>
              </a:rPr>
              <a:t>public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int getCards() 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	return cardsLeft; 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/>
            <a:r>
              <a:rPr lang="en-US" sz="1400">
                <a:latin typeface="Times New Roman" pitchFamily="18" charset="0"/>
                <a:cs typeface="Times New Roman" pitchFamily="18" charset="0"/>
              </a:rPr>
              <a:t> </a:t>
            </a:r>
            <a:endParaRPr lang="en-US" sz="9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7109" name="Picture 8" descr="C:\Documents and Settings\JohnSchram\Local Settings\Temporary Internet Files\Content.IE5\BZZPJPE8\MC900441436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3716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328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Private or Helper Methods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397033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Occasionally, a method is created in a class that is never called outside of the class.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In such a case, the method 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should be declared </a:t>
            </a:r>
            <a:r>
              <a:rPr lang="en-US" sz="2800" b="0">
                <a:cs typeface="Arial" charset="0"/>
              </a:rPr>
              <a:t>private</a:t>
            </a:r>
            <a:r>
              <a:rPr lang="en-US" sz="2800">
                <a:latin typeface="Arial" charset="0"/>
                <a:cs typeface="Arial" charset="0"/>
              </a:rPr>
              <a:t>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These </a:t>
            </a:r>
            <a:r>
              <a:rPr lang="en-US" sz="2800" b="0">
                <a:cs typeface="Arial" charset="0"/>
              </a:rPr>
              <a:t>private</a:t>
            </a:r>
            <a:r>
              <a:rPr lang="en-US" sz="2800">
                <a:latin typeface="Arial" charset="0"/>
                <a:cs typeface="Arial" charset="0"/>
              </a:rPr>
              <a:t> methods are sometimes called </a:t>
            </a:r>
            <a:r>
              <a:rPr lang="en-US" sz="2800" i="1">
                <a:latin typeface="Arial" charset="0"/>
                <a:cs typeface="Arial" charset="0"/>
              </a:rPr>
              <a:t>helper methods</a:t>
            </a:r>
            <a:r>
              <a:rPr lang="en-US" sz="2800">
                <a:latin typeface="Arial" charset="0"/>
                <a:cs typeface="Arial" charset="0"/>
              </a:rPr>
              <a:t> because they help and support the other methods of the class.  </a:t>
            </a:r>
            <a:endParaRPr lang="en-US" sz="2800">
              <a:latin typeface="Arial" charset="0"/>
              <a:cs typeface="Arial" charset="0"/>
              <a:sym typeface="Symbol" pitchFamily="18" charset="2"/>
            </a:endParaRPr>
          </a:p>
        </p:txBody>
      </p:sp>
      <p:pic>
        <p:nvPicPr>
          <p:cNvPr id="48132" name="Picture 2" descr="C:\Documents and Settings\JohnSchram\Local Settings\Temporary Internet Files\Content.IE5\5A8U2CLC\MC90044143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0574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72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Void Methods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13843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Void methods do NOT return a value and use the reserved word </a:t>
            </a:r>
            <a:r>
              <a:rPr lang="en-US" sz="2800" b="0">
                <a:cs typeface="Arial" charset="0"/>
              </a:rPr>
              <a:t>void</a:t>
            </a:r>
            <a:r>
              <a:rPr lang="en-US" sz="2800">
                <a:latin typeface="Arial" charset="0"/>
                <a:cs typeface="Arial" charset="0"/>
              </a:rPr>
              <a:t> to indicate that no value will be returned.</a:t>
            </a:r>
            <a:endParaRPr lang="en-US" sz="2800">
              <a:latin typeface="Arial" charset="0"/>
              <a:cs typeface="Arial" charset="0"/>
              <a:sym typeface="Symbol" pitchFamily="18" charset="2"/>
            </a:endParaRP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685800" y="3429000"/>
            <a:ext cx="7924800" cy="246221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800" b="0">
                <a:cs typeface="Times New Roman" pitchFamily="18" charset="0"/>
              </a:rPr>
              <a:t>void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showData()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	System.out.println("Name:    " + name);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	System.out.println("Savings: " + savings);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eaLnBrk="1" hangingPunct="1"/>
            <a:r>
              <a:rPr lang="en-US" sz="1400">
                <a:latin typeface="Times New Roman" pitchFamily="18" charset="0"/>
                <a:cs typeface="Times New Roman" pitchFamily="18" charset="0"/>
              </a:rPr>
              <a:t> </a:t>
            </a:r>
            <a:endParaRPr lang="en-US" sz="9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89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32623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400">
                <a:latin typeface="Arial" charset="0"/>
                <a:cs typeface="Arial" charset="0"/>
              </a:rPr>
              <a:t>Return methods are methods that </a:t>
            </a:r>
            <a:r>
              <a:rPr lang="en-US" sz="2400" b="0">
                <a:cs typeface="Arial" charset="0"/>
              </a:rPr>
              <a:t>return</a:t>
            </a:r>
            <a:r>
              <a:rPr lang="en-US" sz="2400">
                <a:latin typeface="Arial" charset="0"/>
                <a:cs typeface="Arial" charset="0"/>
              </a:rPr>
              <a:t> a value.  </a:t>
            </a:r>
          </a:p>
          <a:p>
            <a:pPr eaLnBrk="1" hangingPunct="1"/>
            <a:endParaRPr lang="en-US" sz="1800">
              <a:latin typeface="Arial" charset="0"/>
              <a:cs typeface="Arial" charset="0"/>
            </a:endParaRPr>
          </a:p>
          <a:p>
            <a:pPr eaLnBrk="1" hangingPunct="1"/>
            <a:r>
              <a:rPr lang="en-US" sz="2400">
                <a:latin typeface="Arial" charset="0"/>
                <a:cs typeface="Arial" charset="0"/>
              </a:rPr>
              <a:t>Two features are necessary for a </a:t>
            </a:r>
            <a:r>
              <a:rPr lang="en-US" sz="2400" b="0">
                <a:cs typeface="Arial" charset="0"/>
              </a:rPr>
              <a:t>return</a:t>
            </a:r>
            <a:r>
              <a:rPr lang="en-US" sz="2400">
                <a:latin typeface="Arial" charset="0"/>
                <a:cs typeface="Arial" charset="0"/>
              </a:rPr>
              <a:t> method:</a:t>
            </a:r>
          </a:p>
          <a:p>
            <a:pPr eaLnBrk="1" hangingPunct="1"/>
            <a:endParaRPr lang="en-US" sz="1800">
              <a:latin typeface="Arial" charset="0"/>
              <a:cs typeface="Arial" charset="0"/>
            </a:endParaRPr>
          </a:p>
          <a:p>
            <a:pPr eaLnBrk="1" hangingPunct="1"/>
            <a:r>
              <a:rPr lang="en-US" sz="2400">
                <a:latin typeface="Arial" charset="0"/>
                <a:cs typeface="Arial" charset="0"/>
              </a:rPr>
              <a:t>First, you will see that the method heading indicates a </a:t>
            </a:r>
            <a:r>
              <a:rPr lang="en-US" sz="2400" i="1">
                <a:latin typeface="Arial" charset="0"/>
                <a:cs typeface="Arial" charset="0"/>
              </a:rPr>
              <a:t>data type</a:t>
            </a:r>
            <a:r>
              <a:rPr lang="en-US" sz="2400">
                <a:latin typeface="Arial" charset="0"/>
                <a:cs typeface="Arial" charset="0"/>
              </a:rPr>
              <a:t>, which is the type that the method returns.  </a:t>
            </a:r>
          </a:p>
          <a:p>
            <a:pPr eaLnBrk="1" hangingPunct="1"/>
            <a:endParaRPr lang="en-US" sz="1800">
              <a:latin typeface="Arial" charset="0"/>
              <a:cs typeface="Arial" charset="0"/>
            </a:endParaRPr>
          </a:p>
          <a:p>
            <a:pPr eaLnBrk="1" hangingPunct="1"/>
            <a:r>
              <a:rPr lang="en-US" sz="2400">
                <a:latin typeface="Arial" charset="0"/>
                <a:cs typeface="Arial" charset="0"/>
              </a:rPr>
              <a:t>Second, you see a </a:t>
            </a:r>
            <a:r>
              <a:rPr lang="en-US" sz="2400" b="0">
                <a:cs typeface="Arial" charset="0"/>
              </a:rPr>
              <a:t>return</a:t>
            </a:r>
            <a:r>
              <a:rPr lang="en-US" sz="2400">
                <a:latin typeface="Arial" charset="0"/>
                <a:cs typeface="Arial" charset="0"/>
              </a:rPr>
              <a:t> statement at the end of the method body.</a:t>
            </a: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Return Methods</a:t>
            </a:r>
          </a:p>
        </p:txBody>
      </p:sp>
      <p:sp>
        <p:nvSpPr>
          <p:cNvPr id="50180" name="Text Box 3"/>
          <p:cNvSpPr txBox="1">
            <a:spLocks noChangeArrowheads="1"/>
          </p:cNvSpPr>
          <p:nvPr/>
        </p:nvSpPr>
        <p:spPr bwMode="auto">
          <a:xfrm>
            <a:off x="2209800" y="4889500"/>
            <a:ext cx="4724400" cy="18161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800" b="0">
                <a:cs typeface="Times New Roman" pitchFamily="18" charset="0"/>
              </a:rPr>
              <a:t>double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getSavings()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0">
                <a:cs typeface="Times New Roman" pitchFamily="18" charset="0"/>
              </a:rPr>
              <a:t>return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savings;</a:t>
            </a:r>
          </a:p>
          <a:p>
            <a:pPr eaLnBrk="1" hangingPunct="1"/>
            <a:r>
              <a:rPr lang="en-US" sz="2800">
                <a:latin typeface="Times New Roman" pitchFamily="18" charset="0"/>
                <a:cs typeface="Times New Roman" pitchFamily="18" charset="0"/>
              </a:rPr>
              <a:t>}</a:t>
            </a:r>
            <a:endParaRPr lang="en-US" sz="9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88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3"/>
          <p:cNvSpPr txBox="1">
            <a:spLocks noChangeArrowheads="1"/>
          </p:cNvSpPr>
          <p:nvPr/>
        </p:nvSpPr>
        <p:spPr bwMode="auto">
          <a:xfrm>
            <a:off x="152400" y="1401763"/>
            <a:ext cx="8839200" cy="483235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 </a:t>
            </a:r>
            <a:r>
              <a:rPr lang="en-US" sz="2800" i="1">
                <a:latin typeface="Arial" charset="0"/>
                <a:cs typeface="Arial" charset="0"/>
              </a:rPr>
              <a:t>constructor</a:t>
            </a:r>
            <a:r>
              <a:rPr lang="en-US" sz="2800">
                <a:latin typeface="Arial" charset="0"/>
                <a:cs typeface="Arial" charset="0"/>
              </a:rPr>
              <a:t> is a special method that is automatically called during the instantiation 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of a new object.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If no visible constructor is provided, Java will provide its own constructor, called a </a:t>
            </a:r>
          </a:p>
          <a:p>
            <a:pPr eaLnBrk="1" hangingPunct="1"/>
            <a:r>
              <a:rPr lang="en-US" sz="2800" i="1">
                <a:latin typeface="Arial" charset="0"/>
                <a:cs typeface="Arial" charset="0"/>
              </a:rPr>
              <a:t>default constructor</a:t>
            </a:r>
            <a:r>
              <a:rPr lang="en-US" sz="2800">
                <a:latin typeface="Arial" charset="0"/>
                <a:cs typeface="Arial" charset="0"/>
              </a:rPr>
              <a:t>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Additionally, we also call a </a:t>
            </a:r>
          </a:p>
          <a:p>
            <a:pPr eaLnBrk="1" hangingPunct="1"/>
            <a:r>
              <a:rPr lang="en-US" sz="2800" i="1">
                <a:latin typeface="Arial" charset="0"/>
                <a:cs typeface="Arial" charset="0"/>
              </a:rPr>
              <a:t>no-parameter </a:t>
            </a:r>
            <a:r>
              <a:rPr lang="en-US" sz="2800">
                <a:latin typeface="Arial" charset="0"/>
                <a:cs typeface="Arial" charset="0"/>
              </a:rPr>
              <a:t>constructor </a:t>
            </a: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 </a:t>
            </a:r>
            <a:r>
              <a:rPr lang="en-US" sz="2800" i="1">
                <a:latin typeface="Arial" charset="0"/>
                <a:cs typeface="Arial" charset="0"/>
              </a:rPr>
              <a:t>default constructor</a:t>
            </a:r>
            <a:r>
              <a:rPr lang="en-US" sz="280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>
                <a:cs typeface="Arial" charset="0"/>
              </a:rPr>
              <a:t>Default Constructor Methods</a:t>
            </a: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5638800" y="4229636"/>
            <a:ext cx="3048000" cy="230832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  <a:tab pos="914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b="0" dirty="0">
                <a:cs typeface="Times New Roman" pitchFamily="18" charset="0"/>
              </a:rPr>
              <a:t>Card()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suit = "Clubs";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rank = "Two";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pointValue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2;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06" name="Picture 31" descr="j0234695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1609725"/>
            <a:ext cx="10191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1205" name="Straight Arrow Connector 5"/>
          <p:cNvCxnSpPr>
            <a:cxnSpLocks noChangeShapeType="1"/>
          </p:cNvCxnSpPr>
          <p:nvPr/>
        </p:nvCxnSpPr>
        <p:spPr bwMode="auto">
          <a:xfrm>
            <a:off x="4724400" y="5562600"/>
            <a:ext cx="914400" cy="1588"/>
          </a:xfrm>
          <a:prstGeom prst="straightConnector1">
            <a:avLst/>
          </a:prstGeom>
          <a:noFill/>
          <a:ln w="7620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7082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18161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An </a:t>
            </a:r>
            <a:r>
              <a:rPr lang="en-US" sz="2800" i="1">
                <a:latin typeface="Arial" charset="0"/>
                <a:cs typeface="Arial" charset="0"/>
              </a:rPr>
              <a:t>overloaded constructor </a:t>
            </a:r>
            <a:r>
              <a:rPr lang="en-US" sz="2800">
                <a:latin typeface="Arial" charset="0"/>
                <a:cs typeface="Arial" charset="0"/>
              </a:rPr>
              <a:t>is a second, third or more, constructor that allows a new object to be instantiated according to some specifications that are passed by parameters.</a:t>
            </a: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>
                <a:latin typeface="Arial Narrow" pitchFamily="34" charset="0"/>
              </a:rPr>
              <a:t>Overloaded Constructor Methods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1371600" y="3672518"/>
            <a:ext cx="6172200" cy="230832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5138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400" b="0" dirty="0">
                <a:cs typeface="Times New Roman" pitchFamily="18" charset="0"/>
              </a:rPr>
              <a:t>Card(String s, String r, </a:t>
            </a:r>
            <a:r>
              <a:rPr lang="en-US" sz="2400" b="0" dirty="0" err="1">
                <a:cs typeface="Times New Roman" pitchFamily="18" charset="0"/>
              </a:rPr>
              <a:t>int</a:t>
            </a:r>
            <a:r>
              <a:rPr lang="en-US" sz="2400" b="0" dirty="0">
                <a:cs typeface="Times New Roman" pitchFamily="18" charset="0"/>
              </a:rPr>
              <a:t> </a:t>
            </a:r>
            <a:r>
              <a:rPr lang="en-US" sz="2400" b="0" dirty="0" err="1">
                <a:cs typeface="Times New Roman" pitchFamily="18" charset="0"/>
              </a:rPr>
              <a:t>pV</a:t>
            </a:r>
            <a:r>
              <a:rPr lang="en-US" sz="2400" b="0" dirty="0">
                <a:cs typeface="Times New Roman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suit = 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rank = r;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2229" name="Picture 33" descr="j028276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181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0" name="Picture 34" descr="j0282773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0292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Picture 35" descr="j0283083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81400"/>
            <a:ext cx="97155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32" descr="j0234696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5" y="3505200"/>
            <a:ext cx="12477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262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267811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Methods that only </a:t>
            </a:r>
            <a:r>
              <a:rPr lang="en-US" sz="2800" i="1">
                <a:latin typeface="Arial" charset="0"/>
                <a:cs typeface="Arial" charset="0"/>
              </a:rPr>
              <a:t>access</a:t>
            </a:r>
            <a:r>
              <a:rPr lang="en-US" sz="2800">
                <a:latin typeface="Arial" charset="0"/>
                <a:cs typeface="Arial" charset="0"/>
              </a:rPr>
              <a:t> object data without altering the data are called </a:t>
            </a:r>
            <a:r>
              <a:rPr lang="en-US" sz="2800" i="1">
                <a:latin typeface="Arial" charset="0"/>
                <a:cs typeface="Arial" charset="0"/>
              </a:rPr>
              <a:t>accessing </a:t>
            </a:r>
            <a:r>
              <a:rPr lang="en-US" sz="2800">
                <a:latin typeface="Arial" charset="0"/>
                <a:cs typeface="Arial" charset="0"/>
              </a:rPr>
              <a:t>or </a:t>
            </a:r>
            <a:r>
              <a:rPr lang="en-US" sz="2800" i="1">
                <a:latin typeface="Arial" charset="0"/>
                <a:cs typeface="Arial" charset="0"/>
              </a:rPr>
              <a:t>get</a:t>
            </a:r>
            <a:r>
              <a:rPr lang="en-US" sz="2800">
                <a:latin typeface="Arial" charset="0"/>
                <a:cs typeface="Arial" charset="0"/>
              </a:rPr>
              <a:t> methods.  </a:t>
            </a:r>
          </a:p>
          <a:p>
            <a:pPr eaLnBrk="1" hangingPunct="1"/>
            <a:endParaRPr lang="en-US" sz="280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Most accessing methods are </a:t>
            </a:r>
            <a:r>
              <a:rPr lang="en-US" sz="2800" b="0">
                <a:cs typeface="Arial" charset="0"/>
              </a:rPr>
              <a:t>return</a:t>
            </a:r>
            <a:r>
              <a:rPr lang="en-US" sz="2800">
                <a:latin typeface="Arial" charset="0"/>
                <a:cs typeface="Arial" charset="0"/>
              </a:rPr>
              <a:t> methods, which </a:t>
            </a:r>
            <a:r>
              <a:rPr lang="en-US" sz="2800" b="0">
                <a:cs typeface="Arial" charset="0"/>
              </a:rPr>
              <a:t>return</a:t>
            </a:r>
            <a:r>
              <a:rPr lang="en-US" sz="2800">
                <a:latin typeface="Arial" charset="0"/>
                <a:cs typeface="Arial" charset="0"/>
              </a:rPr>
              <a:t> object </a:t>
            </a:r>
            <a:r>
              <a:rPr lang="en-US" sz="2800" b="0">
                <a:cs typeface="Arial" charset="0"/>
              </a:rPr>
              <a:t>private</a:t>
            </a:r>
            <a:r>
              <a:rPr lang="en-US" sz="2800">
                <a:latin typeface="Arial" charset="0"/>
                <a:cs typeface="Arial" charset="0"/>
              </a:rPr>
              <a:t> data information.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Accessing or Get Methods</a:t>
            </a:r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2057400" y="4419600"/>
            <a:ext cx="5334000" cy="20621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public int getDecks()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	return </a:t>
            </a:r>
            <a:r>
              <a:rPr lang="en-US" sz="3200" b="0">
                <a:cs typeface="Times New Roman" pitchFamily="18" charset="0"/>
              </a:rPr>
              <a:t>numDecks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eaLnBrk="1" hangingPunct="1"/>
            <a:r>
              <a:rPr lang="en-US" sz="3200">
                <a:latin typeface="Times New Roman" pitchFamily="18" charset="0"/>
                <a:cs typeface="Times New Roman" pitchFamily="18" charset="0"/>
              </a:rPr>
              <a:t>}</a:t>
            </a:r>
            <a:endParaRPr lang="en-US" sz="10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70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2971800" y="1981200"/>
            <a:ext cx="5410200" cy="18161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>
                <a:latin typeface="Arial" charset="0"/>
                <a:cs typeface="Arial" charset="0"/>
              </a:rPr>
              <a:t>These are methods that not only access the private data of an object; they also alter the value of the data.</a:t>
            </a: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828800"/>
          </a:xfrm>
        </p:spPr>
        <p:txBody>
          <a:bodyPr/>
          <a:lstStyle/>
          <a:p>
            <a:pPr eaLnBrk="1" hangingPunct="1"/>
            <a:r>
              <a:rPr lang="en-US" sz="4800" smtClean="0">
                <a:latin typeface="Arial Black" pitchFamily="34" charset="0"/>
              </a:rPr>
              <a:t>Altering or Modifier or Mutator or Set Methods</a:t>
            </a: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1219200" y="4267200"/>
            <a:ext cx="6705600" cy="2062163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public void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savingsDeposit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(double s)</a:t>
            </a:r>
          </a:p>
          <a:p>
            <a:pPr eaLnBrk="1" hangingPunct="1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eaLnBrk="1" hangingPunct="1"/>
            <a:r>
              <a:rPr lang="en-US" sz="3200" b="0" dirty="0">
                <a:cs typeface="Times New Roman" pitchFamily="18" charset="0"/>
              </a:rPr>
              <a:t>	</a:t>
            </a:r>
            <a:r>
              <a:rPr lang="en-US" sz="3200" b="0" dirty="0" smtClean="0">
                <a:cs typeface="Times New Roman" pitchFamily="18" charset="0"/>
              </a:rPr>
              <a:t>savings </a:t>
            </a:r>
            <a:r>
              <a:rPr lang="en-US" sz="3200" b="0" dirty="0">
                <a:cs typeface="Times New Roman" pitchFamily="18" charset="0"/>
              </a:rPr>
              <a:t>+= s;</a:t>
            </a:r>
          </a:p>
          <a:p>
            <a:pPr eaLnBrk="1" hangingPunct="1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54277" name="Picture 5" descr="j0236549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2057400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690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7711</TotalTime>
  <Words>2319</Words>
  <Application>Microsoft Office PowerPoint</Application>
  <PresentationFormat>On-screen Show (4:3)</PresentationFormat>
  <Paragraphs>1206</Paragraphs>
  <Slides>67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Default Design</vt:lpstr>
      <vt:lpstr>PowerPoint Presentation</vt:lpstr>
      <vt:lpstr>PowerPoint Presentation</vt:lpstr>
      <vt:lpstr>Objects, Variables &amp; Methods</vt:lpstr>
      <vt:lpstr>PowerPoint Presentation</vt:lpstr>
      <vt:lpstr>The Card Case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private &amp; public Members</vt:lpstr>
      <vt:lpstr>“Mr. Schram, how does using private give you any security when you can just change it back to public?”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Instantiation &amp; Construction</vt:lpstr>
      <vt:lpstr>Constructor Notes</vt:lpstr>
      <vt:lpstr>PowerPoint Presentation</vt:lpstr>
      <vt:lpstr>The Cube Case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or Static Methods</vt:lpstr>
      <vt:lpstr>Class or Static Methods</vt:lpstr>
      <vt:lpstr>Object or Non-Static Methods</vt:lpstr>
      <vt:lpstr>Object or Non-Static Methods</vt:lpstr>
      <vt:lpstr>Public Methods</vt:lpstr>
      <vt:lpstr>Private or Helper Methods</vt:lpstr>
      <vt:lpstr>Void Methods</vt:lpstr>
      <vt:lpstr>Return Methods</vt:lpstr>
      <vt:lpstr>Default Constructor Methods</vt:lpstr>
      <vt:lpstr>Overloaded Constructor Methods</vt:lpstr>
      <vt:lpstr>Accessing or Get Methods</vt:lpstr>
      <vt:lpstr>Altering or Modifier or Mutator or Set Methods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LeonSchram49</cp:lastModifiedBy>
  <cp:revision>837</cp:revision>
  <dcterms:created xsi:type="dcterms:W3CDTF">2003-07-04T03:08:29Z</dcterms:created>
  <dcterms:modified xsi:type="dcterms:W3CDTF">2015-06-02T12:04:10Z</dcterms:modified>
</cp:coreProperties>
</file>