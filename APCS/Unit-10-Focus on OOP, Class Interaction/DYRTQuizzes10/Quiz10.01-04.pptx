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4"/>
  </p:notesMasterIdLst>
  <p:sldIdLst>
    <p:sldId id="292" r:id="rId2"/>
    <p:sldId id="257" r:id="rId3"/>
    <p:sldId id="264" r:id="rId4"/>
    <p:sldId id="265" r:id="rId5"/>
    <p:sldId id="299" r:id="rId6"/>
    <p:sldId id="300" r:id="rId7"/>
    <p:sldId id="297" r:id="rId8"/>
    <p:sldId id="301" r:id="rId9"/>
    <p:sldId id="302" r:id="rId10"/>
    <p:sldId id="303" r:id="rId11"/>
    <p:sldId id="304" r:id="rId12"/>
    <p:sldId id="305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0000"/>
    <a:srgbClr val="66FF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84" y="-4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D54E9A4-2942-41D3-9F57-AA0CAEDBA6F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5427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523445E-5931-43CE-8D09-079B79B8394F}" type="slidenum">
              <a:rPr lang="en-US" smtClean="0"/>
              <a:pPr eaLnBrk="1" hangingPunct="1"/>
              <a:t>1</a:t>
            </a:fld>
            <a:endParaRPr lang="en-US" dirty="0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549FF37-53D4-4EFF-A1F1-16C907D4055C}" type="slidenum">
              <a:rPr lang="en-US" smtClean="0"/>
              <a:pPr eaLnBrk="1" hangingPunct="1"/>
              <a:t>2</a:t>
            </a:fld>
            <a:endParaRPr lang="en-US" dirty="0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E8C7B25-B04D-49D5-9E57-B7434651DBAF}" type="slidenum">
              <a:rPr lang="en-US" smtClean="0"/>
              <a:pPr eaLnBrk="1" hangingPunct="1"/>
              <a:t>3</a:t>
            </a:fld>
            <a:endParaRPr lang="en-US" dirty="0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CDC0DEA-14F3-43CA-AB2C-A39E316E9690}" type="slidenum">
              <a:rPr lang="en-US" smtClean="0"/>
              <a:pPr eaLnBrk="1" hangingPunct="1"/>
              <a:t>4</a:t>
            </a:fld>
            <a:endParaRPr lang="en-US" dirty="0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2B91927F-6DE7-4BA3-AD88-E1FDAFD27E92}" type="slidenum">
              <a:rPr lang="en-US" sz="1200"/>
              <a:pPr algn="r" eaLnBrk="1" hangingPunct="1"/>
              <a:t>5</a:t>
            </a:fld>
            <a:endParaRPr lang="en-US" sz="1200" dirty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198595DF-344D-436C-B8D7-6FBC33F66DB5}" type="slidenum">
              <a:rPr lang="en-US" sz="1200"/>
              <a:pPr algn="r" eaLnBrk="1" hangingPunct="1"/>
              <a:t>6</a:t>
            </a:fld>
            <a:endParaRPr lang="en-US" sz="1200" dirty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5B30E40-219A-4B58-B477-0D03BF954BB8}" type="slidenum">
              <a:rPr lang="en-US" smtClean="0"/>
              <a:pPr eaLnBrk="1" hangingPunct="1"/>
              <a:t>7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5B30E40-219A-4B58-B477-0D03BF954BB8}" type="slidenum">
              <a:rPr lang="en-US" smtClean="0"/>
              <a:pPr eaLnBrk="1" hangingPunct="1"/>
              <a:t>8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5B30E40-219A-4B58-B477-0D03BF954BB8}" type="slidenum">
              <a:rPr lang="en-US" smtClean="0"/>
              <a:pPr eaLnBrk="1" hangingPunct="1"/>
              <a:t>9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5B30E40-219A-4B58-B477-0D03BF954BB8}" type="slidenum">
              <a:rPr lang="en-US" smtClean="0"/>
              <a:pPr eaLnBrk="1" hangingPunct="1"/>
              <a:t>10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5B30E40-219A-4B58-B477-0D03BF954BB8}" type="slidenum">
              <a:rPr lang="en-US" smtClean="0"/>
              <a:pPr eaLnBrk="1" hangingPunct="1"/>
              <a:t>11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5B30E40-219A-4B58-B477-0D03BF954BB8}" type="slidenum">
              <a:rPr lang="en-US" smtClean="0"/>
              <a:pPr eaLnBrk="1" hangingPunct="1"/>
              <a:t>12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1813ED-2EA5-4966-ABFE-626958BF5A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842732"/>
      </p:ext>
    </p:extLst>
  </p:cSld>
  <p:clrMapOvr>
    <a:masterClrMapping/>
  </p:clrMapOvr>
  <p:transition advTm="3000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F0B7C4-53BE-4B07-9B9E-9D5095C0936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40259"/>
      </p:ext>
    </p:extLst>
  </p:cSld>
  <p:clrMapOvr>
    <a:masterClrMapping/>
  </p:clrMapOvr>
  <p:transition advTm="3000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D71C67-DFD1-4DA1-BE9F-535EBF513B0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297795"/>
      </p:ext>
    </p:extLst>
  </p:cSld>
  <p:clrMapOvr>
    <a:masterClrMapping/>
  </p:clrMapOvr>
  <p:transition advTm="3000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B79DD9-4BC6-4D22-997F-B26EE3CC4C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137856"/>
      </p:ext>
    </p:extLst>
  </p:cSld>
  <p:clrMapOvr>
    <a:masterClrMapping/>
  </p:clrMapOvr>
  <p:transition advTm="3000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2C7AFB-99B5-4B9C-BF58-67D17176FE2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27051"/>
      </p:ext>
    </p:extLst>
  </p:cSld>
  <p:clrMapOvr>
    <a:masterClrMapping/>
  </p:clrMapOvr>
  <p:transition advTm="3000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DB933E-F72E-4A2A-B572-B2B894F1F75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125535"/>
      </p:ext>
    </p:extLst>
  </p:cSld>
  <p:clrMapOvr>
    <a:masterClrMapping/>
  </p:clrMapOvr>
  <p:transition advTm="300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CB33DF-EB25-4BAF-BAB4-0F3859B7A7A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061620"/>
      </p:ext>
    </p:extLst>
  </p:cSld>
  <p:clrMapOvr>
    <a:masterClrMapping/>
  </p:clrMapOvr>
  <p:transition advTm="3000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4CF97B-F6E7-40C8-AB38-01EAFD1E937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628309"/>
      </p:ext>
    </p:extLst>
  </p:cSld>
  <p:clrMapOvr>
    <a:masterClrMapping/>
  </p:clrMapOvr>
  <p:transition advTm="3000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433E13-1124-4D54-BAE5-8D81A471A6C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369717"/>
      </p:ext>
    </p:extLst>
  </p:cSld>
  <p:clrMapOvr>
    <a:masterClrMapping/>
  </p:clrMapOvr>
  <p:transition advTm="3000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2EE0FF-F505-4854-923C-535F2AFD7F7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457621"/>
      </p:ext>
    </p:extLst>
  </p:cSld>
  <p:clrMapOvr>
    <a:masterClrMapping/>
  </p:clrMapOvr>
  <p:transition advTm="3000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69D762-62E2-4BD8-B729-19B04296DC9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779783"/>
      </p:ext>
    </p:extLst>
  </p:cSld>
  <p:clrMapOvr>
    <a:masterClrMapping/>
  </p:clrMapOvr>
  <p:transition advTm="3000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CC0A310-A3EF-4592-ADEB-B063C39CDD9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ransition advTm="3000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276600"/>
            <a:ext cx="9144000" cy="2438400"/>
          </a:xfrm>
        </p:spPr>
        <p:txBody>
          <a:bodyPr/>
          <a:lstStyle/>
          <a:p>
            <a:pPr eaLnBrk="1" hangingPunct="1"/>
            <a:r>
              <a:rPr lang="en-US" sz="4000" b="1" dirty="0" smtClean="0"/>
              <a:t>Take out a piece of paper and </a:t>
            </a:r>
            <a:r>
              <a:rPr lang="en-US" sz="4000" b="1" u="sng" dirty="0" smtClean="0"/>
              <a:t>PEN</a:t>
            </a:r>
            <a:r>
              <a:rPr lang="en-US" sz="4000" b="1" dirty="0" smtClean="0"/>
              <a:t>.</a:t>
            </a:r>
          </a:p>
          <a:p>
            <a:pPr eaLnBrk="1" hangingPunct="1"/>
            <a:r>
              <a:rPr lang="en-US" sz="4000" b="1" dirty="0" smtClean="0"/>
              <a:t>The quiz starts </a:t>
            </a:r>
            <a:r>
              <a:rPr lang="en-US" sz="4000" b="1" u="sng" dirty="0" smtClean="0"/>
              <a:t>TWO</a:t>
            </a:r>
            <a:r>
              <a:rPr lang="en-US" sz="4000" b="1" dirty="0" smtClean="0"/>
              <a:t> minutes after the tardy bell rings.</a:t>
            </a:r>
          </a:p>
          <a:p>
            <a:pPr eaLnBrk="1" hangingPunct="1"/>
            <a:r>
              <a:rPr lang="en-US" sz="3600" b="1" dirty="0" smtClean="0"/>
              <a:t>You will have 30 seconds per question.</a:t>
            </a:r>
          </a:p>
          <a:p>
            <a:pPr eaLnBrk="1" hangingPunct="1"/>
            <a:endParaRPr lang="en-US" sz="3600" b="1" dirty="0" smtClean="0"/>
          </a:p>
        </p:txBody>
      </p:sp>
      <p:sp>
        <p:nvSpPr>
          <p:cNvPr id="5" name="Rectangle 4"/>
          <p:cNvSpPr>
            <a:spLocks noGrp="1" noChangeArrowheads="1"/>
          </p:cNvSpPr>
          <p:nvPr/>
        </p:nvSpPr>
        <p:spPr bwMode="auto">
          <a:xfrm>
            <a:off x="381000" y="457200"/>
            <a:ext cx="8382000" cy="2438400"/>
          </a:xfrm>
          <a:prstGeom prst="rect">
            <a:avLst/>
          </a:prstGeom>
          <a:solidFill>
            <a:srgbClr val="FF0000"/>
          </a:solidFill>
          <a:ln w="762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sz="3200" b="1" dirty="0">
                <a:latin typeface="Arial Black" panose="020B0A04020102020204" pitchFamily="34" charset="0"/>
              </a:rPr>
              <a:t>Exposure </a:t>
            </a:r>
            <a:r>
              <a:rPr lang="en-US" sz="3200" b="1">
                <a:latin typeface="Arial Black" panose="020B0A04020102020204" pitchFamily="34" charset="0"/>
              </a:rPr>
              <a:t>Java </a:t>
            </a:r>
            <a:r>
              <a:rPr lang="en-US" sz="3200" b="1" smtClean="0">
                <a:latin typeface="Arial Black" panose="020B0A04020102020204" pitchFamily="34" charset="0"/>
              </a:rPr>
              <a:t>2015 </a:t>
            </a:r>
            <a:r>
              <a:rPr lang="en-US" sz="3200" b="1" dirty="0">
                <a:latin typeface="Arial Black" panose="020B0A04020102020204" pitchFamily="34" charset="0"/>
              </a:rPr>
              <a:t>for Teaching</a:t>
            </a:r>
            <a:br>
              <a:rPr lang="en-US" sz="3200" b="1" dirty="0">
                <a:latin typeface="Arial Black" panose="020B0A04020102020204" pitchFamily="34" charset="0"/>
              </a:rPr>
            </a:br>
            <a:r>
              <a:rPr lang="en-US" sz="3200" b="1" dirty="0">
                <a:latin typeface="Arial Black" panose="020B0A04020102020204" pitchFamily="34" charset="0"/>
              </a:rPr>
              <a:t>AP</a:t>
            </a:r>
            <a:r>
              <a:rPr lang="en-US" sz="3200" b="1" baseline="30000" dirty="0">
                <a:latin typeface="Arial Black" panose="020B0A04020102020204" pitchFamily="34" charset="0"/>
              </a:rPr>
              <a:t>® </a:t>
            </a:r>
            <a:r>
              <a:rPr lang="en-US" sz="3200" b="1" dirty="0">
                <a:latin typeface="Arial Black" panose="020B0A04020102020204" pitchFamily="34" charset="0"/>
              </a:rPr>
              <a:t>Computer Science</a:t>
            </a:r>
            <a:r>
              <a:rPr lang="en-US" sz="3600" b="1" dirty="0">
                <a:latin typeface="Arial Black" panose="020B0A04020102020204" pitchFamily="34" charset="0"/>
              </a:rPr>
              <a:t/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4800" b="1" dirty="0">
                <a:latin typeface="Arial Black" panose="020B0A04020102020204" pitchFamily="34" charset="0"/>
              </a:rPr>
              <a:t>DYRT Quiz </a:t>
            </a:r>
            <a:r>
              <a:rPr lang="en-US" sz="4800" b="1" dirty="0" smtClean="0">
                <a:latin typeface="Arial Black" panose="020B0A04020102020204" pitchFamily="34" charset="0"/>
              </a:rPr>
              <a:t>10.01-04</a:t>
            </a:r>
            <a:endParaRPr lang="en-US" sz="4800" b="1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b="1" dirty="0" smtClean="0"/>
              <a:t>Title the quiz as shown below</a:t>
            </a:r>
            <a:br>
              <a:rPr lang="en-US" sz="4800" b="1" dirty="0" smtClean="0"/>
            </a:br>
            <a:r>
              <a:rPr lang="en-US" sz="3600" b="1" dirty="0" smtClean="0"/>
              <a:t>The quiz starts in </a:t>
            </a:r>
            <a:r>
              <a:rPr lang="en-US" sz="3600" b="1" u="sng" dirty="0" smtClean="0"/>
              <a:t>ONE</a:t>
            </a:r>
            <a:r>
              <a:rPr lang="en-US" sz="3600" b="1" dirty="0" smtClean="0"/>
              <a:t> minute.</a:t>
            </a:r>
          </a:p>
        </p:txBody>
      </p:sp>
      <p:graphicFrame>
        <p:nvGraphicFramePr>
          <p:cNvPr id="6" name="Group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733902"/>
              </p:ext>
            </p:extLst>
          </p:nvPr>
        </p:nvGraphicFramePr>
        <p:xfrm>
          <a:off x="2895600" y="1676400"/>
          <a:ext cx="3581400" cy="4974288"/>
        </p:xfrm>
        <a:graphic>
          <a:graphicData uri="http://schemas.openxmlformats.org/drawingml/2006/table">
            <a:tbl>
              <a:tblPr/>
              <a:tblGrid>
                <a:gridCol w="3581400"/>
              </a:tblGrid>
              <a:tr h="4973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	Name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	Period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	Date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	Quiz 10.01-04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1.	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2.	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3.	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4.	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5.	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6.	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7.	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8.	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9.	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10.	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 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01</a:t>
            </a:r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686506"/>
              </p:ext>
            </p:extLst>
          </p:nvPr>
        </p:nvGraphicFramePr>
        <p:xfrm>
          <a:off x="457200" y="1371600"/>
          <a:ext cx="8305800" cy="3429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429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Inheritance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describes what type of relationship?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“is-a”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“has-a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”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02</a:t>
            </a:r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000149"/>
              </p:ext>
            </p:extLst>
          </p:nvPr>
        </p:nvGraphicFramePr>
        <p:xfrm>
          <a:off x="457200" y="1371600"/>
          <a:ext cx="8305800" cy="3429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429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Composition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describes what type of relationship?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“is-a”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“has-a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”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03</a:t>
            </a:r>
          </a:p>
        </p:txBody>
      </p:sp>
      <p:graphicFrame>
        <p:nvGraphicFramePr>
          <p:cNvPr id="53263" name="Group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21265"/>
              </p:ext>
            </p:extLst>
          </p:nvPr>
        </p:nvGraphicFramePr>
        <p:xfrm>
          <a:off x="457200" y="1371600"/>
          <a:ext cx="8305800" cy="496887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968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 following shows an example of an </a:t>
                      </a:r>
                      <a:r>
                        <a:rPr kumimoji="0" lang="en-US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inheritance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relationship?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dog		cat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house	door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hanger	closet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student	person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04</a:t>
            </a:r>
          </a:p>
        </p:txBody>
      </p:sp>
      <p:graphicFrame>
        <p:nvGraphicFramePr>
          <p:cNvPr id="55305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760712"/>
              </p:ext>
            </p:extLst>
          </p:nvPr>
        </p:nvGraphicFramePr>
        <p:xfrm>
          <a:off x="457200" y="1371600"/>
          <a:ext cx="8305800" cy="496887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968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 following shows an example of a </a:t>
                      </a:r>
                      <a:r>
                        <a:rPr kumimoji="0" lang="en-US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composition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relationship?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dog		cat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house	door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hanger	closet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student	person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05</a:t>
            </a:r>
          </a:p>
          <a:p>
            <a:pPr eaLnBrk="1" hangingPunct="1">
              <a:spcBef>
                <a:spcPct val="50000"/>
              </a:spcBef>
            </a:pPr>
            <a:endParaRPr lang="en-US" sz="3600" b="1" dirty="0"/>
          </a:p>
        </p:txBody>
      </p:sp>
      <p:graphicFrame>
        <p:nvGraphicFramePr>
          <p:cNvPr id="4" name="Group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011952"/>
              </p:ext>
            </p:extLst>
          </p:nvPr>
        </p:nvGraphicFramePr>
        <p:xfrm>
          <a:off x="457200" y="1371600"/>
          <a:ext cx="8305800" cy="4602456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6021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Geometry analogy which states that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square is a rectangle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is an example of</a:t>
                      </a:r>
                      <a:endParaRPr kumimoji="0" lang="en-US" sz="3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encapsulation.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concatenation.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inheritance.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polymorphism.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06</a:t>
            </a:r>
          </a:p>
          <a:p>
            <a:pPr eaLnBrk="1" hangingPunct="1">
              <a:spcBef>
                <a:spcPct val="50000"/>
              </a:spcBef>
            </a:pPr>
            <a:endParaRPr lang="en-US" sz="3600" b="1" dirty="0"/>
          </a:p>
        </p:txBody>
      </p:sp>
      <p:graphicFrame>
        <p:nvGraphicFramePr>
          <p:cNvPr id="4" name="Group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673905"/>
              </p:ext>
            </p:extLst>
          </p:nvPr>
        </p:nvGraphicFramePr>
        <p:xfrm>
          <a:off x="457200" y="1371600"/>
          <a:ext cx="8305800" cy="518767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6021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Point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and the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Trunk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have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________________ class interaction.</a:t>
                      </a:r>
                      <a:endParaRPr kumimoji="0" lang="en-US" sz="3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encapsulation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composition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inheritance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polymorphism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no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0226927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07</a:t>
            </a:r>
          </a:p>
          <a:p>
            <a:pPr eaLnBrk="1" hangingPunct="1">
              <a:spcBef>
                <a:spcPct val="50000"/>
              </a:spcBef>
            </a:pPr>
            <a:endParaRPr lang="en-US" sz="3600" b="1" dirty="0"/>
          </a:p>
        </p:txBody>
      </p:sp>
      <p:graphicFrame>
        <p:nvGraphicFramePr>
          <p:cNvPr id="4" name="Group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06753"/>
              </p:ext>
            </p:extLst>
          </p:nvPr>
        </p:nvGraphicFramePr>
        <p:xfrm>
          <a:off x="457200" y="1371600"/>
          <a:ext cx="8305800" cy="518767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6021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Point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and the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Leaves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have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________________ class interaction.</a:t>
                      </a:r>
                      <a:endParaRPr kumimoji="0" lang="en-US" sz="3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encapsulation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composition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inheritance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polymorphism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no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6873073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08</a:t>
            </a:r>
          </a:p>
          <a:p>
            <a:pPr eaLnBrk="1" hangingPunct="1">
              <a:spcBef>
                <a:spcPct val="50000"/>
              </a:spcBef>
            </a:pPr>
            <a:endParaRPr lang="en-US" sz="3600" b="1" dirty="0"/>
          </a:p>
        </p:txBody>
      </p:sp>
      <p:graphicFrame>
        <p:nvGraphicFramePr>
          <p:cNvPr id="4" name="Group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614609"/>
              </p:ext>
            </p:extLst>
          </p:nvPr>
        </p:nvGraphicFramePr>
        <p:xfrm>
          <a:off x="457200" y="1143000"/>
          <a:ext cx="8305800" cy="533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33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Trunk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and the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Leaves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have ________________ class interaction.</a:t>
                      </a:r>
                      <a:endParaRPr kumimoji="0" lang="en-US" sz="3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encapsulation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composition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inheritance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polymorphism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  <a:defRPr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no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8411894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09</a:t>
            </a:r>
          </a:p>
          <a:p>
            <a:pPr eaLnBrk="1" hangingPunct="1">
              <a:spcBef>
                <a:spcPct val="50000"/>
              </a:spcBef>
            </a:pPr>
            <a:endParaRPr lang="en-US" sz="3600" b="1" dirty="0"/>
          </a:p>
        </p:txBody>
      </p:sp>
      <p:graphicFrame>
        <p:nvGraphicFramePr>
          <p:cNvPr id="4" name="Group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986599"/>
              </p:ext>
            </p:extLst>
          </p:nvPr>
        </p:nvGraphicFramePr>
        <p:xfrm>
          <a:off x="457200" y="1143000"/>
          <a:ext cx="8305800" cy="533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33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class can have ________ class(es)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interacting with has-a composition.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only one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one or more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no more than two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  <a:defRPr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no more than three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2158889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10</a:t>
            </a:r>
          </a:p>
          <a:p>
            <a:pPr eaLnBrk="1" hangingPunct="1">
              <a:spcBef>
                <a:spcPct val="50000"/>
              </a:spcBef>
            </a:pPr>
            <a:endParaRPr lang="en-US" sz="3600" b="1" dirty="0"/>
          </a:p>
        </p:txBody>
      </p:sp>
      <p:graphicFrame>
        <p:nvGraphicFramePr>
          <p:cNvPr id="4" name="Group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511186"/>
              </p:ext>
            </p:extLst>
          </p:nvPr>
        </p:nvGraphicFramePr>
        <p:xfrm>
          <a:off x="457200" y="1143000"/>
          <a:ext cx="8305800" cy="533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33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If a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Car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has-an object of the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Engine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class, then the </a:t>
                      </a:r>
                      <a:r>
                        <a:rPr kumimoji="0" lang="en-US" sz="32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</a:t>
                      </a:r>
                      <a:r>
                        <a:rPr kumimoji="0" lang="en-US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32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Engine()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keywords to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construct a new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Engine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 are placed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inside the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Engine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constructor.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inside the test program constructor.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inside the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Car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constructor.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outside the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Car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class.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9126519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824</TotalTime>
  <Words>198</Words>
  <Application>Microsoft Office PowerPoint</Application>
  <PresentationFormat>On-screen Show (4:3)</PresentationFormat>
  <Paragraphs>112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Default Design</vt:lpstr>
      <vt:lpstr>PowerPoint Presentation</vt:lpstr>
      <vt:lpstr>Title the quiz as shown below The quiz starts in ONE minute.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Paul II High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Leon Schram</dc:creator>
  <cp:lastModifiedBy>leonschram</cp:lastModifiedBy>
  <cp:revision>102</cp:revision>
  <dcterms:created xsi:type="dcterms:W3CDTF">2005-09-25T13:05:16Z</dcterms:created>
  <dcterms:modified xsi:type="dcterms:W3CDTF">2015-05-30T18:07:25Z</dcterms:modified>
</cp:coreProperties>
</file>