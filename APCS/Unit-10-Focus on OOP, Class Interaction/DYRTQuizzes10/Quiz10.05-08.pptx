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6"/>
  </p:notesMasterIdLst>
  <p:sldIdLst>
    <p:sldId id="292" r:id="rId2"/>
    <p:sldId id="257" r:id="rId3"/>
    <p:sldId id="259" r:id="rId4"/>
    <p:sldId id="261" r:id="rId5"/>
    <p:sldId id="262" r:id="rId6"/>
    <p:sldId id="263" r:id="rId7"/>
    <p:sldId id="297" r:id="rId8"/>
    <p:sldId id="268" r:id="rId9"/>
    <p:sldId id="293" r:id="rId10"/>
    <p:sldId id="294" r:id="rId11"/>
    <p:sldId id="269" r:id="rId12"/>
    <p:sldId id="296" r:id="rId13"/>
    <p:sldId id="298" r:id="rId14"/>
    <p:sldId id="291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66FFFF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77" y="-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D54E9A4-2942-41D3-9F57-AA0CAEDBA6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523445E-5931-43CE-8D09-079B79B8394F}" type="slidenum">
              <a:rPr lang="en-US" smtClean="0"/>
              <a:pPr eaLnBrk="1" hangingPunct="1"/>
              <a:t>1</a:t>
            </a:fld>
            <a:endParaRPr lang="en-US" dirty="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49FF37-53D4-4EFF-A1F1-16C907D4055C}" type="slidenum">
              <a:rPr lang="en-US" smtClean="0"/>
              <a:pPr eaLnBrk="1" hangingPunct="1"/>
              <a:t>2</a:t>
            </a:fld>
            <a:endParaRPr lang="en-US" dirty="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7EABCF-2113-4527-A26B-A35B1E34F3A5}" type="slidenum">
              <a:rPr lang="en-US" smtClean="0"/>
              <a:pPr eaLnBrk="1" hangingPunct="1"/>
              <a:t>3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0C78DF3-9D04-447F-B47F-6BA45F6C6660}" type="slidenum">
              <a:rPr lang="en-US" smtClean="0"/>
              <a:pPr eaLnBrk="1" hangingPunct="1"/>
              <a:t>4</a:t>
            </a:fld>
            <a:endParaRPr lang="en-US" dirty="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CB31679-E63D-4286-B7D8-50417D6C8583}" type="slidenum">
              <a:rPr lang="en-US" smtClean="0"/>
              <a:pPr eaLnBrk="1" hangingPunct="1"/>
              <a:t>5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67B3C7-D138-4781-8ADC-774A6EA791C9}" type="slidenum">
              <a:rPr lang="en-US" smtClean="0"/>
              <a:pPr eaLnBrk="1" hangingPunct="1"/>
              <a:t>6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6B89076-E300-4F44-8E50-60FF4CF4D832}" type="slidenum">
              <a:rPr lang="en-US" smtClean="0"/>
              <a:pPr eaLnBrk="1" hangingPunct="1"/>
              <a:t>8</a:t>
            </a:fld>
            <a:endParaRPr lang="en-US" dirty="0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E8DDA7-8280-4462-A26D-16CCE7ECCDE6}" type="slidenum">
              <a:rPr lang="en-US" smtClean="0"/>
              <a:pPr eaLnBrk="1" hangingPunct="1"/>
              <a:t>9</a:t>
            </a:fld>
            <a:endParaRPr lang="en-US" dirty="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237570B-54B2-4A18-A9C0-55ED6E839BDF}" type="slidenum">
              <a:rPr lang="en-US" smtClean="0"/>
              <a:pPr eaLnBrk="1" hangingPunct="1"/>
              <a:t>10</a:t>
            </a:fld>
            <a:endParaRPr lang="en-US" dirty="0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84CBA87-0DEF-4B20-B929-BE4F7B6EC073}" type="slidenum">
              <a:rPr lang="en-US" smtClean="0"/>
              <a:pPr eaLnBrk="1" hangingPunct="1"/>
              <a:t>11</a:t>
            </a:fld>
            <a:endParaRPr lang="en-US" dirty="0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FFEBEAF-E625-4475-93F7-218D52F2BE90}" type="slidenum">
              <a:rPr lang="en-US" smtClean="0"/>
              <a:pPr eaLnBrk="1" hangingPunct="1"/>
              <a:t>12</a:t>
            </a:fld>
            <a:endParaRPr lang="en-US" dirty="0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DEBB8D-5538-4EA7-801B-47CA120FBFC9}" type="slidenum">
              <a:rPr lang="en-US" smtClean="0"/>
              <a:pPr eaLnBrk="1" hangingPunct="1"/>
              <a:t>13</a:t>
            </a:fld>
            <a:endParaRPr lang="en-US" dirty="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37CCB19-7A26-4152-B1B7-F600225D0C6E}" type="slidenum">
              <a:rPr lang="en-US" smtClean="0"/>
              <a:pPr eaLnBrk="1" hangingPunct="1"/>
              <a:t>14</a:t>
            </a:fld>
            <a:endParaRPr lang="en-US" dirty="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813ED-2EA5-4966-ABFE-626958BF5A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42732"/>
      </p:ext>
    </p:extLst>
  </p:cSld>
  <p:clrMapOvr>
    <a:masterClrMapping/>
  </p:clrMapOvr>
  <p:transition advTm="3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0B7C4-53BE-4B07-9B9E-9D5095C093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40259"/>
      </p:ext>
    </p:extLst>
  </p:cSld>
  <p:clrMapOvr>
    <a:masterClrMapping/>
  </p:clrMapOvr>
  <p:transition advTm="3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71C67-DFD1-4DA1-BE9F-535EBF513B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297795"/>
      </p:ext>
    </p:extLst>
  </p:cSld>
  <p:clrMapOvr>
    <a:masterClrMapping/>
  </p:clrMapOvr>
  <p:transition advTm="3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79DD9-4BC6-4D22-997F-B26EE3CC4C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37856"/>
      </p:ext>
    </p:extLst>
  </p:cSld>
  <p:clrMapOvr>
    <a:masterClrMapping/>
  </p:clrMapOvr>
  <p:transition advTm="3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C7AFB-99B5-4B9C-BF58-67D17176FE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7051"/>
      </p:ext>
    </p:extLst>
  </p:cSld>
  <p:clrMapOvr>
    <a:masterClrMapping/>
  </p:clrMapOvr>
  <p:transition advTm="3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B933E-F72E-4A2A-B572-B2B894F1F7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125535"/>
      </p:ext>
    </p:extLst>
  </p:cSld>
  <p:clrMapOvr>
    <a:masterClrMapping/>
  </p:clrMapOvr>
  <p:transition advTm="3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B33DF-EB25-4BAF-BAB4-0F3859B7A7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061620"/>
      </p:ext>
    </p:extLst>
  </p:cSld>
  <p:clrMapOvr>
    <a:masterClrMapping/>
  </p:clrMapOvr>
  <p:transition advTm="3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CF97B-F6E7-40C8-AB38-01EAFD1E93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28309"/>
      </p:ext>
    </p:extLst>
  </p:cSld>
  <p:clrMapOvr>
    <a:masterClrMapping/>
  </p:clrMapOvr>
  <p:transition advTm="3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33E13-1124-4D54-BAE5-8D81A471A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69717"/>
      </p:ext>
    </p:extLst>
  </p:cSld>
  <p:clrMapOvr>
    <a:masterClrMapping/>
  </p:clrMapOvr>
  <p:transition advTm="3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EE0FF-F505-4854-923C-535F2AFD7F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457621"/>
      </p:ext>
    </p:extLst>
  </p:cSld>
  <p:clrMapOvr>
    <a:masterClrMapping/>
  </p:clrMapOvr>
  <p:transition advTm="3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9D762-62E2-4BD8-B729-19B04296DC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79783"/>
      </p:ext>
    </p:extLst>
  </p:cSld>
  <p:clrMapOvr>
    <a:masterClrMapping/>
  </p:clrMapOvr>
  <p:transition advTm="3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CC0A310-A3EF-4592-ADEB-B063C39CDD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 advTm="30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</a:t>
            </a:r>
            <a:r>
              <a:rPr lang="en-US" sz="3200" b="1">
                <a:latin typeface="Arial Black" panose="020B0A04020102020204" pitchFamily="34" charset="0"/>
              </a:rPr>
              <a:t>Java </a:t>
            </a:r>
            <a:r>
              <a:rPr lang="en-US" sz="3200" b="1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10.05-08 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dirty="0" smtClean="0"/>
              <a:t>Title the quiz as shown below</a:t>
            </a:r>
            <a:br>
              <a:rPr lang="en-US" sz="4800" b="1" dirty="0" smtClean="0"/>
            </a:br>
            <a:r>
              <a:rPr lang="en-US" sz="3600" b="1" dirty="0" smtClean="0"/>
              <a:t>The quiz starts in </a:t>
            </a:r>
            <a:r>
              <a:rPr lang="en-US" sz="3600" b="1" u="sng" dirty="0" smtClean="0"/>
              <a:t>ONE</a:t>
            </a:r>
            <a:r>
              <a:rPr lang="en-US" sz="3600" b="1" dirty="0" smtClean="0"/>
              <a:t> minute.</a:t>
            </a:r>
          </a:p>
        </p:txBody>
      </p:sp>
      <p:graphicFrame>
        <p:nvGraphicFramePr>
          <p:cNvPr id="6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096902"/>
              </p:ext>
            </p:extLst>
          </p:nvPr>
        </p:nvGraphicFramePr>
        <p:xfrm>
          <a:off x="2895600" y="1676400"/>
          <a:ext cx="3581400" cy="4973638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973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10.05-08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 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 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 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 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 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 EC.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6153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429425"/>
              </p:ext>
            </p:extLst>
          </p:nvPr>
        </p:nvGraphicFramePr>
        <p:xfrm>
          <a:off x="457200" y="1371600"/>
          <a:ext cx="8305800" cy="518795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18795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involves the use of at least two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  The existing class is called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default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overloaded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subclass.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750779"/>
              </p:ext>
            </p:extLst>
          </p:nvPr>
        </p:nvGraphicFramePr>
        <p:xfrm>
          <a:off x="457200" y="1371600"/>
          <a:ext cx="8305800" cy="4876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876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involves the use of at least two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  The new and class which uses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is called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superclass.</a:t>
                      </a:r>
                      <a:endParaRPr kumimoji="0" lang="en-US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default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overloaded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subclass.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174236"/>
              </p:ext>
            </p:extLst>
          </p:nvPr>
        </p:nvGraphicFramePr>
        <p:xfrm>
          <a:off x="457200" y="1371600"/>
          <a:ext cx="8305800" cy="467562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7518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single Java keyword indicates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is used?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isa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hasa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extends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super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15493"/>
              </p:ext>
            </p:extLst>
          </p:nvPr>
        </p:nvGraphicFramePr>
        <p:xfrm>
          <a:off x="304800" y="1371600"/>
          <a:ext cx="8534400" cy="4383088"/>
        </p:xfrm>
        <a:graphic>
          <a:graphicData uri="http://schemas.openxmlformats.org/drawingml/2006/table">
            <a:tbl>
              <a:tblPr/>
              <a:tblGrid>
                <a:gridCol w="8534400"/>
              </a:tblGrid>
              <a:tr h="438308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an object of a subclass is instantiated,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constructor of the superclass is called first.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True 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	False 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759503"/>
              </p:ext>
            </p:extLst>
          </p:nvPr>
        </p:nvGraphicFramePr>
        <p:xfrm>
          <a:off x="457200" y="1371600"/>
          <a:ext cx="8305800" cy="460245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Geometry analogy which states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square is a rectangle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an example of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concatenation.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2297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533602"/>
              </p:ext>
            </p:extLst>
          </p:nvPr>
        </p:nvGraphicFramePr>
        <p:xfrm>
          <a:off x="457200" y="1371600"/>
          <a:ext cx="8305800" cy="438308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38308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of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 is limited to two levels with two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True 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False 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689485"/>
              </p:ext>
            </p:extLst>
          </p:nvPr>
        </p:nvGraphicFramePr>
        <p:xfrm>
          <a:off x="152400" y="1371600"/>
          <a:ext cx="8686800" cy="4443936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4434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these is possible in C++, but not in Java?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multiple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classes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sp>
        <p:nvSpPr>
          <p:cNvPr id="17417" name="Text Box 13"/>
          <p:cNvSpPr txBox="1">
            <a:spLocks noChangeArrowheads="1"/>
          </p:cNvSpPr>
          <p:nvPr/>
        </p:nvSpPr>
        <p:spPr bwMode="auto">
          <a:xfrm>
            <a:off x="304800" y="1773238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>
                <a:sym typeface="Symbol" pitchFamily="18" charset="2"/>
              </a:rPr>
              <a:t>Animal</a:t>
            </a:r>
          </a:p>
        </p:txBody>
      </p:sp>
      <p:sp>
        <p:nvSpPr>
          <p:cNvPr id="17418" name="Text Box 14"/>
          <p:cNvSpPr txBox="1">
            <a:spLocks noChangeArrowheads="1"/>
          </p:cNvSpPr>
          <p:nvPr/>
        </p:nvSpPr>
        <p:spPr bwMode="auto">
          <a:xfrm>
            <a:off x="304800" y="30972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>
                <a:sym typeface="Symbol" pitchFamily="18" charset="2"/>
              </a:rPr>
              <a:t>Mammal</a:t>
            </a:r>
          </a:p>
        </p:txBody>
      </p:sp>
      <p:sp>
        <p:nvSpPr>
          <p:cNvPr id="17419" name="Text Box 15"/>
          <p:cNvSpPr txBox="1">
            <a:spLocks noChangeArrowheads="1"/>
          </p:cNvSpPr>
          <p:nvPr/>
        </p:nvSpPr>
        <p:spPr bwMode="auto">
          <a:xfrm>
            <a:off x="304800" y="43926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>
                <a:sym typeface="Symbol" pitchFamily="18" charset="2"/>
              </a:rPr>
              <a:t>Dog</a:t>
            </a:r>
          </a:p>
        </p:txBody>
      </p:sp>
      <p:sp>
        <p:nvSpPr>
          <p:cNvPr id="17420" name="Text Box 16"/>
          <p:cNvSpPr txBox="1">
            <a:spLocks noChangeArrowheads="1"/>
          </p:cNvSpPr>
          <p:nvPr/>
        </p:nvSpPr>
        <p:spPr bwMode="auto">
          <a:xfrm>
            <a:off x="304800" y="56880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>
                <a:sym typeface="Symbol" pitchFamily="18" charset="2"/>
              </a:rPr>
              <a:t>Terrier</a:t>
            </a:r>
          </a:p>
        </p:txBody>
      </p:sp>
      <p:sp>
        <p:nvSpPr>
          <p:cNvPr id="17421" name="Line 17"/>
          <p:cNvSpPr>
            <a:spLocks noChangeShapeType="1"/>
          </p:cNvSpPr>
          <p:nvPr/>
        </p:nvSpPr>
        <p:spPr bwMode="auto">
          <a:xfrm>
            <a:off x="1447800" y="24384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422" name="Line 18"/>
          <p:cNvSpPr>
            <a:spLocks noChangeShapeType="1"/>
          </p:cNvSpPr>
          <p:nvPr/>
        </p:nvSpPr>
        <p:spPr bwMode="auto">
          <a:xfrm>
            <a:off x="1447800" y="37338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423" name="Line 19"/>
          <p:cNvSpPr>
            <a:spLocks noChangeShapeType="1"/>
          </p:cNvSpPr>
          <p:nvPr/>
        </p:nvSpPr>
        <p:spPr bwMode="auto">
          <a:xfrm>
            <a:off x="1447800" y="50292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17424" name="Picture 25" descr="j034552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875213"/>
            <a:ext cx="1728788" cy="183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74488"/>
              </p:ext>
            </p:extLst>
          </p:nvPr>
        </p:nvGraphicFramePr>
        <p:xfrm>
          <a:off x="4229100" y="203200"/>
          <a:ext cx="4762500" cy="4310063"/>
        </p:xfrm>
        <a:graphic>
          <a:graphicData uri="http://schemas.openxmlformats.org/drawingml/2006/table">
            <a:tbl>
              <a:tblPr/>
              <a:tblGrid>
                <a:gridCol w="4762500"/>
              </a:tblGrid>
              <a:tr h="43100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Look at this graphic. 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this an example of?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umbrella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pic>
        <p:nvPicPr>
          <p:cNvPr id="18441" name="Picture 7" descr="j031188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76600"/>
            <a:ext cx="3048000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42" name="Group 12"/>
          <p:cNvGrpSpPr>
            <a:grpSpLocks/>
          </p:cNvGrpSpPr>
          <p:nvPr/>
        </p:nvGrpSpPr>
        <p:grpSpPr bwMode="auto">
          <a:xfrm>
            <a:off x="228600" y="4495800"/>
            <a:ext cx="8610600" cy="2209800"/>
            <a:chOff x="192" y="2736"/>
            <a:chExt cx="5424" cy="1392"/>
          </a:xfrm>
        </p:grpSpPr>
        <p:pic>
          <p:nvPicPr>
            <p:cNvPr id="18443" name="Picture 4" descr="j031199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3518"/>
              <a:ext cx="14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4" name="Picture 5" descr="j031194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" y="3420"/>
              <a:ext cx="2169" cy="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5" name="Picture 6" descr="j031188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312"/>
              <a:ext cx="1486" cy="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6" name="Line 9"/>
            <p:cNvSpPr>
              <a:spLocks noChangeShapeType="1"/>
            </p:cNvSpPr>
            <p:nvPr/>
          </p:nvSpPr>
          <p:spPr bwMode="auto">
            <a:xfrm>
              <a:off x="864" y="2736"/>
              <a:ext cx="0" cy="52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447" name="Line 10"/>
            <p:cNvSpPr>
              <a:spLocks noChangeShapeType="1"/>
            </p:cNvSpPr>
            <p:nvPr/>
          </p:nvSpPr>
          <p:spPr bwMode="auto">
            <a:xfrm>
              <a:off x="1680" y="2784"/>
              <a:ext cx="576" cy="72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448" name="Line 11"/>
            <p:cNvSpPr>
              <a:spLocks noChangeShapeType="1"/>
            </p:cNvSpPr>
            <p:nvPr/>
          </p:nvSpPr>
          <p:spPr bwMode="auto">
            <a:xfrm>
              <a:off x="2064" y="2736"/>
              <a:ext cx="2112" cy="7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aphicFrame>
        <p:nvGraphicFramePr>
          <p:cNvPr id="13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175844"/>
              </p:ext>
            </p:extLst>
          </p:nvPr>
        </p:nvGraphicFramePr>
        <p:xfrm>
          <a:off x="4229100" y="203200"/>
          <a:ext cx="4762500" cy="4310063"/>
        </p:xfrm>
        <a:graphic>
          <a:graphicData uri="http://schemas.openxmlformats.org/drawingml/2006/table">
            <a:tbl>
              <a:tblPr/>
              <a:tblGrid>
                <a:gridCol w="4762500"/>
              </a:tblGrid>
              <a:tr h="43100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Look at this graphic. 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this an example of?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three inheritance cases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 class interaction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sp>
        <p:nvSpPr>
          <p:cNvPr id="19465" name="Text Box 20"/>
          <p:cNvSpPr txBox="1">
            <a:spLocks noChangeArrowheads="1"/>
          </p:cNvSpPr>
          <p:nvPr/>
        </p:nvSpPr>
        <p:spPr bwMode="auto">
          <a:xfrm>
            <a:off x="0" y="1752600"/>
            <a:ext cx="1676400" cy="63658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>
                <a:sym typeface="Symbol" pitchFamily="18" charset="2"/>
              </a:rPr>
              <a:t>Reptile</a:t>
            </a:r>
          </a:p>
        </p:txBody>
      </p:sp>
      <p:sp>
        <p:nvSpPr>
          <p:cNvPr id="19466" name="Text Box 21"/>
          <p:cNvSpPr txBox="1">
            <a:spLocks noChangeArrowheads="1"/>
          </p:cNvSpPr>
          <p:nvPr/>
        </p:nvSpPr>
        <p:spPr bwMode="auto">
          <a:xfrm>
            <a:off x="609600" y="36306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>
                <a:sym typeface="Symbol" pitchFamily="18" charset="2"/>
              </a:rPr>
              <a:t>Dinosaur</a:t>
            </a:r>
          </a:p>
        </p:txBody>
      </p:sp>
      <p:sp>
        <p:nvSpPr>
          <p:cNvPr id="19467" name="Text Box 22"/>
          <p:cNvSpPr txBox="1">
            <a:spLocks noChangeArrowheads="1"/>
          </p:cNvSpPr>
          <p:nvPr/>
        </p:nvSpPr>
        <p:spPr bwMode="auto">
          <a:xfrm>
            <a:off x="1905000" y="1752600"/>
            <a:ext cx="1676400" cy="63658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>
                <a:sym typeface="Symbol" pitchFamily="18" charset="2"/>
              </a:rPr>
              <a:t>Extinct</a:t>
            </a:r>
          </a:p>
        </p:txBody>
      </p:sp>
      <p:sp>
        <p:nvSpPr>
          <p:cNvPr id="19468" name="Line 23"/>
          <p:cNvSpPr>
            <a:spLocks noChangeShapeType="1"/>
          </p:cNvSpPr>
          <p:nvPr/>
        </p:nvSpPr>
        <p:spPr bwMode="auto">
          <a:xfrm>
            <a:off x="914400" y="2362200"/>
            <a:ext cx="4572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469" name="Line 24"/>
          <p:cNvSpPr>
            <a:spLocks noChangeShapeType="1"/>
          </p:cNvSpPr>
          <p:nvPr/>
        </p:nvSpPr>
        <p:spPr bwMode="auto">
          <a:xfrm flipH="1">
            <a:off x="2133600" y="2362200"/>
            <a:ext cx="6096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19470" name="Picture 26" descr="j02863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624388"/>
            <a:ext cx="1778000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18294"/>
              </p:ext>
            </p:extLst>
          </p:nvPr>
        </p:nvGraphicFramePr>
        <p:xfrm>
          <a:off x="4229100" y="203200"/>
          <a:ext cx="4762500" cy="4310063"/>
        </p:xfrm>
        <a:graphic>
          <a:graphicData uri="http://schemas.openxmlformats.org/drawingml/2006/table">
            <a:tbl>
              <a:tblPr/>
              <a:tblGrid>
                <a:gridCol w="4762500"/>
              </a:tblGrid>
              <a:tr h="43100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Look at this graphic. 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this an example of?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umbrella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947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035988"/>
              </p:ext>
            </p:extLst>
          </p:nvPr>
        </p:nvGraphicFramePr>
        <p:xfrm>
          <a:off x="4229100" y="203200"/>
          <a:ext cx="4762500" cy="4310063"/>
        </p:xfrm>
        <a:graphic>
          <a:graphicData uri="http://schemas.openxmlformats.org/drawingml/2006/table">
            <a:tbl>
              <a:tblPr/>
              <a:tblGrid>
                <a:gridCol w="4762500"/>
              </a:tblGrid>
              <a:tr h="43100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Look at this graphic. 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this an example of?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multi-level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2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umbrella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12" descr="MCIN00694_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100638"/>
            <a:ext cx="1905000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j031188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00400"/>
            <a:ext cx="3048000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20"/>
          <p:cNvSpPr>
            <a:spLocks noChangeShapeType="1"/>
          </p:cNvSpPr>
          <p:nvPr/>
        </p:nvSpPr>
        <p:spPr bwMode="auto">
          <a:xfrm flipH="1" flipV="1">
            <a:off x="685800" y="4343400"/>
            <a:ext cx="762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" name="Line 20"/>
          <p:cNvSpPr>
            <a:spLocks noChangeShapeType="1"/>
          </p:cNvSpPr>
          <p:nvPr/>
        </p:nvSpPr>
        <p:spPr bwMode="auto">
          <a:xfrm flipH="1" flipV="1">
            <a:off x="1219200" y="4267200"/>
            <a:ext cx="9525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3" name="Line 20"/>
          <p:cNvSpPr>
            <a:spLocks noChangeShapeType="1"/>
          </p:cNvSpPr>
          <p:nvPr/>
        </p:nvSpPr>
        <p:spPr bwMode="auto">
          <a:xfrm flipV="1">
            <a:off x="1962150" y="4572000"/>
            <a:ext cx="9525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V="1">
            <a:off x="2057400" y="4419600"/>
            <a:ext cx="76200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15" name="Picture 11" descr="C:\Documents and Settings\JohnSchram\Local Settings\Temporary Internet Files\Content.IE5\URQ75OAI\MPj04054000000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8" t="8333" r="10715" b="21667"/>
          <a:stretch>
            <a:fillRect/>
          </a:stretch>
        </p:blipFill>
        <p:spPr bwMode="auto">
          <a:xfrm>
            <a:off x="409575" y="5105400"/>
            <a:ext cx="21050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9"/>
          <p:cNvSpPr>
            <a:spLocks noChangeShapeType="1"/>
          </p:cNvSpPr>
          <p:nvPr/>
        </p:nvSpPr>
        <p:spPr bwMode="auto">
          <a:xfrm flipH="1" flipV="1">
            <a:off x="2514600" y="3733800"/>
            <a:ext cx="1524000" cy="1447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Extra Credit</a:t>
            </a:r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397098"/>
              </p:ext>
            </p:extLst>
          </p:nvPr>
        </p:nvGraphicFramePr>
        <p:xfrm>
          <a:off x="457200" y="1371600"/>
          <a:ext cx="8305800" cy="511454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383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the super class constructor requires one or more parameters, what command </a:t>
                      </a:r>
                      <a:r>
                        <a:rPr kumimoji="0" lang="en-US" sz="3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be the very </a:t>
                      </a:r>
                      <a:r>
                        <a:rPr kumimoji="0" lang="en-US" sz="3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first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command of the subclass constructor?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isa				(d) 	hasa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extends			(e)	inherits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 startAt="3"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sub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			(f)	super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</TotalTime>
  <Words>304</Words>
  <Application>Microsoft Office PowerPoint</Application>
  <PresentationFormat>On-screen Show (4:3)</PresentationFormat>
  <Paragraphs>143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103</cp:revision>
  <dcterms:created xsi:type="dcterms:W3CDTF">2005-09-25T13:05:16Z</dcterms:created>
  <dcterms:modified xsi:type="dcterms:W3CDTF">2015-08-28T14:39:14Z</dcterms:modified>
</cp:coreProperties>
</file>