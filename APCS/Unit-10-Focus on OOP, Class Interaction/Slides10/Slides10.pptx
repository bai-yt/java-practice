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641" r:id="rId3"/>
    <p:sldId id="642" r:id="rId4"/>
    <p:sldId id="710" r:id="rId5"/>
    <p:sldId id="704" r:id="rId6"/>
    <p:sldId id="706" r:id="rId7"/>
    <p:sldId id="707" r:id="rId8"/>
    <p:sldId id="708" r:id="rId9"/>
    <p:sldId id="709" r:id="rId10"/>
    <p:sldId id="638" r:id="rId11"/>
    <p:sldId id="694" r:id="rId12"/>
    <p:sldId id="695" r:id="rId13"/>
    <p:sldId id="696" r:id="rId14"/>
    <p:sldId id="697" r:id="rId15"/>
    <p:sldId id="698" r:id="rId16"/>
    <p:sldId id="699" r:id="rId17"/>
    <p:sldId id="700" r:id="rId18"/>
    <p:sldId id="701" r:id="rId19"/>
    <p:sldId id="702" r:id="rId20"/>
    <p:sldId id="703" r:id="rId21"/>
    <p:sldId id="711" r:id="rId22"/>
    <p:sldId id="712" r:id="rId23"/>
    <p:sldId id="713" r:id="rId24"/>
    <p:sldId id="714" r:id="rId25"/>
    <p:sldId id="715" r:id="rId26"/>
    <p:sldId id="716" r:id="rId27"/>
    <p:sldId id="717" r:id="rId28"/>
    <p:sldId id="718" r:id="rId29"/>
    <p:sldId id="720" r:id="rId30"/>
    <p:sldId id="721" r:id="rId31"/>
    <p:sldId id="719" r:id="rId32"/>
    <p:sldId id="722" r:id="rId33"/>
    <p:sldId id="723" r:id="rId34"/>
    <p:sldId id="725" r:id="rId35"/>
    <p:sldId id="724" r:id="rId36"/>
    <p:sldId id="726" r:id="rId37"/>
    <p:sldId id="729" r:id="rId38"/>
    <p:sldId id="727" r:id="rId39"/>
    <p:sldId id="728" r:id="rId40"/>
    <p:sldId id="730" r:id="rId41"/>
    <p:sldId id="732" r:id="rId42"/>
    <p:sldId id="737" r:id="rId43"/>
    <p:sldId id="731" r:id="rId44"/>
    <p:sldId id="734" r:id="rId45"/>
    <p:sldId id="733" r:id="rId46"/>
    <p:sldId id="735" r:id="rId47"/>
    <p:sldId id="736" r:id="rId48"/>
    <p:sldId id="738" r:id="rId49"/>
    <p:sldId id="739" r:id="rId50"/>
    <p:sldId id="740" r:id="rId51"/>
    <p:sldId id="741" r:id="rId52"/>
    <p:sldId id="769" r:id="rId53"/>
    <p:sldId id="858" r:id="rId54"/>
    <p:sldId id="770" r:id="rId55"/>
    <p:sldId id="776" r:id="rId56"/>
    <p:sldId id="771" r:id="rId57"/>
    <p:sldId id="772" r:id="rId58"/>
    <p:sldId id="773" r:id="rId59"/>
    <p:sldId id="774" r:id="rId60"/>
    <p:sldId id="775" r:id="rId61"/>
    <p:sldId id="777" r:id="rId62"/>
    <p:sldId id="778" r:id="rId63"/>
    <p:sldId id="779" r:id="rId64"/>
    <p:sldId id="780" r:id="rId65"/>
    <p:sldId id="782" r:id="rId66"/>
    <p:sldId id="781" r:id="rId67"/>
    <p:sldId id="742" r:id="rId68"/>
    <p:sldId id="783" r:id="rId69"/>
    <p:sldId id="784" r:id="rId70"/>
    <p:sldId id="785" r:id="rId71"/>
    <p:sldId id="786" r:id="rId72"/>
    <p:sldId id="787" r:id="rId73"/>
    <p:sldId id="788" r:id="rId74"/>
    <p:sldId id="860" r:id="rId75"/>
    <p:sldId id="744" r:id="rId76"/>
    <p:sldId id="789" r:id="rId77"/>
    <p:sldId id="859" r:id="rId78"/>
    <p:sldId id="790" r:id="rId79"/>
    <p:sldId id="792" r:id="rId80"/>
    <p:sldId id="791" r:id="rId81"/>
    <p:sldId id="793" r:id="rId82"/>
    <p:sldId id="861" r:id="rId83"/>
    <p:sldId id="794" r:id="rId84"/>
    <p:sldId id="795" r:id="rId85"/>
    <p:sldId id="762" r:id="rId86"/>
    <p:sldId id="862" r:id="rId87"/>
    <p:sldId id="863" r:id="rId88"/>
    <p:sldId id="864" r:id="rId89"/>
    <p:sldId id="865" r:id="rId90"/>
    <p:sldId id="866" r:id="rId91"/>
    <p:sldId id="867" r:id="rId92"/>
    <p:sldId id="890" r:id="rId93"/>
    <p:sldId id="869" r:id="rId94"/>
    <p:sldId id="870" r:id="rId95"/>
    <p:sldId id="871" r:id="rId96"/>
    <p:sldId id="873" r:id="rId97"/>
    <p:sldId id="891" r:id="rId98"/>
    <p:sldId id="892" r:id="rId99"/>
    <p:sldId id="878" r:id="rId100"/>
    <p:sldId id="879" r:id="rId101"/>
    <p:sldId id="880" r:id="rId102"/>
    <p:sldId id="881" r:id="rId103"/>
    <p:sldId id="882" r:id="rId104"/>
    <p:sldId id="883" r:id="rId105"/>
    <p:sldId id="884" r:id="rId106"/>
    <p:sldId id="885" r:id="rId107"/>
    <p:sldId id="886" r:id="rId108"/>
    <p:sldId id="887" r:id="rId109"/>
    <p:sldId id="888" r:id="rId110"/>
    <p:sldId id="805" r:id="rId111"/>
    <p:sldId id="826" r:id="rId1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5pPr>
    <a:lvl6pPr marL="22860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6pPr>
    <a:lvl7pPr marL="27432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7pPr>
    <a:lvl8pPr marL="32004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8pPr>
    <a:lvl9pPr marL="36576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F99CC"/>
    <a:srgbClr val="00FFCC"/>
    <a:srgbClr val="FFFF99"/>
    <a:srgbClr val="FF0000"/>
    <a:srgbClr val="FF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33" autoAdjust="0"/>
    <p:restoredTop sz="94681" autoAdjust="0"/>
  </p:normalViewPr>
  <p:slideViewPr>
    <p:cSldViewPr>
      <p:cViewPr varScale="1">
        <p:scale>
          <a:sx n="92" d="100"/>
          <a:sy n="92" d="100"/>
        </p:scale>
        <p:origin x="-520" y="-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7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1FB4C-EC12-4BC6-B5A8-656EC50F09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257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44A3C6-D985-43C1-BFDD-BFB05B73BB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42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651FC-AD2C-4670-8B80-D9DE761C92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59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6C901-4B6F-40F2-B67B-D8431CD1BB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1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99C30B-4008-40B0-8D03-36F8B7EDF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93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E0512-FC95-4C9D-AF0E-1CBB3B24EF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43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035DA-A7DB-4E80-B20A-40E1BC467B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07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F1667E-9BC8-41D4-A4F7-21DD578E07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25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9B338-10B5-4C1A-B3AD-32E5783EAE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11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FC9332-D935-4CF7-AA4C-631C0DA91F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7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EDDEF7-6F05-486A-9D55-53445BCAB3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49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759201-AEF9-47C4-A9A1-623F155EC1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73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</a:defRPr>
            </a:lvl1pPr>
          </a:lstStyle>
          <a:p>
            <a:pPr>
              <a:defRPr/>
            </a:pPr>
            <a:fld id="{7686F2E8-C8A6-4301-8E03-C5AFC0BDDA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WordArt 6"/>
          <p:cNvSpPr>
            <a:spLocks noChangeArrowheads="1" noChangeShapeType="1" noTextEdit="1"/>
          </p:cNvSpPr>
          <p:nvPr/>
        </p:nvSpPr>
        <p:spPr bwMode="auto">
          <a:xfrm>
            <a:off x="685800" y="1654175"/>
            <a:ext cx="8077200" cy="2155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1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</a:sp3d>
          </a:bodyPr>
          <a:lstStyle/>
          <a:p>
            <a:pPr algn="ctr"/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Chapter </a:t>
            </a:r>
            <a:r>
              <a:rPr lang="en-US" sz="3600" kern="10" dirty="0" smtClean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10 </a:t>
            </a:r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Slides</a:t>
            </a:r>
          </a:p>
        </p:txBody>
      </p:sp>
      <p:sp>
        <p:nvSpPr>
          <p:cNvPr id="11" name="WordArt 19"/>
          <p:cNvSpPr>
            <a:spLocks noChangeArrowheads="1" noChangeShapeType="1" noTextEdit="1"/>
          </p:cNvSpPr>
          <p:nvPr/>
        </p:nvSpPr>
        <p:spPr bwMode="auto">
          <a:xfrm rot="235564">
            <a:off x="1209675" y="4751388"/>
            <a:ext cx="3076575" cy="2055812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84639"/>
              </a:avLst>
            </a:prstTxWarp>
            <a:scene3d>
              <a:camera prst="legacyPerspectiveFront">
                <a:rot lat="20519958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sz="20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PowerPoint Presentation</a:t>
            </a:r>
          </a:p>
          <a:p>
            <a:pPr algn="ctr"/>
            <a:r>
              <a:rPr lang="en-US" sz="20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created by: </a:t>
            </a:r>
          </a:p>
          <a:p>
            <a:pPr algn="ctr"/>
            <a:r>
              <a:rPr lang="en-US" sz="20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Mr. John L. M. Schram</a:t>
            </a:r>
          </a:p>
          <a:p>
            <a:pPr algn="ctr"/>
            <a:r>
              <a:rPr lang="en-US" sz="20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and Mr. Leon Schram</a:t>
            </a:r>
          </a:p>
          <a:p>
            <a:pPr algn="ctr"/>
            <a:r>
              <a:rPr lang="en-US" sz="20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Authors of Exposure Java</a:t>
            </a:r>
          </a:p>
        </p:txBody>
      </p:sp>
      <p:pic>
        <p:nvPicPr>
          <p:cNvPr id="12" name="Picture 18" descr="Schra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784725"/>
            <a:ext cx="27432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WordArt 18"/>
          <p:cNvSpPr>
            <a:spLocks noChangeArrowheads="1" noChangeShapeType="1" noTextEdit="1"/>
          </p:cNvSpPr>
          <p:nvPr/>
        </p:nvSpPr>
        <p:spPr bwMode="auto">
          <a:xfrm>
            <a:off x="371475" y="3924300"/>
            <a:ext cx="84010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Focus on OOP: Class Interaction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9" name="WordArt 22"/>
          <p:cNvSpPr>
            <a:spLocks noChangeArrowheads="1" noChangeShapeType="1" noTextEdit="1"/>
          </p:cNvSpPr>
          <p:nvPr/>
        </p:nvSpPr>
        <p:spPr bwMode="auto">
          <a:xfrm>
            <a:off x="152400" y="152400"/>
            <a:ext cx="8915400" cy="11430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4954"/>
              </a:avLst>
            </a:prstTxWarp>
          </a:bodyPr>
          <a:lstStyle/>
          <a:p>
            <a:pPr algn="ctr"/>
            <a:r>
              <a:rPr lang="fr-FR" sz="7200" kern="10" dirty="0" err="1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Exposure</a:t>
            </a:r>
            <a:r>
              <a:rPr lang="fr-FR" sz="7200" kern="10" dirty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 Java </a:t>
            </a:r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2015</a:t>
            </a:r>
            <a:endParaRPr lang="fr-FR" sz="7200" kern="10" dirty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20402"/>
                  </a:gs>
                  <a:gs pos="50000">
                    <a:srgbClr val="FFCC00"/>
                  </a:gs>
                  <a:gs pos="100000">
                    <a:srgbClr val="520402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Impact"/>
            </a:endParaRPr>
          </a:p>
          <a:p>
            <a:pPr algn="ctr"/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AP</a:t>
            </a:r>
            <a:r>
              <a:rPr lang="fr-FR" sz="7200" kern="10" baseline="3000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®</a:t>
            </a:r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CS </a:t>
            </a:r>
            <a:r>
              <a:rPr lang="fr-FR" sz="7200" kern="10" dirty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Edition</a:t>
            </a:r>
            <a:endParaRPr lang="en-US" sz="7200" kern="10" dirty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20402"/>
                  </a:gs>
                  <a:gs pos="50000">
                    <a:srgbClr val="FFCC00"/>
                  </a:gs>
                  <a:gs pos="100000">
                    <a:srgbClr val="520402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WordArt 2"/>
          <p:cNvSpPr>
            <a:spLocks noChangeArrowheads="1" noChangeShapeType="1" noTextEdit="1"/>
          </p:cNvSpPr>
          <p:nvPr/>
        </p:nvSpPr>
        <p:spPr bwMode="auto">
          <a:xfrm>
            <a:off x="457200" y="2133600"/>
            <a:ext cx="8382000" cy="329184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Introduction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10.1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151731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/>
          <p:cNvSpPr txBox="1">
            <a:spLocks noChangeArrowheads="1"/>
          </p:cNvSpPr>
          <p:nvPr/>
        </p:nvSpPr>
        <p:spPr bwMode="auto">
          <a:xfrm>
            <a:off x="304800" y="2196269"/>
            <a:ext cx="8534400" cy="3899529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800" dirty="0">
                <a:latin typeface="Arial" charset="0"/>
                <a:sym typeface="Symbol" pitchFamily="18" charset="2"/>
              </a:rPr>
              <a:t>Object Oriented Programming (OOP) is a style of programming that incorporates these 3 features:</a:t>
            </a:r>
            <a:endParaRPr lang="en-US" sz="1600" dirty="0">
              <a:latin typeface="Arial" charset="0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endParaRPr lang="en-US" sz="1400" dirty="0">
              <a:latin typeface="Arial" charset="0"/>
              <a:sym typeface="Symbol" pitchFamily="18" charset="2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en-US" sz="4800" i="1" dirty="0">
                <a:latin typeface="Arial" charset="0"/>
                <a:cs typeface="Arial" charset="0"/>
                <a:sym typeface="Symbol" pitchFamily="18" charset="2"/>
              </a:rPr>
              <a:t>Encapsulation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sz="4800" i="1" dirty="0">
                <a:latin typeface="Arial" charset="0"/>
                <a:cs typeface="Arial" charset="0"/>
                <a:sym typeface="Symbol" pitchFamily="18" charset="2"/>
              </a:rPr>
              <a:t>Polymorphism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sz="4800" i="1" dirty="0" smtClean="0">
                <a:latin typeface="Arial" charset="0"/>
                <a:cs typeface="Arial" charset="0"/>
                <a:sym typeface="Symbol" pitchFamily="18" charset="2"/>
              </a:rPr>
              <a:t>Class Interaction</a:t>
            </a:r>
            <a:endParaRPr lang="en-US" sz="4800" i="1" dirty="0">
              <a:latin typeface="Arial" charset="0"/>
              <a:cs typeface="Arial" charset="0"/>
              <a:sym typeface="Symbol" pitchFamily="18" charset="2"/>
            </a:endParaRPr>
          </a:p>
          <a:p>
            <a:pPr eaLnBrk="1" hangingPunct="1">
              <a:lnSpc>
                <a:spcPct val="50000"/>
              </a:lnSpc>
            </a:pPr>
            <a:endParaRPr lang="en-US" sz="2400" b="0" dirty="0">
              <a:latin typeface="Arial" charset="0"/>
              <a:sym typeface="Symbol" pitchFamily="18" charset="2"/>
            </a:endParaRPr>
          </a:p>
        </p:txBody>
      </p:sp>
      <p:sp>
        <p:nvSpPr>
          <p:cNvPr id="4099" name="WordArt 4"/>
          <p:cNvSpPr>
            <a:spLocks noChangeArrowheads="1" noChangeShapeType="1" noTextEdit="1"/>
          </p:cNvSpPr>
          <p:nvPr/>
        </p:nvSpPr>
        <p:spPr bwMode="auto">
          <a:xfrm>
            <a:off x="304800" y="104775"/>
            <a:ext cx="8534400" cy="180022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22412"/>
              </a:avLst>
            </a:prstTxWarp>
          </a:bodyPr>
          <a:lstStyle/>
          <a:p>
            <a:pPr algn="ctr"/>
            <a:r>
              <a:rPr lang="en-US" sz="9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OOP Review</a:t>
            </a:r>
            <a:endParaRPr lang="en-US" sz="9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112135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31642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Class Interaction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0" y="1231642"/>
            <a:ext cx="9144000" cy="5016758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Arial" pitchFamily="34" charset="0"/>
                <a:cs typeface="Arial" pitchFamily="34" charset="0"/>
              </a:rPr>
              <a:t>There are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3 types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US" sz="3200" i="1" dirty="0">
                <a:latin typeface="Arial" pitchFamily="34" charset="0"/>
                <a:cs typeface="Arial" pitchFamily="34" charset="0"/>
              </a:rPr>
              <a:t>class interaction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  </a:t>
            </a:r>
            <a:endParaRPr lang="en-US" sz="3200" dirty="0" smtClean="0">
              <a:latin typeface="Arial" pitchFamily="34" charset="0"/>
              <a:cs typeface="Arial" pitchFamily="34" charset="0"/>
            </a:endParaRPr>
          </a:p>
          <a:p>
            <a:pPr eaLnBrk="1" hangingPunct="1"/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en-US" sz="3200" dirty="0" smtClean="0">
                <a:latin typeface="Arial" pitchFamily="34" charset="0"/>
                <a:cs typeface="Arial" pitchFamily="34" charset="0"/>
              </a:rPr>
              <a:t>One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is </a:t>
            </a:r>
            <a:r>
              <a:rPr lang="en-US" sz="3200" i="1" dirty="0" smtClean="0">
                <a:latin typeface="Arial" pitchFamily="34" charset="0"/>
                <a:cs typeface="Arial" pitchFamily="34" charset="0"/>
              </a:rPr>
              <a:t>composition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which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is demonstrated in the first 15 program examples.</a:t>
            </a:r>
          </a:p>
          <a:p>
            <a:pPr eaLnBrk="1" hangingPunct="1"/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en-US" sz="3200" dirty="0" smtClean="0">
                <a:latin typeface="Arial" pitchFamily="34" charset="0"/>
                <a:cs typeface="Arial" pitchFamily="34" charset="0"/>
              </a:rPr>
              <a:t>Another is </a:t>
            </a:r>
            <a:r>
              <a:rPr lang="en-US" sz="3200" i="1" dirty="0" smtClean="0">
                <a:latin typeface="Arial" pitchFamily="34" charset="0"/>
                <a:cs typeface="Arial" pitchFamily="34" charset="0"/>
              </a:rPr>
              <a:t>inheritance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which is demonstrated in the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next 10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program examples.</a:t>
            </a:r>
          </a:p>
          <a:p>
            <a:pPr eaLnBrk="1" hangingPunct="1"/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en-US" sz="3200" dirty="0" smtClean="0">
                <a:latin typeface="Arial" pitchFamily="34" charset="0"/>
                <a:cs typeface="Arial" pitchFamily="34" charset="0"/>
              </a:rPr>
              <a:t>The third is </a:t>
            </a:r>
            <a:r>
              <a:rPr lang="en-US" sz="3200" i="1" dirty="0" smtClean="0">
                <a:latin typeface="Arial" pitchFamily="34" charset="0"/>
                <a:cs typeface="Arial" pitchFamily="34" charset="0"/>
              </a:rPr>
              <a:t>utility classes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which is explained on the next slide.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84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Utility Classes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685800" y="1184970"/>
            <a:ext cx="7848600" cy="452431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3200" dirty="0" smtClean="0">
                <a:latin typeface="Arial" pitchFamily="34" charset="0"/>
                <a:cs typeface="Arial" pitchFamily="34" charset="0"/>
              </a:rPr>
              <a:t>  You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have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actually been working</a:t>
            </a: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with </a:t>
            </a:r>
            <a:r>
              <a:rPr lang="en-US" sz="3200" i="1" dirty="0" smtClean="0">
                <a:latin typeface="Arial" pitchFamily="34" charset="0"/>
                <a:cs typeface="Arial" pitchFamily="34" charset="0"/>
              </a:rPr>
              <a:t>Utility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classes for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a while.  </a:t>
            </a:r>
            <a:endParaRPr lang="en-US" sz="3200" dirty="0" smtClean="0">
              <a:latin typeface="Arial" pitchFamily="34" charset="0"/>
              <a:cs typeface="Arial" pitchFamily="34" charset="0"/>
            </a:endParaRPr>
          </a:p>
          <a:p>
            <a:endParaRPr lang="en-US" sz="3200" dirty="0">
              <a:latin typeface="Arial" pitchFamily="34" charset="0"/>
              <a:cs typeface="Arial" pitchFamily="34" charset="0"/>
            </a:endParaRPr>
          </a:p>
          <a:p>
            <a:r>
              <a:rPr lang="en-US" sz="3200" dirty="0" smtClean="0">
                <a:latin typeface="Arial" pitchFamily="34" charset="0"/>
                <a:cs typeface="Arial" pitchFamily="34" charset="0"/>
              </a:rPr>
              <a:t>These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are classes which are not </a:t>
            </a:r>
            <a:endParaRPr lang="en-US" sz="32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3200" dirty="0" smtClean="0">
                <a:latin typeface="Arial" pitchFamily="34" charset="0"/>
                <a:cs typeface="Arial" pitchFamily="34" charset="0"/>
              </a:rPr>
              <a:t>used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to create objects, but still </a:t>
            </a:r>
            <a:endParaRPr lang="en-US" sz="32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3200" dirty="0" smtClean="0">
                <a:latin typeface="Arial" pitchFamily="34" charset="0"/>
                <a:cs typeface="Arial" pitchFamily="34" charset="0"/>
              </a:rPr>
              <a:t>contain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several useful methods.  </a:t>
            </a:r>
            <a:endParaRPr lang="en-US" sz="3200" dirty="0" smtClean="0">
              <a:latin typeface="Arial" pitchFamily="34" charset="0"/>
              <a:cs typeface="Arial" pitchFamily="34" charset="0"/>
            </a:endParaRPr>
          </a:p>
          <a:p>
            <a:endParaRPr lang="en-US" sz="3200" dirty="0">
              <a:latin typeface="Arial" pitchFamily="34" charset="0"/>
              <a:cs typeface="Arial" pitchFamily="34" charset="0"/>
            </a:endParaRPr>
          </a:p>
          <a:p>
            <a:r>
              <a:rPr lang="en-US" sz="3200" dirty="0" smtClean="0">
                <a:latin typeface="Arial" pitchFamily="34" charset="0"/>
                <a:cs typeface="Arial" pitchFamily="34" charset="0"/>
              </a:rPr>
              <a:t>Java’s </a:t>
            </a:r>
            <a:r>
              <a:rPr lang="en-US" sz="3200" b="0" dirty="0" smtClean="0">
                <a:cs typeface="Arial" pitchFamily="34" charset="0"/>
              </a:rPr>
              <a:t>Math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class and our own </a:t>
            </a:r>
            <a:r>
              <a:rPr lang="en-US" sz="3200" b="0" dirty="0" smtClean="0">
                <a:cs typeface="Arial" pitchFamily="34" charset="0"/>
              </a:rPr>
              <a:t>Utility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class are both perfect examples of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this.</a:t>
            </a:r>
          </a:p>
        </p:txBody>
      </p:sp>
      <p:pic>
        <p:nvPicPr>
          <p:cNvPr id="1029" name="Picture 5" descr="C:\Users\JohnSchram\AppData\Local\Microsoft\Windows\Temporary Internet Files\Content.IE5\2FHIY7Z7\MC900441753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905000"/>
            <a:ext cx="2194560" cy="219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JohnSchram\AppData\Local\Microsoft\Windows\Temporary Internet Files\Content.IE5\2FHIY7Z7\MC900441397[1]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77" t="5186" r="16756"/>
          <a:stretch/>
        </p:blipFill>
        <p:spPr bwMode="auto">
          <a:xfrm>
            <a:off x="0" y="0"/>
            <a:ext cx="1274324" cy="2080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2394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Inheritance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28600" y="914400"/>
            <a:ext cx="8686800" cy="2246313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 i="1">
                <a:latin typeface="Arial" charset="0"/>
                <a:cs typeface="Arial" charset="0"/>
                <a:sym typeface="Symbol" pitchFamily="18" charset="2"/>
              </a:rPr>
              <a:t>Inheritance</a:t>
            </a:r>
            <a:r>
              <a:rPr lang="en-US" sz="2800">
                <a:latin typeface="Arial" charset="0"/>
                <a:cs typeface="Arial" charset="0"/>
                <a:sym typeface="Symbol" pitchFamily="18" charset="2"/>
              </a:rPr>
              <a:t> is the process of using features (both attributes and methods) from an existing class.  </a:t>
            </a:r>
          </a:p>
          <a:p>
            <a:pPr eaLnBrk="1" hangingPunct="1"/>
            <a:r>
              <a:rPr lang="en-US" sz="2800">
                <a:latin typeface="Arial" charset="0"/>
                <a:cs typeface="Arial" charset="0"/>
                <a:sym typeface="Symbol" pitchFamily="18" charset="2"/>
              </a:rPr>
              <a:t>The existing class is called the </a:t>
            </a:r>
            <a:r>
              <a:rPr lang="en-US" sz="2800" i="1">
                <a:latin typeface="Arial" charset="0"/>
                <a:cs typeface="Arial" charset="0"/>
                <a:sym typeface="Symbol" pitchFamily="18" charset="2"/>
              </a:rPr>
              <a:t>superclass</a:t>
            </a:r>
            <a:r>
              <a:rPr lang="en-US" sz="2800">
                <a:latin typeface="Arial" charset="0"/>
                <a:cs typeface="Arial" charset="0"/>
                <a:sym typeface="Symbol" pitchFamily="18" charset="2"/>
              </a:rPr>
              <a:t>  and the new class, which inherits the superclass features, is called the </a:t>
            </a:r>
            <a:r>
              <a:rPr lang="en-US" sz="2800" i="1">
                <a:latin typeface="Arial" charset="0"/>
                <a:cs typeface="Arial" charset="0"/>
                <a:sym typeface="Symbol" pitchFamily="18" charset="2"/>
              </a:rPr>
              <a:t>subclass</a:t>
            </a:r>
            <a:r>
              <a:rPr lang="en-US" sz="2800">
                <a:latin typeface="Arial" charset="0"/>
                <a:cs typeface="Arial" charset="0"/>
                <a:sym typeface="Symbol" pitchFamily="18" charset="2"/>
              </a:rPr>
              <a:t>.</a:t>
            </a:r>
          </a:p>
        </p:txBody>
      </p:sp>
      <p:pic>
        <p:nvPicPr>
          <p:cNvPr id="4100" name="Picture 7" descr="j031188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124200"/>
            <a:ext cx="3048000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Text Box 8"/>
          <p:cNvSpPr txBox="1">
            <a:spLocks noChangeArrowheads="1"/>
          </p:cNvSpPr>
          <p:nvPr/>
        </p:nvSpPr>
        <p:spPr bwMode="auto">
          <a:xfrm>
            <a:off x="5257800" y="3343275"/>
            <a:ext cx="3657600" cy="16097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400">
                <a:latin typeface="Arial" charset="0"/>
                <a:sym typeface="Symbol" pitchFamily="18" charset="2"/>
              </a:rPr>
              <a:t>superclass: Car</a:t>
            </a:r>
          </a:p>
          <a:p>
            <a:pPr eaLnBrk="1" hangingPunct="1"/>
            <a:endParaRPr lang="en-US" sz="240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2400">
                <a:latin typeface="Arial" charset="0"/>
                <a:sym typeface="Symbol" pitchFamily="18" charset="2"/>
              </a:rPr>
              <a:t>subclasses: </a:t>
            </a:r>
          </a:p>
          <a:p>
            <a:pPr eaLnBrk="1" hangingPunct="1"/>
            <a:r>
              <a:rPr lang="en-US" sz="2400">
                <a:latin typeface="Arial" charset="0"/>
                <a:sym typeface="Symbol" pitchFamily="18" charset="2"/>
              </a:rPr>
              <a:t>Truck, Limo &amp; Racecar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304800" y="4343400"/>
            <a:ext cx="8610600" cy="2209800"/>
            <a:chOff x="192" y="2736"/>
            <a:chExt cx="5424" cy="1392"/>
          </a:xfrm>
        </p:grpSpPr>
        <p:pic>
          <p:nvPicPr>
            <p:cNvPr id="4103" name="Picture 4" descr="j031199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8" y="3518"/>
              <a:ext cx="1488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4" name="Picture 5" descr="j031194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" y="3420"/>
              <a:ext cx="2169" cy="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5" name="Picture 6" descr="j031188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3312"/>
              <a:ext cx="1486" cy="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06" name="Line 9"/>
            <p:cNvSpPr>
              <a:spLocks noChangeShapeType="1"/>
            </p:cNvSpPr>
            <p:nvPr/>
          </p:nvSpPr>
          <p:spPr bwMode="auto">
            <a:xfrm>
              <a:off x="864" y="2736"/>
              <a:ext cx="0" cy="52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" name="Line 10"/>
            <p:cNvSpPr>
              <a:spLocks noChangeShapeType="1"/>
            </p:cNvSpPr>
            <p:nvPr/>
          </p:nvSpPr>
          <p:spPr bwMode="auto">
            <a:xfrm>
              <a:off x="1680" y="2784"/>
              <a:ext cx="576" cy="72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" name="Line 11"/>
            <p:cNvSpPr>
              <a:spLocks noChangeShapeType="1"/>
            </p:cNvSpPr>
            <p:nvPr/>
          </p:nvSpPr>
          <p:spPr bwMode="auto">
            <a:xfrm>
              <a:off x="2064" y="2736"/>
              <a:ext cx="2112" cy="76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410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19200"/>
          </a:xfrm>
        </p:spPr>
        <p:txBody>
          <a:bodyPr/>
          <a:lstStyle/>
          <a:p>
            <a:pPr eaLnBrk="1" hangingPunct="1"/>
            <a:r>
              <a:rPr lang="en-US" sz="4800" smtClean="0">
                <a:solidFill>
                  <a:schemeClr val="tx1"/>
                </a:solidFill>
                <a:latin typeface="Arial Black" pitchFamily="34" charset="0"/>
              </a:rPr>
              <a:t>“Is-A” and “Has-A”</a:t>
            </a:r>
            <a:endParaRPr lang="en-US" sz="4800" smtClean="0">
              <a:latin typeface="Arial Black" pitchFamily="34" charset="0"/>
            </a:endParaRP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76200" y="1084263"/>
            <a:ext cx="8991600" cy="569436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600">
                <a:latin typeface="Arial" charset="0"/>
                <a:cs typeface="Arial" charset="0"/>
              </a:rPr>
              <a:t>The creation of new classes with the help of existing classes makes an important distinction between two approaches.</a:t>
            </a:r>
          </a:p>
          <a:p>
            <a:pPr eaLnBrk="1" hangingPunct="1"/>
            <a:endParaRPr lang="en-US" sz="2600">
              <a:latin typeface="Arial" charset="0"/>
              <a:cs typeface="Arial" charset="0"/>
            </a:endParaRPr>
          </a:p>
          <a:p>
            <a:pPr eaLnBrk="1" hangingPunct="1"/>
            <a:r>
              <a:rPr lang="en-US" sz="2600">
                <a:latin typeface="Arial" charset="0"/>
                <a:cs typeface="Arial" charset="0"/>
              </a:rPr>
              <a:t>An </a:t>
            </a:r>
            <a:r>
              <a:rPr lang="en-US" sz="2600" i="1">
                <a:latin typeface="Arial" charset="0"/>
                <a:cs typeface="Arial" charset="0"/>
              </a:rPr>
              <a:t>"is-a"</a:t>
            </a:r>
            <a:r>
              <a:rPr lang="en-US" sz="2600">
                <a:latin typeface="Arial" charset="0"/>
                <a:cs typeface="Arial" charset="0"/>
              </a:rPr>
              <a:t>  relationship declares a new class as a special “new-and-improved” case of an existing class.  In Geometry, a parallelogram </a:t>
            </a:r>
            <a:r>
              <a:rPr lang="en-US" sz="2600" i="1">
                <a:latin typeface="Arial" charset="0"/>
                <a:cs typeface="Arial" charset="0"/>
              </a:rPr>
              <a:t>"is-a"</a:t>
            </a:r>
            <a:r>
              <a:rPr lang="en-US" sz="2600">
                <a:latin typeface="Arial" charset="0"/>
                <a:cs typeface="Arial" charset="0"/>
              </a:rPr>
              <a:t>  quadrilateral with special properties.</a:t>
            </a:r>
          </a:p>
          <a:p>
            <a:pPr eaLnBrk="1" hangingPunct="1"/>
            <a:endParaRPr lang="en-US" sz="2600">
              <a:latin typeface="Arial" charset="0"/>
              <a:cs typeface="Arial" charset="0"/>
            </a:endParaRPr>
          </a:p>
          <a:p>
            <a:pPr eaLnBrk="1" hangingPunct="1"/>
            <a:r>
              <a:rPr lang="en-US" sz="2600">
                <a:latin typeface="Arial" charset="0"/>
                <a:cs typeface="Arial" charset="0"/>
              </a:rPr>
              <a:t>A </a:t>
            </a:r>
            <a:r>
              <a:rPr lang="en-US" sz="2600" i="1">
                <a:latin typeface="Arial" charset="0"/>
                <a:cs typeface="Arial" charset="0"/>
              </a:rPr>
              <a:t>“has-a”</a:t>
            </a:r>
            <a:r>
              <a:rPr lang="en-US" sz="2600">
                <a:latin typeface="Arial" charset="0"/>
                <a:cs typeface="Arial" charset="0"/>
              </a:rPr>
              <a:t>  relationship declares a new class composed of an existing class or classes.  A line </a:t>
            </a:r>
            <a:r>
              <a:rPr lang="en-US" sz="2600" i="1">
                <a:latin typeface="Arial" charset="0"/>
                <a:cs typeface="Arial" charset="0"/>
              </a:rPr>
              <a:t>"has"  </a:t>
            </a:r>
            <a:r>
              <a:rPr lang="en-US" sz="2600">
                <a:latin typeface="Arial" charset="0"/>
                <a:cs typeface="Arial" charset="0"/>
              </a:rPr>
              <a:t>points, a square </a:t>
            </a:r>
            <a:r>
              <a:rPr lang="en-US" sz="2600" i="1">
                <a:latin typeface="Arial" charset="0"/>
                <a:cs typeface="Arial" charset="0"/>
              </a:rPr>
              <a:t>"has"  </a:t>
            </a:r>
            <a:r>
              <a:rPr lang="en-US" sz="2600">
                <a:latin typeface="Arial" charset="0"/>
                <a:cs typeface="Arial" charset="0"/>
              </a:rPr>
              <a:t>lines, and a cube </a:t>
            </a:r>
            <a:r>
              <a:rPr lang="en-US" sz="2600" i="1">
                <a:latin typeface="Arial" charset="0"/>
                <a:cs typeface="Arial" charset="0"/>
              </a:rPr>
              <a:t>"has"  </a:t>
            </a:r>
            <a:r>
              <a:rPr lang="en-US" sz="2600">
                <a:latin typeface="Arial" charset="0"/>
                <a:cs typeface="Arial" charset="0"/>
              </a:rPr>
              <a:t>squares.</a:t>
            </a:r>
          </a:p>
          <a:p>
            <a:pPr eaLnBrk="1" hangingPunct="1"/>
            <a:endParaRPr lang="en-US" sz="2600">
              <a:latin typeface="Arial" charset="0"/>
              <a:cs typeface="Arial" charset="0"/>
            </a:endParaRPr>
          </a:p>
          <a:p>
            <a:pPr eaLnBrk="1" hangingPunct="1"/>
            <a:r>
              <a:rPr lang="en-US" sz="2600">
                <a:latin typeface="Arial" charset="0"/>
                <a:cs typeface="Arial" charset="0"/>
              </a:rPr>
              <a:t>A truck </a:t>
            </a:r>
            <a:r>
              <a:rPr lang="en-US" sz="2600" i="1">
                <a:latin typeface="Arial" charset="0"/>
                <a:cs typeface="Arial" charset="0"/>
              </a:rPr>
              <a:t>"is-a"</a:t>
            </a:r>
            <a:r>
              <a:rPr lang="en-US" sz="2600">
                <a:latin typeface="Arial" charset="0"/>
                <a:cs typeface="Arial" charset="0"/>
              </a:rPr>
              <a:t>  car, but it </a:t>
            </a:r>
            <a:r>
              <a:rPr lang="en-US" sz="2600" i="1">
                <a:latin typeface="Arial" charset="0"/>
                <a:cs typeface="Arial" charset="0"/>
              </a:rPr>
              <a:t>"has-an"</a:t>
            </a:r>
            <a:r>
              <a:rPr lang="en-US" sz="2600">
                <a:latin typeface="Arial" charset="0"/>
                <a:cs typeface="Arial" charset="0"/>
              </a:rPr>
              <a:t>  engine.</a:t>
            </a:r>
          </a:p>
        </p:txBody>
      </p:sp>
    </p:spTree>
    <p:extLst>
      <p:ext uri="{BB962C8B-B14F-4D97-AF65-F5344CB8AC3E}">
        <p14:creationId xmlns:p14="http://schemas.microsoft.com/office/powerpoint/2010/main" val="418161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sz="4800" smtClean="0">
                <a:latin typeface="Arial Black" pitchFamily="34" charset="0"/>
              </a:rPr>
              <a:t>Composition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76200" y="914400"/>
            <a:ext cx="8915400" cy="1570038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400" i="1">
                <a:latin typeface="Arial" charset="0"/>
                <a:cs typeface="Arial" charset="0"/>
                <a:sym typeface="Symbol" pitchFamily="18" charset="2"/>
              </a:rPr>
              <a:t>Composition</a:t>
            </a:r>
            <a:r>
              <a:rPr lang="en-US" sz="2400">
                <a:latin typeface="Arial" charset="0"/>
                <a:cs typeface="Arial" charset="0"/>
                <a:sym typeface="Symbol" pitchFamily="18" charset="2"/>
              </a:rPr>
              <a:t>  occurs when the data attributes of one class are objects of another </a:t>
            </a:r>
            <a:r>
              <a:rPr lang="en-US" sz="2400">
                <a:latin typeface="Arial" charset="0"/>
                <a:sym typeface="Symbol" pitchFamily="18" charset="2"/>
              </a:rPr>
              <a:t>class.  </a:t>
            </a:r>
          </a:p>
          <a:p>
            <a:pPr eaLnBrk="1" hangingPunct="1"/>
            <a:r>
              <a:rPr lang="en-US" sz="2400">
                <a:latin typeface="Arial" charset="0"/>
                <a:sym typeface="Symbol" pitchFamily="18" charset="2"/>
              </a:rPr>
              <a:t>You do NOT say “A Car is-an Engine” or “A Car is 4 tires” but you DO say “A Car has-an Engine” &amp; “A car has 4 tires.”</a:t>
            </a:r>
          </a:p>
        </p:txBody>
      </p:sp>
      <p:sp>
        <p:nvSpPr>
          <p:cNvPr id="6148" name="Text Box 8"/>
          <p:cNvSpPr txBox="1">
            <a:spLocks noChangeArrowheads="1"/>
          </p:cNvSpPr>
          <p:nvPr/>
        </p:nvSpPr>
        <p:spPr bwMode="auto">
          <a:xfrm>
            <a:off x="1066800" y="2743200"/>
            <a:ext cx="6858000" cy="380047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400">
                <a:latin typeface="Arial" charset="0"/>
                <a:sym typeface="Symbol" pitchFamily="18" charset="2"/>
              </a:rPr>
              <a:t>class: Car</a:t>
            </a:r>
          </a:p>
          <a:p>
            <a:pPr eaLnBrk="1" hangingPunct="1"/>
            <a:endParaRPr lang="en-US" sz="2400">
              <a:latin typeface="Arial" charset="0"/>
              <a:sym typeface="Symbol" pitchFamily="18" charset="2"/>
            </a:endParaRPr>
          </a:p>
          <a:p>
            <a:pPr eaLnBrk="1" hangingPunct="1"/>
            <a:endParaRPr lang="en-US" sz="2400">
              <a:latin typeface="Arial" charset="0"/>
              <a:sym typeface="Symbol" pitchFamily="18" charset="2"/>
            </a:endParaRPr>
          </a:p>
          <a:p>
            <a:pPr eaLnBrk="1" hangingPunct="1"/>
            <a:endParaRPr lang="en-US" sz="2400">
              <a:latin typeface="Arial" charset="0"/>
              <a:sym typeface="Symbol" pitchFamily="18" charset="2"/>
            </a:endParaRPr>
          </a:p>
          <a:p>
            <a:pPr eaLnBrk="1" hangingPunct="1"/>
            <a:endParaRPr lang="en-US" sz="2400">
              <a:latin typeface="Arial" charset="0"/>
              <a:sym typeface="Symbol" pitchFamily="18" charset="2"/>
            </a:endParaRPr>
          </a:p>
          <a:p>
            <a:pPr eaLnBrk="1" hangingPunct="1"/>
            <a:endParaRPr lang="en-US" sz="240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2400">
                <a:latin typeface="Arial" charset="0"/>
                <a:sym typeface="Symbol" pitchFamily="18" charset="2"/>
              </a:rPr>
              <a:t>Contained</a:t>
            </a:r>
          </a:p>
          <a:p>
            <a:pPr eaLnBrk="1" hangingPunct="1"/>
            <a:r>
              <a:rPr lang="en-US" sz="2400">
                <a:latin typeface="Arial" charset="0"/>
                <a:sym typeface="Symbol" pitchFamily="18" charset="2"/>
              </a:rPr>
              <a:t>Objects:</a:t>
            </a:r>
          </a:p>
          <a:p>
            <a:pPr eaLnBrk="1" hangingPunct="1"/>
            <a:r>
              <a:rPr lang="en-US" sz="2400">
                <a:latin typeface="Arial" charset="0"/>
                <a:sym typeface="Symbol" pitchFamily="18" charset="2"/>
              </a:rPr>
              <a:t>1 Engine</a:t>
            </a:r>
          </a:p>
          <a:p>
            <a:pPr eaLnBrk="1" hangingPunct="1"/>
            <a:r>
              <a:rPr lang="en-US" sz="2400">
                <a:latin typeface="Arial" charset="0"/>
                <a:sym typeface="Symbol" pitchFamily="18" charset="2"/>
              </a:rPr>
              <a:t>4 Tires</a:t>
            </a:r>
          </a:p>
        </p:txBody>
      </p:sp>
      <p:pic>
        <p:nvPicPr>
          <p:cNvPr id="6149" name="Picture 7" descr="j031188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895600"/>
            <a:ext cx="3048000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0" name="Line 20"/>
          <p:cNvSpPr>
            <a:spLocks noChangeShapeType="1"/>
          </p:cNvSpPr>
          <p:nvPr/>
        </p:nvSpPr>
        <p:spPr bwMode="auto">
          <a:xfrm flipH="1" flipV="1">
            <a:off x="3429000" y="4038600"/>
            <a:ext cx="7620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0"/>
          <p:cNvSpPr>
            <a:spLocks noChangeShapeType="1"/>
          </p:cNvSpPr>
          <p:nvPr/>
        </p:nvSpPr>
        <p:spPr bwMode="auto">
          <a:xfrm flipH="1" flipV="1">
            <a:off x="3962400" y="3962400"/>
            <a:ext cx="9525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20"/>
          <p:cNvSpPr>
            <a:spLocks noChangeShapeType="1"/>
          </p:cNvSpPr>
          <p:nvPr/>
        </p:nvSpPr>
        <p:spPr bwMode="auto">
          <a:xfrm flipV="1">
            <a:off x="4705350" y="4267200"/>
            <a:ext cx="9525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 flipV="1">
            <a:off x="4800600" y="4114800"/>
            <a:ext cx="76200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154" name="Picture 11" descr="C:\Documents and Settings\JohnSchram\Local Settings\Temporary Internet Files\Content.IE5\URQ75OAI\MPj04054000000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8" t="8333" r="10715" b="21667"/>
          <a:stretch>
            <a:fillRect/>
          </a:stretch>
        </p:blipFill>
        <p:spPr bwMode="auto">
          <a:xfrm>
            <a:off x="2971800" y="4800600"/>
            <a:ext cx="21050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Straight Arrow Connector 17"/>
          <p:cNvCxnSpPr>
            <a:cxnSpLocks noChangeShapeType="1"/>
          </p:cNvCxnSpPr>
          <p:nvPr/>
        </p:nvCxnSpPr>
        <p:spPr bwMode="auto">
          <a:xfrm flipV="1">
            <a:off x="5257800" y="3438525"/>
            <a:ext cx="1524000" cy="1588"/>
          </a:xfrm>
          <a:prstGeom prst="straightConnector1">
            <a:avLst/>
          </a:prstGeom>
          <a:noFill/>
          <a:ln w="76200" algn="ctr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Straight Connector 20"/>
          <p:cNvCxnSpPr>
            <a:cxnSpLocks noChangeShapeType="1"/>
          </p:cNvCxnSpPr>
          <p:nvPr/>
        </p:nvCxnSpPr>
        <p:spPr bwMode="auto">
          <a:xfrm rot="5400000">
            <a:off x="5967413" y="4205288"/>
            <a:ext cx="1628775" cy="3175"/>
          </a:xfrm>
          <a:prstGeom prst="line">
            <a:avLst/>
          </a:prstGeom>
          <a:noFill/>
          <a:ln w="762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157" name="Picture 12" descr="MCIN00694_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795838"/>
            <a:ext cx="1905000" cy="152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84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" grpId="0" animBg="1"/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92" name="Picture 24" descr="C:\Users\JohnSchram\AppData\Local\Microsoft\Windows\Temporary Internet Files\Content.IE5\SJX1ZHQW\MC900232651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297" y="3581400"/>
            <a:ext cx="1486277" cy="1865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19200"/>
          </a:xfrm>
        </p:spPr>
        <p:txBody>
          <a:bodyPr/>
          <a:lstStyle/>
          <a:p>
            <a:pPr eaLnBrk="1" hangingPunct="1"/>
            <a:r>
              <a:rPr lang="en-US" sz="5200" b="1" smtClean="0">
                <a:solidFill>
                  <a:schemeClr val="tx1"/>
                </a:solidFill>
                <a:cs typeface="Arial" charset="0"/>
              </a:rPr>
              <a:t>Inheritance vs. Composition</a:t>
            </a:r>
            <a:endParaRPr lang="en-US" sz="5200" b="1" smtClean="0">
              <a:cs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" y="1295400"/>
          <a:ext cx="8839200" cy="18895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19600"/>
                <a:gridCol w="4419600"/>
              </a:tblGrid>
              <a:tr h="13711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In computer science an </a:t>
                      </a:r>
                      <a:r>
                        <a:rPr lang="en-US" sz="2800" b="1" i="1" dirty="0" smtClean="0">
                          <a:latin typeface="Arial" pitchFamily="34" charset="0"/>
                          <a:cs typeface="Arial" pitchFamily="34" charset="0"/>
                        </a:rPr>
                        <a:t>"is-a"</a:t>
                      </a:r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  relationship is called </a:t>
                      </a:r>
                      <a:r>
                        <a:rPr lang="en-US" sz="2800" b="1" i="1" dirty="0" smtClean="0">
                          <a:latin typeface="Arial" pitchFamily="34" charset="0"/>
                          <a:cs typeface="Arial" pitchFamily="34" charset="0"/>
                        </a:rPr>
                        <a:t>inheritance</a:t>
                      </a:r>
                      <a:endParaRPr lang="en-US" sz="2800" b="1" i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78" marB="45678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and a </a:t>
                      </a:r>
                      <a:r>
                        <a:rPr lang="en-US" sz="2800" b="1" i="1" dirty="0" smtClean="0">
                          <a:latin typeface="Arial" pitchFamily="34" charset="0"/>
                          <a:cs typeface="Arial" pitchFamily="34" charset="0"/>
                        </a:rPr>
                        <a:t>"has-a" </a:t>
                      </a:r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 relationship is called </a:t>
                      </a:r>
                      <a:r>
                        <a:rPr lang="en-US" sz="2800" b="1" i="1" dirty="0" smtClean="0">
                          <a:latin typeface="Arial" pitchFamily="34" charset="0"/>
                          <a:cs typeface="Arial" pitchFamily="34" charset="0"/>
                        </a:rPr>
                        <a:t>composition</a:t>
                      </a:r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678" marB="45678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</a:tr>
              <a:tr h="5179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i="1" dirty="0" smtClean="0">
                          <a:latin typeface="Arial" charset="0"/>
                          <a:sym typeface="Symbol" pitchFamily="18" charset="2"/>
                        </a:rPr>
                        <a:t>“A </a:t>
                      </a:r>
                      <a:r>
                        <a:rPr lang="en-US" sz="2800" i="1" dirty="0" err="1" smtClean="0">
                          <a:latin typeface="Arial" charset="0"/>
                          <a:sym typeface="Symbol" pitchFamily="18" charset="2"/>
                        </a:rPr>
                        <a:t>TireSwing</a:t>
                      </a:r>
                      <a:r>
                        <a:rPr lang="en-US" sz="2800" i="1" dirty="0" smtClean="0">
                          <a:latin typeface="Arial" charset="0"/>
                          <a:sym typeface="Symbol" pitchFamily="18" charset="2"/>
                        </a:rPr>
                        <a:t> </a:t>
                      </a:r>
                      <a:r>
                        <a:rPr lang="en-US" sz="2800" b="1" i="1" dirty="0" smtClean="0">
                          <a:latin typeface="Arial" charset="0"/>
                          <a:sym typeface="Symbol" pitchFamily="18" charset="2"/>
                        </a:rPr>
                        <a:t>is-a</a:t>
                      </a:r>
                      <a:r>
                        <a:rPr lang="en-US" sz="2800" i="1" dirty="0" smtClean="0">
                          <a:latin typeface="Arial" charset="0"/>
                          <a:sym typeface="Symbol" pitchFamily="18" charset="2"/>
                        </a:rPr>
                        <a:t> Swing”.</a:t>
                      </a:r>
                      <a:endParaRPr lang="en-US" sz="2800" b="1" i="1" dirty="0"/>
                    </a:p>
                  </a:txBody>
                  <a:tcPr marT="45678" marB="45678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i="1" dirty="0" smtClean="0">
                          <a:latin typeface="Arial" charset="0"/>
                          <a:sym typeface="Symbol" pitchFamily="18" charset="2"/>
                        </a:rPr>
                        <a:t>“A </a:t>
                      </a:r>
                      <a:r>
                        <a:rPr lang="en-US" sz="2800" i="1" dirty="0" err="1" smtClean="0">
                          <a:latin typeface="Arial" charset="0"/>
                          <a:sym typeface="Symbol" pitchFamily="18" charset="2"/>
                        </a:rPr>
                        <a:t>TireSwing</a:t>
                      </a:r>
                      <a:r>
                        <a:rPr lang="en-US" sz="2800" i="1" dirty="0" smtClean="0">
                          <a:latin typeface="Arial" charset="0"/>
                          <a:sym typeface="Symbol" pitchFamily="18" charset="2"/>
                        </a:rPr>
                        <a:t> </a:t>
                      </a:r>
                      <a:r>
                        <a:rPr lang="en-US" sz="2800" b="1" i="1" dirty="0" smtClean="0">
                          <a:latin typeface="Arial" charset="0"/>
                          <a:sym typeface="Symbol" pitchFamily="18" charset="2"/>
                        </a:rPr>
                        <a:t>has-a</a:t>
                      </a:r>
                      <a:r>
                        <a:rPr lang="en-US" sz="2800" i="1" dirty="0" smtClean="0">
                          <a:latin typeface="Arial" charset="0"/>
                          <a:sym typeface="Symbol" pitchFamily="18" charset="2"/>
                        </a:rPr>
                        <a:t> Tire.”</a:t>
                      </a:r>
                      <a:endParaRPr lang="en-US" sz="2800" b="1" i="1" dirty="0"/>
                    </a:p>
                  </a:txBody>
                  <a:tcPr marT="45678" marB="45678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pic>
        <p:nvPicPr>
          <p:cNvPr id="7182" name="Picture 7" descr="j021534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4343400"/>
            <a:ext cx="1092200" cy="153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4" name="Picture 11" descr="j023205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3713163"/>
            <a:ext cx="1819275" cy="184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5" name="Line 13"/>
          <p:cNvSpPr>
            <a:spLocks noChangeShapeType="1"/>
          </p:cNvSpPr>
          <p:nvPr/>
        </p:nvSpPr>
        <p:spPr bwMode="auto">
          <a:xfrm>
            <a:off x="2651125" y="4724400"/>
            <a:ext cx="100647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186" name="Group 21"/>
          <p:cNvGrpSpPr>
            <a:grpSpLocks/>
          </p:cNvGrpSpPr>
          <p:nvPr/>
        </p:nvGrpSpPr>
        <p:grpSpPr bwMode="auto">
          <a:xfrm rot="-806614">
            <a:off x="4623027" y="5120819"/>
            <a:ext cx="3200400" cy="609600"/>
            <a:chOff x="4308879" y="5486400"/>
            <a:chExt cx="3200400" cy="609600"/>
          </a:xfrm>
        </p:grpSpPr>
        <p:sp>
          <p:nvSpPr>
            <p:cNvPr id="7190" name="Line 13"/>
            <p:cNvSpPr>
              <a:spLocks noChangeShapeType="1"/>
            </p:cNvSpPr>
            <p:nvPr/>
          </p:nvSpPr>
          <p:spPr bwMode="auto">
            <a:xfrm rot="-5400000">
              <a:off x="4038600" y="5791200"/>
              <a:ext cx="60960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4308879" y="6082227"/>
              <a:ext cx="3200400" cy="1588"/>
            </a:xfrm>
            <a:prstGeom prst="line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187" name="WordArt 6"/>
          <p:cNvSpPr>
            <a:spLocks noChangeArrowheads="1" noChangeShapeType="1" noTextEdit="1"/>
          </p:cNvSpPr>
          <p:nvPr/>
        </p:nvSpPr>
        <p:spPr bwMode="auto">
          <a:xfrm>
            <a:off x="5257800" y="3505200"/>
            <a:ext cx="2286000" cy="914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3778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Subclass: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TireSwing</a:t>
            </a:r>
          </a:p>
        </p:txBody>
      </p:sp>
      <p:sp>
        <p:nvSpPr>
          <p:cNvPr id="7188" name="WordArt 6"/>
          <p:cNvSpPr>
            <a:spLocks noChangeArrowheads="1" noChangeShapeType="1" noTextEdit="1"/>
          </p:cNvSpPr>
          <p:nvPr/>
        </p:nvSpPr>
        <p:spPr bwMode="auto">
          <a:xfrm>
            <a:off x="304800" y="5410200"/>
            <a:ext cx="2667000" cy="914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3778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Superclass: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Swing</a:t>
            </a:r>
          </a:p>
        </p:txBody>
      </p:sp>
      <p:sp>
        <p:nvSpPr>
          <p:cNvPr id="7189" name="WordArt 6"/>
          <p:cNvSpPr>
            <a:spLocks noChangeArrowheads="1" noChangeShapeType="1" noTextEdit="1"/>
          </p:cNvSpPr>
          <p:nvPr/>
        </p:nvSpPr>
        <p:spPr bwMode="auto">
          <a:xfrm>
            <a:off x="6096000" y="5943600"/>
            <a:ext cx="2590800" cy="685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Contained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class: Tire</a:t>
            </a:r>
          </a:p>
        </p:txBody>
      </p:sp>
    </p:spTree>
    <p:extLst>
      <p:ext uri="{BB962C8B-B14F-4D97-AF65-F5344CB8AC3E}">
        <p14:creationId xmlns:p14="http://schemas.microsoft.com/office/powerpoint/2010/main" val="32173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10.2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4" name="WordArt 2"/>
          <p:cNvSpPr>
            <a:spLocks noChangeArrowheads="1" noChangeShapeType="1" noTextEdit="1"/>
          </p:cNvSpPr>
          <p:nvPr/>
        </p:nvSpPr>
        <p:spPr bwMode="auto">
          <a:xfrm>
            <a:off x="381000" y="2209800"/>
            <a:ext cx="8382000" cy="2743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1311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Point class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Java1001.java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This program introduces the first stage of &lt;Point&gt; class, which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stores the (X,Y) values of one coordinate graphics location.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Java1001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public static void main(String[]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Point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point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new Point();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("Point at (" +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point.getX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+ "," +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point.getY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+ ")");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 Point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x;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y;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   {   x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0;   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0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;   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       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   {   return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;   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   {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;   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JohnSchram\AppData\Local\Microsoft\Windows\Temporary Internet Files\Content.IE5\E4G0Q3HQ\MC900438002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724400" y="4876800"/>
            <a:ext cx="1863725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470275" y="3429000"/>
            <a:ext cx="3921125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Point at (0,0)</a:t>
            </a:r>
            <a:endParaRPr lang="en-US" sz="3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57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Java1002.java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The &lt;Point&gt; class is improved with 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// a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second "overloaded" constructor.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public class Java1002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public static void main(String[]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Point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point1 = new Point();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("Point1 at (" +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point1.getX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 + "," + point1.getY() + ")");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Point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point2 = new Point(500,300);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("Point2 at (" +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point2.getX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 + "," + point2.getY() + ")");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33469" y="1371600"/>
            <a:ext cx="5129531" cy="10772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Point1 at (0,0)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Point2 at (500,300)</a:t>
            </a:r>
            <a:endParaRPr lang="en-US" sz="3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30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Point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x;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y;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	public Point()   {   x = 0;   y = 0;  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b="0" dirty="0">
                <a:cs typeface="Times New Roman" pitchFamily="18" charset="0"/>
              </a:rPr>
              <a:t>   </a:t>
            </a:r>
            <a:r>
              <a:rPr lang="en-US" sz="2800" b="0" dirty="0" smtClean="0">
                <a:cs typeface="Times New Roman" pitchFamily="18" charset="0"/>
              </a:rPr>
              <a:t>	public </a:t>
            </a:r>
            <a:r>
              <a:rPr lang="en-US" sz="2800" b="0" dirty="0">
                <a:cs typeface="Times New Roman" pitchFamily="18" charset="0"/>
              </a:rPr>
              <a:t>Point(</a:t>
            </a:r>
            <a:r>
              <a:rPr lang="en-US" sz="2800" b="0" dirty="0" err="1">
                <a:cs typeface="Times New Roman" pitchFamily="18" charset="0"/>
              </a:rPr>
              <a:t>int</a:t>
            </a:r>
            <a:r>
              <a:rPr lang="en-US" sz="2800" b="0" dirty="0">
                <a:cs typeface="Times New Roman" pitchFamily="18" charset="0"/>
              </a:rPr>
              <a:t> x, </a:t>
            </a:r>
            <a:r>
              <a:rPr lang="en-US" sz="2800" b="0" dirty="0" err="1">
                <a:cs typeface="Times New Roman" pitchFamily="18" charset="0"/>
              </a:rPr>
              <a:t>int</a:t>
            </a:r>
            <a:r>
              <a:rPr lang="en-US" sz="2800" b="0" dirty="0">
                <a:cs typeface="Times New Roman" pitchFamily="18" charset="0"/>
              </a:rPr>
              <a:t> y)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b="0" dirty="0">
                <a:cs typeface="Times New Roman" pitchFamily="18" charset="0"/>
              </a:rPr>
              <a:t>   </a:t>
            </a:r>
            <a:r>
              <a:rPr lang="en-US" sz="2800" b="0" dirty="0" smtClean="0">
                <a:cs typeface="Times New Roman" pitchFamily="18" charset="0"/>
              </a:rPr>
              <a:t>	{</a:t>
            </a:r>
            <a:endParaRPr lang="en-US" sz="2800" b="0" dirty="0"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b="0" dirty="0">
                <a:cs typeface="Times New Roman" pitchFamily="18" charset="0"/>
              </a:rPr>
              <a:t>      </a:t>
            </a:r>
            <a:r>
              <a:rPr lang="en-US" sz="2800" b="0" dirty="0" smtClean="0">
                <a:cs typeface="Times New Roman" pitchFamily="18" charset="0"/>
              </a:rPr>
              <a:t>	</a:t>
            </a:r>
            <a:r>
              <a:rPr lang="en-US" sz="2800" b="0" dirty="0" err="1" smtClean="0">
                <a:cs typeface="Times New Roman" pitchFamily="18" charset="0"/>
              </a:rPr>
              <a:t>this.x</a:t>
            </a:r>
            <a:r>
              <a:rPr lang="en-US" sz="2800" b="0" dirty="0" smtClean="0">
                <a:cs typeface="Times New Roman" pitchFamily="18" charset="0"/>
              </a:rPr>
              <a:t> </a:t>
            </a:r>
            <a:r>
              <a:rPr lang="en-US" sz="2800" b="0" dirty="0">
                <a:cs typeface="Times New Roman" pitchFamily="18" charset="0"/>
              </a:rPr>
              <a:t>= x;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b="0" dirty="0">
                <a:cs typeface="Times New Roman" pitchFamily="18" charset="0"/>
              </a:rPr>
              <a:t>      </a:t>
            </a:r>
            <a:r>
              <a:rPr lang="en-US" sz="2800" b="0" dirty="0" smtClean="0">
                <a:cs typeface="Times New Roman" pitchFamily="18" charset="0"/>
              </a:rPr>
              <a:t>	</a:t>
            </a:r>
            <a:r>
              <a:rPr lang="en-US" sz="2800" b="0" dirty="0" err="1" smtClean="0">
                <a:cs typeface="Times New Roman" pitchFamily="18" charset="0"/>
              </a:rPr>
              <a:t>this.y</a:t>
            </a:r>
            <a:r>
              <a:rPr lang="en-US" sz="2800" b="0" dirty="0" smtClean="0">
                <a:cs typeface="Times New Roman" pitchFamily="18" charset="0"/>
              </a:rPr>
              <a:t> </a:t>
            </a:r>
            <a:r>
              <a:rPr lang="en-US" sz="2800" b="0" dirty="0">
                <a:cs typeface="Times New Roman" pitchFamily="18" charset="0"/>
              </a:rPr>
              <a:t>= y;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b="0" dirty="0">
                <a:cs typeface="Times New Roman" pitchFamily="18" charset="0"/>
              </a:rPr>
              <a:t>   </a:t>
            </a:r>
            <a:r>
              <a:rPr lang="en-US" sz="2800" b="0" dirty="0" smtClean="0">
                <a:cs typeface="Times New Roman" pitchFamily="18" charset="0"/>
              </a:rPr>
              <a:t>	}</a:t>
            </a:r>
            <a:endParaRPr lang="en-US" sz="2800" b="0" dirty="0"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	public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getX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   {   return x;  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	public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getY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   {   return y;  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7782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Java1003.java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The &lt;Point&gt; class is now used in a graphics program.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public class Java1003 extends Applet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public void paint(Graphics g)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Point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point1 = new Point();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Color.red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g.fillRect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(point1.getX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(),point1.getY(),400,300);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Point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point2 = new Point(300,200);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Color.blue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g.fillRect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(point2.getX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(),point2.getY(),450,200);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8978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374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8803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Java1004.java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This program adds two set methods to the &lt;Point&gt; class.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public class Java1004 extends Applet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public void paint(Graphics g)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Point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point1 = new Point();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Color.red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g.fillRect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(point1.getX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(),point1.getY(),400,300);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Point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point2 = new Point(300,200);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Color.blue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g.fillRect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(point2.getX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(),point2.getY(),450,200);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</a:t>
            </a:r>
            <a:r>
              <a:rPr lang="en-US" sz="2200" b="0" dirty="0" smtClean="0">
                <a:cs typeface="Times New Roman" pitchFamily="18" charset="0"/>
              </a:rPr>
              <a:t>	point2.setX(100</a:t>
            </a:r>
            <a:r>
              <a:rPr lang="en-US" sz="2200" b="0" dirty="0"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</a:t>
            </a:r>
            <a:r>
              <a:rPr lang="en-US" sz="2200" b="0" dirty="0" smtClean="0">
                <a:cs typeface="Times New Roman" pitchFamily="18" charset="0"/>
              </a:rPr>
              <a:t>	point2.setY(100</a:t>
            </a:r>
            <a:r>
              <a:rPr lang="en-US" sz="2200" b="0" dirty="0"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Color.green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g.fillRect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(point2.getX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(),point2.getY(),500,500);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02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Point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x;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y;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   {   x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0;   y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 0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   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Point(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x,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y)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this.x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 x;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this.y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 y;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getX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{   return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getY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{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return y;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b="0" dirty="0">
                <a:cs typeface="Times New Roman" pitchFamily="18" charset="0"/>
              </a:rPr>
              <a:t>   </a:t>
            </a:r>
            <a:r>
              <a:rPr lang="en-US" sz="2800" b="0" dirty="0" smtClean="0">
                <a:cs typeface="Times New Roman" pitchFamily="18" charset="0"/>
              </a:rPr>
              <a:t>	public </a:t>
            </a:r>
            <a:r>
              <a:rPr lang="en-US" sz="2800" b="0" dirty="0">
                <a:cs typeface="Times New Roman" pitchFamily="18" charset="0"/>
              </a:rPr>
              <a:t>void </a:t>
            </a:r>
            <a:r>
              <a:rPr lang="en-US" sz="2800" b="0" dirty="0" err="1">
                <a:cs typeface="Times New Roman" pitchFamily="18" charset="0"/>
              </a:rPr>
              <a:t>setX</a:t>
            </a:r>
            <a:r>
              <a:rPr lang="en-US" sz="2800" b="0" dirty="0">
                <a:cs typeface="Times New Roman" pitchFamily="18" charset="0"/>
              </a:rPr>
              <a:t>(</a:t>
            </a:r>
            <a:r>
              <a:rPr lang="en-US" sz="2800" b="0" dirty="0" err="1">
                <a:cs typeface="Times New Roman" pitchFamily="18" charset="0"/>
              </a:rPr>
              <a:t>int</a:t>
            </a:r>
            <a:r>
              <a:rPr lang="en-US" sz="2800" b="0" dirty="0">
                <a:cs typeface="Times New Roman" pitchFamily="18" charset="0"/>
              </a:rPr>
              <a:t> x) </a:t>
            </a:r>
            <a:r>
              <a:rPr lang="en-US" sz="2800" b="0" dirty="0" smtClean="0">
                <a:cs typeface="Times New Roman" pitchFamily="18" charset="0"/>
              </a:rPr>
              <a:t>  {   </a:t>
            </a:r>
            <a:r>
              <a:rPr lang="en-US" sz="2800" b="0" dirty="0" err="1" smtClean="0">
                <a:cs typeface="Times New Roman" pitchFamily="18" charset="0"/>
              </a:rPr>
              <a:t>this.x</a:t>
            </a:r>
            <a:r>
              <a:rPr lang="en-US" sz="2800" b="0" dirty="0" smtClean="0">
                <a:cs typeface="Times New Roman" pitchFamily="18" charset="0"/>
              </a:rPr>
              <a:t> </a:t>
            </a:r>
            <a:r>
              <a:rPr lang="en-US" sz="2800" b="0" dirty="0">
                <a:cs typeface="Times New Roman" pitchFamily="18" charset="0"/>
              </a:rPr>
              <a:t>= x; </a:t>
            </a:r>
            <a:r>
              <a:rPr lang="en-US" sz="2800" b="0" dirty="0" smtClean="0">
                <a:cs typeface="Times New Roman" pitchFamily="18" charset="0"/>
              </a:rPr>
              <a:t>  }</a:t>
            </a:r>
            <a:endParaRPr lang="en-US" sz="2800" b="0" dirty="0"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b="0" dirty="0">
                <a:cs typeface="Times New Roman" pitchFamily="18" charset="0"/>
              </a:rPr>
              <a:t>   </a:t>
            </a:r>
            <a:r>
              <a:rPr lang="en-US" sz="2800" b="0" dirty="0" smtClean="0">
                <a:cs typeface="Times New Roman" pitchFamily="18" charset="0"/>
              </a:rPr>
              <a:t>	public </a:t>
            </a:r>
            <a:r>
              <a:rPr lang="en-US" sz="2800" b="0" dirty="0">
                <a:cs typeface="Times New Roman" pitchFamily="18" charset="0"/>
              </a:rPr>
              <a:t>void </a:t>
            </a:r>
            <a:r>
              <a:rPr lang="en-US" sz="2800" b="0" dirty="0" err="1">
                <a:cs typeface="Times New Roman" pitchFamily="18" charset="0"/>
              </a:rPr>
              <a:t>setY</a:t>
            </a:r>
            <a:r>
              <a:rPr lang="en-US" sz="2800" b="0" dirty="0">
                <a:cs typeface="Times New Roman" pitchFamily="18" charset="0"/>
              </a:rPr>
              <a:t>(</a:t>
            </a:r>
            <a:r>
              <a:rPr lang="en-US" sz="2800" b="0" dirty="0" err="1">
                <a:cs typeface="Times New Roman" pitchFamily="18" charset="0"/>
              </a:rPr>
              <a:t>int</a:t>
            </a:r>
            <a:r>
              <a:rPr lang="en-US" sz="2800" b="0" dirty="0">
                <a:cs typeface="Times New Roman" pitchFamily="18" charset="0"/>
              </a:rPr>
              <a:t> y) </a:t>
            </a:r>
            <a:r>
              <a:rPr lang="en-US" sz="2800" b="0" dirty="0" smtClean="0">
                <a:cs typeface="Times New Roman" pitchFamily="18" charset="0"/>
              </a:rPr>
              <a:t>  {   </a:t>
            </a:r>
            <a:r>
              <a:rPr lang="en-US" sz="2800" b="0" dirty="0" err="1">
                <a:cs typeface="Times New Roman" pitchFamily="18" charset="0"/>
              </a:rPr>
              <a:t>this.y</a:t>
            </a:r>
            <a:r>
              <a:rPr lang="en-US" sz="2800" b="0" dirty="0">
                <a:cs typeface="Times New Roman" pitchFamily="18" charset="0"/>
              </a:rPr>
              <a:t> = y</a:t>
            </a:r>
            <a:r>
              <a:rPr lang="en-US" sz="2800" b="0" dirty="0" smtClean="0">
                <a:cs typeface="Times New Roman" pitchFamily="18" charset="0"/>
              </a:rPr>
              <a:t>;   }</a:t>
            </a:r>
            <a:endParaRPr lang="en-US" sz="2800" b="0" dirty="0"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70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0619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Java1005.java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The &lt;Point&gt; class is placed in an external "stand-alone" file.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This follows the general rule of "one class, one file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.“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public class Java1004 extends Applet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public void paint(Graphics g)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Point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point1 = new Point();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Color.red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g.fillRect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(point1.getX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(),point1.getY(),400,300);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Point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point2 = new Point(300,200);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Color.blue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g.fillRect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(point2.getX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(),point2.getY(),450,200);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	point2.setX(100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point2.setY(100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Color.green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g.fillRect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(point2.getX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(),point2.getY(),500,500);</a:t>
            </a:r>
          </a:p>
          <a:p>
            <a:pPr>
              <a:lnSpc>
                <a:spcPct val="7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lnSpc>
                <a:spcPct val="7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64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8803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Point.java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This is the completed &lt;Point&gt; class kept in its own file.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This class is now ready to be used by classes external to this file.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More methods could be added, but this is a basic functional set.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b="0" dirty="0">
                <a:cs typeface="Times New Roman" pitchFamily="18" charset="0"/>
              </a:rPr>
              <a:t>public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 Point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x;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y;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   {   x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0;   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0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;   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Point(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x,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y)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this.x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x;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this.y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y;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{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x;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{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y;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x)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{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this.x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x;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y)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{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this.y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y;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055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10.3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6" name="WordArt 2"/>
          <p:cNvSpPr>
            <a:spLocks noChangeArrowheads="1" noChangeShapeType="1" noTextEdit="1"/>
          </p:cNvSpPr>
          <p:nvPr/>
        </p:nvSpPr>
        <p:spPr bwMode="auto">
          <a:xfrm>
            <a:off x="381000" y="2209800"/>
            <a:ext cx="8382000" cy="2743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1311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Trunk class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97381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98652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Java1006.java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// This program introduces the &lt;Trunk&gt; class.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// The program displays a tree trunk using only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// a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default constructor.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public class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Java1006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extends Applet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void paint(Graphics g)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Trunk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trunk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= new Trunk();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trunk.drawTrunk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074"/>
          <a:stretch/>
        </p:blipFill>
        <p:spPr bwMode="auto">
          <a:xfrm>
            <a:off x="6019800" y="1371600"/>
            <a:ext cx="3124200" cy="5571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586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8803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Trunk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trunkStartX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trunkStartY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Trunk()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trunkStartX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0;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trunkStartY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0;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320;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80;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Color.black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drawTrunk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(Graphics g)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g.fillRect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trunkStartX,trunkStartY,trunkWidth,trunkHeight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 descr="C:\Users\JohnSchram\AppData\Local\Microsoft\Windows\Temporary Internet Files\Content.IE5\3CVVRU9R\MP900430852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920" y="152400"/>
            <a:ext cx="4079602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59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Java1007.java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The &lt;Trunk&gt; class now uses a overloaded constructor that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allows construction with the trunk's location, height and color.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public class Java1007 extends Applet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public void paint(Graphics g)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Trunk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trunk1 = new Trunk();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Trunk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trunk2 = new Trunk(350,400,75,300,Color.orange);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trunk1.drawTrunk(g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trunk2.drawTrunk(g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760" y="1447801"/>
            <a:ext cx="4206240" cy="3069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9199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439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 Trunk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trunkStartX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trunkStartY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</a:t>
            </a:r>
            <a:r>
              <a:rPr lang="en-US" sz="2200" b="0" dirty="0" smtClean="0">
                <a:cs typeface="Times New Roman" pitchFamily="18" charset="0"/>
              </a:rPr>
              <a:t>public </a:t>
            </a:r>
            <a:r>
              <a:rPr lang="en-US" sz="2200" b="0" dirty="0">
                <a:cs typeface="Times New Roman" pitchFamily="18" charset="0"/>
              </a:rPr>
              <a:t>Trunk(</a:t>
            </a:r>
            <a:r>
              <a:rPr lang="en-US" sz="2200" b="0" dirty="0" err="1">
                <a:cs typeface="Times New Roman" pitchFamily="18" charset="0"/>
              </a:rPr>
              <a:t>int</a:t>
            </a:r>
            <a:r>
              <a:rPr lang="en-US" sz="2200" b="0" dirty="0">
                <a:cs typeface="Times New Roman" pitchFamily="18" charset="0"/>
              </a:rPr>
              <a:t> </a:t>
            </a:r>
            <a:r>
              <a:rPr lang="en-US" sz="2200" b="0" dirty="0" err="1">
                <a:cs typeface="Times New Roman" pitchFamily="18" charset="0"/>
              </a:rPr>
              <a:t>tX</a:t>
            </a:r>
            <a:r>
              <a:rPr lang="en-US" sz="2200" b="0" dirty="0">
                <a:cs typeface="Times New Roman" pitchFamily="18" charset="0"/>
              </a:rPr>
              <a:t>, </a:t>
            </a:r>
            <a:r>
              <a:rPr lang="en-US" sz="2200" b="0" dirty="0" err="1">
                <a:cs typeface="Times New Roman" pitchFamily="18" charset="0"/>
              </a:rPr>
              <a:t>int</a:t>
            </a:r>
            <a:r>
              <a:rPr lang="en-US" sz="2200" b="0" dirty="0">
                <a:cs typeface="Times New Roman" pitchFamily="18" charset="0"/>
              </a:rPr>
              <a:t> </a:t>
            </a:r>
            <a:r>
              <a:rPr lang="en-US" sz="2200" b="0" dirty="0" err="1">
                <a:cs typeface="Times New Roman" pitchFamily="18" charset="0"/>
              </a:rPr>
              <a:t>tY</a:t>
            </a:r>
            <a:r>
              <a:rPr lang="en-US" sz="2200" b="0" dirty="0">
                <a:cs typeface="Times New Roman" pitchFamily="18" charset="0"/>
              </a:rPr>
              <a:t>, </a:t>
            </a:r>
            <a:r>
              <a:rPr lang="en-US" sz="2200" b="0" dirty="0" err="1">
                <a:cs typeface="Times New Roman" pitchFamily="18" charset="0"/>
              </a:rPr>
              <a:t>int</a:t>
            </a:r>
            <a:r>
              <a:rPr lang="en-US" sz="2200" b="0" dirty="0">
                <a:cs typeface="Times New Roman" pitchFamily="18" charset="0"/>
              </a:rPr>
              <a:t> </a:t>
            </a:r>
            <a:r>
              <a:rPr lang="en-US" sz="2200" b="0" dirty="0" err="1">
                <a:cs typeface="Times New Roman" pitchFamily="18" charset="0"/>
              </a:rPr>
              <a:t>tW</a:t>
            </a:r>
            <a:r>
              <a:rPr lang="en-US" sz="2200" b="0" dirty="0">
                <a:cs typeface="Times New Roman" pitchFamily="18" charset="0"/>
              </a:rPr>
              <a:t>, </a:t>
            </a:r>
            <a:r>
              <a:rPr lang="en-US" sz="2200" b="0" dirty="0" err="1">
                <a:cs typeface="Times New Roman" pitchFamily="18" charset="0"/>
              </a:rPr>
              <a:t>int</a:t>
            </a:r>
            <a:r>
              <a:rPr lang="en-US" sz="2200" b="0" dirty="0">
                <a:cs typeface="Times New Roman" pitchFamily="18" charset="0"/>
              </a:rPr>
              <a:t> </a:t>
            </a:r>
            <a:r>
              <a:rPr lang="en-US" sz="2200" b="0" dirty="0" err="1">
                <a:cs typeface="Times New Roman" pitchFamily="18" charset="0"/>
              </a:rPr>
              <a:t>tH</a:t>
            </a:r>
            <a:r>
              <a:rPr lang="en-US" sz="2200" b="0" dirty="0">
                <a:cs typeface="Times New Roman" pitchFamily="18" charset="0"/>
              </a:rPr>
              <a:t>, Color </a:t>
            </a:r>
            <a:r>
              <a:rPr lang="en-US" sz="2200" b="0" dirty="0" err="1">
                <a:cs typeface="Times New Roman" pitchFamily="18" charset="0"/>
              </a:rPr>
              <a:t>tC</a:t>
            </a:r>
            <a:r>
              <a:rPr lang="en-US" sz="2200" b="0" dirty="0">
                <a:cs typeface="Times New Roman" pitchFamily="18" charset="0"/>
              </a:rPr>
              <a:t>)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</a:t>
            </a:r>
            <a:r>
              <a:rPr lang="en-US" sz="2200" b="0" dirty="0" smtClean="0">
                <a:cs typeface="Times New Roman" pitchFamily="18" charset="0"/>
              </a:rPr>
              <a:t>{</a:t>
            </a:r>
            <a:endParaRPr lang="en-US" sz="2200" b="0" dirty="0"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trunkStartX</a:t>
            </a:r>
            <a:r>
              <a:rPr lang="en-US" sz="2200" b="0" dirty="0" smtClean="0">
                <a:cs typeface="Times New Roman" pitchFamily="18" charset="0"/>
              </a:rPr>
              <a:t> </a:t>
            </a:r>
            <a:r>
              <a:rPr lang="en-US" sz="2200" b="0" dirty="0">
                <a:cs typeface="Times New Roman" pitchFamily="18" charset="0"/>
              </a:rPr>
              <a:t>= </a:t>
            </a:r>
            <a:r>
              <a:rPr lang="en-US" sz="2200" b="0" dirty="0" err="1">
                <a:cs typeface="Times New Roman" pitchFamily="18" charset="0"/>
              </a:rPr>
              <a:t>tX</a:t>
            </a:r>
            <a:r>
              <a:rPr lang="en-US" sz="2200" b="0" dirty="0"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trunkStartY</a:t>
            </a:r>
            <a:r>
              <a:rPr lang="en-US" sz="2200" b="0" dirty="0" smtClean="0">
                <a:cs typeface="Times New Roman" pitchFamily="18" charset="0"/>
              </a:rPr>
              <a:t> </a:t>
            </a:r>
            <a:r>
              <a:rPr lang="en-US" sz="2200" b="0" dirty="0">
                <a:cs typeface="Times New Roman" pitchFamily="18" charset="0"/>
              </a:rPr>
              <a:t>= </a:t>
            </a:r>
            <a:r>
              <a:rPr lang="en-US" sz="2200" b="0" dirty="0" err="1">
                <a:cs typeface="Times New Roman" pitchFamily="18" charset="0"/>
              </a:rPr>
              <a:t>tY</a:t>
            </a:r>
            <a:r>
              <a:rPr lang="en-US" sz="2200" b="0" dirty="0"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trunkHeight</a:t>
            </a:r>
            <a:r>
              <a:rPr lang="en-US" sz="2200" b="0" dirty="0" smtClean="0">
                <a:cs typeface="Times New Roman" pitchFamily="18" charset="0"/>
              </a:rPr>
              <a:t> </a:t>
            </a:r>
            <a:r>
              <a:rPr lang="en-US" sz="2200" b="0" dirty="0">
                <a:cs typeface="Times New Roman" pitchFamily="18" charset="0"/>
              </a:rPr>
              <a:t>= </a:t>
            </a:r>
            <a:r>
              <a:rPr lang="en-US" sz="2200" b="0" dirty="0" err="1">
                <a:cs typeface="Times New Roman" pitchFamily="18" charset="0"/>
              </a:rPr>
              <a:t>tH</a:t>
            </a:r>
            <a:r>
              <a:rPr lang="en-US" sz="2200" b="0" dirty="0"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trunkWidth</a:t>
            </a:r>
            <a:r>
              <a:rPr lang="en-US" sz="2200" b="0" dirty="0" smtClean="0">
                <a:cs typeface="Times New Roman" pitchFamily="18" charset="0"/>
              </a:rPr>
              <a:t> </a:t>
            </a:r>
            <a:r>
              <a:rPr lang="en-US" sz="2200" b="0" dirty="0">
                <a:cs typeface="Times New Roman" pitchFamily="18" charset="0"/>
              </a:rPr>
              <a:t>= </a:t>
            </a:r>
            <a:r>
              <a:rPr lang="en-US" sz="2200" b="0" dirty="0" err="1">
                <a:cs typeface="Times New Roman" pitchFamily="18" charset="0"/>
              </a:rPr>
              <a:t>tW</a:t>
            </a:r>
            <a:r>
              <a:rPr lang="en-US" sz="2200" b="0" dirty="0"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trunkColor</a:t>
            </a:r>
            <a:r>
              <a:rPr lang="en-US" sz="2200" b="0" dirty="0" smtClean="0">
                <a:cs typeface="Times New Roman" pitchFamily="18" charset="0"/>
              </a:rPr>
              <a:t> </a:t>
            </a:r>
            <a:r>
              <a:rPr lang="en-US" sz="2200" b="0" dirty="0">
                <a:cs typeface="Times New Roman" pitchFamily="18" charset="0"/>
              </a:rPr>
              <a:t>= </a:t>
            </a:r>
            <a:r>
              <a:rPr lang="en-US" sz="2200" b="0" dirty="0" err="1">
                <a:cs typeface="Times New Roman" pitchFamily="18" charset="0"/>
              </a:rPr>
              <a:t>tC</a:t>
            </a:r>
            <a:r>
              <a:rPr lang="en-US" sz="2200" b="0" dirty="0"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</a:t>
            </a:r>
            <a:r>
              <a:rPr lang="en-US" sz="2200" b="0" dirty="0" smtClean="0">
                <a:cs typeface="Times New Roman" pitchFamily="18" charset="0"/>
              </a:rPr>
              <a:t>}</a:t>
            </a:r>
            <a:endParaRPr lang="en-US" sz="2200" b="0" dirty="0"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drawTrunk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(Graphics g)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g.fillRect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trunkStartX,trunkStartY,trunkWidth,trunkHeight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4800600" y="2971800"/>
            <a:ext cx="4038600" cy="245605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public Trunk()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trunkStartX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0;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trunkStartY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0;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320;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80;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Color.black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2" name="Picture 4" descr="C:\Users\JohnSchram\AppData\Local\Microsoft\Windows\Temporary Internet Files\Content.IE5\E4G0Q3HQ\MC900030324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81000"/>
            <a:ext cx="2362200" cy="1487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982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Java1008.java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This &lt;Trunk&gt; class uses "has-a" composition.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In this example, a &lt;Point&gt; object is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constructed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// outside the &lt;Trunk&gt; class and passed as parameter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// to construct a &lt;Trunk&gt; object.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public class Java1008 extends Applet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public void paint(Graphics g)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Trunk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trunk1 = new Trunk();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trunk1.drawTrunk(g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Point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point2 = new Point(350,400);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Trunk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trunk2 = new Trunk(point2,75,300,Color.orange);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trunk2.drawTrunk(g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736" y="1524000"/>
            <a:ext cx="4593743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215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704808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 Trunk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b="0" dirty="0">
                <a:cs typeface="Times New Roman" pitchFamily="18" charset="0"/>
              </a:rPr>
              <a:t>   </a:t>
            </a:r>
            <a:r>
              <a:rPr lang="en-US" sz="2400" b="0" dirty="0" smtClean="0">
                <a:cs typeface="Times New Roman" pitchFamily="18" charset="0"/>
              </a:rPr>
              <a:t>	private </a:t>
            </a:r>
            <a:r>
              <a:rPr lang="en-US" sz="2400" b="0" dirty="0">
                <a:cs typeface="Times New Roman" pitchFamily="18" charset="0"/>
              </a:rPr>
              <a:t>Point </a:t>
            </a:r>
            <a:r>
              <a:rPr lang="en-US" sz="2400" b="0" dirty="0" err="1">
                <a:cs typeface="Times New Roman" pitchFamily="18" charset="0"/>
              </a:rPr>
              <a:t>trunkStart</a:t>
            </a:r>
            <a:r>
              <a:rPr lang="en-US" sz="2400" b="0" dirty="0"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b="0" dirty="0">
                <a:cs typeface="Times New Roman" pitchFamily="18" charset="0"/>
              </a:rPr>
              <a:t>  </a:t>
            </a:r>
            <a:r>
              <a:rPr lang="en-US" sz="2400" b="0" dirty="0" smtClean="0">
                <a:cs typeface="Times New Roman" pitchFamily="18" charset="0"/>
              </a:rPr>
              <a:t>	public </a:t>
            </a:r>
            <a:r>
              <a:rPr lang="en-US" sz="2400" b="0" dirty="0">
                <a:cs typeface="Times New Roman" pitchFamily="18" charset="0"/>
              </a:rPr>
              <a:t>Trunk(Point </a:t>
            </a:r>
            <a:r>
              <a:rPr lang="en-US" sz="2400" b="0" dirty="0" err="1">
                <a:cs typeface="Times New Roman" pitchFamily="18" charset="0"/>
              </a:rPr>
              <a:t>tS,int</a:t>
            </a:r>
            <a:r>
              <a:rPr lang="en-US" sz="2400" b="0" dirty="0">
                <a:cs typeface="Times New Roman" pitchFamily="18" charset="0"/>
              </a:rPr>
              <a:t> </a:t>
            </a:r>
            <a:r>
              <a:rPr lang="en-US" sz="2400" b="0" dirty="0" err="1">
                <a:cs typeface="Times New Roman" pitchFamily="18" charset="0"/>
              </a:rPr>
              <a:t>tW</a:t>
            </a:r>
            <a:r>
              <a:rPr lang="en-US" sz="2400" b="0" dirty="0">
                <a:cs typeface="Times New Roman" pitchFamily="18" charset="0"/>
              </a:rPr>
              <a:t>, </a:t>
            </a:r>
            <a:r>
              <a:rPr lang="en-US" sz="2400" b="0" dirty="0" err="1">
                <a:cs typeface="Times New Roman" pitchFamily="18" charset="0"/>
              </a:rPr>
              <a:t>int</a:t>
            </a:r>
            <a:r>
              <a:rPr lang="en-US" sz="2400" b="0" dirty="0">
                <a:cs typeface="Times New Roman" pitchFamily="18" charset="0"/>
              </a:rPr>
              <a:t> </a:t>
            </a:r>
            <a:r>
              <a:rPr lang="en-US" sz="2400" b="0" dirty="0" err="1">
                <a:cs typeface="Times New Roman" pitchFamily="18" charset="0"/>
              </a:rPr>
              <a:t>tH</a:t>
            </a:r>
            <a:r>
              <a:rPr lang="en-US" sz="2400" b="0" dirty="0">
                <a:cs typeface="Times New Roman" pitchFamily="18" charset="0"/>
              </a:rPr>
              <a:t>, Color </a:t>
            </a:r>
            <a:r>
              <a:rPr lang="en-US" sz="2400" b="0" dirty="0" err="1">
                <a:cs typeface="Times New Roman" pitchFamily="18" charset="0"/>
              </a:rPr>
              <a:t>tC</a:t>
            </a:r>
            <a:r>
              <a:rPr lang="en-US" sz="2400" b="0" dirty="0">
                <a:cs typeface="Times New Roman" pitchFamily="18" charset="0"/>
              </a:rPr>
              <a:t>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b="0" dirty="0">
                <a:cs typeface="Times New Roman" pitchFamily="18" charset="0"/>
              </a:rPr>
              <a:t>         </a:t>
            </a:r>
            <a:r>
              <a:rPr lang="en-US" sz="2400" b="0" dirty="0" err="1" smtClean="0">
                <a:cs typeface="Times New Roman" pitchFamily="18" charset="0"/>
              </a:rPr>
              <a:t>trunkStart</a:t>
            </a:r>
            <a:r>
              <a:rPr lang="en-US" sz="2400" b="0" dirty="0" smtClean="0">
                <a:cs typeface="Times New Roman" pitchFamily="18" charset="0"/>
              </a:rPr>
              <a:t> </a:t>
            </a:r>
            <a:r>
              <a:rPr lang="en-US" sz="2400" b="0" dirty="0">
                <a:cs typeface="Times New Roman" pitchFamily="18" charset="0"/>
              </a:rPr>
              <a:t>= </a:t>
            </a:r>
            <a:r>
              <a:rPr lang="en-US" sz="2400" b="0" dirty="0" err="1">
                <a:cs typeface="Times New Roman" pitchFamily="18" charset="0"/>
              </a:rPr>
              <a:t>tS</a:t>
            </a:r>
            <a:r>
              <a:rPr lang="en-US" sz="2400" b="0" dirty="0"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drawTrunk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(Graphics g)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g.fillRect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trunkStart.getX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trunkStart.getY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trunkWidth,trunkHeight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7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7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810000" y="2743200"/>
            <a:ext cx="5334000" cy="230832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Trunk()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b="0" dirty="0" smtClean="0">
                <a:cs typeface="Times New Roman" pitchFamily="18" charset="0"/>
              </a:rPr>
              <a:t>  	</a:t>
            </a:r>
            <a:r>
              <a:rPr lang="en-US" sz="2400" b="0" dirty="0" err="1" smtClean="0">
                <a:cs typeface="Times New Roman" pitchFamily="18" charset="0"/>
              </a:rPr>
              <a:t>trunkStart</a:t>
            </a:r>
            <a:r>
              <a:rPr lang="en-US" sz="2400" b="0" dirty="0" smtClean="0">
                <a:cs typeface="Times New Roman" pitchFamily="18" charset="0"/>
              </a:rPr>
              <a:t> </a:t>
            </a:r>
            <a:r>
              <a:rPr lang="en-US" sz="2400" b="0" dirty="0">
                <a:cs typeface="Times New Roman" pitchFamily="18" charset="0"/>
              </a:rPr>
              <a:t>= new Point(0,0);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320;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/4;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Color.black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 descr="C:\Users\JohnSchram\AppData\Local\Microsoft\Windows\Temporary Internet Files\Content.IE5\E4G0Q3HQ\MC900286586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04800"/>
            <a:ext cx="1805940" cy="1579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9623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Java1009.java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The &lt;Trunk&gt; class is now complete with four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"get" methods and four "set" methods.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public class Java1009 extends Applet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public void paint(Graphics g)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Trunk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trunk1 = new Trunk();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trunk1.drawTrunk(g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Point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point2 = new Point(350,400);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Trunk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trunk2 = new Trunk(point2,75,300,Color.red);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trunk2.drawTrunk(g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79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94523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Trunk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private Point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private Color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public Trunk()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{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new Point(0,0);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320;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/4;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Color.black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}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public Trunk(Point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tS,int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Color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{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 descr="C:\Users\JohnSchram\AppData\Local\Microsoft\Windows\Temporary Internet Files\Content.IE5\KXXJRVBA\MC900326486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762000"/>
            <a:ext cx="2514600" cy="292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303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public Point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getTrunkStart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public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getTrunkHeight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public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getTrunkWidth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public Color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getTrunkColor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public void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setTrunkStart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(Point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public void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setTrunkHeight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public void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setTrunkWidth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public void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setTrunkColor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(Color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drawTrunk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(Graphics g)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g.fillRect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trunkStart.getX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trunkStart.getY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trunkWidth,trunkHeight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02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Java1010.java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The &lt;Trunk&gt; class can now join the &lt;Point&gt; class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as a stand-alone class ready to be used by other classes.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public class Java1010 extends Applet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public void paint(Graphics g)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Trunk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trunk1 = new Trunk();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trunk1.drawTrunk(g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Point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point2 = new Point(350,400);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Trunk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trunk2 = new Trunk(point2,75,300,Color.red);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trunk2.drawTrunk(g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86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9419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Trunk.java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This is the completed &lt;Trunk&gt; class kept in its own file.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This class is now ready to be used by classes external to this file.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b="0" dirty="0" smtClean="0">
                <a:cs typeface="Times New Roman" pitchFamily="18" charset="0"/>
              </a:rPr>
              <a:t>public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class Trunk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Trunk()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new Point(0,0);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320; 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/4;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Color.black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 descr="C:\Users\JohnSchram\AppData\Local\Microsoft\Windows\Temporary Internet Files\Content.IE5\OE5MU63T\MC90038348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811" y="1981200"/>
            <a:ext cx="2849589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5451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710963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	public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Trunk(Point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tS,int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Color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{	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}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getTrunkStart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getTrunkHeight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getTrunkWidth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getTrunkColor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	{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setTrunkStart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(Point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setTrunkHeight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setTrunkWidth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setTrunkColor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(Color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drawTrunk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(Graphics g)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g.fillRect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trunkStart.getX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trunkStart.getY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trunkWidth,trunkHeight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00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10.4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6" name="WordArt 2"/>
          <p:cNvSpPr>
            <a:spLocks noChangeArrowheads="1" noChangeShapeType="1" noTextEdit="1"/>
          </p:cNvSpPr>
          <p:nvPr/>
        </p:nvSpPr>
        <p:spPr bwMode="auto">
          <a:xfrm>
            <a:off x="381000" y="2209800"/>
            <a:ext cx="8382000" cy="2743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1311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Leaves class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95715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710963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Java1011.java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The &lt;Leaves&gt; class simulates tree leaves.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At this stage the leaves are only round.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public class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Java1011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extends Applet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public void paint(Graphics g)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Leaves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leaves1 = new Leaves();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leaves1.drawLeaves(g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Point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 = new Point(400,100);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Leaves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leaves2 = new Leaves(start,300,300,Color.green);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leaves2.drawLeaves(g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60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6341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Leaves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Leaves(Point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lW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Color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lW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drawLeaves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(Graphics g)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g.fillOval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leavesStart.getX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leavesStart.getY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leavesWidth,leavesHeight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 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 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724400" y="2874020"/>
            <a:ext cx="4419600" cy="223138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Leaves()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new Point(0,0);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200;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200;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Color.black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90" name="Picture 2" descr="C:\Program Files\Microsoft Office\MEDIA\CAGCAT10\j0298897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533400"/>
            <a:ext cx="1806854" cy="1578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113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885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Java1012.java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The &lt;Leaves&gt; class is now complete with four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"get" methods and four "set" methods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public class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Java1012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extends Applet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public void paint(Graphics g)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Leaves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leaves1 = new Leaves();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leaves1.drawLeaves(g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Point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start = new Point(400,100);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Leaves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leaves2 = new Leaves(start,300,300,Color.green);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leaves2.drawLeaves(g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55536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9419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class Leaves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     	public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Leaves(Point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lS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lW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lH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, Color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lS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lW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lH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getLeavesStart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()  { return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getLeavesHeight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()   { return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getLeavesWidth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()    { return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getLeavesColor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()  { return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setLeavesStart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(Point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lP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)  {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lP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setLeavesHeight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lH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)   {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lH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setLeavesWidth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lW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)    {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lW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setLeavesColor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(Color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)  {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drawLeaves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(Graphics g)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g.fillOval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leavesStart.getX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leavesStart.getY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leavesWidth,leavesHeight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5791200" y="0"/>
            <a:ext cx="3352800" cy="323165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private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private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private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private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Leaves()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{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= new Point(0,0);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= 200;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= 200;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Color.black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 descr="C:\Users\JohnSchram\AppData\Local\Microsoft\Windows\Temporary Internet Files\Content.IE5\KXXJRVBA\MP900430825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4290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863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3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Java1013.java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The &lt;Leaves&gt; class joins the &lt;Point&gt; class and &lt;Trunk&gt; class.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as a stand-alone class ready to be used by other classes.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public class Java1013 extends Applet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public void paint(Graphics g)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Leaves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leaves1 = new Leaves();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leaves1.drawLeaves(g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Point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start = new Point(400,100);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Leaves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leaves2 = new Leaves(start,300,300,Color.blue);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leaves2.drawLeaves(g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95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// Leaves.java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// This is the completed &lt;Leaves&gt; class kept in its own file.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// This class is now ready to be used by classes external to this file.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800" b="0" dirty="0">
                <a:cs typeface="Times New Roman" pitchFamily="18" charset="0"/>
              </a:rPr>
              <a:t>public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Leaves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	public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Leaves(Point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lW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Color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lW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getLeavesStart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int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getLeavesHeight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{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int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getLeavesWidth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{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getLeavesColor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() {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setLeavesStart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(Point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lP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{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lP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setLeavesHeight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(int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{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setLeavesWidth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(int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lW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{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lW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setLeavesColor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(Color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  {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drawLeaves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(Graphics g)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g.fillOval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leavesStart.getX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leavesStart.getY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leavesWidth,leavesHeight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8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5791200" y="959346"/>
            <a:ext cx="3352800" cy="304698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private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private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private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private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Leaves()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new Point(0,0);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200;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200;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Color.black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C:\Users\JohnSchram\AppData\Local\Microsoft\Windows\Temporary Internet Files\Content.IE5\3CVVRU9R\MP900407518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378" y="4267200"/>
            <a:ext cx="2522443" cy="1680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48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10.5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7" name="WordArt 2"/>
          <p:cNvSpPr>
            <a:spLocks noChangeArrowheads="1" noChangeShapeType="1" noTextEdit="1"/>
          </p:cNvSpPr>
          <p:nvPr/>
        </p:nvSpPr>
        <p:spPr bwMode="auto">
          <a:xfrm>
            <a:off x="381000" y="1600200"/>
            <a:ext cx="8382000" cy="2286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1311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Class Interaction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8" name="WordArt 2"/>
          <p:cNvSpPr>
            <a:spLocks noChangeArrowheads="1" noChangeShapeType="1" noTextEdit="1"/>
          </p:cNvSpPr>
          <p:nvPr/>
        </p:nvSpPr>
        <p:spPr bwMode="auto">
          <a:xfrm>
            <a:off x="381000" y="3886200"/>
            <a:ext cx="8382000" cy="2286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1311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w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ith Composition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94183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Java1014.java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The &lt;Tree&gt; class uses the three stand-alone classes: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&lt;Point&gt;, &lt;Trunk&gt; and &lt;Leaves&gt; to draw a tree.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This &lt;Tree&gt; class "has" three attributes that are objects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using a composition class-interaction.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Java1014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extends Applet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public void paint(Graphics g)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Point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treeStart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new Point(500,200);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treeHeight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500;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300;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Color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new Color(150,100,15);  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brown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		Color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Color.green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spc="-6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spc="-60" dirty="0" smtClean="0">
                <a:latin typeface="Times New Roman" pitchFamily="18" charset="0"/>
                <a:cs typeface="Times New Roman" pitchFamily="18" charset="0"/>
              </a:rPr>
              <a:t>		Tree </a:t>
            </a:r>
            <a:r>
              <a:rPr lang="en-US" sz="2000" spc="-60" dirty="0" err="1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000" spc="-60" dirty="0">
                <a:latin typeface="Times New Roman" pitchFamily="18" charset="0"/>
                <a:cs typeface="Times New Roman" pitchFamily="18" charset="0"/>
              </a:rPr>
              <a:t> = new Tree(</a:t>
            </a:r>
            <a:r>
              <a:rPr lang="en-US" sz="2000" spc="-60" dirty="0" err="1">
                <a:latin typeface="Times New Roman" pitchFamily="18" charset="0"/>
                <a:cs typeface="Times New Roman" pitchFamily="18" charset="0"/>
              </a:rPr>
              <a:t>treeStart,treeHeight,treeWidth</a:t>
            </a:r>
            <a:r>
              <a:rPr lang="en-US" sz="2000" spc="-6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spc="-60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000" spc="-6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spc="-60" dirty="0" err="1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2000" spc="-6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tree.drawTree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82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3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12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Tree</a:t>
            </a:r>
          </a:p>
          <a:p>
            <a:pPr>
              <a:lnSpc>
                <a:spcPct val="12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12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treeStart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   //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Top-mid (X,Y) coordinates of the tree</a:t>
            </a:r>
          </a:p>
          <a:p>
            <a:pPr>
              <a:lnSpc>
                <a:spcPct val="12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   //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Top-left (X,Y) coordinates of the leaves</a:t>
            </a:r>
          </a:p>
          <a:p>
            <a:pPr>
              <a:lnSpc>
                <a:spcPct val="12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   //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Top-left (X,Y) coordinates of the trunk</a:t>
            </a:r>
          </a:p>
          <a:p>
            <a:pPr>
              <a:lnSpc>
                <a:spcPct val="12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treeHeight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2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2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2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2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2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2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2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2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Trunk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 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//  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tree "has-a" trunk</a:t>
            </a:r>
          </a:p>
          <a:p>
            <a:pPr>
              <a:lnSpc>
                <a:spcPct val="12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Leaves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leaves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//  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tree "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has" leaves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JohnSchram\AppData\Local\Microsoft\Windows\Temporary Internet Files\Content.IE5\OE5MU63T\MP900423128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362199"/>
            <a:ext cx="3200400" cy="324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37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	public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Tree(Point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Color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Color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treeStart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treeHeight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treeHeight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/4;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new 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Point(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treeStart.getX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()-(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/2),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treeStart.getY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()+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leavesHeight-3);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new Point(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treeStart.getX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()-(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/2),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treeStart.getY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());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trunk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new Trunk(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trunkStart,trunkWidth,trunkHeight,trunkColor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leaves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new Leaves(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leavesStart,leavesWidth,leavesHeight,leavesColor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drawTree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(Graphics g)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trunk.drawTrunk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leaves.drawLeaves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72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209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Java1015.java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This version of the &lt;Tree&gt; class does not use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attributes that are &lt;Trunk&gt; and &lt;Leaves&gt; objects.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The &lt;Tree&gt; class also adds a default constructor.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class Java1015 extends Applet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public void paint(Graphics g)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Tree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tree1 = new Tree();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tree1.drawTree(g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Point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treeStart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= new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Point(700,50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Tree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tree2 = new Tree(treeStart,400,200,Color.blue,Color.red);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tree2.drawTree(g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);   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	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6179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class Tree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treeStart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//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Top-mid (X,Y) coordinates of the tree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   //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Top-left (X,Y) coordinates of the leaves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   //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Top-left (X,Y) coordinates of the trunk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treeHeight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30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C:\Users\JohnSchram\AppData\Local\Microsoft\Windows\Temporary Internet Files\Content.IE5\KXXJRVBA\MP900414074[1]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11"/>
          <a:stretch/>
        </p:blipFill>
        <p:spPr bwMode="auto">
          <a:xfrm>
            <a:off x="4554528" y="2638644"/>
            <a:ext cx="3827472" cy="383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369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	public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Tree()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treeStart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new Point(400,100);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treeHeight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500;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300;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Color.black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Color.black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/4;    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new Point(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treeStart.getX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()-(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/2),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treeStart.getY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new Point(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treeStart.getX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()-(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/2),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treeStart.getY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()+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leavesHeight-3);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}  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Tree(Point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Color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Color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treeStart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treeHeight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/4;    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new Point(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treeStart.getX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()-(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/2),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treeStart.getY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new Point(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treeStart.getX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()-(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/2),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treeStart.getY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()+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leavesHeight-3);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23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drawLeaves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(Graphics g)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g.fillOval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leavesStart.getX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leavesStart.getY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leavesWidth,leavesHeight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drawTrunk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(Graphics g)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g.fillRect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trunkStart.getX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trunkStart.getY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trunkWidth,trunkHeight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drawTree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(Graphics g)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drawLeaves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drawTrunk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   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90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581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10.6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4" name="WordArt 2"/>
          <p:cNvSpPr>
            <a:spLocks noChangeArrowheads="1" noChangeShapeType="1" noTextEdit="1"/>
          </p:cNvSpPr>
          <p:nvPr/>
        </p:nvSpPr>
        <p:spPr bwMode="auto">
          <a:xfrm>
            <a:off x="381000" y="1600200"/>
            <a:ext cx="8382000" cy="2286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1311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Class Interaction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5" name="WordArt 2"/>
          <p:cNvSpPr>
            <a:spLocks noChangeArrowheads="1" noChangeShapeType="1" noTextEdit="1"/>
          </p:cNvSpPr>
          <p:nvPr/>
        </p:nvSpPr>
        <p:spPr bwMode="auto">
          <a:xfrm>
            <a:off x="381000" y="3886200"/>
            <a:ext cx="8382000" cy="2286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1311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w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ith Inheritance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293001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31642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Inheritance Fundamentals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381000" y="1231642"/>
            <a:ext cx="8382000" cy="489364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subclass can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re-define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 or more methods of the superclass.  This is also called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over-riding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 method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subclass can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newly-define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one or more methods.</a:t>
            </a:r>
          </a:p>
          <a:p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subclass can be completely empty. 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Nothing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re-defined or newly-defined. 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such a case there is no apparent difference between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super class behavior and the subclass behavior.</a:t>
            </a:r>
          </a:p>
          <a:p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a subclass re-defines one or more methods or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newly-defines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 or more method, it still has access to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the superclass methods that were not re-defined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23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828921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Java1016.java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The programs will now investigate inheritance class-interaction.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The &lt;Tree&gt; class is placed in an external file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with a group of "get" and "set" methods and will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be the superclass for various new subclasses.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public class Java1016 extends Applet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void paint(Graphics g)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Tree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= new Tree();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tree.drawTree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	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17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945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91785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Tree.java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This is the completed &lt;Trunk&gt; class kept in its own file.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The class is now ready to be used by classes external to this file.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This &lt;Tree&gt; class will be the superclass for later programs.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b="0" dirty="0">
                <a:cs typeface="Times New Roman" pitchFamily="18" charset="0"/>
              </a:rPr>
              <a:t>public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class Tree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treeStart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//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Top-mid (X,Y) coordinates of the tree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//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Top-left (X,Y) coordinates of the leaves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//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Top-left (X,Y) coordinates of the trunk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treeHeight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	private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6" name="Picture 4" descr="C:\Users\JohnSchram\AppData\Local\Microsoft\Windows\Temporary Internet Files\Content.IE5\3CVVRU9R\MP900430877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38600"/>
            <a:ext cx="3962400" cy="264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229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94638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	public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Tree()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treeStart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new Point(400,100);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treeHeight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500;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300;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Color.black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Color.black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/4;    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new Point(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treeStart.getX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()-(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/2),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treeStart.getY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new Point(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treeStart.getX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()-(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/2),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treeStart.getY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()+leavesHeight-3);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}  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Tree(Point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Color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Color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treeStart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treeHeight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/4;    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new Point(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treeStart.getX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()-(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/2),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treeStart.getY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new Point(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treeStart.getX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()-(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/2),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treeStart.getY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()+leavesHeight-3);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}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61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88803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getTreeStart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{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treeStart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 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getLeavesStart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Point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getTrunkStart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getTreeHeight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{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treeHeight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getTreeWidth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{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 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getTrunkColor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getLeavesColor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getLeavesHeight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getLeavesWidth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getTrunkHeight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getTrunkWidth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setTreeStart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(Point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{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treeStart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 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setLeavesStart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(Point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{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leavesStart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setTrunkStart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(Point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{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trunkStart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setTreeHeight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{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treeHeight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setTreeWidth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{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treeWidth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 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setTrunkColor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(Color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setLeavesColor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(Color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{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setLeavesHeight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{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setLeavesWidth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lW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{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lW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setTrunkHeight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{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  <a:tab pos="1768475" algn="l"/>
                <a:tab pos="2286000" algn="l"/>
                <a:tab pos="2682875" algn="l"/>
                <a:tab pos="3200400" algn="l"/>
                <a:tab pos="3657600" algn="l"/>
                <a:tab pos="3946525" algn="l"/>
                <a:tab pos="4572000" algn="l"/>
                <a:tab pos="4740275" algn="l"/>
                <a:tab pos="5486400" algn="l"/>
                <a:tab pos="5943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setTrunkWidth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{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tW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0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drawLeaves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(Graphics g)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g.fillOval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leavesStart.getX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leavesStart.getY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leavesWidth,leavesHeight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drawTrunk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(Graphics g)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trunkColor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g.fillRect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trunkStart.getX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trunkStart.getY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(),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trunkWidth,trunkHeight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drawTree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(Graphics g)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drawLeaves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drawTrunk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   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36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91785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Java1017.java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The &lt;SubTree1&gt; class extends the &lt;Tree&gt; class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without re-defining or newly-defining any methods.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The resulting tree display is identical to its superclass version.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.*;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public class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Java1017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extends Applet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public void paint(Graphics g)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b="0" dirty="0">
                <a:cs typeface="Times New Roman" pitchFamily="18" charset="0"/>
              </a:rPr>
              <a:t>      </a:t>
            </a:r>
            <a:r>
              <a:rPr lang="en-US" sz="2400" b="0" dirty="0" smtClean="0">
                <a:cs typeface="Times New Roman" pitchFamily="18" charset="0"/>
              </a:rPr>
              <a:t>	SubTree1 </a:t>
            </a:r>
            <a:r>
              <a:rPr lang="en-US" sz="2400" b="0" dirty="0">
                <a:cs typeface="Times New Roman" pitchFamily="18" charset="0"/>
              </a:rPr>
              <a:t>tree1 = new SubTree1();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b="0" dirty="0">
                <a:cs typeface="Times New Roman" pitchFamily="18" charset="0"/>
              </a:rPr>
              <a:t>      </a:t>
            </a:r>
            <a:r>
              <a:rPr lang="en-US" sz="2400" b="0" dirty="0" smtClean="0">
                <a:cs typeface="Times New Roman" pitchFamily="18" charset="0"/>
              </a:rPr>
              <a:t>	tree1.drawTree(g</a:t>
            </a:r>
            <a:r>
              <a:rPr lang="en-US" sz="2400" b="0" dirty="0"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b="0" dirty="0">
                <a:cs typeface="Times New Roman" pitchFamily="18" charset="0"/>
              </a:rPr>
              <a:t>class SubTree1 extends Tree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b="0" dirty="0" smtClean="0">
                <a:cs typeface="Times New Roman" pitchFamily="18" charset="0"/>
              </a:rPr>
              <a:t>{</a:t>
            </a:r>
            <a:endParaRPr lang="en-US" sz="2400" b="0" dirty="0"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b="0" dirty="0" smtClean="0">
                <a:cs typeface="Times New Roman" pitchFamily="18" charset="0"/>
              </a:rPr>
              <a:t>}</a:t>
            </a:r>
            <a:endParaRPr lang="en-US" sz="2400" b="0" dirty="0"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0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905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90259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Java1018.java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The &lt;SubTree2&gt; class extends the &lt;Tree&gt; class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and defines a &lt;SubTree2&gt; constructor to change the &lt;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leavesColor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&gt;.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public class Java1018 extends Applet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public void paint(Graphics g)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SubTree2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tree2 = new SubTree2();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tree2.drawTree(g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class SubTree2 extends Tree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b="0" dirty="0">
                <a:cs typeface="Times New Roman" pitchFamily="18" charset="0"/>
              </a:rPr>
              <a:t>   </a:t>
            </a:r>
            <a:r>
              <a:rPr lang="en-US" sz="2400" b="0" dirty="0" smtClean="0">
                <a:cs typeface="Times New Roman" pitchFamily="18" charset="0"/>
              </a:rPr>
              <a:t>	public </a:t>
            </a:r>
            <a:r>
              <a:rPr lang="en-US" sz="2400" b="0" dirty="0">
                <a:cs typeface="Times New Roman" pitchFamily="18" charset="0"/>
              </a:rPr>
              <a:t>SubTree2</a:t>
            </a:r>
            <a:r>
              <a:rPr lang="en-US" sz="2400" b="0" dirty="0" smtClean="0">
                <a:cs typeface="Times New Roman" pitchFamily="18" charset="0"/>
              </a:rPr>
              <a:t>() { </a:t>
            </a:r>
            <a:r>
              <a:rPr lang="en-US" sz="2400" b="0" dirty="0" err="1" smtClean="0">
                <a:cs typeface="Times New Roman" pitchFamily="18" charset="0"/>
              </a:rPr>
              <a:t>setLeavesColor</a:t>
            </a:r>
            <a:r>
              <a:rPr lang="en-US" sz="2400" b="0" dirty="0" smtClean="0">
                <a:cs typeface="Times New Roman" pitchFamily="18" charset="0"/>
              </a:rPr>
              <a:t>(</a:t>
            </a:r>
            <a:r>
              <a:rPr lang="en-US" sz="2400" b="0" dirty="0" err="1" smtClean="0">
                <a:cs typeface="Times New Roman" pitchFamily="18" charset="0"/>
              </a:rPr>
              <a:t>Color.green</a:t>
            </a:r>
            <a:r>
              <a:rPr lang="en-US" sz="2400" b="0" dirty="0" smtClean="0">
                <a:cs typeface="Times New Roman" pitchFamily="18" charset="0"/>
              </a:rPr>
              <a:t>); }</a:t>
            </a:r>
            <a:endParaRPr lang="en-US" sz="2400" b="0" dirty="0">
              <a:cs typeface="Times New Roman" pitchFamily="18" charset="0"/>
            </a:endParaRPr>
          </a:p>
          <a:p>
            <a:pPr>
              <a:lnSpc>
                <a:spcPct val="96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054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690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7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// Java1019.java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// The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PineTree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class extends the &lt;Tree&gt; class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// and re-defines the &lt;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drawLeaves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&gt; method.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class Java1019 extends Applet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public void paint(Graphics g)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PineTree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tree3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= new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PineTree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();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tree3.drawTree(g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87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94523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PineTree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extends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Tree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PineTree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()   {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setLeavesColor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Color.green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);   }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</a:t>
            </a:r>
            <a:r>
              <a:rPr lang="en-US" sz="2200" b="0" dirty="0" smtClean="0">
                <a:cs typeface="Times New Roman" pitchFamily="18" charset="0"/>
              </a:rPr>
              <a:t>	public </a:t>
            </a:r>
            <a:r>
              <a:rPr lang="en-US" sz="2200" b="0" dirty="0">
                <a:cs typeface="Times New Roman" pitchFamily="18" charset="0"/>
              </a:rPr>
              <a:t>void </a:t>
            </a:r>
            <a:r>
              <a:rPr lang="en-US" sz="2200" b="0" dirty="0" err="1">
                <a:cs typeface="Times New Roman" pitchFamily="18" charset="0"/>
              </a:rPr>
              <a:t>drawLeaves</a:t>
            </a:r>
            <a:r>
              <a:rPr lang="en-US" sz="2200" b="0" dirty="0">
                <a:cs typeface="Times New Roman" pitchFamily="18" charset="0"/>
              </a:rPr>
              <a:t>(Graphics g)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</a:t>
            </a:r>
            <a:r>
              <a:rPr lang="en-US" sz="2200" b="0" dirty="0" smtClean="0">
                <a:cs typeface="Times New Roman" pitchFamily="18" charset="0"/>
              </a:rPr>
              <a:t>	{</a:t>
            </a:r>
            <a:endParaRPr lang="en-US" sz="2200" b="0" dirty="0"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g.setColor</a:t>
            </a:r>
            <a:r>
              <a:rPr lang="en-US" sz="2200" b="0" dirty="0" smtClean="0">
                <a:cs typeface="Times New Roman" pitchFamily="18" charset="0"/>
              </a:rPr>
              <a:t>(</a:t>
            </a:r>
            <a:r>
              <a:rPr lang="en-US" sz="2200" b="0" dirty="0" err="1" smtClean="0">
                <a:cs typeface="Times New Roman" pitchFamily="18" charset="0"/>
              </a:rPr>
              <a:t>getLeavesColor</a:t>
            </a:r>
            <a:r>
              <a:rPr lang="en-US" sz="2200" b="0" dirty="0">
                <a:cs typeface="Times New Roman" pitchFamily="18" charset="0"/>
              </a:rPr>
              <a:t>());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int</a:t>
            </a:r>
            <a:r>
              <a:rPr lang="en-US" sz="2200" b="0" dirty="0" smtClean="0">
                <a:cs typeface="Times New Roman" pitchFamily="18" charset="0"/>
              </a:rPr>
              <a:t> </a:t>
            </a:r>
            <a:r>
              <a:rPr lang="en-US" sz="2200" b="0" dirty="0" err="1">
                <a:cs typeface="Times New Roman" pitchFamily="18" charset="0"/>
              </a:rPr>
              <a:t>tempX</a:t>
            </a:r>
            <a:r>
              <a:rPr lang="en-US" sz="2200" b="0" dirty="0">
                <a:cs typeface="Times New Roman" pitchFamily="18" charset="0"/>
              </a:rPr>
              <a:t> = </a:t>
            </a:r>
            <a:r>
              <a:rPr lang="en-US" sz="2200" b="0" dirty="0" err="1">
                <a:cs typeface="Times New Roman" pitchFamily="18" charset="0"/>
              </a:rPr>
              <a:t>getLeavesStart</a:t>
            </a:r>
            <a:r>
              <a:rPr lang="en-US" sz="2200" b="0" dirty="0">
                <a:cs typeface="Times New Roman" pitchFamily="18" charset="0"/>
              </a:rPr>
              <a:t>().</a:t>
            </a:r>
            <a:r>
              <a:rPr lang="en-US" sz="2200" b="0" dirty="0" err="1">
                <a:cs typeface="Times New Roman" pitchFamily="18" charset="0"/>
              </a:rPr>
              <a:t>getX</a:t>
            </a:r>
            <a:r>
              <a:rPr lang="en-US" sz="2200" b="0" dirty="0">
                <a:cs typeface="Times New Roman" pitchFamily="18" charset="0"/>
              </a:rPr>
              <a:t>();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int</a:t>
            </a:r>
            <a:r>
              <a:rPr lang="en-US" sz="2200" b="0" dirty="0" smtClean="0">
                <a:cs typeface="Times New Roman" pitchFamily="18" charset="0"/>
              </a:rPr>
              <a:t> </a:t>
            </a:r>
            <a:r>
              <a:rPr lang="en-US" sz="2200" b="0" dirty="0" err="1">
                <a:cs typeface="Times New Roman" pitchFamily="18" charset="0"/>
              </a:rPr>
              <a:t>tempY</a:t>
            </a:r>
            <a:r>
              <a:rPr lang="en-US" sz="2200" b="0" dirty="0">
                <a:cs typeface="Times New Roman" pitchFamily="18" charset="0"/>
              </a:rPr>
              <a:t> = </a:t>
            </a:r>
            <a:r>
              <a:rPr lang="en-US" sz="2200" b="0" dirty="0" err="1">
                <a:cs typeface="Times New Roman" pitchFamily="18" charset="0"/>
              </a:rPr>
              <a:t>getLeavesStart</a:t>
            </a:r>
            <a:r>
              <a:rPr lang="en-US" sz="2200" b="0" dirty="0">
                <a:cs typeface="Times New Roman" pitchFamily="18" charset="0"/>
              </a:rPr>
              <a:t>().</a:t>
            </a:r>
            <a:r>
              <a:rPr lang="en-US" sz="2200" b="0" dirty="0" err="1">
                <a:cs typeface="Times New Roman" pitchFamily="18" charset="0"/>
              </a:rPr>
              <a:t>getY</a:t>
            </a:r>
            <a:r>
              <a:rPr lang="en-US" sz="2200" b="0" dirty="0">
                <a:cs typeface="Times New Roman" pitchFamily="18" charset="0"/>
              </a:rPr>
              <a:t>();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int</a:t>
            </a:r>
            <a:r>
              <a:rPr lang="en-US" sz="2200" b="0" dirty="0" smtClean="0">
                <a:cs typeface="Times New Roman" pitchFamily="18" charset="0"/>
              </a:rPr>
              <a:t> </a:t>
            </a:r>
            <a:r>
              <a:rPr lang="en-US" sz="2200" b="0" dirty="0" err="1">
                <a:cs typeface="Times New Roman" pitchFamily="18" charset="0"/>
              </a:rPr>
              <a:t>topX</a:t>
            </a:r>
            <a:r>
              <a:rPr lang="en-US" sz="2200" b="0" dirty="0">
                <a:cs typeface="Times New Roman" pitchFamily="18" charset="0"/>
              </a:rPr>
              <a:t> = </a:t>
            </a:r>
            <a:r>
              <a:rPr lang="en-US" sz="2200" b="0" dirty="0" err="1">
                <a:cs typeface="Times New Roman" pitchFamily="18" charset="0"/>
              </a:rPr>
              <a:t>tempX</a:t>
            </a:r>
            <a:r>
              <a:rPr lang="en-US" sz="2200" b="0" dirty="0">
                <a:cs typeface="Times New Roman" pitchFamily="18" charset="0"/>
              </a:rPr>
              <a:t> + </a:t>
            </a:r>
            <a:r>
              <a:rPr lang="en-US" sz="2200" b="0" dirty="0" err="1">
                <a:cs typeface="Times New Roman" pitchFamily="18" charset="0"/>
              </a:rPr>
              <a:t>getLeavesWidth</a:t>
            </a:r>
            <a:r>
              <a:rPr lang="en-US" sz="2200" b="0" dirty="0">
                <a:cs typeface="Times New Roman" pitchFamily="18" charset="0"/>
              </a:rPr>
              <a:t>()/2;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int</a:t>
            </a:r>
            <a:r>
              <a:rPr lang="en-US" sz="2200" b="0" dirty="0" smtClean="0">
                <a:cs typeface="Times New Roman" pitchFamily="18" charset="0"/>
              </a:rPr>
              <a:t> </a:t>
            </a:r>
            <a:r>
              <a:rPr lang="en-US" sz="2200" b="0" dirty="0" err="1">
                <a:cs typeface="Times New Roman" pitchFamily="18" charset="0"/>
              </a:rPr>
              <a:t>topY</a:t>
            </a:r>
            <a:r>
              <a:rPr lang="en-US" sz="2200" b="0" dirty="0">
                <a:cs typeface="Times New Roman" pitchFamily="18" charset="0"/>
              </a:rPr>
              <a:t> = </a:t>
            </a:r>
            <a:r>
              <a:rPr lang="en-US" sz="2200" b="0" dirty="0" err="1">
                <a:cs typeface="Times New Roman" pitchFamily="18" charset="0"/>
              </a:rPr>
              <a:t>tempY</a:t>
            </a:r>
            <a:r>
              <a:rPr lang="en-US" sz="2200" b="0" dirty="0"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int</a:t>
            </a:r>
            <a:r>
              <a:rPr lang="en-US" sz="2200" b="0" dirty="0" smtClean="0">
                <a:cs typeface="Times New Roman" pitchFamily="18" charset="0"/>
              </a:rPr>
              <a:t> </a:t>
            </a:r>
            <a:r>
              <a:rPr lang="en-US" sz="2200" b="0" dirty="0" err="1">
                <a:cs typeface="Times New Roman" pitchFamily="18" charset="0"/>
              </a:rPr>
              <a:t>blX</a:t>
            </a:r>
            <a:r>
              <a:rPr lang="en-US" sz="2200" b="0" dirty="0">
                <a:cs typeface="Times New Roman" pitchFamily="18" charset="0"/>
              </a:rPr>
              <a:t> = </a:t>
            </a:r>
            <a:r>
              <a:rPr lang="en-US" sz="2200" b="0" dirty="0" err="1">
                <a:cs typeface="Times New Roman" pitchFamily="18" charset="0"/>
              </a:rPr>
              <a:t>tempX</a:t>
            </a:r>
            <a:r>
              <a:rPr lang="en-US" sz="2200" b="0" dirty="0"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int</a:t>
            </a:r>
            <a:r>
              <a:rPr lang="en-US" sz="2200" b="0" dirty="0" smtClean="0">
                <a:cs typeface="Times New Roman" pitchFamily="18" charset="0"/>
              </a:rPr>
              <a:t> </a:t>
            </a:r>
            <a:r>
              <a:rPr lang="en-US" sz="2200" b="0" dirty="0" err="1">
                <a:cs typeface="Times New Roman" pitchFamily="18" charset="0"/>
              </a:rPr>
              <a:t>blY</a:t>
            </a:r>
            <a:r>
              <a:rPr lang="en-US" sz="2200" b="0" dirty="0">
                <a:cs typeface="Times New Roman" pitchFamily="18" charset="0"/>
              </a:rPr>
              <a:t> = </a:t>
            </a:r>
            <a:r>
              <a:rPr lang="en-US" sz="2200" b="0" dirty="0" err="1">
                <a:cs typeface="Times New Roman" pitchFamily="18" charset="0"/>
              </a:rPr>
              <a:t>tempY</a:t>
            </a:r>
            <a:r>
              <a:rPr lang="en-US" sz="2200" b="0" dirty="0">
                <a:cs typeface="Times New Roman" pitchFamily="18" charset="0"/>
              </a:rPr>
              <a:t> + </a:t>
            </a:r>
            <a:r>
              <a:rPr lang="en-US" sz="2200" b="0" dirty="0" err="1">
                <a:cs typeface="Times New Roman" pitchFamily="18" charset="0"/>
              </a:rPr>
              <a:t>getLeavesHeight</a:t>
            </a:r>
            <a:r>
              <a:rPr lang="en-US" sz="2200" b="0" dirty="0">
                <a:cs typeface="Times New Roman" pitchFamily="18" charset="0"/>
              </a:rPr>
              <a:t>();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int</a:t>
            </a:r>
            <a:r>
              <a:rPr lang="en-US" sz="2200" b="0" dirty="0" smtClean="0">
                <a:cs typeface="Times New Roman" pitchFamily="18" charset="0"/>
              </a:rPr>
              <a:t> </a:t>
            </a:r>
            <a:r>
              <a:rPr lang="en-US" sz="2200" b="0" dirty="0" err="1">
                <a:cs typeface="Times New Roman" pitchFamily="18" charset="0"/>
              </a:rPr>
              <a:t>brX</a:t>
            </a:r>
            <a:r>
              <a:rPr lang="en-US" sz="2200" b="0" dirty="0">
                <a:cs typeface="Times New Roman" pitchFamily="18" charset="0"/>
              </a:rPr>
              <a:t> = </a:t>
            </a:r>
            <a:r>
              <a:rPr lang="en-US" sz="2200" b="0" dirty="0" err="1">
                <a:cs typeface="Times New Roman" pitchFamily="18" charset="0"/>
              </a:rPr>
              <a:t>tempX</a:t>
            </a:r>
            <a:r>
              <a:rPr lang="en-US" sz="2200" b="0" dirty="0">
                <a:cs typeface="Times New Roman" pitchFamily="18" charset="0"/>
              </a:rPr>
              <a:t> + </a:t>
            </a:r>
            <a:r>
              <a:rPr lang="en-US" sz="2200" b="0" dirty="0" err="1">
                <a:cs typeface="Times New Roman" pitchFamily="18" charset="0"/>
              </a:rPr>
              <a:t>getLeavesWidth</a:t>
            </a:r>
            <a:r>
              <a:rPr lang="en-US" sz="2200" b="0" dirty="0">
                <a:cs typeface="Times New Roman" pitchFamily="18" charset="0"/>
              </a:rPr>
              <a:t>();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int</a:t>
            </a:r>
            <a:r>
              <a:rPr lang="en-US" sz="2200" b="0" dirty="0" smtClean="0">
                <a:cs typeface="Times New Roman" pitchFamily="18" charset="0"/>
              </a:rPr>
              <a:t> </a:t>
            </a:r>
            <a:r>
              <a:rPr lang="en-US" sz="2200" b="0" dirty="0" err="1">
                <a:cs typeface="Times New Roman" pitchFamily="18" charset="0"/>
              </a:rPr>
              <a:t>brY</a:t>
            </a:r>
            <a:r>
              <a:rPr lang="en-US" sz="2200" b="0" dirty="0">
                <a:cs typeface="Times New Roman" pitchFamily="18" charset="0"/>
              </a:rPr>
              <a:t> = </a:t>
            </a:r>
            <a:r>
              <a:rPr lang="en-US" sz="2200" b="0" dirty="0" err="1">
                <a:cs typeface="Times New Roman" pitchFamily="18" charset="0"/>
              </a:rPr>
              <a:t>tempY</a:t>
            </a:r>
            <a:r>
              <a:rPr lang="en-US" sz="2200" b="0" dirty="0">
                <a:cs typeface="Times New Roman" pitchFamily="18" charset="0"/>
              </a:rPr>
              <a:t> + </a:t>
            </a:r>
            <a:r>
              <a:rPr lang="en-US" sz="2200" b="0" dirty="0" err="1">
                <a:cs typeface="Times New Roman" pitchFamily="18" charset="0"/>
              </a:rPr>
              <a:t>getLeavesHeight</a:t>
            </a:r>
            <a:r>
              <a:rPr lang="en-US" sz="2200" b="0" dirty="0">
                <a:cs typeface="Times New Roman" pitchFamily="18" charset="0"/>
              </a:rPr>
              <a:t>();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</a:t>
            </a:r>
            <a:r>
              <a:rPr lang="en-US" sz="2200" b="0" dirty="0" smtClean="0">
                <a:cs typeface="Times New Roman" pitchFamily="18" charset="0"/>
              </a:rPr>
              <a:t>	Polygon </a:t>
            </a:r>
            <a:r>
              <a:rPr lang="en-US" sz="2200" b="0" dirty="0">
                <a:cs typeface="Times New Roman" pitchFamily="18" charset="0"/>
              </a:rPr>
              <a:t>triangle = new Polygon();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triangle.addPoint</a:t>
            </a:r>
            <a:r>
              <a:rPr lang="en-US" sz="2200" b="0" dirty="0" smtClean="0">
                <a:cs typeface="Times New Roman" pitchFamily="18" charset="0"/>
              </a:rPr>
              <a:t>(</a:t>
            </a:r>
            <a:r>
              <a:rPr lang="en-US" sz="2200" b="0" dirty="0" err="1" smtClean="0">
                <a:cs typeface="Times New Roman" pitchFamily="18" charset="0"/>
              </a:rPr>
              <a:t>topX,topY</a:t>
            </a:r>
            <a:r>
              <a:rPr lang="en-US" sz="2200" b="0" dirty="0"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triangle.addPoint</a:t>
            </a:r>
            <a:r>
              <a:rPr lang="en-US" sz="2200" b="0" dirty="0" smtClean="0">
                <a:cs typeface="Times New Roman" pitchFamily="18" charset="0"/>
              </a:rPr>
              <a:t>(</a:t>
            </a:r>
            <a:r>
              <a:rPr lang="en-US" sz="2200" b="0" dirty="0" err="1" smtClean="0">
                <a:cs typeface="Times New Roman" pitchFamily="18" charset="0"/>
              </a:rPr>
              <a:t>blX,blY</a:t>
            </a:r>
            <a:r>
              <a:rPr lang="en-US" sz="2200" b="0" dirty="0"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triangle.addPoint</a:t>
            </a:r>
            <a:r>
              <a:rPr lang="en-US" sz="2200" b="0" dirty="0" smtClean="0">
                <a:cs typeface="Times New Roman" pitchFamily="18" charset="0"/>
              </a:rPr>
              <a:t>(</a:t>
            </a:r>
            <a:r>
              <a:rPr lang="en-US" sz="2200" b="0" dirty="0" err="1" smtClean="0">
                <a:cs typeface="Times New Roman" pitchFamily="18" charset="0"/>
              </a:rPr>
              <a:t>brX,brY</a:t>
            </a:r>
            <a:r>
              <a:rPr lang="en-US" sz="2200" b="0" dirty="0"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   </a:t>
            </a:r>
            <a:r>
              <a:rPr lang="en-US" sz="2200" b="0" dirty="0" smtClean="0">
                <a:cs typeface="Times New Roman" pitchFamily="18" charset="0"/>
              </a:rPr>
              <a:t>	</a:t>
            </a:r>
            <a:r>
              <a:rPr lang="en-US" sz="2200" b="0" dirty="0" err="1" smtClean="0">
                <a:cs typeface="Times New Roman" pitchFamily="18" charset="0"/>
              </a:rPr>
              <a:t>g.fillPolygon</a:t>
            </a:r>
            <a:r>
              <a:rPr lang="en-US" sz="2200" b="0" dirty="0" smtClean="0">
                <a:cs typeface="Times New Roman" pitchFamily="18" charset="0"/>
              </a:rPr>
              <a:t>(triangle</a:t>
            </a:r>
            <a:r>
              <a:rPr lang="en-US" sz="2200" b="0" dirty="0"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b="0" dirty="0">
                <a:cs typeface="Times New Roman" pitchFamily="18" charset="0"/>
              </a:rPr>
              <a:t>   </a:t>
            </a:r>
            <a:r>
              <a:rPr lang="en-US" sz="2200" b="0" dirty="0" smtClean="0">
                <a:cs typeface="Times New Roman" pitchFamily="18" charset="0"/>
              </a:rPr>
              <a:t>	}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060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330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84263"/>
          </a:xfrm>
        </p:spPr>
        <p:txBody>
          <a:bodyPr/>
          <a:lstStyle/>
          <a:p>
            <a:pPr eaLnBrk="1" hangingPunct="1"/>
            <a:r>
              <a:rPr lang="en-US" sz="4800" dirty="0" smtClean="0">
                <a:solidFill>
                  <a:schemeClr val="tx1"/>
                </a:solidFill>
                <a:latin typeface="Arial Black" pitchFamily="34" charset="0"/>
                <a:cs typeface="Arial" pitchFamily="34" charset="0"/>
              </a:rPr>
              <a:t>Subclass Methods</a:t>
            </a:r>
            <a:endParaRPr lang="en-US" sz="4800" dirty="0" smtClean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52400" y="1084263"/>
            <a:ext cx="8839200" cy="3693319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600" dirty="0">
                <a:latin typeface="Arial" pitchFamily="34" charset="0"/>
                <a:cs typeface="Arial" pitchFamily="34" charset="0"/>
              </a:rPr>
              <a:t>Never alter a well-designed, and tested, existing class.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Write a new subclass class to use the methods of the existing class and create new methods in your new class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en-US" sz="2600" dirty="0">
                <a:latin typeface="Arial" pitchFamily="34" charset="0"/>
                <a:cs typeface="Arial" pitchFamily="34" charset="0"/>
              </a:rPr>
              <a:t>Write methods in the subclass that are </a:t>
            </a:r>
            <a:r>
              <a:rPr lang="en-US" sz="2600" i="1" dirty="0">
                <a:latin typeface="Arial" pitchFamily="34" charset="0"/>
                <a:cs typeface="Arial" pitchFamily="34" charset="0"/>
              </a:rPr>
              <a:t>re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-</a:t>
            </a:r>
            <a:r>
              <a:rPr lang="en-US" sz="2600" i="1" dirty="0">
                <a:latin typeface="Arial" pitchFamily="34" charset="0"/>
                <a:cs typeface="Arial" pitchFamily="34" charset="0"/>
              </a:rPr>
              <a:t>definitions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endParaRPr lang="en-US" sz="2600" dirty="0" smtClean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en-US" sz="26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the existing superclass methods or write totally </a:t>
            </a:r>
            <a:r>
              <a:rPr lang="en-US" sz="2600" i="1" dirty="0">
                <a:latin typeface="Arial" pitchFamily="34" charset="0"/>
                <a:cs typeface="Arial" pitchFamily="34" charset="0"/>
              </a:rPr>
              <a:t>new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-</a:t>
            </a:r>
            <a:r>
              <a:rPr lang="en-US" sz="2600" i="1" dirty="0">
                <a:latin typeface="Arial" pitchFamily="34" charset="0"/>
                <a:cs typeface="Arial" pitchFamily="34" charset="0"/>
              </a:rPr>
              <a:t>definitions</a:t>
            </a:r>
            <a:r>
              <a:rPr lang="en-US" sz="2600" i="1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2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92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5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// Java1020.java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// The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XmasTree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class extends the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PineTree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class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// and newly-defines the &lt;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drawOrnaments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&gt; method.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java.applet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.*;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public class Java1020 extends Applet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public void paint(Graphics g)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XmasTree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tree4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= new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XmasTree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();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tree4.drawTree(g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tree4.drawOrnaments(g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5138" algn="l"/>
                <a:tab pos="914400" algn="l"/>
                <a:tab pos="137953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753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88803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400" b="0" dirty="0">
                <a:cs typeface="Times New Roman" pitchFamily="18" charset="0"/>
              </a:rPr>
              <a:t>class </a:t>
            </a:r>
            <a:r>
              <a:rPr lang="en-US" sz="2400" b="0" dirty="0" err="1" smtClean="0">
                <a:cs typeface="Times New Roman" pitchFamily="18" charset="0"/>
              </a:rPr>
              <a:t>XmasTree</a:t>
            </a:r>
            <a:r>
              <a:rPr lang="en-US" sz="2400" b="0" dirty="0" smtClean="0">
                <a:cs typeface="Times New Roman" pitchFamily="18" charset="0"/>
              </a:rPr>
              <a:t> </a:t>
            </a:r>
            <a:r>
              <a:rPr lang="en-US" sz="2400" b="0" dirty="0">
                <a:cs typeface="Times New Roman" pitchFamily="18" charset="0"/>
              </a:rPr>
              <a:t>extends </a:t>
            </a:r>
            <a:r>
              <a:rPr lang="en-US" sz="2400" b="0" dirty="0" err="1" smtClean="0">
                <a:cs typeface="Times New Roman" pitchFamily="18" charset="0"/>
              </a:rPr>
              <a:t>PineTree</a:t>
            </a:r>
            <a:endParaRPr lang="en-US" sz="2400" b="0" dirty="0"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topX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topY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XmasTree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topX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getLeavesStart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().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+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getLeavesWidth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()/2;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topY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getLeavesStart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().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drawOrnaments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(Graphics g)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g.setColor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Color.red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g.fillOval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(topX,topY+75,30,30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g.fillOval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(topX-15,topY-15,30,30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g.fillOval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(topX,topY+200,30,30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g.fillOval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(topX-50,topY+150,30,30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g.fillOval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(topX+50,topY+250,30,30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g.fillOval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(topX-100,topY+250,30,30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2000"/>
              </a:lnSpc>
              <a:tabLst>
                <a:tab pos="465138" algn="l"/>
                <a:tab pos="914400" algn="l"/>
                <a:tab pos="1379538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PineTree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extends Tree 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// same as the previous program</a:t>
            </a:r>
            <a:endParaRPr lang="en-US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064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3491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6764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Multi-Level Inheritance</a:t>
            </a:r>
            <a:br>
              <a:rPr lang="en-US" sz="4800" smtClean="0">
                <a:latin typeface="Arial Black" pitchFamily="34" charset="0"/>
              </a:rPr>
            </a:br>
            <a:r>
              <a:rPr lang="en-US" sz="4800" smtClean="0">
                <a:latin typeface="Arial Black" pitchFamily="34" charset="0"/>
              </a:rPr>
              <a:t>&amp; Multiple Inheritance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533400" y="1820863"/>
            <a:ext cx="8077200" cy="473233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Arial" pitchFamily="34" charset="0"/>
                <a:cs typeface="Arial" pitchFamily="34" charset="0"/>
                <a:sym typeface="Symbol" pitchFamily="18" charset="2"/>
              </a:rPr>
              <a:t>The previous program showed an example of </a:t>
            </a:r>
            <a:r>
              <a:rPr lang="en-US" sz="3200" i="1" dirty="0">
                <a:latin typeface="Arial" pitchFamily="34" charset="0"/>
                <a:cs typeface="Arial" pitchFamily="34" charset="0"/>
                <a:sym typeface="Symbol" pitchFamily="18" charset="2"/>
              </a:rPr>
              <a:t>Multi-Level Inheritance.</a:t>
            </a:r>
          </a:p>
          <a:p>
            <a:pPr eaLnBrk="1" hangingPunct="1">
              <a:lnSpc>
                <a:spcPct val="80000"/>
              </a:lnSpc>
            </a:pPr>
            <a:endParaRPr lang="en-US" sz="3200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eaLnBrk="1" hangingPunct="1"/>
            <a:r>
              <a:rPr lang="en-US" sz="3200" i="1" dirty="0">
                <a:latin typeface="Arial" pitchFamily="34" charset="0"/>
                <a:cs typeface="Arial" pitchFamily="34" charset="0"/>
                <a:sym typeface="Symbol" pitchFamily="18" charset="2"/>
              </a:rPr>
              <a:t>Multiple Inheritance</a:t>
            </a:r>
            <a:r>
              <a:rPr lang="en-US" sz="3200" dirty="0">
                <a:latin typeface="Arial" pitchFamily="34" charset="0"/>
                <a:cs typeface="Arial" pitchFamily="34" charset="0"/>
                <a:sym typeface="Symbol" pitchFamily="18" charset="2"/>
              </a:rPr>
              <a:t> is something different.  It occurs when one subclass inherits from two or more </a:t>
            </a:r>
            <a:r>
              <a:rPr lang="en-US" sz="3200" dirty="0" err="1">
                <a:latin typeface="Arial" pitchFamily="34" charset="0"/>
                <a:cs typeface="Arial" pitchFamily="34" charset="0"/>
                <a:sym typeface="Symbol" pitchFamily="18" charset="2"/>
              </a:rPr>
              <a:t>superclasses</a:t>
            </a:r>
            <a:r>
              <a:rPr lang="en-US" sz="3200" dirty="0">
                <a:latin typeface="Arial" pitchFamily="34" charset="0"/>
                <a:cs typeface="Arial" pitchFamily="34" charset="0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endParaRPr lang="en-US" sz="3200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eaLnBrk="1" hangingPunct="1"/>
            <a:r>
              <a:rPr lang="en-US" sz="3200" dirty="0">
                <a:latin typeface="Arial" pitchFamily="34" charset="0"/>
                <a:cs typeface="Arial" pitchFamily="34" charset="0"/>
                <a:sym typeface="Symbol" pitchFamily="18" charset="2"/>
              </a:rPr>
              <a:t>This feature is available in C++.  </a:t>
            </a:r>
          </a:p>
          <a:p>
            <a:pPr eaLnBrk="1" hangingPunct="1">
              <a:lnSpc>
                <a:spcPct val="80000"/>
              </a:lnSpc>
            </a:pPr>
            <a:endParaRPr lang="en-US" sz="3200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eaLnBrk="1" hangingPunct="1"/>
            <a:r>
              <a:rPr lang="en-US" sz="3200" dirty="0">
                <a:latin typeface="Arial" pitchFamily="34" charset="0"/>
                <a:cs typeface="Arial" pitchFamily="34" charset="0"/>
                <a:sym typeface="Symbol" pitchFamily="18" charset="2"/>
              </a:rPr>
              <a:t>It is </a:t>
            </a:r>
            <a:r>
              <a:rPr lang="en-US" sz="3200" u="sng" dirty="0">
                <a:latin typeface="Arial" pitchFamily="34" charset="0"/>
                <a:cs typeface="Arial" pitchFamily="34" charset="0"/>
                <a:sym typeface="Symbol" pitchFamily="18" charset="2"/>
              </a:rPr>
              <a:t>NOT</a:t>
            </a:r>
            <a:r>
              <a:rPr lang="en-US" sz="3200" dirty="0">
                <a:latin typeface="Arial" pitchFamily="34" charset="0"/>
                <a:cs typeface="Arial" pitchFamily="34" charset="0"/>
                <a:sym typeface="Symbol" pitchFamily="18" charset="2"/>
              </a:rPr>
              <a:t> available in Java.</a:t>
            </a:r>
          </a:p>
        </p:txBody>
      </p:sp>
    </p:spTree>
    <p:extLst>
      <p:ext uri="{BB962C8B-B14F-4D97-AF65-F5344CB8AC3E}">
        <p14:creationId xmlns:p14="http://schemas.microsoft.com/office/powerpoint/2010/main" val="2435021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2946" name="Group 2"/>
          <p:cNvGraphicFramePr>
            <a:graphicFrameLocks noGrp="1"/>
          </p:cNvGraphicFramePr>
          <p:nvPr/>
        </p:nvGraphicFramePr>
        <p:xfrm>
          <a:off x="0" y="0"/>
          <a:ext cx="9144000" cy="6839632"/>
        </p:xfrm>
        <a:graphic>
          <a:graphicData uri="http://schemas.openxmlformats.org/drawingml/2006/table">
            <a:tbl>
              <a:tblPr/>
              <a:tblGrid>
                <a:gridCol w="4572000"/>
                <a:gridCol w="4572000"/>
              </a:tblGrid>
              <a:tr h="14080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6538" algn="l"/>
                          <a:tab pos="457200" algn="l"/>
                          <a:tab pos="693738" algn="l"/>
                          <a:tab pos="914400" algn="l"/>
                          <a:tab pos="1150938" algn="l"/>
                          <a:tab pos="1371600" algn="l"/>
                          <a:tab pos="1608138" algn="l"/>
                          <a:tab pos="1828800" algn="l"/>
                          <a:tab pos="2065338" algn="l"/>
                          <a:tab pos="2286000" algn="l"/>
                          <a:tab pos="2522538" algn="l"/>
                          <a:tab pos="2743200" algn="l"/>
                          <a:tab pos="2979738" algn="l"/>
                          <a:tab pos="3200400" algn="l"/>
                          <a:tab pos="3436938" algn="l"/>
                          <a:tab pos="3657600" algn="l"/>
                        </a:tabLst>
                      </a:pPr>
                      <a:r>
                        <a:rPr kumimoji="0" lang="en-US" sz="4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Multi-Level Inheritance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6538" algn="l"/>
                          <a:tab pos="457200" algn="l"/>
                          <a:tab pos="693738" algn="l"/>
                          <a:tab pos="914400" algn="l"/>
                          <a:tab pos="1150938" algn="l"/>
                          <a:tab pos="1371600" algn="l"/>
                          <a:tab pos="1608138" algn="l"/>
                          <a:tab pos="1828800" algn="l"/>
                          <a:tab pos="2065338" algn="l"/>
                          <a:tab pos="2286000" algn="l"/>
                          <a:tab pos="2522538" algn="l"/>
                          <a:tab pos="2743200" algn="l"/>
                          <a:tab pos="2979738" algn="l"/>
                          <a:tab pos="3200400" algn="l"/>
                          <a:tab pos="3436938" algn="l"/>
                          <a:tab pos="3657600" algn="l"/>
                          <a:tab pos="3894138" algn="l"/>
                          <a:tab pos="4114800" algn="l"/>
                          <a:tab pos="4351338" algn="l"/>
                        </a:tabLst>
                      </a:pPr>
                      <a:r>
                        <a:rPr kumimoji="0" lang="en-US" sz="4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Multiple Inheritance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54309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6538" algn="l"/>
                          <a:tab pos="457200" algn="l"/>
                          <a:tab pos="693738" algn="l"/>
                          <a:tab pos="914400" algn="l"/>
                          <a:tab pos="1150938" algn="l"/>
                          <a:tab pos="1371600" algn="l"/>
                          <a:tab pos="1608138" algn="l"/>
                          <a:tab pos="1828800" algn="l"/>
                          <a:tab pos="2065338" algn="l"/>
                          <a:tab pos="2286000" algn="l"/>
                          <a:tab pos="2522538" algn="l"/>
                          <a:tab pos="2743200" algn="l"/>
                          <a:tab pos="2979738" algn="l"/>
                          <a:tab pos="3200400" algn="l"/>
                          <a:tab pos="3436938" algn="l"/>
                          <a:tab pos="3657600" algn="l"/>
                        </a:tabLst>
                      </a:pPr>
                      <a:endParaRPr kumimoji="0" lang="en-US" sz="4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</a:endParaRP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6538" algn="l"/>
                          <a:tab pos="457200" algn="l"/>
                          <a:tab pos="693738" algn="l"/>
                          <a:tab pos="914400" algn="l"/>
                          <a:tab pos="1150938" algn="l"/>
                          <a:tab pos="1371600" algn="l"/>
                          <a:tab pos="1608138" algn="l"/>
                          <a:tab pos="1828800" algn="l"/>
                          <a:tab pos="2065338" algn="l"/>
                          <a:tab pos="2286000" algn="l"/>
                          <a:tab pos="2522538" algn="l"/>
                          <a:tab pos="2743200" algn="l"/>
                          <a:tab pos="2979738" algn="l"/>
                          <a:tab pos="3200400" algn="l"/>
                          <a:tab pos="3436938" algn="l"/>
                          <a:tab pos="3657600" algn="l"/>
                          <a:tab pos="3894138" algn="l"/>
                          <a:tab pos="4114800" algn="l"/>
                          <a:tab pos="4351338" algn="l"/>
                        </a:tabLst>
                      </a:pPr>
                      <a:endParaRPr kumimoji="0" lang="en-US" sz="4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6538" algn="l"/>
                          <a:tab pos="457200" algn="l"/>
                          <a:tab pos="693738" algn="l"/>
                          <a:tab pos="914400" algn="l"/>
                          <a:tab pos="1150938" algn="l"/>
                          <a:tab pos="1371600" algn="l"/>
                          <a:tab pos="1608138" algn="l"/>
                          <a:tab pos="1828800" algn="l"/>
                          <a:tab pos="2065338" algn="l"/>
                          <a:tab pos="2286000" algn="l"/>
                          <a:tab pos="2522538" algn="l"/>
                          <a:tab pos="2743200" algn="l"/>
                          <a:tab pos="2979738" algn="l"/>
                          <a:tab pos="3200400" algn="l"/>
                          <a:tab pos="3436938" algn="l"/>
                          <a:tab pos="3657600" algn="l"/>
                          <a:tab pos="3894138" algn="l"/>
                          <a:tab pos="4114800" algn="l"/>
                          <a:tab pos="4351338" algn="l"/>
                        </a:tabLst>
                      </a:pPr>
                      <a:endParaRPr kumimoji="0" lang="en-US" sz="4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6538" algn="l"/>
                          <a:tab pos="457200" algn="l"/>
                          <a:tab pos="693738" algn="l"/>
                          <a:tab pos="914400" algn="l"/>
                          <a:tab pos="1150938" algn="l"/>
                          <a:tab pos="1371600" algn="l"/>
                          <a:tab pos="1608138" algn="l"/>
                          <a:tab pos="1828800" algn="l"/>
                          <a:tab pos="2065338" algn="l"/>
                          <a:tab pos="2286000" algn="l"/>
                          <a:tab pos="2522538" algn="l"/>
                          <a:tab pos="2743200" algn="l"/>
                          <a:tab pos="2979738" algn="l"/>
                          <a:tab pos="3200400" algn="l"/>
                          <a:tab pos="3436938" algn="l"/>
                          <a:tab pos="3657600" algn="l"/>
                          <a:tab pos="3894138" algn="l"/>
                          <a:tab pos="4114800" algn="l"/>
                          <a:tab pos="4351338" algn="l"/>
                        </a:tabLst>
                      </a:pPr>
                      <a:endParaRPr kumimoji="0" lang="en-US" sz="4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6538" algn="l"/>
                          <a:tab pos="457200" algn="l"/>
                          <a:tab pos="693738" algn="l"/>
                          <a:tab pos="914400" algn="l"/>
                          <a:tab pos="1150938" algn="l"/>
                          <a:tab pos="1371600" algn="l"/>
                          <a:tab pos="1608138" algn="l"/>
                          <a:tab pos="1828800" algn="l"/>
                          <a:tab pos="2065338" algn="l"/>
                          <a:tab pos="2286000" algn="l"/>
                          <a:tab pos="2522538" algn="l"/>
                          <a:tab pos="2743200" algn="l"/>
                          <a:tab pos="2979738" algn="l"/>
                          <a:tab pos="3200400" algn="l"/>
                          <a:tab pos="3436938" algn="l"/>
                          <a:tab pos="3657600" algn="l"/>
                          <a:tab pos="3894138" algn="l"/>
                          <a:tab pos="4114800" algn="l"/>
                          <a:tab pos="4351338" algn="l"/>
                        </a:tabLst>
                      </a:pPr>
                      <a:endParaRPr kumimoji="0" lang="en-US" sz="4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6538" algn="l"/>
                          <a:tab pos="457200" algn="l"/>
                          <a:tab pos="693738" algn="l"/>
                          <a:tab pos="914400" algn="l"/>
                          <a:tab pos="1150938" algn="l"/>
                          <a:tab pos="1371600" algn="l"/>
                          <a:tab pos="1608138" algn="l"/>
                          <a:tab pos="1828800" algn="l"/>
                          <a:tab pos="2065338" algn="l"/>
                          <a:tab pos="2286000" algn="l"/>
                          <a:tab pos="2522538" algn="l"/>
                          <a:tab pos="2743200" algn="l"/>
                          <a:tab pos="2979738" algn="l"/>
                          <a:tab pos="3200400" algn="l"/>
                          <a:tab pos="3436938" algn="l"/>
                          <a:tab pos="3657600" algn="l"/>
                          <a:tab pos="3894138" algn="l"/>
                          <a:tab pos="4114800" algn="l"/>
                          <a:tab pos="4351338" algn="l"/>
                        </a:tabLst>
                      </a:pPr>
                      <a:endParaRPr kumimoji="0" lang="en-US" sz="4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6538" algn="l"/>
                          <a:tab pos="457200" algn="l"/>
                          <a:tab pos="693738" algn="l"/>
                          <a:tab pos="914400" algn="l"/>
                          <a:tab pos="1150938" algn="l"/>
                          <a:tab pos="1371600" algn="l"/>
                          <a:tab pos="1608138" algn="l"/>
                          <a:tab pos="1828800" algn="l"/>
                          <a:tab pos="2065338" algn="l"/>
                          <a:tab pos="2286000" algn="l"/>
                          <a:tab pos="2522538" algn="l"/>
                          <a:tab pos="2743200" algn="l"/>
                          <a:tab pos="2979738" algn="l"/>
                          <a:tab pos="3200400" algn="l"/>
                          <a:tab pos="3436938" algn="l"/>
                          <a:tab pos="3657600" algn="l"/>
                          <a:tab pos="3894138" algn="l"/>
                          <a:tab pos="4114800" algn="l"/>
                          <a:tab pos="4351338" algn="l"/>
                        </a:tabLst>
                      </a:pPr>
                      <a:endParaRPr kumimoji="0" lang="en-US" sz="4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6538" algn="l"/>
                          <a:tab pos="457200" algn="l"/>
                          <a:tab pos="693738" algn="l"/>
                          <a:tab pos="914400" algn="l"/>
                          <a:tab pos="1150938" algn="l"/>
                          <a:tab pos="1371600" algn="l"/>
                          <a:tab pos="1608138" algn="l"/>
                          <a:tab pos="1828800" algn="l"/>
                          <a:tab pos="2065338" algn="l"/>
                          <a:tab pos="2286000" algn="l"/>
                          <a:tab pos="2522538" algn="l"/>
                          <a:tab pos="2743200" algn="l"/>
                          <a:tab pos="2979738" algn="l"/>
                          <a:tab pos="3200400" algn="l"/>
                          <a:tab pos="3436938" algn="l"/>
                          <a:tab pos="3657600" algn="l"/>
                          <a:tab pos="3894138" algn="l"/>
                          <a:tab pos="4114800" algn="l"/>
                          <a:tab pos="4351338" algn="l"/>
                        </a:tabLst>
                      </a:pPr>
                      <a:endParaRPr kumimoji="0" lang="en-US" sz="4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304800" y="1773238"/>
            <a:ext cx="2286000" cy="63658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algn="ctr" eaLnBrk="1" hangingPunct="1"/>
            <a:r>
              <a:rPr lang="en-US" sz="3200">
                <a:latin typeface="Arial" charset="0"/>
                <a:sym typeface="Symbol" pitchFamily="18" charset="2"/>
              </a:rPr>
              <a:t>Animal</a:t>
            </a:r>
          </a:p>
        </p:txBody>
      </p:sp>
      <p:sp>
        <p:nvSpPr>
          <p:cNvPr id="20494" name="Text Box 14"/>
          <p:cNvSpPr txBox="1">
            <a:spLocks noChangeArrowheads="1"/>
          </p:cNvSpPr>
          <p:nvPr/>
        </p:nvSpPr>
        <p:spPr bwMode="auto">
          <a:xfrm>
            <a:off x="304800" y="3097213"/>
            <a:ext cx="2286000" cy="63658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algn="ctr" eaLnBrk="1" hangingPunct="1"/>
            <a:r>
              <a:rPr lang="en-US" sz="3200">
                <a:latin typeface="Arial" charset="0"/>
                <a:sym typeface="Symbol" pitchFamily="18" charset="2"/>
              </a:rPr>
              <a:t>Mammal</a:t>
            </a:r>
          </a:p>
        </p:txBody>
      </p:sp>
      <p:sp>
        <p:nvSpPr>
          <p:cNvPr id="20495" name="Text Box 15"/>
          <p:cNvSpPr txBox="1">
            <a:spLocks noChangeArrowheads="1"/>
          </p:cNvSpPr>
          <p:nvPr/>
        </p:nvSpPr>
        <p:spPr bwMode="auto">
          <a:xfrm>
            <a:off x="304800" y="4392613"/>
            <a:ext cx="2286000" cy="63658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algn="ctr" eaLnBrk="1" hangingPunct="1"/>
            <a:r>
              <a:rPr lang="en-US" sz="3200">
                <a:latin typeface="Arial" charset="0"/>
                <a:sym typeface="Symbol" pitchFamily="18" charset="2"/>
              </a:rPr>
              <a:t>Dog</a:t>
            </a:r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304800" y="5688013"/>
            <a:ext cx="2286000" cy="63658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algn="ctr" eaLnBrk="1" hangingPunct="1"/>
            <a:r>
              <a:rPr lang="en-US" sz="3200">
                <a:latin typeface="Arial" charset="0"/>
                <a:sym typeface="Symbol" pitchFamily="18" charset="2"/>
              </a:rPr>
              <a:t>Terrier</a:t>
            </a:r>
          </a:p>
        </p:txBody>
      </p:sp>
      <p:sp>
        <p:nvSpPr>
          <p:cNvPr id="20497" name="Line 17"/>
          <p:cNvSpPr>
            <a:spLocks noChangeShapeType="1"/>
          </p:cNvSpPr>
          <p:nvPr/>
        </p:nvSpPr>
        <p:spPr bwMode="auto">
          <a:xfrm>
            <a:off x="1447800" y="2438400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8" name="Line 18"/>
          <p:cNvSpPr>
            <a:spLocks noChangeShapeType="1"/>
          </p:cNvSpPr>
          <p:nvPr/>
        </p:nvSpPr>
        <p:spPr bwMode="auto">
          <a:xfrm>
            <a:off x="1447800" y="3733800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9" name="Line 19"/>
          <p:cNvSpPr>
            <a:spLocks noChangeShapeType="1"/>
          </p:cNvSpPr>
          <p:nvPr/>
        </p:nvSpPr>
        <p:spPr bwMode="auto">
          <a:xfrm>
            <a:off x="1447800" y="5029200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0" name="Text Box 20"/>
          <p:cNvSpPr txBox="1">
            <a:spLocks noChangeArrowheads="1"/>
          </p:cNvSpPr>
          <p:nvPr/>
        </p:nvSpPr>
        <p:spPr bwMode="auto">
          <a:xfrm>
            <a:off x="5029200" y="1752600"/>
            <a:ext cx="1676400" cy="63658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algn="ctr" eaLnBrk="1" hangingPunct="1"/>
            <a:r>
              <a:rPr lang="en-US" sz="3200">
                <a:latin typeface="Arial" charset="0"/>
                <a:sym typeface="Symbol" pitchFamily="18" charset="2"/>
              </a:rPr>
              <a:t>Reptile</a:t>
            </a:r>
          </a:p>
        </p:txBody>
      </p:sp>
      <p:sp>
        <p:nvSpPr>
          <p:cNvPr id="20501" name="Text Box 21"/>
          <p:cNvSpPr txBox="1">
            <a:spLocks noChangeArrowheads="1"/>
          </p:cNvSpPr>
          <p:nvPr/>
        </p:nvSpPr>
        <p:spPr bwMode="auto">
          <a:xfrm>
            <a:off x="5715000" y="3630613"/>
            <a:ext cx="2286000" cy="63658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algn="ctr" eaLnBrk="1" hangingPunct="1"/>
            <a:r>
              <a:rPr lang="en-US" sz="3200">
                <a:latin typeface="Arial" charset="0"/>
                <a:sym typeface="Symbol" pitchFamily="18" charset="2"/>
              </a:rPr>
              <a:t>Dinosaur</a:t>
            </a:r>
          </a:p>
        </p:txBody>
      </p:sp>
      <p:sp>
        <p:nvSpPr>
          <p:cNvPr id="20502" name="Text Box 22"/>
          <p:cNvSpPr txBox="1">
            <a:spLocks noChangeArrowheads="1"/>
          </p:cNvSpPr>
          <p:nvPr/>
        </p:nvSpPr>
        <p:spPr bwMode="auto">
          <a:xfrm>
            <a:off x="7086600" y="1752600"/>
            <a:ext cx="1676400" cy="63658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algn="ctr" eaLnBrk="1" hangingPunct="1"/>
            <a:r>
              <a:rPr lang="en-US" sz="3200">
                <a:latin typeface="Arial" charset="0"/>
                <a:sym typeface="Symbol" pitchFamily="18" charset="2"/>
              </a:rPr>
              <a:t>Extinct</a:t>
            </a:r>
          </a:p>
        </p:txBody>
      </p:sp>
      <p:sp>
        <p:nvSpPr>
          <p:cNvPr id="20503" name="Line 23"/>
          <p:cNvSpPr>
            <a:spLocks noChangeShapeType="1"/>
          </p:cNvSpPr>
          <p:nvPr/>
        </p:nvSpPr>
        <p:spPr bwMode="auto">
          <a:xfrm>
            <a:off x="5943600" y="2362200"/>
            <a:ext cx="457200" cy="1219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4" name="Line 24"/>
          <p:cNvSpPr>
            <a:spLocks noChangeShapeType="1"/>
          </p:cNvSpPr>
          <p:nvPr/>
        </p:nvSpPr>
        <p:spPr bwMode="auto">
          <a:xfrm flipH="1">
            <a:off x="7315200" y="2362200"/>
            <a:ext cx="609600" cy="1219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0505" name="Picture 25" descr="j034552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648200"/>
            <a:ext cx="1728788" cy="183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6" name="Picture 26" descr="j028631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624388"/>
            <a:ext cx="1778000" cy="181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4105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10.7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4" name="WordArt 2"/>
          <p:cNvSpPr>
            <a:spLocks noChangeArrowheads="1" noChangeShapeType="1" noTextEdit="1"/>
          </p:cNvSpPr>
          <p:nvPr/>
        </p:nvSpPr>
        <p:spPr bwMode="auto">
          <a:xfrm>
            <a:off x="381000" y="1600200"/>
            <a:ext cx="8382000" cy="2286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1311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        Inheritance        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5" name="WordArt 2"/>
          <p:cNvSpPr>
            <a:spLocks noChangeArrowheads="1" noChangeShapeType="1" noTextEdit="1"/>
          </p:cNvSpPr>
          <p:nvPr/>
        </p:nvSpPr>
        <p:spPr bwMode="auto">
          <a:xfrm>
            <a:off x="381000" y="3886200"/>
            <a:ext cx="8382000" cy="2286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1311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Constructor Issues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604161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10.7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4" name="WordArt 2"/>
          <p:cNvSpPr>
            <a:spLocks noChangeArrowheads="1" noChangeShapeType="1" noTextEdit="1"/>
          </p:cNvSpPr>
          <p:nvPr/>
        </p:nvSpPr>
        <p:spPr bwMode="auto">
          <a:xfrm>
            <a:off x="381000" y="1600200"/>
            <a:ext cx="8382000" cy="2286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1311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        Inheritance        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5" name="WordArt 2"/>
          <p:cNvSpPr>
            <a:spLocks noChangeArrowheads="1" noChangeShapeType="1" noTextEdit="1"/>
          </p:cNvSpPr>
          <p:nvPr/>
        </p:nvSpPr>
        <p:spPr bwMode="auto">
          <a:xfrm>
            <a:off x="381000" y="3886200"/>
            <a:ext cx="8382000" cy="2286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1311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Constructor Issues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259405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92035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// Java1021.java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// Note: The &lt;Person&gt; constructor is called, even though there does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// not appear to be a &lt;Person&gt; object instantiated.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public class Java1021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public static void main(String </a:t>
            </a:r>
            <a:r>
              <a:rPr lang="en-US" sz="1800" dirty="0" err="1">
                <a:latin typeface="Times New Roman" pitchFamily="18" charset="0"/>
              </a:rPr>
              <a:t>args</a:t>
            </a:r>
            <a:r>
              <a:rPr lang="en-US" sz="1800" dirty="0">
                <a:latin typeface="Times New Roman" pitchFamily="18" charset="0"/>
              </a:rPr>
              <a:t>[])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	Student tom = new Student();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	</a:t>
            </a:r>
            <a:r>
              <a:rPr lang="en-US" sz="1800" dirty="0" err="1">
                <a:latin typeface="Times New Roman" pitchFamily="18" charset="0"/>
              </a:rPr>
              <a:t>System.out.println</a:t>
            </a:r>
            <a:r>
              <a:rPr lang="en-US" sz="1800" dirty="0">
                <a:latin typeface="Times New Roman" pitchFamily="18" charset="0"/>
              </a:rPr>
              <a:t>("tom's age is   </a:t>
            </a:r>
            <a:r>
              <a:rPr lang="en-US" sz="1800" dirty="0" smtClean="0">
                <a:latin typeface="Times New Roman" pitchFamily="18" charset="0"/>
              </a:rPr>
              <a:t>  " </a:t>
            </a:r>
            <a:r>
              <a:rPr lang="en-US" sz="1800" dirty="0">
                <a:latin typeface="Times New Roman" pitchFamily="18" charset="0"/>
              </a:rPr>
              <a:t>+ </a:t>
            </a:r>
            <a:r>
              <a:rPr lang="en-US" sz="1800" dirty="0" err="1">
                <a:latin typeface="Times New Roman" pitchFamily="18" charset="0"/>
              </a:rPr>
              <a:t>tom.getAge</a:t>
            </a:r>
            <a:r>
              <a:rPr lang="en-US" sz="1800" dirty="0">
                <a:latin typeface="Times New Roman" pitchFamily="18" charset="0"/>
              </a:rPr>
              <a:t>());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	</a:t>
            </a:r>
            <a:r>
              <a:rPr lang="en-US" sz="1800" dirty="0" err="1">
                <a:latin typeface="Times New Roman" pitchFamily="18" charset="0"/>
              </a:rPr>
              <a:t>System.out.println</a:t>
            </a:r>
            <a:r>
              <a:rPr lang="en-US" sz="1800" dirty="0">
                <a:latin typeface="Times New Roman" pitchFamily="18" charset="0"/>
              </a:rPr>
              <a:t>("tom's grade is " + </a:t>
            </a:r>
            <a:r>
              <a:rPr lang="en-US" sz="1800" dirty="0" err="1">
                <a:latin typeface="Times New Roman" pitchFamily="18" charset="0"/>
              </a:rPr>
              <a:t>tom.getGrade</a:t>
            </a:r>
            <a:r>
              <a:rPr lang="en-US" sz="1800" dirty="0">
                <a:latin typeface="Times New Roman" pitchFamily="18" charset="0"/>
              </a:rPr>
              <a:t>());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class Person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private </a:t>
            </a:r>
            <a:r>
              <a:rPr lang="en-US" sz="1800" dirty="0" err="1">
                <a:latin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</a:rPr>
              <a:t> age;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endParaRPr lang="en-US" sz="9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public Person</a:t>
            </a:r>
            <a:r>
              <a:rPr lang="en-US" sz="1800" dirty="0" smtClean="0">
                <a:latin typeface="Times New Roman" pitchFamily="18" charset="0"/>
              </a:rPr>
              <a:t>()   {   </a:t>
            </a:r>
            <a:r>
              <a:rPr lang="en-US" sz="1800" dirty="0" err="1" smtClean="0">
                <a:latin typeface="Times New Roman" pitchFamily="18" charset="0"/>
              </a:rPr>
              <a:t>System.out.println</a:t>
            </a:r>
            <a:r>
              <a:rPr lang="en-US" sz="1800" dirty="0">
                <a:latin typeface="Times New Roman" pitchFamily="18" charset="0"/>
              </a:rPr>
              <a:t>("Person Constructor</a:t>
            </a:r>
            <a:r>
              <a:rPr lang="en-US" sz="1800" dirty="0" smtClean="0">
                <a:latin typeface="Times New Roman" pitchFamily="18" charset="0"/>
              </a:rPr>
              <a:t>");   age </a:t>
            </a:r>
            <a:r>
              <a:rPr lang="en-US" sz="1800" dirty="0">
                <a:latin typeface="Times New Roman" pitchFamily="18" charset="0"/>
              </a:rPr>
              <a:t>= 17</a:t>
            </a:r>
            <a:r>
              <a:rPr lang="en-US" sz="1800" dirty="0" smtClean="0">
                <a:latin typeface="Times New Roman" pitchFamily="18" charset="0"/>
              </a:rPr>
              <a:t>;   }</a:t>
            </a: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endParaRPr lang="en-US" sz="9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public </a:t>
            </a:r>
            <a:r>
              <a:rPr lang="en-US" sz="1800" dirty="0" err="1">
                <a:latin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</a:rPr>
              <a:t>getAge</a:t>
            </a:r>
            <a:r>
              <a:rPr lang="en-US" sz="1800" dirty="0" smtClean="0">
                <a:latin typeface="Times New Roman" pitchFamily="18" charset="0"/>
              </a:rPr>
              <a:t>()   {   return </a:t>
            </a:r>
            <a:r>
              <a:rPr lang="en-US" sz="1800" dirty="0">
                <a:latin typeface="Times New Roman" pitchFamily="18" charset="0"/>
              </a:rPr>
              <a:t>age</a:t>
            </a:r>
            <a:r>
              <a:rPr lang="en-US" sz="1800" dirty="0" smtClean="0">
                <a:latin typeface="Times New Roman" pitchFamily="18" charset="0"/>
              </a:rPr>
              <a:t>;   }</a:t>
            </a: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class Student extends Person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private </a:t>
            </a:r>
            <a:r>
              <a:rPr lang="en-US" sz="1800" dirty="0" err="1">
                <a:latin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</a:rPr>
              <a:t> grade;</a:t>
            </a: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endParaRPr lang="en-US" sz="9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public Student</a:t>
            </a:r>
            <a:r>
              <a:rPr lang="en-US" sz="1800" dirty="0" smtClean="0">
                <a:latin typeface="Times New Roman" pitchFamily="18" charset="0"/>
              </a:rPr>
              <a:t>()   {   </a:t>
            </a:r>
            <a:r>
              <a:rPr lang="en-US" sz="1800" dirty="0" err="1" smtClean="0">
                <a:latin typeface="Times New Roman" pitchFamily="18" charset="0"/>
              </a:rPr>
              <a:t>System.out.println</a:t>
            </a:r>
            <a:r>
              <a:rPr lang="en-US" sz="1800" dirty="0">
                <a:latin typeface="Times New Roman" pitchFamily="18" charset="0"/>
              </a:rPr>
              <a:t>("Student Constructor</a:t>
            </a:r>
            <a:r>
              <a:rPr lang="en-US" sz="1800" dirty="0" smtClean="0">
                <a:latin typeface="Times New Roman" pitchFamily="18" charset="0"/>
              </a:rPr>
              <a:t>");   grade </a:t>
            </a:r>
            <a:r>
              <a:rPr lang="en-US" sz="1800" dirty="0">
                <a:latin typeface="Times New Roman" pitchFamily="18" charset="0"/>
              </a:rPr>
              <a:t>= 12</a:t>
            </a:r>
            <a:r>
              <a:rPr lang="en-US" sz="1800" dirty="0" smtClean="0">
                <a:latin typeface="Times New Roman" pitchFamily="18" charset="0"/>
              </a:rPr>
              <a:t>;   }</a:t>
            </a: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endParaRPr lang="en-US" sz="9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public </a:t>
            </a:r>
            <a:r>
              <a:rPr lang="en-US" sz="1800" dirty="0" err="1">
                <a:latin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</a:rPr>
              <a:t>getGrade</a:t>
            </a:r>
            <a:r>
              <a:rPr lang="en-US" sz="1800" dirty="0" smtClean="0">
                <a:latin typeface="Times New Roman" pitchFamily="18" charset="0"/>
              </a:rPr>
              <a:t>()   {   return </a:t>
            </a:r>
            <a:r>
              <a:rPr lang="en-US" sz="1800" dirty="0">
                <a:latin typeface="Times New Roman" pitchFamily="18" charset="0"/>
              </a:rPr>
              <a:t>grade</a:t>
            </a:r>
            <a:r>
              <a:rPr lang="en-US" sz="1800" dirty="0" smtClean="0">
                <a:latin typeface="Times New Roman" pitchFamily="18" charset="0"/>
              </a:rPr>
              <a:t>;   }</a:t>
            </a: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86069" y="609600"/>
            <a:ext cx="3453131" cy="14465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Person Constructor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Student Constructor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tom's age is   17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tom's grade is 12</a:t>
            </a:r>
            <a:endParaRPr lang="en-US" sz="2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48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// Java1022.java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// This program adds a call to &lt;super&gt; in the &lt;Student&gt; constructor.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// The program output is identical to the previous program.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// Java automatically makes the call to &lt;super&gt;.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</a:tabLst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 smtClean="0">
                <a:latin typeface="Times New Roman" pitchFamily="18" charset="0"/>
              </a:rPr>
              <a:t>public </a:t>
            </a:r>
            <a:r>
              <a:rPr lang="en-US" sz="2000" dirty="0">
                <a:latin typeface="Times New Roman" pitchFamily="18" charset="0"/>
              </a:rPr>
              <a:t>class Java1022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</a:rPr>
              <a:t>args</a:t>
            </a:r>
            <a:r>
              <a:rPr lang="en-US" sz="2000" dirty="0">
                <a:latin typeface="Times New Roman" pitchFamily="18" charset="0"/>
              </a:rPr>
              <a:t>[])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	Student tom = new Student();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("tom's age is  </a:t>
            </a:r>
            <a:r>
              <a:rPr lang="en-US" sz="2000" dirty="0" smtClean="0">
                <a:latin typeface="Times New Roman" pitchFamily="18" charset="0"/>
              </a:rPr>
              <a:t>   </a:t>
            </a:r>
            <a:r>
              <a:rPr lang="en-US" sz="2000" dirty="0">
                <a:latin typeface="Times New Roman" pitchFamily="18" charset="0"/>
              </a:rPr>
              <a:t>" + </a:t>
            </a:r>
            <a:r>
              <a:rPr lang="en-US" sz="2000" dirty="0" err="1">
                <a:latin typeface="Times New Roman" pitchFamily="18" charset="0"/>
              </a:rPr>
              <a:t>tom.getAge</a:t>
            </a:r>
            <a:r>
              <a:rPr lang="en-US" sz="2000" dirty="0">
                <a:latin typeface="Times New Roman" pitchFamily="18" charset="0"/>
              </a:rPr>
              <a:t>());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("tom's grade is " + </a:t>
            </a:r>
            <a:r>
              <a:rPr lang="en-US" sz="2000" dirty="0" err="1">
                <a:latin typeface="Times New Roman" pitchFamily="18" charset="0"/>
              </a:rPr>
              <a:t>tom.getGrade</a:t>
            </a:r>
            <a:r>
              <a:rPr lang="en-US" sz="2000" dirty="0">
                <a:latin typeface="Times New Roman" pitchFamily="18" charset="0"/>
              </a:rPr>
              <a:t>());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  <a:tabLst>
                <a:tab pos="461963" algn="l"/>
                <a:tab pos="914400" algn="l"/>
                <a:tab pos="1376363" algn="l"/>
              </a:tabLst>
            </a:pPr>
            <a:endParaRPr lang="en-US" sz="2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1963" algn="l"/>
                <a:tab pos="914400" algn="l"/>
                <a:tab pos="1376363" algn="l"/>
              </a:tabLst>
            </a:pPr>
            <a:r>
              <a:rPr lang="en-US" sz="2000" dirty="0" smtClean="0">
                <a:latin typeface="Times New Roman" pitchFamily="18" charset="0"/>
              </a:rPr>
              <a:t>class Person   </a:t>
            </a:r>
            <a:r>
              <a:rPr lang="en-US" sz="2000" b="0" i="1" dirty="0" smtClean="0">
                <a:latin typeface="Times New Roman" pitchFamily="18" charset="0"/>
              </a:rPr>
              <a:t>// same as the previous program</a:t>
            </a:r>
          </a:p>
          <a:p>
            <a:pPr eaLnBrk="1" hangingPunct="1">
              <a:lnSpc>
                <a:spcPct val="90000"/>
              </a:lnSpc>
              <a:tabLst>
                <a:tab pos="461963" algn="l"/>
                <a:tab pos="914400" algn="l"/>
                <a:tab pos="1376363" algn="l"/>
              </a:tabLst>
            </a:pPr>
            <a:endParaRPr lang="en-US" sz="2600" dirty="0">
              <a:latin typeface="Times New Roman" pitchFamily="18" charset="0"/>
            </a:endParaRPr>
          </a:p>
          <a:p>
            <a:pPr>
              <a:tabLst>
                <a:tab pos="461963" algn="l"/>
                <a:tab pos="914400" algn="l"/>
                <a:tab pos="1376363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Student()</a:t>
            </a:r>
          </a:p>
          <a:p>
            <a:pPr>
              <a:tabLst>
                <a:tab pos="461963" algn="l"/>
                <a:tab pos="914400" algn="l"/>
                <a:tab pos="1376363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tabLst>
                <a:tab pos="461963" algn="l"/>
                <a:tab pos="914400" algn="l"/>
                <a:tab pos="1376363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0" dirty="0" smtClean="0">
                <a:cs typeface="Times New Roman" panose="02020603050405020304" pitchFamily="18" charset="0"/>
              </a:rPr>
              <a:t>super</a:t>
            </a:r>
            <a:r>
              <a:rPr lang="en-US" sz="2400" b="0" dirty="0">
                <a:cs typeface="Times New Roman" panose="02020603050405020304" pitchFamily="18" charset="0"/>
              </a:rPr>
              <a:t>();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must be first statement in the constructor</a:t>
            </a:r>
          </a:p>
          <a:p>
            <a:pPr>
              <a:tabLst>
                <a:tab pos="461963" algn="l"/>
                <a:tab pos="914400" algn="l"/>
                <a:tab pos="1376363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("Student Constructor");</a:t>
            </a:r>
          </a:p>
          <a:p>
            <a:pPr>
              <a:tabLst>
                <a:tab pos="461963" algn="l"/>
                <a:tab pos="914400" algn="l"/>
                <a:tab pos="1376363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grade = 12;</a:t>
            </a:r>
          </a:p>
          <a:p>
            <a:pPr>
              <a:tabLst>
                <a:tab pos="461963" algn="l"/>
                <a:tab pos="914400" algn="l"/>
                <a:tab pos="1376363" algn="l"/>
              </a:tabLst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C:\Users\JohnSchram\AppData\Local\Microsoft\Windows\Temporary Internet Files\Content.IE5\OE5MU63T\MP900431819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599" y="3429000"/>
            <a:ext cx="2854713" cy="210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054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6764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Inheritance and</a:t>
            </a:r>
            <a:br>
              <a:rPr lang="en-US" sz="4800" dirty="0" smtClean="0">
                <a:latin typeface="Arial Black" pitchFamily="34" charset="0"/>
              </a:rPr>
            </a:br>
            <a:r>
              <a:rPr lang="en-US" sz="4800" dirty="0" smtClean="0">
                <a:latin typeface="Arial Black" pitchFamily="34" charset="0"/>
              </a:rPr>
              <a:t>Constructor Calls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533400" y="1721108"/>
            <a:ext cx="8077200" cy="483209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796925" algn="l"/>
                <a:tab pos="1371600" algn="l"/>
                <a:tab pos="20653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When an object of a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subclass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is instantiated, the constructor of the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superclass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is executed first, followed by completing the execution of the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subclass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constructor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 invisible - to the programmer - call is made by Java to the super method, which generates a call to the superclass constructor. 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statement can be written in the subclass constructor with the same results,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but it is not required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6559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400" dirty="0">
                <a:latin typeface="Times New Roman" pitchFamily="18" charset="0"/>
              </a:rPr>
              <a:t>class Student extends Person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4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400" dirty="0">
                <a:latin typeface="Times New Roman" pitchFamily="18" charset="0"/>
              </a:rPr>
              <a:t>	private </a:t>
            </a:r>
            <a:r>
              <a:rPr lang="en-US" sz="2400" dirty="0" err="1">
                <a:latin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</a:rPr>
              <a:t> grade;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400" dirty="0">
                <a:latin typeface="Times New Roman" pitchFamily="18" charset="0"/>
              </a:rPr>
              <a:t>	public Student()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800" b="0" dirty="0"/>
              <a:t>super();  </a:t>
            </a:r>
            <a:r>
              <a:rPr lang="en-US" sz="2400" dirty="0">
                <a:latin typeface="Times New Roman" pitchFamily="18" charset="0"/>
              </a:rPr>
              <a:t>// not required; Java makes this call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("Student Constructor");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400" dirty="0">
                <a:latin typeface="Times New Roman" pitchFamily="18" charset="0"/>
              </a:rPr>
              <a:t>		grade = 12;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400" dirty="0">
                <a:latin typeface="Times New Roman" pitchFamily="18" charset="0"/>
              </a:rPr>
              <a:t>	public </a:t>
            </a:r>
            <a:r>
              <a:rPr lang="en-US" sz="2400" dirty="0" err="1">
                <a:latin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getGrade</a:t>
            </a:r>
            <a:r>
              <a:rPr lang="en-US" sz="2400" dirty="0">
                <a:latin typeface="Times New Roman" pitchFamily="18" charset="0"/>
              </a:rPr>
              <a:t>()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400" dirty="0">
                <a:latin typeface="Times New Roman" pitchFamily="18" charset="0"/>
              </a:rPr>
              <a:t>		return grade;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400" dirty="0" smtClean="0">
                <a:latin typeface="Times New Roman" pitchFamily="18" charset="0"/>
              </a:rPr>
              <a:t>}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24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65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6341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// Java1023.java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// This program demonstrates how a subclass constructor passes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// parameter information to a superclass constructor.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 smtClean="0">
                <a:latin typeface="Times New Roman" pitchFamily="18" charset="0"/>
              </a:rPr>
              <a:t>public </a:t>
            </a:r>
            <a:r>
              <a:rPr lang="en-US" sz="1800" dirty="0">
                <a:latin typeface="Times New Roman" pitchFamily="18" charset="0"/>
              </a:rPr>
              <a:t>class Java1023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public static void main(String </a:t>
            </a:r>
            <a:r>
              <a:rPr lang="en-US" sz="1800" dirty="0" err="1">
                <a:latin typeface="Times New Roman" pitchFamily="18" charset="0"/>
              </a:rPr>
              <a:t>args</a:t>
            </a:r>
            <a:r>
              <a:rPr lang="en-US" sz="1800" dirty="0">
                <a:latin typeface="Times New Roman" pitchFamily="18" charset="0"/>
              </a:rPr>
              <a:t>[])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	Student tom = new Student(12,17);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	</a:t>
            </a:r>
            <a:r>
              <a:rPr lang="en-US" sz="1800" dirty="0" err="1">
                <a:latin typeface="Times New Roman" pitchFamily="18" charset="0"/>
              </a:rPr>
              <a:t>tom.showData</a:t>
            </a:r>
            <a:r>
              <a:rPr lang="en-US" sz="1800" dirty="0">
                <a:latin typeface="Times New Roman" pitchFamily="18" charset="0"/>
              </a:rPr>
              <a:t>();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}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class Person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private </a:t>
            </a:r>
            <a:r>
              <a:rPr lang="en-US" sz="1800" dirty="0" err="1">
                <a:latin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</a:rPr>
              <a:t> age;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14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0" dirty="0"/>
              <a:t>	public Person(</a:t>
            </a:r>
            <a:r>
              <a:rPr lang="en-US" sz="2000" b="0" dirty="0" err="1"/>
              <a:t>int</a:t>
            </a:r>
            <a:r>
              <a:rPr lang="en-US" sz="2000" b="0" dirty="0"/>
              <a:t> a)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	</a:t>
            </a:r>
            <a:r>
              <a:rPr lang="en-US" sz="1800" dirty="0" err="1">
                <a:latin typeface="Times New Roman" pitchFamily="18" charset="0"/>
              </a:rPr>
              <a:t>System.out.println</a:t>
            </a:r>
            <a:r>
              <a:rPr lang="en-US" sz="1800" dirty="0">
                <a:latin typeface="Times New Roman" pitchFamily="18" charset="0"/>
              </a:rPr>
              <a:t>("Person Parameter Constructor");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	age = a;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14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public </a:t>
            </a:r>
            <a:r>
              <a:rPr lang="en-US" sz="1800" dirty="0" err="1">
                <a:latin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</a:rPr>
              <a:t>getAge</a:t>
            </a:r>
            <a:r>
              <a:rPr lang="en-US" sz="1800" dirty="0" smtClean="0">
                <a:latin typeface="Times New Roman" pitchFamily="18" charset="0"/>
              </a:rPr>
              <a:t>()   {   return </a:t>
            </a:r>
            <a:r>
              <a:rPr lang="en-US" sz="1800" dirty="0">
                <a:latin typeface="Times New Roman" pitchFamily="18" charset="0"/>
              </a:rPr>
              <a:t>age</a:t>
            </a:r>
            <a:r>
              <a:rPr lang="en-US" sz="1800" dirty="0" smtClean="0">
                <a:latin typeface="Times New Roman" pitchFamily="18" charset="0"/>
              </a:rPr>
              <a:t>;   }</a:t>
            </a:r>
            <a:endParaRPr lang="en-US" sz="18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 smtClean="0">
                <a:latin typeface="Times New Roman" pitchFamily="18" charset="0"/>
              </a:rPr>
              <a:t>}</a:t>
            </a:r>
            <a:endParaRPr lang="en-US" sz="1800" dirty="0">
              <a:latin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0" y="2819400"/>
            <a:ext cx="5791200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Person Parameter Constructor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 Parameter Constructor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Student's Grade is 12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Student's Age is 17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31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6341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 smtClean="0">
                <a:latin typeface="Times New Roman" pitchFamily="18" charset="0"/>
              </a:rPr>
              <a:t>class </a:t>
            </a:r>
            <a:r>
              <a:rPr lang="en-US" sz="2000" dirty="0">
                <a:latin typeface="Times New Roman" pitchFamily="18" charset="0"/>
              </a:rPr>
              <a:t>Student extends Person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private </a:t>
            </a:r>
            <a:r>
              <a:rPr lang="en-US" sz="2000" dirty="0" err="1">
                <a:latin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</a:rPr>
              <a:t> grade;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public Student(</a:t>
            </a:r>
            <a:r>
              <a:rPr lang="en-US" sz="2000" dirty="0" err="1">
                <a:latin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</a:rPr>
              <a:t> g, </a:t>
            </a:r>
            <a:r>
              <a:rPr lang="en-US" sz="2000" dirty="0" err="1">
                <a:latin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</a:rPr>
              <a:t> a)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400" b="0" dirty="0"/>
              <a:t>super(a);   </a:t>
            </a:r>
            <a:r>
              <a:rPr lang="en-US" sz="2000" dirty="0">
                <a:latin typeface="Times New Roman" pitchFamily="18" charset="0"/>
              </a:rPr>
              <a:t>// required for superclass parameter constructors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	grade = g;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("Student Parameter Constructor");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getGrade</a:t>
            </a:r>
            <a:r>
              <a:rPr lang="en-US" sz="2000" dirty="0">
                <a:latin typeface="Times New Roman" pitchFamily="18" charset="0"/>
              </a:rPr>
              <a:t>()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	return grade;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public void </a:t>
            </a:r>
            <a:r>
              <a:rPr lang="en-US" sz="2000" dirty="0" err="1">
                <a:latin typeface="Times New Roman" pitchFamily="18" charset="0"/>
              </a:rPr>
              <a:t>showData</a:t>
            </a:r>
            <a:r>
              <a:rPr lang="en-US" sz="2000" dirty="0">
                <a:latin typeface="Times New Roman" pitchFamily="18" charset="0"/>
              </a:rPr>
              <a:t>()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("Student's Grade is " + </a:t>
            </a:r>
            <a:r>
              <a:rPr lang="en-US" sz="2000" dirty="0" err="1">
                <a:latin typeface="Times New Roman" pitchFamily="18" charset="0"/>
              </a:rPr>
              <a:t>getGrade</a:t>
            </a:r>
            <a:r>
              <a:rPr lang="en-US" sz="2000" dirty="0">
                <a:latin typeface="Times New Roman" pitchFamily="18" charset="0"/>
              </a:rPr>
              <a:t>());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("Student's Age is " + </a:t>
            </a:r>
            <a:r>
              <a:rPr lang="en-US" sz="2000" dirty="0" err="1">
                <a:latin typeface="Times New Roman" pitchFamily="18" charset="0"/>
              </a:rPr>
              <a:t>getAge</a:t>
            </a:r>
            <a:r>
              <a:rPr lang="en-US" sz="2000" dirty="0">
                <a:latin typeface="Times New Roman" pitchFamily="18" charset="0"/>
              </a:rPr>
              <a:t>());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dirty="0" smtClean="0">
                <a:latin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</a:endParaRPr>
          </a:p>
        </p:txBody>
      </p:sp>
      <p:pic>
        <p:nvPicPr>
          <p:cNvPr id="10242" name="Picture 2" descr="C:\Users\JohnSchram\AppData\Local\Microsoft\Windows\Temporary Internet Files\Content.IE5\E4G0Q3HQ\MC91021721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276600"/>
            <a:ext cx="1732788" cy="181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859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4847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</a:rPr>
              <a:t>// </a:t>
            </a:r>
            <a:r>
              <a:rPr lang="en-US" sz="2200" dirty="0" smtClean="0">
                <a:latin typeface="Times New Roman" pitchFamily="18" charset="0"/>
              </a:rPr>
              <a:t>Java1024.java    </a:t>
            </a:r>
            <a:r>
              <a:rPr lang="en-US" sz="2200" dirty="0">
                <a:latin typeface="Times New Roman" pitchFamily="18" charset="0"/>
              </a:rPr>
              <a:t>This program demonstrates inheritance at three levels.</a:t>
            </a: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dirty="0"/>
              <a:t> </a:t>
            </a:r>
          </a:p>
        </p:txBody>
      </p:sp>
      <p:graphicFrame>
        <p:nvGraphicFramePr>
          <p:cNvPr id="702516" name="Group 52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2329803969"/>
              </p:ext>
            </p:extLst>
          </p:nvPr>
        </p:nvGraphicFramePr>
        <p:xfrm>
          <a:off x="0" y="579438"/>
          <a:ext cx="9144000" cy="6245322"/>
        </p:xfrm>
        <a:graphic>
          <a:graphicData uri="http://schemas.openxmlformats.org/drawingml/2006/table">
            <a:tbl>
              <a:tblPr/>
              <a:tblGrid>
                <a:gridCol w="5410200"/>
                <a:gridCol w="3733800"/>
              </a:tblGrid>
              <a:tr h="62309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public class Java1024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public static void main(String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args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[])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Cat tiger = new Cat("Tiger",500,5);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System.out.println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</a:t>
                      </a:r>
                      <a:r>
                        <a:rPr kumimoji="0" lang="en-US" sz="1600" b="1" i="0" u="none" strike="noStrike" cap="none" spc="-5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System.out.println</a:t>
                      </a:r>
                      <a:r>
                        <a:rPr kumimoji="0" lang="en-US" sz="1600" b="1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("Animal type:      " + </a:t>
                      </a:r>
                      <a:r>
                        <a:rPr kumimoji="0" lang="en-US" sz="1600" b="1" i="0" u="none" strike="noStrike" cap="none" spc="-5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tiger.getType</a:t>
                      </a:r>
                      <a:r>
                        <a:rPr kumimoji="0" lang="en-US" sz="1600" b="1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());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</a:t>
                      </a:r>
                      <a:r>
                        <a:rPr kumimoji="0" lang="en-US" sz="1600" b="1" i="0" u="none" strike="noStrike" cap="none" spc="-5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System.out.println</a:t>
                      </a:r>
                      <a:r>
                        <a:rPr kumimoji="0" lang="en-US" sz="1600" b="1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("Animal weight: " + </a:t>
                      </a:r>
                      <a:r>
                        <a:rPr kumimoji="0" lang="en-US" sz="1600" b="1" i="0" u="none" strike="noStrike" cap="none" spc="-5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tiger.getWeight</a:t>
                      </a:r>
                      <a:r>
                        <a:rPr kumimoji="0" lang="en-US" sz="1600" b="1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());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System.out.println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("Animal age:   " +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tiger.getAge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());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</a:rPr>
                        <a:t>class Animal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private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age;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endParaRPr kumimoji="0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public Animal(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a)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System.out.println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("Animal Constructor Called");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age = a;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endParaRPr kumimoji="0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public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getAge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()  {  return age;  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4163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  <a:tab pos="32004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}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class Mammal extends Animal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private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weight;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endParaRPr kumimoji="0" lang="en-US" sz="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public Mammal(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w,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a)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</a:rPr>
                        <a:t>		super(a);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weight = w;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System.out.println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    "Mammal Constructor Called");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endParaRPr kumimoji="0" lang="en-US" sz="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</a:t>
                      </a:r>
                      <a:r>
                        <a:rPr kumimoji="0" lang="en-US" sz="1600" b="1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public </a:t>
                      </a:r>
                      <a:r>
                        <a:rPr kumimoji="0" lang="en-US" sz="1600" b="1" i="0" u="none" strike="noStrike" cap="none" spc="-5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int</a:t>
                      </a:r>
                      <a:r>
                        <a:rPr kumimoji="0" lang="en-US" sz="1600" b="1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1600" b="1" i="0" u="none" strike="noStrike" cap="none" spc="-5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getWeight</a:t>
                      </a:r>
                      <a:r>
                        <a:rPr kumimoji="0" lang="en-US" sz="1600" b="1" i="0" u="none" strike="noStrike" cap="none" spc="-5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() { return weight; 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</a:rPr>
                        <a:t>class Cat extends Mammal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private String type;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endParaRPr kumimoji="0" lang="en-US" sz="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public Cat(String t,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w,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a)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</a:rPr>
                        <a:t>		super(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</a:rPr>
                        <a:t>w,a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type = t;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System.out.println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	"Cat Constructor Called");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endParaRPr kumimoji="0" lang="en-US" sz="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</a:t>
                      </a:r>
                      <a:r>
                        <a:rPr kumimoji="0" lang="en-US" sz="1600" b="1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public String </a:t>
                      </a:r>
                      <a:r>
                        <a:rPr kumimoji="0" lang="en-US" sz="1600" b="1" i="0" u="none" strike="noStrike" cap="none" spc="-3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getType</a:t>
                      </a:r>
                      <a:r>
                        <a:rPr kumimoji="0" lang="en-US" sz="1600" b="1" i="0" u="none" strike="noStrike" cap="none" spc="-3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() { return type; 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457200" algn="l"/>
                          <a:tab pos="685800" algn="l"/>
                          <a:tab pos="914400" algn="l"/>
                          <a:tab pos="1143000" algn="l"/>
                          <a:tab pos="13716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}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05000" y="3074718"/>
            <a:ext cx="3352800" cy="16496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Animal Constructor Called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Mammal Constructor Called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Cat Constructor Called</a:t>
            </a:r>
          </a:p>
          <a:p>
            <a:pPr>
              <a:lnSpc>
                <a:spcPct val="90000"/>
              </a:lnSpc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Animal type:   Tiger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Animal weight: 500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Animal age:    5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638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WordArt 2"/>
          <p:cNvSpPr>
            <a:spLocks noChangeArrowheads="1" noChangeShapeType="1" noTextEdit="1"/>
          </p:cNvSpPr>
          <p:nvPr/>
        </p:nvSpPr>
        <p:spPr bwMode="auto">
          <a:xfrm>
            <a:off x="381000" y="1295400"/>
            <a:ext cx="8305800" cy="210312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   Calling a   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10.8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4" name="WordArt 2"/>
          <p:cNvSpPr>
            <a:spLocks noChangeArrowheads="1" noChangeShapeType="1" noTextEdit="1"/>
          </p:cNvSpPr>
          <p:nvPr/>
        </p:nvSpPr>
        <p:spPr bwMode="auto">
          <a:xfrm>
            <a:off x="381000" y="2971800"/>
            <a:ext cx="8305800" cy="210312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Superclass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5" name="WordArt 2"/>
          <p:cNvSpPr>
            <a:spLocks noChangeArrowheads="1" noChangeShapeType="1" noTextEdit="1"/>
          </p:cNvSpPr>
          <p:nvPr/>
        </p:nvSpPr>
        <p:spPr bwMode="auto">
          <a:xfrm>
            <a:off x="381000" y="4678680"/>
            <a:ext cx="8305800" cy="210312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    Method    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50886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70173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// Java1025.java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// This program demonstrates that it is possible to distinguish between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// two methods with the same identifier using &lt;super&gt;.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 smtClean="0">
                <a:latin typeface="Times New Roman" pitchFamily="18" charset="0"/>
              </a:rPr>
              <a:t>public </a:t>
            </a:r>
            <a:r>
              <a:rPr lang="en-US" sz="1800" dirty="0">
                <a:latin typeface="Times New Roman" pitchFamily="18" charset="0"/>
              </a:rPr>
              <a:t>class Java1025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public static void main(String </a:t>
            </a:r>
            <a:r>
              <a:rPr lang="en-US" sz="1800" dirty="0" err="1">
                <a:latin typeface="Times New Roman" pitchFamily="18" charset="0"/>
              </a:rPr>
              <a:t>args</a:t>
            </a:r>
            <a:r>
              <a:rPr lang="en-US" sz="1800" dirty="0">
                <a:latin typeface="Times New Roman" pitchFamily="18" charset="0"/>
              </a:rPr>
              <a:t>[])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	Student tom = new Student(12,17);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	</a:t>
            </a:r>
            <a:r>
              <a:rPr lang="en-US" sz="1800" dirty="0" err="1">
                <a:latin typeface="Times New Roman" pitchFamily="18" charset="0"/>
              </a:rPr>
              <a:t>tom.showData</a:t>
            </a:r>
            <a:r>
              <a:rPr lang="en-US" sz="1800" dirty="0">
                <a:latin typeface="Times New Roman" pitchFamily="18" charset="0"/>
              </a:rPr>
              <a:t>();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}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 smtClean="0">
                <a:latin typeface="Times New Roman" pitchFamily="18" charset="0"/>
              </a:rPr>
              <a:t>class </a:t>
            </a:r>
            <a:r>
              <a:rPr lang="en-US" sz="1800" dirty="0">
                <a:latin typeface="Times New Roman" pitchFamily="18" charset="0"/>
              </a:rPr>
              <a:t>Person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private </a:t>
            </a:r>
            <a:r>
              <a:rPr lang="en-US" sz="1800" dirty="0" err="1">
                <a:latin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</a:rPr>
              <a:t> age;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public Person(</a:t>
            </a:r>
            <a:r>
              <a:rPr lang="en-US" sz="1800" dirty="0" err="1">
                <a:latin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</a:rPr>
              <a:t> a)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	</a:t>
            </a:r>
            <a:r>
              <a:rPr lang="en-US" sz="1800" dirty="0" err="1">
                <a:latin typeface="Times New Roman" pitchFamily="18" charset="0"/>
              </a:rPr>
              <a:t>System.out.println</a:t>
            </a:r>
            <a:r>
              <a:rPr lang="en-US" sz="1800" dirty="0">
                <a:latin typeface="Times New Roman" pitchFamily="18" charset="0"/>
              </a:rPr>
              <a:t>("Person Parameter Constructor");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	age = a;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000" b="0" dirty="0"/>
              <a:t>	public </a:t>
            </a:r>
            <a:r>
              <a:rPr lang="en-US" sz="2000" b="0" dirty="0" err="1"/>
              <a:t>int</a:t>
            </a:r>
            <a:r>
              <a:rPr lang="en-US" sz="2000" b="0" dirty="0"/>
              <a:t> </a:t>
            </a:r>
            <a:r>
              <a:rPr lang="en-US" sz="2000" b="0" dirty="0" err="1"/>
              <a:t>getData</a:t>
            </a:r>
            <a:r>
              <a:rPr lang="en-US" sz="2000" b="0" dirty="0" smtClean="0"/>
              <a:t>()   {   return </a:t>
            </a:r>
            <a:r>
              <a:rPr lang="en-US" sz="2000" b="0" dirty="0"/>
              <a:t>age</a:t>
            </a:r>
            <a:r>
              <a:rPr lang="en-US" sz="2000" b="0" dirty="0" smtClean="0"/>
              <a:t>;   }</a:t>
            </a:r>
            <a:endParaRPr lang="en-US" sz="2000" b="0" dirty="0"/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1800" dirty="0" smtClean="0">
                <a:latin typeface="Times New Roman" pitchFamily="18" charset="0"/>
              </a:rPr>
              <a:t>}</a:t>
            </a:r>
            <a:endParaRPr lang="en-US" sz="18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97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 smtClean="0">
                <a:latin typeface="Times New Roman" pitchFamily="18" charset="0"/>
              </a:rPr>
              <a:t>class </a:t>
            </a:r>
            <a:r>
              <a:rPr lang="en-US" sz="2200" dirty="0">
                <a:latin typeface="Times New Roman" pitchFamily="18" charset="0"/>
              </a:rPr>
              <a:t>Student extends Person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>
                <a:latin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</a:rPr>
              <a:t> grade;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>
                <a:latin typeface="Times New Roman" pitchFamily="18" charset="0"/>
              </a:rPr>
              <a:t>	public Student(</a:t>
            </a:r>
            <a:r>
              <a:rPr lang="en-US" sz="2200" dirty="0" err="1">
                <a:latin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</a:rPr>
              <a:t> g, </a:t>
            </a:r>
            <a:r>
              <a:rPr lang="en-US" sz="2200" dirty="0" err="1">
                <a:latin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</a:rPr>
              <a:t> a)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>
                <a:latin typeface="Times New Roman" pitchFamily="18" charset="0"/>
              </a:rPr>
              <a:t>		super(a);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>
                <a:latin typeface="Times New Roman" pitchFamily="18" charset="0"/>
              </a:rPr>
              <a:t>		grade = g;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("Student Parameter Constructor");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400" b="0" dirty="0"/>
              <a:t>	public </a:t>
            </a:r>
            <a:r>
              <a:rPr lang="en-US" sz="2400" b="0" dirty="0" err="1"/>
              <a:t>int</a:t>
            </a:r>
            <a:r>
              <a:rPr lang="en-US" sz="2400" b="0" dirty="0"/>
              <a:t> </a:t>
            </a:r>
            <a:r>
              <a:rPr lang="en-US" sz="2400" b="0" dirty="0" err="1"/>
              <a:t>getData</a:t>
            </a:r>
            <a:r>
              <a:rPr lang="en-US" sz="2400" b="0" dirty="0" smtClean="0"/>
              <a:t>()   {   return </a:t>
            </a:r>
            <a:r>
              <a:rPr lang="en-US" sz="2400" b="0" dirty="0"/>
              <a:t>grade</a:t>
            </a:r>
            <a:r>
              <a:rPr lang="en-US" sz="2400" b="0" dirty="0" smtClean="0"/>
              <a:t>;   }</a:t>
            </a:r>
            <a:endParaRPr lang="en-US" sz="2400" b="0" dirty="0"/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>
                <a:latin typeface="Times New Roman" pitchFamily="18" charset="0"/>
              </a:rPr>
              <a:t>	public void </a:t>
            </a:r>
            <a:r>
              <a:rPr lang="en-US" sz="2200" dirty="0" err="1">
                <a:latin typeface="Times New Roman" pitchFamily="18" charset="0"/>
              </a:rPr>
              <a:t>showData</a:t>
            </a:r>
            <a:r>
              <a:rPr lang="en-US" sz="2200" dirty="0">
                <a:latin typeface="Times New Roman" pitchFamily="18" charset="0"/>
              </a:rPr>
              <a:t>()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("Student's Grade is " + </a:t>
            </a:r>
            <a:r>
              <a:rPr lang="en-US" sz="2400" b="0" dirty="0" err="1"/>
              <a:t>getData</a:t>
            </a:r>
            <a:r>
              <a:rPr lang="en-US" sz="2400" b="0" dirty="0"/>
              <a:t>()</a:t>
            </a:r>
            <a:r>
              <a:rPr lang="en-US" sz="2200" dirty="0">
                <a:latin typeface="Times New Roman" pitchFamily="18" charset="0"/>
              </a:rPr>
              <a:t>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("Student's Age is   </a:t>
            </a:r>
            <a:r>
              <a:rPr lang="en-US" sz="2200" dirty="0" smtClean="0">
                <a:latin typeface="Times New Roman" pitchFamily="18" charset="0"/>
              </a:rPr>
              <a:t>   " </a:t>
            </a:r>
            <a:r>
              <a:rPr lang="en-US" sz="2200" dirty="0">
                <a:latin typeface="Times New Roman" pitchFamily="18" charset="0"/>
              </a:rPr>
              <a:t>+ </a:t>
            </a:r>
            <a:r>
              <a:rPr lang="en-US" sz="2400" b="0" dirty="0" err="1"/>
              <a:t>super.getData</a:t>
            </a:r>
            <a:r>
              <a:rPr lang="en-US" sz="2400" b="0" dirty="0"/>
              <a:t>()</a:t>
            </a:r>
            <a:r>
              <a:rPr lang="en-US" sz="2200" dirty="0">
                <a:latin typeface="Times New Roman" pitchFamily="18" charset="0"/>
              </a:rPr>
              <a:t>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</a:tabLst>
            </a:pPr>
            <a:r>
              <a:rPr lang="en-US" sz="2200" dirty="0" smtClean="0">
                <a:latin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</a:endParaRPr>
          </a:p>
        </p:txBody>
      </p:sp>
      <p:pic>
        <p:nvPicPr>
          <p:cNvPr id="11267" name="Picture 3" descr="C:\Users\JohnSchram\AppData\Local\Microsoft\Windows\Temporary Internet Files\Content.IE5\KXXJRVBA\MC900441888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366" y="838200"/>
            <a:ext cx="2263775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507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600200"/>
          </a:xfrm>
        </p:spPr>
        <p:txBody>
          <a:bodyPr/>
          <a:lstStyle/>
          <a:p>
            <a:pPr eaLnBrk="1" hangingPunct="1"/>
            <a:r>
              <a:rPr lang="en-US" sz="5400" smtClean="0">
                <a:solidFill>
                  <a:schemeClr val="tx1"/>
                </a:solidFill>
                <a:latin typeface="Arial Black" pitchFamily="34" charset="0"/>
              </a:rPr>
              <a:t>Using super</a:t>
            </a:r>
            <a:endParaRPr lang="en-US" sz="5400" i="1" smtClean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228600" y="1828800"/>
            <a:ext cx="8686800" cy="4846638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 dirty="0">
                <a:latin typeface="Arial" charset="0"/>
              </a:rPr>
              <a:t>The keyword super used as the first statement in a constructor passes information to the super class constructor, like </a:t>
            </a:r>
            <a:r>
              <a:rPr lang="en-US" sz="2800" b="0" dirty="0"/>
              <a:t>super(a);</a:t>
            </a:r>
          </a:p>
          <a:p>
            <a:pPr eaLnBrk="1" hangingPunct="1"/>
            <a:endParaRPr lang="en-US" sz="2800" dirty="0">
              <a:latin typeface="Arial" charset="0"/>
            </a:endParaRPr>
          </a:p>
          <a:p>
            <a:pPr eaLnBrk="1" hangingPunct="1"/>
            <a:r>
              <a:rPr lang="en-US" sz="2800" dirty="0">
                <a:latin typeface="Arial" charset="0"/>
              </a:rPr>
              <a:t>The same keyword super used in front of a method indicates that a method of the superclass needs to be called, like </a:t>
            </a:r>
            <a:r>
              <a:rPr lang="en-US" sz="2800" b="0" dirty="0" err="1"/>
              <a:t>super.getData</a:t>
            </a:r>
            <a:r>
              <a:rPr lang="en-US" sz="2800" b="0" dirty="0"/>
              <a:t>();</a:t>
            </a:r>
          </a:p>
          <a:p>
            <a:pPr eaLnBrk="1" hangingPunct="1"/>
            <a:endParaRPr lang="en-US" sz="2800" b="0" i="1" dirty="0"/>
          </a:p>
          <a:p>
            <a:pPr eaLnBrk="1" hangingPunct="1"/>
            <a:r>
              <a:rPr lang="en-US" sz="2800" dirty="0">
                <a:latin typeface="Arial" charset="0"/>
              </a:rPr>
              <a:t>Information can be passed up to multiple inheritance levels, but it can only be passed one level at one time.</a:t>
            </a:r>
          </a:p>
        </p:txBody>
      </p:sp>
      <p:pic>
        <p:nvPicPr>
          <p:cNvPr id="18436" name="Picture 4" descr="MCj0370984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350" y="90488"/>
            <a:ext cx="1822450" cy="158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5" descr="MCj0379579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200" y="76200"/>
            <a:ext cx="1819275" cy="157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418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WordArt 2"/>
          <p:cNvSpPr>
            <a:spLocks noChangeArrowheads="1" noChangeShapeType="1" noTextEdit="1"/>
          </p:cNvSpPr>
          <p:nvPr/>
        </p:nvSpPr>
        <p:spPr bwMode="auto">
          <a:xfrm>
            <a:off x="381000" y="1905000"/>
            <a:ext cx="8305800" cy="3429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Object Class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10.9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72068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710963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 smtClean="0">
                <a:latin typeface="Times New Roman" pitchFamily="18" charset="0"/>
              </a:rPr>
              <a:t>// Java1026.java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// This program intentional extends the two classes with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// Object as the superclass.  This is done automatically.</a:t>
            </a:r>
          </a:p>
          <a:p>
            <a:pPr eaLnBrk="1" hangingPunct="1"/>
            <a:endParaRPr lang="en-US" sz="2400" dirty="0" smtClean="0">
              <a:latin typeface="Times New Roman" pitchFamily="18" charset="0"/>
            </a:endParaRP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public class Java1026 </a:t>
            </a:r>
            <a:r>
              <a:rPr lang="en-US" sz="2400" b="0" dirty="0" smtClean="0">
                <a:latin typeface="Arial Black" pitchFamily="34" charset="0"/>
              </a:rPr>
              <a:t>extends Object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	public static void main (String </a:t>
            </a:r>
            <a:r>
              <a:rPr lang="en-US" sz="2400" dirty="0" err="1" smtClean="0">
                <a:latin typeface="Times New Roman" pitchFamily="18" charset="0"/>
              </a:rPr>
              <a:t>args</a:t>
            </a:r>
            <a:r>
              <a:rPr lang="en-US" sz="2400" dirty="0" smtClean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		Qwerty q = new Qwerty();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2400" dirty="0" smtClean="0">
              <a:latin typeface="Times New Roman" pitchFamily="18" charset="0"/>
            </a:endParaRP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class Qwerty </a:t>
            </a:r>
            <a:r>
              <a:rPr lang="en-US" sz="2400" b="0" dirty="0" smtClean="0">
                <a:latin typeface="Arial Black" pitchFamily="34" charset="0"/>
              </a:rPr>
              <a:t>extends Object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	public Qwerty()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</a:rPr>
              <a:t>System.out.println</a:t>
            </a:r>
            <a:r>
              <a:rPr lang="en-US" sz="2400" dirty="0" smtClean="0">
                <a:latin typeface="Times New Roman" pitchFamily="18" charset="0"/>
              </a:rPr>
              <a:t>("Constructing Qwerty Object");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}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8000" y="3657600"/>
            <a:ext cx="5791200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Constructing Qwerty Object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70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9945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en-US" sz="2600" dirty="0">
                <a:latin typeface="Times New Roman" pitchFamily="18" charset="0"/>
              </a:rPr>
              <a:t>// </a:t>
            </a:r>
            <a:r>
              <a:rPr lang="en-US" sz="2600" dirty="0" smtClean="0">
                <a:latin typeface="Times New Roman" pitchFamily="18" charset="0"/>
              </a:rPr>
              <a:t>Java1027.java</a:t>
            </a:r>
            <a:endParaRPr lang="en-US" sz="2600" dirty="0">
              <a:latin typeface="Times New Roman" pitchFamily="18" charset="0"/>
            </a:endParaRPr>
          </a:p>
          <a:p>
            <a:pPr eaLnBrk="1" hangingPunct="1">
              <a:lnSpc>
                <a:spcPct val="114000"/>
              </a:lnSpc>
            </a:pPr>
            <a:r>
              <a:rPr lang="en-US" sz="2600" dirty="0">
                <a:latin typeface="Times New Roman" pitchFamily="18" charset="0"/>
              </a:rPr>
              <a:t>// This demonstrates how &lt;String&gt; class objects are printed.</a:t>
            </a:r>
          </a:p>
          <a:p>
            <a:pPr eaLnBrk="1" hangingPunct="1">
              <a:lnSpc>
                <a:spcPct val="114000"/>
              </a:lnSpc>
            </a:pPr>
            <a:endParaRPr lang="en-US" sz="2600" dirty="0">
              <a:latin typeface="Times New Roman" pitchFamily="18" charset="0"/>
            </a:endParaRPr>
          </a:p>
          <a:p>
            <a:pPr eaLnBrk="1" hangingPunct="1">
              <a:lnSpc>
                <a:spcPct val="114000"/>
              </a:lnSpc>
            </a:pPr>
            <a:r>
              <a:rPr lang="en-US" sz="2600" dirty="0">
                <a:latin typeface="Times New Roman" pitchFamily="18" charset="0"/>
              </a:rPr>
              <a:t>public class </a:t>
            </a:r>
            <a:r>
              <a:rPr lang="en-US" sz="2600" dirty="0" smtClean="0">
                <a:latin typeface="Times New Roman" pitchFamily="18" charset="0"/>
              </a:rPr>
              <a:t>Java1027</a:t>
            </a:r>
            <a:endParaRPr lang="en-US" sz="2600" dirty="0">
              <a:latin typeface="Times New Roman" pitchFamily="18" charset="0"/>
            </a:endParaRPr>
          </a:p>
          <a:p>
            <a:pPr eaLnBrk="1" hangingPunct="1">
              <a:lnSpc>
                <a:spcPct val="114000"/>
              </a:lnSpc>
            </a:pPr>
            <a:r>
              <a:rPr lang="en-US" sz="26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114000"/>
              </a:lnSpc>
            </a:pPr>
            <a:r>
              <a:rPr lang="en-US" sz="2600" dirty="0">
                <a:latin typeface="Times New Roman" pitchFamily="18" charset="0"/>
              </a:rPr>
              <a:t>	public static void main (String </a:t>
            </a:r>
            <a:r>
              <a:rPr lang="en-US" sz="2600" dirty="0" err="1">
                <a:latin typeface="Times New Roman" pitchFamily="18" charset="0"/>
              </a:rPr>
              <a:t>args</a:t>
            </a:r>
            <a:r>
              <a:rPr lang="en-US" sz="2600" dirty="0">
                <a:latin typeface="Times New Roman" pitchFamily="18" charset="0"/>
              </a:rPr>
              <a:t>[])</a:t>
            </a:r>
          </a:p>
          <a:p>
            <a:pPr eaLnBrk="1" hangingPunct="1">
              <a:lnSpc>
                <a:spcPct val="114000"/>
              </a:lnSpc>
            </a:pPr>
            <a:r>
              <a:rPr lang="en-US" sz="26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114000"/>
              </a:lnSpc>
            </a:pPr>
            <a:r>
              <a:rPr lang="en-US" sz="2600" dirty="0">
                <a:latin typeface="Times New Roman" pitchFamily="18" charset="0"/>
              </a:rPr>
              <a:t>		String </a:t>
            </a:r>
            <a:r>
              <a:rPr lang="en-US" sz="2600" dirty="0" err="1">
                <a:latin typeface="Times New Roman" pitchFamily="18" charset="0"/>
              </a:rPr>
              <a:t>stringVar</a:t>
            </a:r>
            <a:r>
              <a:rPr lang="en-US" sz="2600" dirty="0">
                <a:latin typeface="Times New Roman" pitchFamily="18" charset="0"/>
              </a:rPr>
              <a:t> = "Tango";</a:t>
            </a:r>
          </a:p>
          <a:p>
            <a:pPr eaLnBrk="1" hangingPunct="1">
              <a:lnSpc>
                <a:spcPct val="114000"/>
              </a:lnSpc>
            </a:pPr>
            <a:r>
              <a:rPr lang="en-US" sz="2600" dirty="0">
                <a:latin typeface="Times New Roman" pitchFamily="18" charset="0"/>
              </a:rPr>
              <a:t>		</a:t>
            </a:r>
            <a:r>
              <a:rPr lang="en-US" sz="2600" dirty="0" err="1">
                <a:latin typeface="Times New Roman" pitchFamily="18" charset="0"/>
              </a:rPr>
              <a:t>System.out.println</a:t>
            </a:r>
            <a:r>
              <a:rPr lang="en-US" sz="2600" dirty="0">
                <a:latin typeface="Times New Roman" pitchFamily="18" charset="0"/>
              </a:rPr>
              <a:t>(</a:t>
            </a:r>
            <a:r>
              <a:rPr lang="en-US" sz="2600" dirty="0" err="1">
                <a:latin typeface="Times New Roman" pitchFamily="18" charset="0"/>
              </a:rPr>
              <a:t>stringVar</a:t>
            </a:r>
            <a:r>
              <a:rPr lang="en-US" sz="2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114000"/>
              </a:lnSpc>
            </a:pPr>
            <a:r>
              <a:rPr lang="en-US" sz="2600" dirty="0">
                <a:latin typeface="Times New Roman" pitchFamily="18" charset="0"/>
              </a:rPr>
              <a:t>		</a:t>
            </a:r>
            <a:r>
              <a:rPr lang="en-US" sz="2600" dirty="0" err="1">
                <a:latin typeface="Times New Roman" pitchFamily="18" charset="0"/>
              </a:rPr>
              <a:t>System.out.println</a:t>
            </a:r>
            <a:r>
              <a:rPr lang="en-US" sz="2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114000"/>
              </a:lnSpc>
            </a:pPr>
            <a:r>
              <a:rPr lang="en-US" sz="2600" dirty="0">
                <a:latin typeface="Times New Roman" pitchFamily="18" charset="0"/>
              </a:rPr>
              <a:t>		</a:t>
            </a:r>
            <a:r>
              <a:rPr lang="en-US" sz="2600" dirty="0" err="1">
                <a:latin typeface="Times New Roman" pitchFamily="18" charset="0"/>
              </a:rPr>
              <a:t>System.out.println</a:t>
            </a:r>
            <a:r>
              <a:rPr lang="en-US" sz="2600" dirty="0">
                <a:latin typeface="Times New Roman" pitchFamily="18" charset="0"/>
              </a:rPr>
              <a:t>("Literal String");</a:t>
            </a:r>
          </a:p>
          <a:p>
            <a:pPr eaLnBrk="1" hangingPunct="1">
              <a:lnSpc>
                <a:spcPct val="114000"/>
              </a:lnSpc>
            </a:pPr>
            <a:r>
              <a:rPr lang="en-US" sz="2600" dirty="0">
                <a:latin typeface="Times New Roman" pitchFamily="18" charset="0"/>
              </a:rPr>
              <a:t>		</a:t>
            </a:r>
            <a:r>
              <a:rPr lang="en-US" sz="2600" dirty="0" err="1">
                <a:latin typeface="Times New Roman" pitchFamily="18" charset="0"/>
              </a:rPr>
              <a:t>System.out.println</a:t>
            </a:r>
            <a:r>
              <a:rPr lang="en-US" sz="2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114000"/>
              </a:lnSpc>
            </a:pPr>
            <a:r>
              <a:rPr lang="en-US" sz="26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114000"/>
              </a:lnSpc>
            </a:pPr>
            <a:r>
              <a:rPr lang="en-US" sz="2600" dirty="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114000"/>
              </a:lnSpc>
            </a:pPr>
            <a:endParaRPr lang="en-US" sz="2400" b="0" dirty="0">
              <a:latin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10200" y="3110805"/>
            <a:ext cx="350520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Tango</a:t>
            </a: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Literal String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7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300" dirty="0">
                <a:latin typeface="Times New Roman" pitchFamily="18" charset="0"/>
              </a:rPr>
              <a:t>// </a:t>
            </a:r>
            <a:r>
              <a:rPr lang="en-US" sz="2300" dirty="0" smtClean="0">
                <a:latin typeface="Times New Roman" pitchFamily="18" charset="0"/>
              </a:rPr>
              <a:t>Java1028.java</a:t>
            </a:r>
            <a:endParaRPr lang="en-US" sz="2300" dirty="0">
              <a:latin typeface="Times New Roman" pitchFamily="18" charset="0"/>
            </a:endParaRPr>
          </a:p>
          <a:p>
            <a:pPr eaLnBrk="1" hangingPunct="1"/>
            <a:r>
              <a:rPr lang="en-US" sz="2300" dirty="0">
                <a:latin typeface="Times New Roman" pitchFamily="18" charset="0"/>
              </a:rPr>
              <a:t>// This demonstrates how &lt;</a:t>
            </a:r>
            <a:r>
              <a:rPr lang="en-US" sz="2300" dirty="0" err="1">
                <a:latin typeface="Times New Roman" pitchFamily="18" charset="0"/>
              </a:rPr>
              <a:t>int</a:t>
            </a:r>
            <a:r>
              <a:rPr lang="en-US" sz="2300" dirty="0">
                <a:latin typeface="Times New Roman" pitchFamily="18" charset="0"/>
              </a:rPr>
              <a:t>&gt;, &lt;double&gt;, &lt;char&gt; and &lt;</a:t>
            </a:r>
            <a:r>
              <a:rPr lang="en-US" sz="2300" dirty="0" err="1">
                <a:latin typeface="Times New Roman" pitchFamily="18" charset="0"/>
              </a:rPr>
              <a:t>boolean</a:t>
            </a:r>
            <a:r>
              <a:rPr lang="en-US" sz="2300" dirty="0">
                <a:latin typeface="Times New Roman" pitchFamily="18" charset="0"/>
              </a:rPr>
              <a:t>&gt;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</a:rPr>
              <a:t>// variables are printed.</a:t>
            </a:r>
          </a:p>
          <a:p>
            <a:pPr eaLnBrk="1" hangingPunct="1"/>
            <a:endParaRPr lang="en-US" sz="2300" dirty="0">
              <a:latin typeface="Times New Roman" pitchFamily="18" charset="0"/>
            </a:endParaRPr>
          </a:p>
          <a:p>
            <a:pPr eaLnBrk="1" hangingPunct="1"/>
            <a:r>
              <a:rPr lang="en-US" sz="2300" dirty="0">
                <a:latin typeface="Times New Roman" pitchFamily="18" charset="0"/>
              </a:rPr>
              <a:t>public class </a:t>
            </a:r>
            <a:r>
              <a:rPr lang="en-US" sz="2300" dirty="0" smtClean="0">
                <a:latin typeface="Times New Roman" pitchFamily="18" charset="0"/>
              </a:rPr>
              <a:t>Java1028</a:t>
            </a:r>
            <a:endParaRPr lang="en-US" sz="2300" dirty="0">
              <a:latin typeface="Times New Roman" pitchFamily="18" charset="0"/>
            </a:endParaRPr>
          </a:p>
          <a:p>
            <a:pPr eaLnBrk="1" hangingPunct="1"/>
            <a:r>
              <a:rPr lang="en-US" sz="23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300" dirty="0">
                <a:latin typeface="Times New Roman" pitchFamily="18" charset="0"/>
              </a:rPr>
              <a:t>	public static void main (String </a:t>
            </a:r>
            <a:r>
              <a:rPr lang="en-US" sz="2300" dirty="0" err="1">
                <a:latin typeface="Times New Roman" pitchFamily="18" charset="0"/>
              </a:rPr>
              <a:t>args</a:t>
            </a:r>
            <a:r>
              <a:rPr lang="en-US" sz="23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3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300" dirty="0">
                <a:latin typeface="Times New Roman" pitchFamily="18" charset="0"/>
              </a:rPr>
              <a:t>		</a:t>
            </a:r>
            <a:r>
              <a:rPr lang="en-US" sz="2300" dirty="0" err="1">
                <a:latin typeface="Times New Roman" pitchFamily="18" charset="0"/>
              </a:rPr>
              <a:t>int</a:t>
            </a:r>
            <a:r>
              <a:rPr lang="en-US" sz="2300" dirty="0">
                <a:latin typeface="Times New Roman" pitchFamily="18" charset="0"/>
              </a:rPr>
              <a:t> </a:t>
            </a:r>
            <a:r>
              <a:rPr lang="en-US" sz="2300" dirty="0" err="1">
                <a:latin typeface="Times New Roman" pitchFamily="18" charset="0"/>
              </a:rPr>
              <a:t>intVar</a:t>
            </a:r>
            <a:r>
              <a:rPr lang="en-US" sz="2300" dirty="0">
                <a:latin typeface="Times New Roman" pitchFamily="18" charset="0"/>
              </a:rPr>
              <a:t> = 100;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</a:rPr>
              <a:t>		double </a:t>
            </a:r>
            <a:r>
              <a:rPr lang="en-US" sz="2300" dirty="0" err="1">
                <a:latin typeface="Times New Roman" pitchFamily="18" charset="0"/>
              </a:rPr>
              <a:t>dblVar</a:t>
            </a:r>
            <a:r>
              <a:rPr lang="en-US" sz="2300" dirty="0">
                <a:latin typeface="Times New Roman" pitchFamily="18" charset="0"/>
              </a:rPr>
              <a:t> = 3.14159;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</a:rPr>
              <a:t>		char </a:t>
            </a:r>
            <a:r>
              <a:rPr lang="en-US" sz="2300" dirty="0" err="1">
                <a:latin typeface="Times New Roman" pitchFamily="18" charset="0"/>
              </a:rPr>
              <a:t>chrVar</a:t>
            </a:r>
            <a:r>
              <a:rPr lang="en-US" sz="2300" dirty="0">
                <a:latin typeface="Times New Roman" pitchFamily="18" charset="0"/>
              </a:rPr>
              <a:t> = 'A';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</a:rPr>
              <a:t>		</a:t>
            </a:r>
            <a:r>
              <a:rPr lang="en-US" sz="2300" dirty="0" err="1">
                <a:latin typeface="Times New Roman" pitchFamily="18" charset="0"/>
              </a:rPr>
              <a:t>boolean</a:t>
            </a:r>
            <a:r>
              <a:rPr lang="en-US" sz="2300" dirty="0">
                <a:latin typeface="Times New Roman" pitchFamily="18" charset="0"/>
              </a:rPr>
              <a:t> </a:t>
            </a:r>
            <a:r>
              <a:rPr lang="en-US" sz="2300" dirty="0" err="1">
                <a:latin typeface="Times New Roman" pitchFamily="18" charset="0"/>
              </a:rPr>
              <a:t>blnVar</a:t>
            </a:r>
            <a:r>
              <a:rPr lang="en-US" sz="2300" dirty="0">
                <a:latin typeface="Times New Roman" pitchFamily="18" charset="0"/>
              </a:rPr>
              <a:t> = true;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</a:rPr>
              <a:t>		</a:t>
            </a:r>
            <a:r>
              <a:rPr lang="en-US" sz="2300" dirty="0" err="1">
                <a:latin typeface="Times New Roman" pitchFamily="18" charset="0"/>
              </a:rPr>
              <a:t>System.out.println</a:t>
            </a:r>
            <a:r>
              <a:rPr lang="en-US" sz="2300" dirty="0">
                <a:latin typeface="Times New Roman" pitchFamily="18" charset="0"/>
              </a:rPr>
              <a:t>(</a:t>
            </a:r>
            <a:r>
              <a:rPr lang="en-US" sz="2300" dirty="0" err="1">
                <a:latin typeface="Times New Roman" pitchFamily="18" charset="0"/>
              </a:rPr>
              <a:t>intVar</a:t>
            </a:r>
            <a:r>
              <a:rPr lang="en-US" sz="23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</a:rPr>
              <a:t>		</a:t>
            </a:r>
            <a:r>
              <a:rPr lang="en-US" sz="2300" dirty="0" err="1">
                <a:latin typeface="Times New Roman" pitchFamily="18" charset="0"/>
              </a:rPr>
              <a:t>System.out.println</a:t>
            </a:r>
            <a:r>
              <a:rPr lang="en-US" sz="2300" dirty="0">
                <a:latin typeface="Times New Roman" pitchFamily="18" charset="0"/>
              </a:rPr>
              <a:t>(</a:t>
            </a:r>
            <a:r>
              <a:rPr lang="en-US" sz="2300" dirty="0" err="1">
                <a:latin typeface="Times New Roman" pitchFamily="18" charset="0"/>
              </a:rPr>
              <a:t>dblVar</a:t>
            </a:r>
            <a:r>
              <a:rPr lang="en-US" sz="23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</a:rPr>
              <a:t>		</a:t>
            </a:r>
            <a:r>
              <a:rPr lang="en-US" sz="2300" dirty="0" err="1">
                <a:latin typeface="Times New Roman" pitchFamily="18" charset="0"/>
              </a:rPr>
              <a:t>System.out.println</a:t>
            </a:r>
            <a:r>
              <a:rPr lang="en-US" sz="2300" dirty="0">
                <a:latin typeface="Times New Roman" pitchFamily="18" charset="0"/>
              </a:rPr>
              <a:t>(</a:t>
            </a:r>
            <a:r>
              <a:rPr lang="en-US" sz="2300" dirty="0" err="1">
                <a:latin typeface="Times New Roman" pitchFamily="18" charset="0"/>
              </a:rPr>
              <a:t>chrVar</a:t>
            </a:r>
            <a:r>
              <a:rPr lang="en-US" sz="23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</a:rPr>
              <a:t>		</a:t>
            </a:r>
            <a:r>
              <a:rPr lang="en-US" sz="2300" dirty="0" err="1">
                <a:latin typeface="Times New Roman" pitchFamily="18" charset="0"/>
              </a:rPr>
              <a:t>System.out.println</a:t>
            </a:r>
            <a:r>
              <a:rPr lang="en-US" sz="2300" dirty="0">
                <a:latin typeface="Times New Roman" pitchFamily="18" charset="0"/>
              </a:rPr>
              <a:t>(</a:t>
            </a:r>
            <a:r>
              <a:rPr lang="en-US" sz="2300" dirty="0" err="1">
                <a:latin typeface="Times New Roman" pitchFamily="18" charset="0"/>
              </a:rPr>
              <a:t>blnVar</a:t>
            </a:r>
            <a:r>
              <a:rPr lang="en-US" sz="23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</a:rPr>
              <a:t>		</a:t>
            </a:r>
            <a:r>
              <a:rPr lang="en-US" sz="2300" dirty="0" err="1">
                <a:latin typeface="Times New Roman" pitchFamily="18" charset="0"/>
              </a:rPr>
              <a:t>System.out.println</a:t>
            </a:r>
            <a:r>
              <a:rPr lang="en-US" sz="23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300" dirty="0">
                <a:latin typeface="Times New Roman" pitchFamily="18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3110805"/>
            <a:ext cx="2667000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3.14159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55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6034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Java1029.java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 this program objects of a user-defined &lt;Student&gt; class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with &lt;print&gt; statement.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Java1029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 (String[]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tom = new Student(21,3.85);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Student sue = new Student(17,3.65);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Student bob = new Student(18,2.85);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("tom:  " + tom);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("sue:  " + sue);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("bob:  " + bob);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private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age;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private double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Student(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double g)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age = a;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g;</a:t>
            </a:r>
          </a:p>
          <a:p>
            <a:pPr>
              <a:lnSpc>
                <a:spcPct val="7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>
              <a:lnSpc>
                <a:spcPct val="7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6200" y="3872805"/>
            <a:ext cx="495300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sv-S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tom:  Student@1db9742</a:t>
            </a:r>
          </a:p>
          <a:p>
            <a:r>
              <a:rPr lang="sv-S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sue:  Student@106d69c</a:t>
            </a:r>
          </a:p>
          <a:p>
            <a:r>
              <a:rPr lang="sv-S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bob:  Student@52e922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41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Java1029 Graphic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381000" y="1143000"/>
            <a:ext cx="8382000" cy="4217988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endParaRPr lang="en-US" sz="3600">
              <a:sym typeface="Symbol" pitchFamily="18" charset="2"/>
            </a:endParaRPr>
          </a:p>
          <a:p>
            <a:pPr algn="just" eaLnBrk="1" hangingPunct="1">
              <a:lnSpc>
                <a:spcPct val="50000"/>
              </a:lnSpc>
            </a:pPr>
            <a:endParaRPr lang="en-US" sz="36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>
              <a:lnSpc>
                <a:spcPct val="60000"/>
              </a:lnSpc>
            </a:pPr>
            <a:endParaRPr lang="en-US" sz="2800">
              <a:sym typeface="Symbol" pitchFamily="18" charset="2"/>
            </a:endParaRPr>
          </a:p>
        </p:txBody>
      </p:sp>
      <p:graphicFrame>
        <p:nvGraphicFramePr>
          <p:cNvPr id="76800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056530"/>
              </p:ext>
            </p:extLst>
          </p:nvPr>
        </p:nvGraphicFramePr>
        <p:xfrm>
          <a:off x="762000" y="14478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@1db9742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8056" name="Group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175493"/>
              </p:ext>
            </p:extLst>
          </p:nvPr>
        </p:nvGraphicFramePr>
        <p:xfrm>
          <a:off x="3429000" y="14478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@106d69c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8020" name="Group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017102"/>
              </p:ext>
            </p:extLst>
          </p:nvPr>
        </p:nvGraphicFramePr>
        <p:xfrm>
          <a:off x="762000" y="3810000"/>
          <a:ext cx="2209800" cy="1219200"/>
        </p:xfrm>
        <a:graphic>
          <a:graphicData uri="http://schemas.openxmlformats.org/drawingml/2006/table">
            <a:tbl>
              <a:tblPr/>
              <a:tblGrid>
                <a:gridCol w="838200"/>
                <a:gridCol w="1371600"/>
              </a:tblGrid>
              <a:tr h="6096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1db9742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3.85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8028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451739"/>
              </p:ext>
            </p:extLst>
          </p:nvPr>
        </p:nvGraphicFramePr>
        <p:xfrm>
          <a:off x="3429000" y="3810000"/>
          <a:ext cx="2209800" cy="1219200"/>
        </p:xfrm>
        <a:graphic>
          <a:graphicData uri="http://schemas.openxmlformats.org/drawingml/2006/table">
            <a:tbl>
              <a:tblPr/>
              <a:tblGrid>
                <a:gridCol w="838200"/>
                <a:gridCol w="1371600"/>
              </a:tblGrid>
              <a:tr h="6096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106d69c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3.65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7204" name="Line 36"/>
          <p:cNvSpPr>
            <a:spLocks noChangeShapeType="1"/>
          </p:cNvSpPr>
          <p:nvPr/>
        </p:nvSpPr>
        <p:spPr bwMode="auto">
          <a:xfrm>
            <a:off x="1905000" y="2667000"/>
            <a:ext cx="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5" name="Line 37"/>
          <p:cNvSpPr>
            <a:spLocks noChangeShapeType="1"/>
          </p:cNvSpPr>
          <p:nvPr/>
        </p:nvSpPr>
        <p:spPr bwMode="auto">
          <a:xfrm>
            <a:off x="4572000" y="2667000"/>
            <a:ext cx="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68038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366875"/>
              </p:ext>
            </p:extLst>
          </p:nvPr>
        </p:nvGraphicFramePr>
        <p:xfrm>
          <a:off x="6096000" y="14478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@52e922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8046" name="Group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88355"/>
              </p:ext>
            </p:extLst>
          </p:nvPr>
        </p:nvGraphicFramePr>
        <p:xfrm>
          <a:off x="6096000" y="3810000"/>
          <a:ext cx="2209800" cy="1219200"/>
        </p:xfrm>
        <a:graphic>
          <a:graphicData uri="http://schemas.openxmlformats.org/drawingml/2006/table">
            <a:tbl>
              <a:tblPr/>
              <a:tblGrid>
                <a:gridCol w="838200"/>
                <a:gridCol w="1371600"/>
              </a:tblGrid>
              <a:tr h="6096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52e922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2.85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7222" name="Line 54"/>
          <p:cNvSpPr>
            <a:spLocks noChangeShapeType="1"/>
          </p:cNvSpPr>
          <p:nvPr/>
        </p:nvSpPr>
        <p:spPr bwMode="auto">
          <a:xfrm>
            <a:off x="7239000" y="2667000"/>
            <a:ext cx="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3" name="WordArt 57"/>
          <p:cNvSpPr>
            <a:spLocks noChangeArrowheads="1" noChangeShapeType="1" noTextEdit="1"/>
          </p:cNvSpPr>
          <p:nvPr/>
        </p:nvSpPr>
        <p:spPr bwMode="auto">
          <a:xfrm>
            <a:off x="342900" y="5486400"/>
            <a:ext cx="8496300" cy="1295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20315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Each 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Student variable is storing</a:t>
            </a:r>
          </a:p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memory 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address 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of 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its object.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116159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93112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Java1030.java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Each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 includes a call to the &lt;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method, which is defined to return the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 shallow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of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object. 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Java1029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 (String[]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tom = new Student(21,3.85);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Student sue = new Student(17,3.65);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Student bob = new Student(18,2.85);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("tom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	"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800" b="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tom.toString</a:t>
            </a:r>
            <a:r>
              <a:rPr lang="en-US" sz="18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()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("sue:  	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800" b="0" dirty="0" err="1" smtClean="0">
                <a:latin typeface="Arial Black" panose="020B0A04020102020204" pitchFamily="34" charset="0"/>
                <a:cs typeface="Times New Roman" panose="02020603050405020304" pitchFamily="18" charset="0"/>
              </a:rPr>
              <a:t>sue.toString</a:t>
            </a:r>
            <a:r>
              <a:rPr lang="en-US" sz="1800" b="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()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("bob: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"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800" b="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bob.toString</a:t>
            </a:r>
            <a:r>
              <a:rPr lang="en-US" sz="18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()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private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private double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Student(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double g)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age = a;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g;</a:t>
            </a:r>
          </a:p>
          <a:p>
            <a:pPr>
              <a:lnSpc>
                <a:spcPct val="7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>
              <a:lnSpc>
                <a:spcPct val="7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6200" y="4177605"/>
            <a:ext cx="495300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sv-S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tom:  Student@1db9742</a:t>
            </a:r>
          </a:p>
          <a:p>
            <a:r>
              <a:rPr lang="sv-S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sue:  Student@106d69c</a:t>
            </a:r>
          </a:p>
          <a:p>
            <a:r>
              <a:rPr lang="sv-S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bob:  Student@52e922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58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990600"/>
          </a:xfrm>
        </p:spPr>
        <p:txBody>
          <a:bodyPr/>
          <a:lstStyle/>
          <a:p>
            <a:pPr eaLnBrk="1" hangingPunct="1"/>
            <a:r>
              <a:rPr lang="en-US" smtClean="0">
                <a:latin typeface="Arial Black" pitchFamily="34" charset="0"/>
              </a:rPr>
              <a:t>The Original toString Method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304800" y="1143000"/>
            <a:ext cx="8534400" cy="550862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b="0">
                <a:latin typeface="Arial Black" pitchFamily="34" charset="0"/>
              </a:rPr>
              <a:t>print</a:t>
            </a:r>
            <a:r>
              <a:rPr lang="en-US" sz="2200"/>
              <a:t> and </a:t>
            </a:r>
            <a:r>
              <a:rPr lang="en-US" sz="2200" b="0">
                <a:latin typeface="Arial Black" pitchFamily="34" charset="0"/>
              </a:rPr>
              <a:t>println</a:t>
            </a:r>
            <a:r>
              <a:rPr lang="en-US" sz="2200"/>
              <a:t> request display instructions from the </a:t>
            </a:r>
            <a:r>
              <a:rPr lang="en-US" sz="2200" b="0">
                <a:latin typeface="Arial Black" pitchFamily="34" charset="0"/>
              </a:rPr>
              <a:t>toString</a:t>
            </a:r>
            <a:r>
              <a:rPr lang="en-US" sz="2200"/>
              <a:t> method.  </a:t>
            </a:r>
          </a:p>
          <a:p>
            <a:pPr eaLnBrk="1" hangingPunct="1"/>
            <a:endParaRPr lang="en-US" sz="2200"/>
          </a:p>
          <a:p>
            <a:pPr eaLnBrk="1" hangingPunct="1"/>
            <a:r>
              <a:rPr lang="en-US" sz="2200"/>
              <a:t>Method </a:t>
            </a:r>
            <a:r>
              <a:rPr lang="en-US" sz="2200" b="0">
                <a:latin typeface="Arial Black" pitchFamily="34" charset="0"/>
              </a:rPr>
              <a:t>toString</a:t>
            </a:r>
            <a:r>
              <a:rPr lang="en-US" sz="2200"/>
              <a:t> is defined by the </a:t>
            </a:r>
            <a:r>
              <a:rPr lang="en-US" sz="2200" b="0">
                <a:latin typeface="Arial Black" pitchFamily="34" charset="0"/>
              </a:rPr>
              <a:t>Object</a:t>
            </a:r>
            <a:r>
              <a:rPr lang="en-US" sz="2200"/>
              <a:t> class.  </a:t>
            </a:r>
          </a:p>
          <a:p>
            <a:pPr eaLnBrk="1" hangingPunct="1"/>
            <a:endParaRPr lang="en-US" sz="2200"/>
          </a:p>
          <a:p>
            <a:pPr eaLnBrk="1" hangingPunct="1"/>
            <a:r>
              <a:rPr lang="en-US" sz="2200"/>
              <a:t>The </a:t>
            </a:r>
            <a:r>
              <a:rPr lang="en-US" sz="2200" b="0">
                <a:latin typeface="Arial Black" pitchFamily="34" charset="0"/>
              </a:rPr>
              <a:t>Object</a:t>
            </a:r>
            <a:r>
              <a:rPr lang="en-US" sz="2200"/>
              <a:t> class is the </a:t>
            </a:r>
            <a:r>
              <a:rPr lang="en-US" sz="2200" b="0">
                <a:latin typeface="Arial Black" pitchFamily="34" charset="0"/>
              </a:rPr>
              <a:t>superclass</a:t>
            </a:r>
            <a:r>
              <a:rPr lang="en-US" sz="2200"/>
              <a:t> for all Java classes.  </a:t>
            </a:r>
          </a:p>
          <a:p>
            <a:pPr eaLnBrk="1" hangingPunct="1"/>
            <a:endParaRPr lang="en-US" sz="2200"/>
          </a:p>
          <a:p>
            <a:pPr eaLnBrk="1" hangingPunct="1"/>
            <a:r>
              <a:rPr lang="en-US" sz="2200"/>
              <a:t>This means that every class has access to the </a:t>
            </a:r>
            <a:r>
              <a:rPr lang="en-US" sz="2200" b="0">
                <a:latin typeface="Arial Black" pitchFamily="34" charset="0"/>
              </a:rPr>
              <a:t>toString</a:t>
            </a:r>
            <a:r>
              <a:rPr lang="en-US" sz="2200"/>
              <a:t> method.</a:t>
            </a:r>
          </a:p>
          <a:p>
            <a:pPr eaLnBrk="1" hangingPunct="1"/>
            <a:endParaRPr lang="en-US" sz="2200"/>
          </a:p>
          <a:p>
            <a:pPr eaLnBrk="1" hangingPunct="1"/>
            <a:r>
              <a:rPr lang="en-US" sz="2200"/>
              <a:t>The </a:t>
            </a:r>
            <a:r>
              <a:rPr lang="en-US" sz="2200" b="0">
                <a:latin typeface="Arial Black" pitchFamily="34" charset="0"/>
              </a:rPr>
              <a:t>toString</a:t>
            </a:r>
            <a:r>
              <a:rPr lang="en-US" sz="2200"/>
              <a:t> method, as defined by the </a:t>
            </a:r>
            <a:r>
              <a:rPr lang="en-US" sz="2200" b="0">
                <a:latin typeface="Arial Black" pitchFamily="34" charset="0"/>
              </a:rPr>
              <a:t>Object</a:t>
            </a:r>
            <a:r>
              <a:rPr lang="en-US" sz="2200"/>
              <a:t> class, returns the actual string representation values of all the primitive types like </a:t>
            </a:r>
            <a:r>
              <a:rPr lang="en-US" sz="2200" b="0">
                <a:latin typeface="Arial Black" pitchFamily="34" charset="0"/>
              </a:rPr>
              <a:t>int</a:t>
            </a:r>
            <a:r>
              <a:rPr lang="en-US" sz="2200"/>
              <a:t>, </a:t>
            </a:r>
            <a:r>
              <a:rPr lang="en-US" sz="2200" b="0">
                <a:latin typeface="Arial Black" pitchFamily="34" charset="0"/>
              </a:rPr>
              <a:t>double</a:t>
            </a:r>
            <a:r>
              <a:rPr lang="en-US" sz="2200"/>
              <a:t>, </a:t>
            </a:r>
            <a:r>
              <a:rPr lang="en-US" sz="2200" b="0">
                <a:latin typeface="Arial Black" pitchFamily="34" charset="0"/>
              </a:rPr>
              <a:t>char</a:t>
            </a:r>
            <a:r>
              <a:rPr lang="en-US" sz="2200"/>
              <a:t> and </a:t>
            </a:r>
            <a:r>
              <a:rPr lang="en-US" sz="2200" b="0">
                <a:latin typeface="Arial Black" pitchFamily="34" charset="0"/>
              </a:rPr>
              <a:t>boolean</a:t>
            </a:r>
            <a:r>
              <a:rPr lang="en-US" sz="2200"/>
              <a:t>.</a:t>
            </a:r>
          </a:p>
          <a:p>
            <a:pPr eaLnBrk="1" hangingPunct="1"/>
            <a:endParaRPr lang="en-US" sz="2200"/>
          </a:p>
          <a:p>
            <a:pPr eaLnBrk="1" hangingPunct="1"/>
            <a:r>
              <a:rPr lang="en-US" sz="2200" b="0">
                <a:latin typeface="Arial Black" pitchFamily="34" charset="0"/>
              </a:rPr>
              <a:t>toString</a:t>
            </a:r>
            <a:r>
              <a:rPr lang="en-US" sz="2200"/>
              <a:t> returns the class name followed by the memory reference of any variable object.</a:t>
            </a:r>
          </a:p>
        </p:txBody>
      </p:sp>
    </p:spTree>
    <p:extLst>
      <p:ext uri="{BB962C8B-B14F-4D97-AF65-F5344CB8AC3E}">
        <p14:creationId xmlns:p14="http://schemas.microsoft.com/office/powerpoint/2010/main" val="382221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Cloud"/>
          <p:cNvSpPr>
            <a:spLocks noChangeAspect="1" noEditPoints="1" noChangeArrowheads="1"/>
          </p:cNvSpPr>
          <p:nvPr/>
        </p:nvSpPr>
        <p:spPr bwMode="auto">
          <a:xfrm>
            <a:off x="2590800" y="1981200"/>
            <a:ext cx="4572000" cy="2693988"/>
          </a:xfrm>
          <a:custGeom>
            <a:avLst/>
            <a:gdLst>
              <a:gd name="T0" fmla="*/ 635393065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44" name="WordArt 4"/>
          <p:cNvSpPr>
            <a:spLocks noChangeArrowheads="1" noChangeShapeType="1" noTextEdit="1"/>
          </p:cNvSpPr>
          <p:nvPr/>
        </p:nvSpPr>
        <p:spPr bwMode="auto">
          <a:xfrm>
            <a:off x="3581400" y="2457450"/>
            <a:ext cx="2743200" cy="67627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7282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Object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3810000" y="3287713"/>
            <a:ext cx="2286000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2800" b="0" dirty="0" err="1">
                <a:latin typeface="Arial Black" pitchFamily="34" charset="0"/>
              </a:rPr>
              <a:t>toString</a:t>
            </a:r>
            <a:endParaRPr lang="en-US" sz="2800" b="0" dirty="0">
              <a:latin typeface="Arial Black" pitchFamily="34" charset="0"/>
            </a:endParaRPr>
          </a:p>
          <a:p>
            <a:pPr algn="ctr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sz="2800" b="0" dirty="0">
                <a:latin typeface="Arial Black" pitchFamily="34" charset="0"/>
              </a:rPr>
              <a:t>equals</a:t>
            </a:r>
          </a:p>
        </p:txBody>
      </p:sp>
      <p:sp>
        <p:nvSpPr>
          <p:cNvPr id="769030" name="WordArt 6"/>
          <p:cNvSpPr>
            <a:spLocks noChangeArrowheads="1" noChangeShapeType="1" noTextEdit="1"/>
          </p:cNvSpPr>
          <p:nvPr/>
        </p:nvSpPr>
        <p:spPr bwMode="auto">
          <a:xfrm>
            <a:off x="2133600" y="6029325"/>
            <a:ext cx="1676400" cy="60007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8023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Qwerty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769031" name="WordArt 7"/>
          <p:cNvSpPr>
            <a:spLocks noChangeArrowheads="1" noChangeShapeType="1" noTextEdit="1"/>
          </p:cNvSpPr>
          <p:nvPr/>
        </p:nvSpPr>
        <p:spPr bwMode="auto">
          <a:xfrm>
            <a:off x="609600" y="5267325"/>
            <a:ext cx="1371600" cy="60007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8023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String</a:t>
            </a:r>
          </a:p>
        </p:txBody>
      </p:sp>
      <p:sp>
        <p:nvSpPr>
          <p:cNvPr id="769032" name="WordArt 8"/>
          <p:cNvSpPr>
            <a:spLocks noChangeArrowheads="1" noChangeShapeType="1" noTextEdit="1"/>
          </p:cNvSpPr>
          <p:nvPr/>
        </p:nvSpPr>
        <p:spPr bwMode="auto">
          <a:xfrm>
            <a:off x="7086600" y="4886325"/>
            <a:ext cx="1676400" cy="60007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8023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Student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769033" name="WordArt 9"/>
          <p:cNvSpPr>
            <a:spLocks noChangeArrowheads="1" noChangeShapeType="1" noTextEdit="1"/>
          </p:cNvSpPr>
          <p:nvPr/>
        </p:nvSpPr>
        <p:spPr bwMode="auto">
          <a:xfrm>
            <a:off x="4953000" y="5943600"/>
            <a:ext cx="3429000" cy="685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2593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All other classes</a:t>
            </a:r>
          </a:p>
        </p:txBody>
      </p:sp>
      <p:sp>
        <p:nvSpPr>
          <p:cNvPr id="769034" name="WordArt 10"/>
          <p:cNvSpPr>
            <a:spLocks noChangeArrowheads="1" noChangeShapeType="1" noTextEdit="1"/>
          </p:cNvSpPr>
          <p:nvPr/>
        </p:nvSpPr>
        <p:spPr bwMode="auto">
          <a:xfrm>
            <a:off x="4191000" y="5267325"/>
            <a:ext cx="1600200" cy="60007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8023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System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1524000" y="3657600"/>
            <a:ext cx="6400800" cy="2286000"/>
            <a:chOff x="960" y="2304"/>
            <a:chExt cx="4032" cy="1440"/>
          </a:xfrm>
        </p:grpSpPr>
        <p:sp>
          <p:nvSpPr>
            <p:cNvPr id="10252" name="Line 12"/>
            <p:cNvSpPr>
              <a:spLocks noChangeShapeType="1"/>
            </p:cNvSpPr>
            <p:nvPr/>
          </p:nvSpPr>
          <p:spPr bwMode="auto">
            <a:xfrm flipH="1">
              <a:off x="960" y="2448"/>
              <a:ext cx="720" cy="86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3" name="Line 13"/>
            <p:cNvSpPr>
              <a:spLocks noChangeShapeType="1"/>
            </p:cNvSpPr>
            <p:nvPr/>
          </p:nvSpPr>
          <p:spPr bwMode="auto">
            <a:xfrm flipH="1">
              <a:off x="1872" y="2880"/>
              <a:ext cx="384" cy="86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4" name="Line 14"/>
            <p:cNvSpPr>
              <a:spLocks noChangeShapeType="1"/>
            </p:cNvSpPr>
            <p:nvPr/>
          </p:nvSpPr>
          <p:spPr bwMode="auto">
            <a:xfrm>
              <a:off x="4464" y="2304"/>
              <a:ext cx="528" cy="76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5" name="Line 15"/>
            <p:cNvSpPr>
              <a:spLocks noChangeShapeType="1"/>
            </p:cNvSpPr>
            <p:nvPr/>
          </p:nvSpPr>
          <p:spPr bwMode="auto">
            <a:xfrm>
              <a:off x="3168" y="2976"/>
              <a:ext cx="0" cy="336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Line 16"/>
            <p:cNvSpPr>
              <a:spLocks noChangeShapeType="1"/>
            </p:cNvSpPr>
            <p:nvPr/>
          </p:nvSpPr>
          <p:spPr bwMode="auto">
            <a:xfrm>
              <a:off x="3840" y="2784"/>
              <a:ext cx="144" cy="96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057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600" b="1" dirty="0" smtClean="0"/>
              <a:t>“The mother of all classes” </a:t>
            </a:r>
            <a:br>
              <a:rPr lang="en-US" sz="3600" b="1" dirty="0" smtClean="0"/>
            </a:br>
            <a:r>
              <a:rPr lang="en-US" sz="3600" b="1" dirty="0" smtClean="0"/>
              <a:t>All classes automatically inherit from</a:t>
            </a:r>
            <a:r>
              <a:rPr lang="en-US" sz="4800" dirty="0" smtClean="0">
                <a:latin typeface="Arial Black" pitchFamily="34" charset="0"/>
              </a:rPr>
              <a:t> </a:t>
            </a:r>
            <a:br>
              <a:rPr lang="en-US" sz="4800" dirty="0" smtClean="0">
                <a:latin typeface="Arial Black" pitchFamily="34" charset="0"/>
              </a:rPr>
            </a:br>
            <a:r>
              <a:rPr lang="en-US" sz="5400" dirty="0" smtClean="0">
                <a:latin typeface="Arial Black" pitchFamily="34" charset="0"/>
              </a:rPr>
              <a:t>The Object Class</a:t>
            </a:r>
          </a:p>
        </p:txBody>
      </p:sp>
    </p:spTree>
    <p:extLst>
      <p:ext uri="{BB962C8B-B14F-4D97-AF65-F5344CB8AC3E}">
        <p14:creationId xmlns:p14="http://schemas.microsoft.com/office/powerpoint/2010/main" val="156872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69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69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69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69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69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69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69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69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769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769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9030" grpId="0" animBg="1"/>
      <p:bldP spid="769031" grpId="0" animBg="1"/>
      <p:bldP spid="769032" grpId="0" animBg="1"/>
      <p:bldP spid="769033" grpId="0" animBg="1"/>
      <p:bldP spid="769034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WordArt 2"/>
          <p:cNvSpPr>
            <a:spLocks noChangeArrowheads="1" noChangeShapeType="1" noTextEdit="1"/>
          </p:cNvSpPr>
          <p:nvPr/>
        </p:nvSpPr>
        <p:spPr bwMode="auto">
          <a:xfrm>
            <a:off x="381000" y="1447800"/>
            <a:ext cx="8305800" cy="2971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Redefining the</a:t>
            </a:r>
          </a:p>
        </p:txBody>
      </p:sp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10.10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3076" name="WordArt 2"/>
          <p:cNvSpPr>
            <a:spLocks noChangeArrowheads="1" noChangeShapeType="1" noTextEdit="1"/>
          </p:cNvSpPr>
          <p:nvPr/>
        </p:nvSpPr>
        <p:spPr bwMode="auto">
          <a:xfrm>
            <a:off x="381000" y="3733800"/>
            <a:ext cx="8305800" cy="2971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toString Method</a:t>
            </a:r>
          </a:p>
        </p:txBody>
      </p:sp>
    </p:spTree>
    <p:extLst>
      <p:ext uri="{BB962C8B-B14F-4D97-AF65-F5344CB8AC3E}">
        <p14:creationId xmlns:p14="http://schemas.microsoft.com/office/powerpoint/2010/main" val="1716588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800" dirty="0">
                <a:latin typeface="Times New Roman" pitchFamily="18" charset="0"/>
              </a:rPr>
              <a:t>// Java1031.java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// Each </a:t>
            </a:r>
            <a:r>
              <a:rPr lang="en-US" sz="1800" dirty="0" err="1">
                <a:latin typeface="Times New Roman" pitchFamily="18" charset="0"/>
              </a:rPr>
              <a:t>println</a:t>
            </a:r>
            <a:r>
              <a:rPr lang="en-US" sz="1800" dirty="0">
                <a:latin typeface="Times New Roman" pitchFamily="18" charset="0"/>
              </a:rPr>
              <a:t> statement includes a call to the &lt;</a:t>
            </a:r>
            <a:r>
              <a:rPr lang="en-US" sz="1800" dirty="0" err="1" smtClean="0">
                <a:latin typeface="Times New Roman" pitchFamily="18" charset="0"/>
              </a:rPr>
              <a:t>toString</a:t>
            </a:r>
            <a:r>
              <a:rPr lang="en-US" sz="1800" dirty="0" smtClean="0">
                <a:latin typeface="Times New Roman" pitchFamily="18" charset="0"/>
              </a:rPr>
              <a:t>&gt; method</a:t>
            </a:r>
            <a:r>
              <a:rPr lang="en-US" sz="1800" dirty="0">
                <a:latin typeface="Times New Roman" pitchFamily="18" charset="0"/>
              </a:rPr>
              <a:t>, which is defined to </a:t>
            </a:r>
            <a:endParaRPr lang="en-US" sz="1800" dirty="0" smtClean="0">
              <a:latin typeface="Times New Roman" pitchFamily="18" charset="0"/>
            </a:endParaRPr>
          </a:p>
          <a:p>
            <a:pPr eaLnBrk="1" hangingPunct="1"/>
            <a:r>
              <a:rPr lang="en-US" sz="1800" dirty="0" smtClean="0">
                <a:latin typeface="Times New Roman" pitchFamily="18" charset="0"/>
              </a:rPr>
              <a:t>// return </a:t>
            </a:r>
            <a:r>
              <a:rPr lang="en-US" sz="1800" dirty="0">
                <a:latin typeface="Times New Roman" pitchFamily="18" charset="0"/>
              </a:rPr>
              <a:t>the </a:t>
            </a:r>
            <a:r>
              <a:rPr lang="en-US" sz="1800" dirty="0" smtClean="0">
                <a:latin typeface="Times New Roman" pitchFamily="18" charset="0"/>
              </a:rPr>
              <a:t>shallow </a:t>
            </a:r>
            <a:r>
              <a:rPr lang="en-US" sz="1800" dirty="0">
                <a:latin typeface="Times New Roman" pitchFamily="18" charset="0"/>
              </a:rPr>
              <a:t>value of </a:t>
            </a:r>
            <a:r>
              <a:rPr lang="en-US" sz="1800" dirty="0" smtClean="0">
                <a:latin typeface="Times New Roman" pitchFamily="18" charset="0"/>
              </a:rPr>
              <a:t>the </a:t>
            </a:r>
            <a:r>
              <a:rPr lang="en-US" sz="1800" dirty="0">
                <a:latin typeface="Times New Roman" pitchFamily="18" charset="0"/>
              </a:rPr>
              <a:t>object.</a:t>
            </a:r>
          </a:p>
          <a:p>
            <a:pPr eaLnBrk="1" hangingPunct="1"/>
            <a:endParaRPr lang="en-US" sz="1800" dirty="0">
              <a:latin typeface="Times New Roman" pitchFamily="18" charset="0"/>
            </a:endParaRP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public class Java1031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public static void main (String[] </a:t>
            </a:r>
            <a:r>
              <a:rPr lang="en-US" sz="1800" dirty="0" err="1">
                <a:latin typeface="Times New Roman" pitchFamily="18" charset="0"/>
              </a:rPr>
              <a:t>args</a:t>
            </a:r>
            <a:r>
              <a:rPr lang="en-US" sz="1800" dirty="0">
                <a:latin typeface="Times New Roman" pitchFamily="18" charset="0"/>
              </a:rPr>
              <a:t>)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	Student tom = new Student(21,3.85);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	Student sue = new Student(17,3.65);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	Student bob = new Student(18,2.85);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540125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	</a:t>
            </a:r>
            <a:r>
              <a:rPr lang="en-US" sz="1800" dirty="0" err="1">
                <a:latin typeface="Times New Roman" pitchFamily="18" charset="0"/>
              </a:rPr>
              <a:t>System.out.println</a:t>
            </a:r>
            <a:r>
              <a:rPr lang="en-US" sz="1800" dirty="0">
                <a:latin typeface="Times New Roman" pitchFamily="18" charset="0"/>
              </a:rPr>
              <a:t>("tom:  </a:t>
            </a:r>
            <a:r>
              <a:rPr lang="en-US" sz="1800" dirty="0" smtClean="0">
                <a:latin typeface="Times New Roman" pitchFamily="18" charset="0"/>
              </a:rPr>
              <a:t>	" </a:t>
            </a:r>
            <a:r>
              <a:rPr lang="en-US" sz="1800" dirty="0">
                <a:latin typeface="Times New Roman" pitchFamily="18" charset="0"/>
              </a:rPr>
              <a:t>+ tom);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540125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	</a:t>
            </a:r>
            <a:r>
              <a:rPr lang="en-US" sz="1800" dirty="0" err="1">
                <a:latin typeface="Times New Roman" pitchFamily="18" charset="0"/>
              </a:rPr>
              <a:t>System.out.println</a:t>
            </a:r>
            <a:r>
              <a:rPr lang="en-US" sz="1800" dirty="0">
                <a:latin typeface="Times New Roman" pitchFamily="18" charset="0"/>
              </a:rPr>
              <a:t>("sue:  	</a:t>
            </a:r>
            <a:r>
              <a:rPr lang="en-US" sz="1800" dirty="0" smtClean="0">
                <a:latin typeface="Times New Roman" pitchFamily="18" charset="0"/>
              </a:rPr>
              <a:t>" </a:t>
            </a:r>
            <a:r>
              <a:rPr lang="en-US" sz="1800" dirty="0">
                <a:latin typeface="Times New Roman" pitchFamily="18" charset="0"/>
              </a:rPr>
              <a:t>+ sue);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540125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	</a:t>
            </a:r>
            <a:r>
              <a:rPr lang="en-US" sz="1800" dirty="0" err="1">
                <a:latin typeface="Times New Roman" pitchFamily="18" charset="0"/>
              </a:rPr>
              <a:t>System.out.println</a:t>
            </a:r>
            <a:r>
              <a:rPr lang="en-US" sz="1800" dirty="0">
                <a:latin typeface="Times New Roman" pitchFamily="18" charset="0"/>
              </a:rPr>
              <a:t>("bob:  </a:t>
            </a:r>
            <a:r>
              <a:rPr lang="en-US" sz="1800" dirty="0" smtClean="0">
                <a:latin typeface="Times New Roman" pitchFamily="18" charset="0"/>
              </a:rPr>
              <a:t>	" </a:t>
            </a:r>
            <a:r>
              <a:rPr lang="en-US" sz="1800" dirty="0">
                <a:latin typeface="Times New Roman" pitchFamily="18" charset="0"/>
              </a:rPr>
              <a:t>+ bob);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1800" dirty="0">
              <a:latin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</a:endParaRPr>
          </a:p>
          <a:p>
            <a:pPr eaLnBrk="1" hangingPunct="1"/>
            <a:endParaRPr lang="en-US" sz="1800" dirty="0">
              <a:latin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</a:endParaRPr>
          </a:p>
          <a:p>
            <a:pPr eaLnBrk="1" hangingPunct="1"/>
            <a:endParaRPr lang="en-US" sz="1800" dirty="0">
              <a:latin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</a:endParaRPr>
          </a:p>
          <a:p>
            <a:pPr eaLnBrk="1" hangingPunct="1"/>
            <a:endParaRPr lang="en-US" sz="1800" dirty="0">
              <a:latin typeface="Times New Roman" pitchFamily="18" charset="0"/>
            </a:endParaRPr>
          </a:p>
          <a:p>
            <a:pPr eaLnBrk="1" hangingPunct="1"/>
            <a:endParaRPr lang="en-US" sz="1800" dirty="0">
              <a:latin typeface="Times New Roman" pitchFamily="18" charset="0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4953000" y="914400"/>
            <a:ext cx="4191000" cy="464742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800" dirty="0" smtClean="0">
                <a:latin typeface="Times New Roman" pitchFamily="18" charset="0"/>
              </a:rPr>
              <a:t>class </a:t>
            </a:r>
            <a:r>
              <a:rPr lang="en-US" sz="1800" dirty="0">
                <a:latin typeface="Times New Roman" pitchFamily="18" charset="0"/>
              </a:rPr>
              <a:t>Student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private </a:t>
            </a:r>
            <a:r>
              <a:rPr lang="en-US" sz="1800" dirty="0" err="1">
                <a:latin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</a:rPr>
              <a:t> age;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private double </a:t>
            </a:r>
            <a:r>
              <a:rPr lang="en-US" sz="1800" dirty="0" err="1">
                <a:latin typeface="Times New Roman" pitchFamily="18" charset="0"/>
              </a:rPr>
              <a:t>gpa</a:t>
            </a:r>
            <a:r>
              <a:rPr lang="en-US" sz="1800" dirty="0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public Student(</a:t>
            </a:r>
            <a:r>
              <a:rPr lang="en-US" sz="1800" dirty="0" err="1">
                <a:latin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</a:rPr>
              <a:t> a, double g)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	age = a;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	</a:t>
            </a:r>
            <a:r>
              <a:rPr lang="en-US" sz="1800" dirty="0" err="1">
                <a:latin typeface="Times New Roman" pitchFamily="18" charset="0"/>
              </a:rPr>
              <a:t>gpa</a:t>
            </a:r>
            <a:r>
              <a:rPr lang="en-US" sz="1800" dirty="0">
                <a:latin typeface="Times New Roman" pitchFamily="18" charset="0"/>
              </a:rPr>
              <a:t> = g;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   </a:t>
            </a:r>
            <a:r>
              <a:rPr lang="en-US" sz="2000" b="0" dirty="0" smtClean="0">
                <a:latin typeface="Arial Black" panose="020B0A04020102020204" pitchFamily="34" charset="0"/>
              </a:rPr>
              <a:t>	public </a:t>
            </a:r>
            <a:r>
              <a:rPr lang="en-US" sz="2000" b="0" dirty="0">
                <a:latin typeface="Arial Black" panose="020B0A04020102020204" pitchFamily="34" charset="0"/>
              </a:rPr>
              <a:t>String </a:t>
            </a:r>
            <a:r>
              <a:rPr lang="en-US" sz="2000" b="0" dirty="0" err="1">
                <a:latin typeface="Arial Black" panose="020B0A04020102020204" pitchFamily="34" charset="0"/>
              </a:rPr>
              <a:t>toString</a:t>
            </a:r>
            <a:r>
              <a:rPr lang="en-US" sz="2000" b="0" dirty="0">
                <a:latin typeface="Arial Black" panose="020B0A04020102020204" pitchFamily="34" charset="0"/>
              </a:rPr>
              <a:t>()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   </a:t>
            </a:r>
            <a:r>
              <a:rPr lang="en-US" sz="2000" b="0" dirty="0" smtClean="0">
                <a:latin typeface="Arial Black" panose="020B0A04020102020204" pitchFamily="34" charset="0"/>
              </a:rPr>
              <a:t>	{</a:t>
            </a:r>
            <a:endParaRPr lang="en-US" sz="2000" b="0" dirty="0">
              <a:latin typeface="Arial Black" panose="020B0A04020102020204" pitchFamily="34" charset="0"/>
            </a:endParaRP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      </a:t>
            </a:r>
            <a:r>
              <a:rPr lang="en-US" sz="2000" b="0" dirty="0" smtClean="0">
                <a:latin typeface="Arial Black" panose="020B0A04020102020204" pitchFamily="34" charset="0"/>
              </a:rPr>
              <a:t>	return </a:t>
            </a:r>
            <a:r>
              <a:rPr lang="en-US" sz="2000" b="0" dirty="0">
                <a:latin typeface="Arial Black" panose="020B0A04020102020204" pitchFamily="34" charset="0"/>
              </a:rPr>
              <a:t>"" + age;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   </a:t>
            </a:r>
            <a:r>
              <a:rPr lang="en-US" sz="2000" b="0" dirty="0" smtClean="0">
                <a:latin typeface="Arial Black" panose="020B0A04020102020204" pitchFamily="34" charset="0"/>
              </a:rPr>
              <a:t>	}</a:t>
            </a:r>
            <a:endParaRPr lang="en-US" sz="2000" b="0" dirty="0">
              <a:latin typeface="Arial Black" panose="020B0A04020102020204" pitchFamily="34" charset="0"/>
            </a:endParaRPr>
          </a:p>
          <a:p>
            <a:pPr eaLnBrk="1" hangingPunct="1"/>
            <a:r>
              <a:rPr lang="en-US" sz="1800" dirty="0" smtClean="0">
                <a:latin typeface="Times New Roman" pitchFamily="18" charset="0"/>
              </a:rPr>
              <a:t>}</a:t>
            </a:r>
            <a:endParaRPr lang="en-US" sz="1800" dirty="0">
              <a:latin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95400" y="4191000"/>
            <a:ext cx="247650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tom:  21</a:t>
            </a:r>
          </a:p>
          <a:p>
            <a:r>
              <a:rPr lang="it-IT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sue:  17</a:t>
            </a:r>
          </a:p>
          <a:p>
            <a:r>
              <a:rPr lang="it-IT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bob:  18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6027003"/>
            <a:ext cx="9144000" cy="830997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sz="24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NOTE:  </a:t>
            </a:r>
            <a:r>
              <a:rPr lang="it-IT" sz="2400" b="0" dirty="0" smtClean="0">
                <a:cs typeface="Arial" panose="020B0604020202020204" pitchFamily="34" charset="0"/>
              </a:rPr>
              <a:t>return age;</a:t>
            </a:r>
            <a:r>
              <a:rPr lang="it-IT" sz="2400" b="0" dirty="0" smtClean="0">
                <a:latin typeface="Arial Narrow" panose="020B0606020202030204" pitchFamily="34" charset="0"/>
                <a:cs typeface="Arial" panose="020B0604020202020204" pitchFamily="34" charset="0"/>
              </a:rPr>
              <a:t>  </a:t>
            </a:r>
            <a:r>
              <a:rPr lang="it-IT" sz="24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would not compile because a </a:t>
            </a:r>
            <a:r>
              <a:rPr lang="it-IT" sz="2400" b="0" dirty="0" smtClean="0">
                <a:cs typeface="Arial" panose="020B0604020202020204" pitchFamily="34" charset="0"/>
              </a:rPr>
              <a:t>String</a:t>
            </a:r>
            <a:r>
              <a:rPr lang="it-IT" sz="24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 value must be returned.   </a:t>
            </a:r>
            <a:r>
              <a:rPr lang="it-IT" sz="2400" b="0" dirty="0" smtClean="0">
                <a:cs typeface="Arial" panose="020B0604020202020204" pitchFamily="34" charset="0"/>
              </a:rPr>
              <a:t>return String.valueOf(age);</a:t>
            </a:r>
            <a:r>
              <a:rPr lang="it-IT" sz="2400" b="0" dirty="0" smtClean="0">
                <a:latin typeface="Arial Narrow" panose="020B0606020202030204" pitchFamily="34" charset="0"/>
                <a:cs typeface="Arial" panose="020B0604020202020204" pitchFamily="34" charset="0"/>
              </a:rPr>
              <a:t>  would also work.</a:t>
            </a:r>
            <a:endParaRPr lang="en-US" sz="2400" dirty="0" smtClean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762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700" dirty="0">
                <a:latin typeface="Times New Roman" pitchFamily="18" charset="0"/>
              </a:rPr>
              <a:t>// Java1032.java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// The &lt;</a:t>
            </a:r>
            <a:r>
              <a:rPr lang="en-US" sz="1700" dirty="0" err="1">
                <a:latin typeface="Times New Roman" pitchFamily="18" charset="0"/>
              </a:rPr>
              <a:t>toString</a:t>
            </a:r>
            <a:r>
              <a:rPr lang="en-US" sz="1700" dirty="0">
                <a:latin typeface="Times New Roman" pitchFamily="18" charset="0"/>
              </a:rPr>
              <a:t>&gt; method is re-defined to return all the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// attribute values in the [Tom, 21, 3.85] format.</a:t>
            </a:r>
          </a:p>
          <a:p>
            <a:pPr eaLnBrk="1" hangingPunct="1"/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public class Java1032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public static void main (String[] </a:t>
            </a:r>
            <a:r>
              <a:rPr lang="en-US" sz="1700" dirty="0" err="1">
                <a:latin typeface="Times New Roman" pitchFamily="18" charset="0"/>
              </a:rPr>
              <a:t>args</a:t>
            </a:r>
            <a:r>
              <a:rPr lang="en-US" sz="1700" dirty="0">
                <a:latin typeface="Times New Roman" pitchFamily="18" charset="0"/>
              </a:rPr>
              <a:t>)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	Student student1 = new Student("Tom",21,3.85);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	Student student2 = new Student("Sue",17,3.65);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	Student student3 = new Student("Bob",18,2.85);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	</a:t>
            </a:r>
            <a:r>
              <a:rPr lang="en-US" sz="1700" dirty="0" err="1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(student1);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	</a:t>
            </a:r>
            <a:r>
              <a:rPr lang="en-US" sz="1700" dirty="0" err="1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(student2);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	</a:t>
            </a:r>
            <a:r>
              <a:rPr lang="en-US" sz="1700" dirty="0" err="1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(student3);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 smtClean="0">
                <a:latin typeface="Times New Roman" pitchFamily="18" charset="0"/>
              </a:rPr>
              <a:t>class </a:t>
            </a:r>
            <a:r>
              <a:rPr lang="en-US" sz="1700" dirty="0">
                <a:latin typeface="Times New Roman" pitchFamily="18" charset="0"/>
              </a:rPr>
              <a:t>Student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000" b="0" dirty="0" smtClean="0">
                <a:latin typeface="Arial Black" panose="020B0A04020102020204" pitchFamily="34" charset="0"/>
              </a:rPr>
              <a:t>	public </a:t>
            </a:r>
            <a:r>
              <a:rPr lang="en-US" sz="2000" b="0" dirty="0">
                <a:latin typeface="Arial Black" panose="020B0A04020102020204" pitchFamily="34" charset="0"/>
              </a:rPr>
              <a:t>String </a:t>
            </a:r>
            <a:r>
              <a:rPr lang="en-US" sz="2000" b="0" dirty="0" err="1">
                <a:latin typeface="Arial Black" panose="020B0A04020102020204" pitchFamily="34" charset="0"/>
              </a:rPr>
              <a:t>toString</a:t>
            </a:r>
            <a:r>
              <a:rPr lang="en-US" sz="2000" b="0" dirty="0">
                <a:latin typeface="Arial Black" panose="020B0A04020102020204" pitchFamily="34" charset="0"/>
              </a:rPr>
              <a:t>()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   </a:t>
            </a:r>
            <a:r>
              <a:rPr lang="en-US" sz="2000" b="0" dirty="0" smtClean="0">
                <a:latin typeface="Arial Black" panose="020B0A04020102020204" pitchFamily="34" charset="0"/>
              </a:rPr>
              <a:t>	{</a:t>
            </a:r>
            <a:endParaRPr lang="en-US" sz="2000" b="0" dirty="0">
              <a:latin typeface="Arial Black" panose="020B0A04020102020204" pitchFamily="34" charset="0"/>
            </a:endParaRP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      </a:t>
            </a:r>
            <a:r>
              <a:rPr lang="en-US" sz="2000" b="0" dirty="0" smtClean="0">
                <a:latin typeface="Arial Black" panose="020B0A04020102020204" pitchFamily="34" charset="0"/>
              </a:rPr>
              <a:t>	return </a:t>
            </a:r>
            <a:r>
              <a:rPr lang="en-US" sz="2000" b="0" dirty="0">
                <a:latin typeface="Arial Black" panose="020B0A04020102020204" pitchFamily="34" charset="0"/>
              </a:rPr>
              <a:t>"[" + name + ", " + age + ", " + </a:t>
            </a:r>
            <a:r>
              <a:rPr lang="en-US" sz="2000" b="0" dirty="0" err="1">
                <a:latin typeface="Arial Black" panose="020B0A04020102020204" pitchFamily="34" charset="0"/>
              </a:rPr>
              <a:t>gpa</a:t>
            </a:r>
            <a:r>
              <a:rPr lang="en-US" sz="2000" b="0" dirty="0">
                <a:latin typeface="Arial Black" panose="020B0A04020102020204" pitchFamily="34" charset="0"/>
              </a:rPr>
              <a:t> + "]";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   </a:t>
            </a:r>
            <a:r>
              <a:rPr lang="en-US" sz="2000" b="0" dirty="0" smtClean="0">
                <a:latin typeface="Arial Black" panose="020B0A04020102020204" pitchFamily="34" charset="0"/>
              </a:rPr>
              <a:t>	}</a:t>
            </a:r>
          </a:p>
          <a:p>
            <a:pPr eaLnBrk="1" hangingPunct="1"/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solidFill>
                  <a:srgbClr val="FF0000"/>
                </a:solidFill>
                <a:latin typeface="Times New Roman" pitchFamily="18" charset="0"/>
              </a:rPr>
              <a:t> 	// The rest of the Student class is </a:t>
            </a:r>
            <a:r>
              <a:rPr lang="en-US" sz="1700" dirty="0" smtClean="0">
                <a:solidFill>
                  <a:srgbClr val="FF0000"/>
                </a:solidFill>
                <a:latin typeface="Times New Roman" pitchFamily="18" charset="0"/>
              </a:rPr>
              <a:t>the same as before.</a:t>
            </a:r>
            <a:endParaRPr lang="en-US" sz="17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33900" y="3415605"/>
            <a:ext cx="377190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[Tom, 21, 3.85]</a:t>
            </a:r>
          </a:p>
          <a:p>
            <a:r>
              <a:rPr lang="it-IT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[Sue, 17, 3.65]</a:t>
            </a:r>
          </a:p>
          <a:p>
            <a:r>
              <a:rPr lang="it-IT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[Bob, 18, 2.85]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75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0" y="-3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700" dirty="0">
                <a:latin typeface="Times New Roman" pitchFamily="18" charset="0"/>
              </a:rPr>
              <a:t>// Java1033.java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// The &lt;</a:t>
            </a:r>
            <a:r>
              <a:rPr lang="en-US" sz="1700" dirty="0" err="1">
                <a:latin typeface="Times New Roman" pitchFamily="18" charset="0"/>
              </a:rPr>
              <a:t>toString</a:t>
            </a:r>
            <a:r>
              <a:rPr lang="en-US" sz="1700" dirty="0">
                <a:latin typeface="Times New Roman" pitchFamily="18" charset="0"/>
              </a:rPr>
              <a:t>&gt; method is re-defined to always return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// the "Aardvark" string, regardless of the attribute values</a:t>
            </a:r>
            <a:r>
              <a:rPr lang="en-US" sz="1700" dirty="0" smtClean="0">
                <a:latin typeface="Times New Roman" pitchFamily="18" charset="0"/>
              </a:rPr>
              <a:t>.</a:t>
            </a:r>
          </a:p>
          <a:p>
            <a:pPr eaLnBrk="1" hangingPunct="1"/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public class </a:t>
            </a:r>
            <a:r>
              <a:rPr lang="en-US" sz="1700" dirty="0" smtClean="0">
                <a:latin typeface="Times New Roman" pitchFamily="18" charset="0"/>
              </a:rPr>
              <a:t>Java1033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public static void main (String[] </a:t>
            </a:r>
            <a:r>
              <a:rPr lang="en-US" sz="1700" dirty="0" err="1">
                <a:latin typeface="Times New Roman" pitchFamily="18" charset="0"/>
              </a:rPr>
              <a:t>args</a:t>
            </a:r>
            <a:r>
              <a:rPr lang="en-US" sz="1700" dirty="0">
                <a:latin typeface="Times New Roman" pitchFamily="18" charset="0"/>
              </a:rPr>
              <a:t>)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	Student student1 = new Student("Tom",21,3.85);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	Student student2 = new Student("Sue",17,3.65);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	Student student3 = new Student("Bob",18,2.85);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	</a:t>
            </a:r>
            <a:r>
              <a:rPr lang="en-US" sz="1700" dirty="0" err="1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(student1);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	</a:t>
            </a:r>
            <a:r>
              <a:rPr lang="en-US" sz="1700" dirty="0" err="1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(student2);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	</a:t>
            </a:r>
            <a:r>
              <a:rPr lang="en-US" sz="1700" dirty="0" err="1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(student3);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 smtClean="0">
                <a:latin typeface="Times New Roman" pitchFamily="18" charset="0"/>
              </a:rPr>
              <a:t>class </a:t>
            </a:r>
            <a:r>
              <a:rPr lang="en-US" sz="1700" dirty="0">
                <a:latin typeface="Times New Roman" pitchFamily="18" charset="0"/>
              </a:rPr>
              <a:t>Student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000" b="0" dirty="0" smtClean="0">
                <a:latin typeface="Arial Black" panose="020B0A04020102020204" pitchFamily="34" charset="0"/>
              </a:rPr>
              <a:t>	public </a:t>
            </a:r>
            <a:r>
              <a:rPr lang="en-US" sz="2000" b="0" dirty="0">
                <a:latin typeface="Arial Black" panose="020B0A04020102020204" pitchFamily="34" charset="0"/>
              </a:rPr>
              <a:t>String </a:t>
            </a:r>
            <a:r>
              <a:rPr lang="en-US" sz="2000" b="0" dirty="0" err="1">
                <a:latin typeface="Arial Black" panose="020B0A04020102020204" pitchFamily="34" charset="0"/>
              </a:rPr>
              <a:t>toString</a:t>
            </a:r>
            <a:r>
              <a:rPr lang="en-US" sz="2000" b="0" dirty="0">
                <a:latin typeface="Arial Black" panose="020B0A04020102020204" pitchFamily="34" charset="0"/>
              </a:rPr>
              <a:t>()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   </a:t>
            </a:r>
            <a:r>
              <a:rPr lang="en-US" sz="2000" b="0" dirty="0" smtClean="0">
                <a:latin typeface="Arial Black" panose="020B0A04020102020204" pitchFamily="34" charset="0"/>
              </a:rPr>
              <a:t>	{</a:t>
            </a:r>
            <a:endParaRPr lang="en-US" sz="2000" b="0" dirty="0">
              <a:latin typeface="Arial Black" panose="020B0A04020102020204" pitchFamily="34" charset="0"/>
            </a:endParaRP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      </a:t>
            </a:r>
            <a:r>
              <a:rPr lang="en-US" sz="2000" b="0" dirty="0" smtClean="0">
                <a:latin typeface="Arial Black" panose="020B0A04020102020204" pitchFamily="34" charset="0"/>
              </a:rPr>
              <a:t>	</a:t>
            </a:r>
            <a:r>
              <a:rPr lang="en-US" sz="2000" b="0" dirty="0">
                <a:latin typeface="Arial Black" panose="020B0A04020102020204" pitchFamily="34" charset="0"/>
              </a:rPr>
              <a:t>return "Aardvark";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   </a:t>
            </a:r>
            <a:r>
              <a:rPr lang="en-US" sz="2000" b="0" dirty="0" smtClean="0">
                <a:latin typeface="Arial Black" panose="020B0A04020102020204" pitchFamily="34" charset="0"/>
              </a:rPr>
              <a:t>	}</a:t>
            </a:r>
          </a:p>
          <a:p>
            <a:pPr eaLnBrk="1" hangingPunct="1"/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solidFill>
                  <a:srgbClr val="FF0000"/>
                </a:solidFill>
                <a:latin typeface="Times New Roman" pitchFamily="18" charset="0"/>
              </a:rPr>
              <a:t> 	// The rest of the Student class is </a:t>
            </a:r>
            <a:r>
              <a:rPr lang="en-US" sz="1700" dirty="0" smtClean="0">
                <a:solidFill>
                  <a:srgbClr val="FF0000"/>
                </a:solidFill>
                <a:latin typeface="Times New Roman" pitchFamily="18" charset="0"/>
              </a:rPr>
              <a:t>the same as before.</a:t>
            </a:r>
            <a:endParaRPr lang="en-US" sz="17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33900" y="3415605"/>
            <a:ext cx="377190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Aardvark</a:t>
            </a:r>
          </a:p>
          <a:p>
            <a:r>
              <a:rPr lang="it-IT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Aardvark</a:t>
            </a:r>
          </a:p>
          <a:p>
            <a:r>
              <a:rPr lang="it-IT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Aardvark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488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WordArt 2"/>
          <p:cNvSpPr>
            <a:spLocks noChangeArrowheads="1" noChangeShapeType="1" noTextEdit="1"/>
          </p:cNvSpPr>
          <p:nvPr/>
        </p:nvSpPr>
        <p:spPr bwMode="auto">
          <a:xfrm>
            <a:off x="381000" y="1447800"/>
            <a:ext cx="8305800" cy="2971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Redefining the</a:t>
            </a:r>
          </a:p>
        </p:txBody>
      </p:sp>
      <p:sp>
        <p:nvSpPr>
          <p:cNvPr id="1843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10.11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18436" name="WordArt 2"/>
          <p:cNvSpPr>
            <a:spLocks noChangeArrowheads="1" noChangeShapeType="1" noTextEdit="1"/>
          </p:cNvSpPr>
          <p:nvPr/>
        </p:nvSpPr>
        <p:spPr bwMode="auto">
          <a:xfrm>
            <a:off x="381000" y="3733800"/>
            <a:ext cx="8305800" cy="2971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equals Method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37220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165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sz="1700" b="0" dirty="0"/>
          </a:p>
          <a:p>
            <a:pPr eaLnBrk="1" hangingPunct="1"/>
            <a:endParaRPr lang="en-US" sz="1700" b="0" dirty="0"/>
          </a:p>
          <a:p>
            <a:pPr eaLnBrk="1" hangingPunct="1"/>
            <a:endParaRPr lang="en-US" sz="1700" b="0" dirty="0"/>
          </a:p>
          <a:p>
            <a:pPr eaLnBrk="1" hangingPunct="1"/>
            <a:endParaRPr lang="en-US" sz="1700" b="0" dirty="0"/>
          </a:p>
          <a:p>
            <a:pPr eaLnBrk="1" hangingPunct="1"/>
            <a:endParaRPr lang="en-US" sz="1700" b="0" dirty="0"/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class Person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private String name;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private </a:t>
            </a:r>
            <a:r>
              <a:rPr lang="en-US" dirty="0" err="1">
                <a:latin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</a:rPr>
              <a:t> age;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private char gender;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private double salary;</a:t>
            </a:r>
          </a:p>
          <a:p>
            <a:pPr eaLnBrk="1" hangingPunct="1">
              <a:lnSpc>
                <a:spcPct val="94000"/>
              </a:lnSpc>
            </a:pPr>
            <a:endParaRPr lang="en-US" dirty="0">
              <a:latin typeface="Times New Roman" pitchFamily="18" charset="0"/>
            </a:endParaRP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public Person(String n, </a:t>
            </a:r>
            <a:r>
              <a:rPr lang="en-US" dirty="0" err="1">
                <a:latin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</a:rPr>
              <a:t> a, char g, double s)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name = n;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age = a;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gender = g;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salary = s;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public String </a:t>
            </a:r>
            <a:r>
              <a:rPr lang="en-US" dirty="0" err="1">
                <a:latin typeface="Times New Roman" pitchFamily="18" charset="0"/>
              </a:rPr>
              <a:t>toString</a:t>
            </a:r>
            <a:r>
              <a:rPr lang="en-US" dirty="0">
                <a:latin typeface="Times New Roman" pitchFamily="18" charset="0"/>
              </a:rPr>
              <a:t>()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return "[" + name + ", "  + age + ", " + gender + ", " + salary + "]";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}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 Black" pitchFamily="34" charset="0"/>
              </a:rPr>
              <a:t>Person class used in </a:t>
            </a:r>
            <a:br>
              <a:rPr lang="en-US" smtClean="0">
                <a:latin typeface="Arial Black" pitchFamily="34" charset="0"/>
              </a:rPr>
            </a:br>
            <a:r>
              <a:rPr lang="en-US" smtClean="0">
                <a:latin typeface="Arial Black" pitchFamily="34" charset="0"/>
              </a:rPr>
              <a:t>the next several programs</a:t>
            </a:r>
          </a:p>
        </p:txBody>
      </p:sp>
    </p:spTree>
    <p:extLst>
      <p:ext uri="{BB962C8B-B14F-4D97-AF65-F5344CB8AC3E}">
        <p14:creationId xmlns:p14="http://schemas.microsoft.com/office/powerpoint/2010/main" val="47956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8842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// </a:t>
            </a:r>
            <a:r>
              <a:rPr lang="en-US" sz="1600" dirty="0" smtClean="0">
                <a:latin typeface="Times New Roman" pitchFamily="18" charset="0"/>
              </a:rPr>
              <a:t>Java1034.java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// This program tries to compares 2 person objects with the == operator.  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// This does not work because the == operator only checks the shallow value.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// It also does not give us a way to determine how we will check for equality.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 smtClean="0">
                <a:latin typeface="Times New Roman" pitchFamily="18" charset="0"/>
              </a:rPr>
              <a:t> 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public class </a:t>
            </a:r>
            <a:r>
              <a:rPr lang="en-US" sz="1600" dirty="0" smtClean="0">
                <a:latin typeface="Times New Roman" pitchFamily="18" charset="0"/>
              </a:rPr>
              <a:t>Java1034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public static void main (String </a:t>
            </a:r>
            <a:r>
              <a:rPr lang="en-US" sz="1600" dirty="0" err="1">
                <a:latin typeface="Times New Roman" pitchFamily="18" charset="0"/>
              </a:rPr>
              <a:t>args</a:t>
            </a:r>
            <a:r>
              <a:rPr lang="en-US" sz="1600" dirty="0">
                <a:latin typeface="Times New Roman" pitchFamily="18" charset="0"/>
              </a:rPr>
              <a:t>[])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Person tom = new Person("Tom Jones",36,'M',40000);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Person sue = new Person("Sue Smith",29,'F',50000);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Person bob = new Person("Bob Brown",40,'M',50000);		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(tom);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(sue);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(bob);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b="0" dirty="0">
                <a:latin typeface="Arial Black" pitchFamily="34" charset="0"/>
              </a:rPr>
              <a:t>if (tom == sue)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("Tom and Sue are equal.");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else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("Tom and Sue are not equal.");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b="0" dirty="0">
                <a:latin typeface="Arial Black" pitchFamily="34" charset="0"/>
              </a:rPr>
              <a:t>if (tom == bob)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("Tom and Bob are equal.");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else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("Tom and Bob are not equal.");		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b="0" dirty="0">
                <a:latin typeface="Arial Black" pitchFamily="34" charset="0"/>
              </a:rPr>
              <a:t>if (sue == bob)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("Sue and Bob are equal.");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else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("Sue and Bob are not equal.");	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0"/>
            <a:ext cx="4114800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[Tom Jones, 36, M, 40000.0]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[Sue Smith, 29, F, 50000.0]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[Bob Brown, 40, M, 50000.0]</a:t>
            </a:r>
          </a:p>
          <a:p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Tom and Sue are not equal.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Tom and Bob are not equal.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Sue and Bob are not equal.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38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Java1034 Graphic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381000" y="1143000"/>
            <a:ext cx="8382000" cy="42735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10000"/>
              </a:lnSpc>
            </a:pPr>
            <a:endParaRPr lang="en-US" sz="3600">
              <a:sym typeface="Symbol" pitchFamily="18" charset="2"/>
            </a:endParaRPr>
          </a:p>
          <a:p>
            <a:pPr algn="just" eaLnBrk="1" hangingPunct="1"/>
            <a:endParaRPr lang="en-US" sz="3600">
              <a:sym typeface="Symbol" pitchFamily="18" charset="2"/>
            </a:endParaRPr>
          </a:p>
          <a:p>
            <a:pPr algn="just" eaLnBrk="1" hangingPunct="1">
              <a:lnSpc>
                <a:spcPct val="50000"/>
              </a:lnSpc>
            </a:pPr>
            <a:endParaRPr lang="en-US" sz="36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>
              <a:lnSpc>
                <a:spcPct val="60000"/>
              </a:lnSpc>
            </a:pPr>
            <a:endParaRPr lang="en-US" sz="2800">
              <a:sym typeface="Symbol" pitchFamily="18" charset="2"/>
            </a:endParaRPr>
          </a:p>
        </p:txBody>
      </p:sp>
      <p:graphicFrame>
        <p:nvGraphicFramePr>
          <p:cNvPr id="770052" name="Group 4"/>
          <p:cNvGraphicFramePr>
            <a:graphicFrameLocks noGrp="1"/>
          </p:cNvGraphicFramePr>
          <p:nvPr/>
        </p:nvGraphicFramePr>
        <p:xfrm>
          <a:off x="762000" y="14478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@16f0472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0060" name="Group 12"/>
          <p:cNvGraphicFramePr>
            <a:graphicFrameLocks noGrp="1"/>
          </p:cNvGraphicFramePr>
          <p:nvPr/>
        </p:nvGraphicFramePr>
        <p:xfrm>
          <a:off x="3429000" y="14478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@18d107f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0151" name="Group 103"/>
          <p:cNvGraphicFramePr>
            <a:graphicFrameLocks noGrp="1"/>
          </p:cNvGraphicFramePr>
          <p:nvPr/>
        </p:nvGraphicFramePr>
        <p:xfrm>
          <a:off x="762000" y="3505200"/>
          <a:ext cx="2209800" cy="1676401"/>
        </p:xfrm>
        <a:graphic>
          <a:graphicData uri="http://schemas.openxmlformats.org/drawingml/2006/table">
            <a:tbl>
              <a:tblPr/>
              <a:tblGrid>
                <a:gridCol w="1600200"/>
                <a:gridCol w="609600"/>
              </a:tblGrid>
              <a:tr h="58896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16f0472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4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Tom Jones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$40,000.00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‘M’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21537" name="Line 36"/>
          <p:cNvSpPr>
            <a:spLocks noChangeShapeType="1"/>
          </p:cNvSpPr>
          <p:nvPr/>
        </p:nvSpPr>
        <p:spPr bwMode="auto">
          <a:xfrm>
            <a:off x="1905000" y="2667000"/>
            <a:ext cx="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8" name="Line 37"/>
          <p:cNvSpPr>
            <a:spLocks noChangeShapeType="1"/>
          </p:cNvSpPr>
          <p:nvPr/>
        </p:nvSpPr>
        <p:spPr bwMode="auto">
          <a:xfrm>
            <a:off x="4572000" y="2667000"/>
            <a:ext cx="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70086" name="Group 38"/>
          <p:cNvGraphicFramePr>
            <a:graphicFrameLocks noGrp="1"/>
          </p:cNvGraphicFramePr>
          <p:nvPr/>
        </p:nvGraphicFramePr>
        <p:xfrm>
          <a:off x="6096000" y="14478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@3b0eb0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21547" name="Line 54"/>
          <p:cNvSpPr>
            <a:spLocks noChangeShapeType="1"/>
          </p:cNvSpPr>
          <p:nvPr/>
        </p:nvSpPr>
        <p:spPr bwMode="auto">
          <a:xfrm>
            <a:off x="7239000" y="2667000"/>
            <a:ext cx="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0103" name="WordArt 55"/>
          <p:cNvSpPr>
            <a:spLocks noChangeArrowheads="1" noChangeShapeType="1" noTextEdit="1"/>
          </p:cNvSpPr>
          <p:nvPr/>
        </p:nvSpPr>
        <p:spPr bwMode="auto">
          <a:xfrm>
            <a:off x="342900" y="5486400"/>
            <a:ext cx="8496300" cy="1295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20315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== operator is comparing the memory addresses, 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just like it did with 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Strings.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graphicFrame>
        <p:nvGraphicFramePr>
          <p:cNvPr id="770150" name="Group 102"/>
          <p:cNvGraphicFramePr>
            <a:graphicFrameLocks noGrp="1"/>
          </p:cNvGraphicFramePr>
          <p:nvPr/>
        </p:nvGraphicFramePr>
        <p:xfrm>
          <a:off x="3429000" y="3505200"/>
          <a:ext cx="2209800" cy="1676401"/>
        </p:xfrm>
        <a:graphic>
          <a:graphicData uri="http://schemas.openxmlformats.org/drawingml/2006/table">
            <a:tbl>
              <a:tblPr/>
              <a:tblGrid>
                <a:gridCol w="1600200"/>
                <a:gridCol w="609600"/>
              </a:tblGrid>
              <a:tr h="60483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18d107f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34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Sue Smith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$50,000.00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‘F’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0153" name="Group 105"/>
          <p:cNvGraphicFramePr>
            <a:graphicFrameLocks noGrp="1"/>
          </p:cNvGraphicFramePr>
          <p:nvPr/>
        </p:nvGraphicFramePr>
        <p:xfrm>
          <a:off x="6096000" y="3505200"/>
          <a:ext cx="2209800" cy="1676401"/>
        </p:xfrm>
        <a:graphic>
          <a:graphicData uri="http://schemas.openxmlformats.org/drawingml/2006/table">
            <a:tbl>
              <a:tblPr/>
              <a:tblGrid>
                <a:gridCol w="1600200"/>
                <a:gridCol w="609600"/>
              </a:tblGrid>
              <a:tr h="6000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3b0eb0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38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Bob Brown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$50,000.00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‘M’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770154" name="Rectangle 106"/>
          <p:cNvSpPr>
            <a:spLocks noChangeArrowheads="1"/>
          </p:cNvSpPr>
          <p:nvPr/>
        </p:nvSpPr>
        <p:spPr bwMode="auto">
          <a:xfrm>
            <a:off x="609600" y="1981200"/>
            <a:ext cx="7848600" cy="76200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40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7010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77015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0103" grpId="0" animBg="1"/>
      <p:bldP spid="770154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8816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// </a:t>
            </a:r>
            <a:r>
              <a:rPr lang="en-US" sz="1600" dirty="0" smtClean="0">
                <a:latin typeface="Times New Roman" pitchFamily="18" charset="0"/>
              </a:rPr>
              <a:t>Java1035.java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// This program tries to compare 2 person objects with the equals method.  This also does not work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// because we have not </a:t>
            </a:r>
            <a:r>
              <a:rPr lang="en-US" sz="1600" dirty="0" smtClean="0">
                <a:latin typeface="Times New Roman" pitchFamily="18" charset="0"/>
              </a:rPr>
              <a:t>"re-defined</a:t>
            </a:r>
            <a:r>
              <a:rPr lang="en-US" sz="1600" dirty="0">
                <a:latin typeface="Times New Roman" pitchFamily="18" charset="0"/>
              </a:rPr>
              <a:t>" the equals method for the Person class, and we are simply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// inheriting the equals method from the Object class, which only checks the shallow value.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 smtClean="0">
                <a:latin typeface="Times New Roman" pitchFamily="18" charset="0"/>
              </a:rPr>
              <a:t> 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public class </a:t>
            </a:r>
            <a:r>
              <a:rPr lang="en-US" sz="1600" dirty="0" smtClean="0">
                <a:latin typeface="Times New Roman" pitchFamily="18" charset="0"/>
              </a:rPr>
              <a:t>Java1035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public static void main (String </a:t>
            </a:r>
            <a:r>
              <a:rPr lang="en-US" sz="1600" dirty="0" err="1">
                <a:latin typeface="Times New Roman" pitchFamily="18" charset="0"/>
              </a:rPr>
              <a:t>args</a:t>
            </a:r>
            <a:r>
              <a:rPr lang="en-US" sz="1600" dirty="0">
                <a:latin typeface="Times New Roman" pitchFamily="18" charset="0"/>
              </a:rPr>
              <a:t>[])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Person tom = new Person("Tom Jones",36,'M',40000);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Person sue = new Person("Sue Smith",29,'F',50000);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Person bob = new Person("Bob Brown",40,'M',50000);		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(tom);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(sue);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(bob);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b="0" dirty="0">
                <a:latin typeface="Arial Black" pitchFamily="34" charset="0"/>
              </a:rPr>
              <a:t>if (</a:t>
            </a:r>
            <a:r>
              <a:rPr lang="en-US" sz="1600" b="0" dirty="0" err="1">
                <a:latin typeface="Arial Black" pitchFamily="34" charset="0"/>
              </a:rPr>
              <a:t>tom.equals</a:t>
            </a:r>
            <a:r>
              <a:rPr lang="en-US" sz="1600" b="0" dirty="0">
                <a:latin typeface="Arial Black" pitchFamily="34" charset="0"/>
              </a:rPr>
              <a:t>(sue))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("Tom and Sue are equal.");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else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("Tom and Sue are not equal.");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b="0" dirty="0">
                <a:latin typeface="Arial Black" pitchFamily="34" charset="0"/>
              </a:rPr>
              <a:t>if (</a:t>
            </a:r>
            <a:r>
              <a:rPr lang="en-US" sz="1600" b="0" dirty="0" err="1">
                <a:latin typeface="Arial Black" pitchFamily="34" charset="0"/>
              </a:rPr>
              <a:t>tom.equals</a:t>
            </a:r>
            <a:r>
              <a:rPr lang="en-US" sz="1600" b="0" dirty="0">
                <a:latin typeface="Arial Black" pitchFamily="34" charset="0"/>
              </a:rPr>
              <a:t>(bob))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("Tom and Bob are equal.");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else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("Tom and Bob are not equal.");		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b="0" dirty="0">
                <a:latin typeface="Arial Black" pitchFamily="34" charset="0"/>
              </a:rPr>
              <a:t>if (</a:t>
            </a:r>
            <a:r>
              <a:rPr lang="en-US" sz="1600" b="0" dirty="0" err="1">
                <a:latin typeface="Arial Black" pitchFamily="34" charset="0"/>
              </a:rPr>
              <a:t>sue.equals</a:t>
            </a:r>
            <a:r>
              <a:rPr lang="en-US" sz="1600" b="0" dirty="0">
                <a:latin typeface="Arial Black" pitchFamily="34" charset="0"/>
              </a:rPr>
              <a:t>(bob))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("Sue and Bob are equal.");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else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("Sue and Bob are not equal.");	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0"/>
            <a:ext cx="4114800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[Tom Jones, 36, M, 40000.0]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[Sue Smith, 29, F, 50000.0]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[Bob Brown, 40, M, 50000.0]</a:t>
            </a:r>
          </a:p>
          <a:p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Tom and Sue are not equal.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Tom and Bob are not equal.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Sue and Bob are not equal.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099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Java1035 Graphic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81000" y="1143000"/>
            <a:ext cx="8382000" cy="42735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10000"/>
              </a:lnSpc>
            </a:pPr>
            <a:endParaRPr lang="en-US" sz="3600">
              <a:sym typeface="Symbol" pitchFamily="18" charset="2"/>
            </a:endParaRPr>
          </a:p>
          <a:p>
            <a:pPr algn="just" eaLnBrk="1" hangingPunct="1"/>
            <a:endParaRPr lang="en-US" sz="3600">
              <a:sym typeface="Symbol" pitchFamily="18" charset="2"/>
            </a:endParaRPr>
          </a:p>
          <a:p>
            <a:pPr algn="just" eaLnBrk="1" hangingPunct="1">
              <a:lnSpc>
                <a:spcPct val="50000"/>
              </a:lnSpc>
            </a:pPr>
            <a:endParaRPr lang="en-US" sz="36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>
              <a:lnSpc>
                <a:spcPct val="60000"/>
              </a:lnSpc>
            </a:pPr>
            <a:endParaRPr lang="en-US" sz="2800">
              <a:sym typeface="Symbol" pitchFamily="18" charset="2"/>
            </a:endParaRPr>
          </a:p>
        </p:txBody>
      </p:sp>
      <p:graphicFrame>
        <p:nvGraphicFramePr>
          <p:cNvPr id="772100" name="Group 4"/>
          <p:cNvGraphicFramePr>
            <a:graphicFrameLocks noGrp="1"/>
          </p:cNvGraphicFramePr>
          <p:nvPr/>
        </p:nvGraphicFramePr>
        <p:xfrm>
          <a:off x="762000" y="14478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@16f0472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2108" name="Group 12"/>
          <p:cNvGraphicFramePr>
            <a:graphicFrameLocks noGrp="1"/>
          </p:cNvGraphicFramePr>
          <p:nvPr/>
        </p:nvGraphicFramePr>
        <p:xfrm>
          <a:off x="3429000" y="14478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@18d107f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23572" name="Line 33"/>
          <p:cNvSpPr>
            <a:spLocks noChangeShapeType="1"/>
          </p:cNvSpPr>
          <p:nvPr/>
        </p:nvSpPr>
        <p:spPr bwMode="auto">
          <a:xfrm>
            <a:off x="1905000" y="2667000"/>
            <a:ext cx="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3" name="Line 34"/>
          <p:cNvSpPr>
            <a:spLocks noChangeShapeType="1"/>
          </p:cNvSpPr>
          <p:nvPr/>
        </p:nvSpPr>
        <p:spPr bwMode="auto">
          <a:xfrm>
            <a:off x="4572000" y="2667000"/>
            <a:ext cx="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72131" name="Group 35"/>
          <p:cNvGraphicFramePr>
            <a:graphicFrameLocks noGrp="1"/>
          </p:cNvGraphicFramePr>
          <p:nvPr/>
        </p:nvGraphicFramePr>
        <p:xfrm>
          <a:off x="6096000" y="14478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@3b0eb0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23582" name="Line 43"/>
          <p:cNvSpPr>
            <a:spLocks noChangeShapeType="1"/>
          </p:cNvSpPr>
          <p:nvPr/>
        </p:nvSpPr>
        <p:spPr bwMode="auto">
          <a:xfrm>
            <a:off x="7239000" y="2667000"/>
            <a:ext cx="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2140" name="WordArt 44"/>
          <p:cNvSpPr>
            <a:spLocks noChangeArrowheads="1" noChangeShapeType="1" noTextEdit="1"/>
          </p:cNvSpPr>
          <p:nvPr/>
        </p:nvSpPr>
        <p:spPr bwMode="auto">
          <a:xfrm>
            <a:off x="342900" y="5486400"/>
            <a:ext cx="8496300" cy="1295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029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While String has its own equals method, Person does not. 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result is we are using the equals method from the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Object class which also compares memory addresses.</a:t>
            </a:r>
          </a:p>
        </p:txBody>
      </p:sp>
      <p:sp>
        <p:nvSpPr>
          <p:cNvPr id="772167" name="Rectangle 71"/>
          <p:cNvSpPr>
            <a:spLocks noChangeArrowheads="1"/>
          </p:cNvSpPr>
          <p:nvPr/>
        </p:nvSpPr>
        <p:spPr bwMode="auto">
          <a:xfrm>
            <a:off x="609600" y="1981200"/>
            <a:ext cx="7848600" cy="76200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72168" name="Group 72"/>
          <p:cNvGraphicFramePr>
            <a:graphicFrameLocks noGrp="1"/>
          </p:cNvGraphicFramePr>
          <p:nvPr/>
        </p:nvGraphicFramePr>
        <p:xfrm>
          <a:off x="762000" y="3505200"/>
          <a:ext cx="2209800" cy="1676401"/>
        </p:xfrm>
        <a:graphic>
          <a:graphicData uri="http://schemas.openxmlformats.org/drawingml/2006/table">
            <a:tbl>
              <a:tblPr/>
              <a:tblGrid>
                <a:gridCol w="1600200"/>
                <a:gridCol w="609600"/>
              </a:tblGrid>
              <a:tr h="58896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16f0472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4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Tom Jones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$40,000.00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‘M’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2181" name="Group 85"/>
          <p:cNvGraphicFramePr>
            <a:graphicFrameLocks noGrp="1"/>
          </p:cNvGraphicFramePr>
          <p:nvPr/>
        </p:nvGraphicFramePr>
        <p:xfrm>
          <a:off x="3429000" y="3505200"/>
          <a:ext cx="2209800" cy="1676401"/>
        </p:xfrm>
        <a:graphic>
          <a:graphicData uri="http://schemas.openxmlformats.org/drawingml/2006/table">
            <a:tbl>
              <a:tblPr/>
              <a:tblGrid>
                <a:gridCol w="1600200"/>
                <a:gridCol w="609600"/>
              </a:tblGrid>
              <a:tr h="60483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18d107f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34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Sue Smith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$50,000.00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‘F’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2194" name="Group 98"/>
          <p:cNvGraphicFramePr>
            <a:graphicFrameLocks noGrp="1"/>
          </p:cNvGraphicFramePr>
          <p:nvPr/>
        </p:nvGraphicFramePr>
        <p:xfrm>
          <a:off x="6096000" y="3505200"/>
          <a:ext cx="2209800" cy="1676401"/>
        </p:xfrm>
        <a:graphic>
          <a:graphicData uri="http://schemas.openxmlformats.org/drawingml/2006/table">
            <a:tbl>
              <a:tblPr/>
              <a:tblGrid>
                <a:gridCol w="1600200"/>
                <a:gridCol w="609600"/>
              </a:tblGrid>
              <a:tr h="6000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3b0eb0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38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Bob Brown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$50,000.00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‘M’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6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7214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77216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2140" grpId="0" animBg="1"/>
      <p:bldP spid="772167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8816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// </a:t>
            </a:r>
            <a:r>
              <a:rPr lang="en-US" sz="1600" dirty="0" smtClean="0">
                <a:latin typeface="Times New Roman" pitchFamily="18" charset="0"/>
              </a:rPr>
              <a:t>Java1036.java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// This program properly compares 2 person objects with the </a:t>
            </a:r>
            <a:r>
              <a:rPr lang="en-US" sz="1600" dirty="0" smtClean="0">
                <a:latin typeface="Times New Roman" pitchFamily="18" charset="0"/>
              </a:rPr>
              <a:t>re-defined </a:t>
            </a:r>
            <a:r>
              <a:rPr lang="en-US" sz="1600" dirty="0">
                <a:latin typeface="Times New Roman" pitchFamily="18" charset="0"/>
              </a:rPr>
              <a:t>equals method.  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// It chooses to define "equality" solely based on a Person's salary, which may be 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// overly capitalistic, but still makes a point.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 smtClean="0">
                <a:latin typeface="Times New Roman" pitchFamily="18" charset="0"/>
              </a:rPr>
              <a:t> 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public class </a:t>
            </a:r>
            <a:r>
              <a:rPr lang="en-US" sz="1600" dirty="0" smtClean="0">
                <a:latin typeface="Times New Roman" pitchFamily="18" charset="0"/>
              </a:rPr>
              <a:t>Java1036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public static void main (String </a:t>
            </a:r>
            <a:r>
              <a:rPr lang="en-US" sz="1600" dirty="0" err="1">
                <a:latin typeface="Times New Roman" pitchFamily="18" charset="0"/>
              </a:rPr>
              <a:t>args</a:t>
            </a:r>
            <a:r>
              <a:rPr lang="en-US" sz="1600" dirty="0">
                <a:latin typeface="Times New Roman" pitchFamily="18" charset="0"/>
              </a:rPr>
              <a:t>[])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Person tom = new Person("Tom Jones",36,'M',40000);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Person sue = new Person("Sue Smith",29,'F',50000);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Person bob = new Person("Bob Brown",40,'M',50000);		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(tom);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(sue);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(bob);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if (</a:t>
            </a:r>
            <a:r>
              <a:rPr lang="en-US" sz="1600" dirty="0" err="1">
                <a:latin typeface="Times New Roman" pitchFamily="18" charset="0"/>
              </a:rPr>
              <a:t>tom.equals</a:t>
            </a:r>
            <a:r>
              <a:rPr lang="en-US" sz="1600" dirty="0">
                <a:latin typeface="Times New Roman" pitchFamily="18" charset="0"/>
              </a:rPr>
              <a:t>(sue))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("Tom and Sue are equal.");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else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("Tom and Sue are not equal.");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if (</a:t>
            </a:r>
            <a:r>
              <a:rPr lang="en-US" sz="1600" dirty="0" err="1">
                <a:latin typeface="Times New Roman" pitchFamily="18" charset="0"/>
              </a:rPr>
              <a:t>tom.equals</a:t>
            </a:r>
            <a:r>
              <a:rPr lang="en-US" sz="1600" dirty="0">
                <a:latin typeface="Times New Roman" pitchFamily="18" charset="0"/>
              </a:rPr>
              <a:t>(bob))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("Tom and Bob are equal.");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else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("Tom and Bob are not equal.");		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if (</a:t>
            </a:r>
            <a:r>
              <a:rPr lang="en-US" sz="1600" dirty="0" err="1">
                <a:latin typeface="Times New Roman" pitchFamily="18" charset="0"/>
              </a:rPr>
              <a:t>sue.equals</a:t>
            </a:r>
            <a:r>
              <a:rPr lang="en-US" sz="1600" dirty="0">
                <a:latin typeface="Times New Roman" pitchFamily="18" charset="0"/>
              </a:rPr>
              <a:t>(bob))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("Sue and Bob are equal.");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else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("Sue and Bob are not equal.");	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2000"/>
              </a:lnSpc>
            </a:pPr>
            <a:r>
              <a:rPr lang="en-US" sz="1600" dirty="0">
                <a:latin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442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294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class Person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private String name;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private </a:t>
            </a:r>
            <a:r>
              <a:rPr lang="en-US" sz="2000" dirty="0" err="1">
                <a:latin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</a:rPr>
              <a:t> age;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private char gender;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private double salary;</a:t>
            </a:r>
          </a:p>
          <a:p>
            <a:pPr eaLnBrk="1" hangingPunct="1">
              <a:lnSpc>
                <a:spcPct val="70000"/>
              </a:lnSpc>
            </a:pPr>
            <a:r>
              <a:rPr lang="en-US" sz="2000" dirty="0">
                <a:latin typeface="Times New Roman" pitchFamily="18" charset="0"/>
              </a:rPr>
              <a:t>	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public Person(String n, </a:t>
            </a:r>
            <a:r>
              <a:rPr lang="en-US" sz="2000" dirty="0" err="1">
                <a:latin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</a:rPr>
              <a:t> a, char g, double s)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name = n;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age = a;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gender = g;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salary = s;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70000"/>
              </a:lnSpc>
            </a:pPr>
            <a:r>
              <a:rPr lang="en-US" sz="2000" dirty="0">
                <a:latin typeface="Times New Roman" pitchFamily="18" charset="0"/>
              </a:rPr>
              <a:t>	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public String </a:t>
            </a:r>
            <a:r>
              <a:rPr lang="en-US" sz="2000" dirty="0" err="1">
                <a:latin typeface="Times New Roman" pitchFamily="18" charset="0"/>
              </a:rPr>
              <a:t>toString</a:t>
            </a:r>
            <a:r>
              <a:rPr lang="en-US" sz="2000" dirty="0">
                <a:latin typeface="Times New Roman" pitchFamily="18" charset="0"/>
              </a:rPr>
              <a:t>()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return "[" + name + ", "  + age + ", " + gender + ", " + salary + "]";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70000"/>
              </a:lnSpc>
            </a:pPr>
            <a:r>
              <a:rPr lang="en-US" sz="2000" dirty="0">
                <a:latin typeface="Times New Roman" pitchFamily="18" charset="0"/>
              </a:rPr>
              <a:t>	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Arial Black" pitchFamily="34" charset="0"/>
              </a:rPr>
              <a:t>	public </a:t>
            </a:r>
            <a:r>
              <a:rPr lang="en-US" sz="2000" dirty="0" err="1">
                <a:latin typeface="Arial Black" pitchFamily="34" charset="0"/>
              </a:rPr>
              <a:t>boolean</a:t>
            </a:r>
            <a:r>
              <a:rPr lang="en-US" sz="2000" dirty="0">
                <a:latin typeface="Arial Black" pitchFamily="34" charset="0"/>
              </a:rPr>
              <a:t> equals(Person temp)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Arial Black" pitchFamily="34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Arial Black" pitchFamily="34" charset="0"/>
              </a:rPr>
              <a:t>		</a:t>
            </a:r>
            <a:r>
              <a:rPr lang="en-US" sz="2000" b="0" dirty="0">
                <a:latin typeface="Arial Black" pitchFamily="34" charset="0"/>
              </a:rPr>
              <a:t>return salary == </a:t>
            </a:r>
            <a:r>
              <a:rPr lang="en-US" sz="2000" b="0" dirty="0" err="1">
                <a:latin typeface="Arial Black" pitchFamily="34" charset="0"/>
              </a:rPr>
              <a:t>temp.salary</a:t>
            </a:r>
            <a:r>
              <a:rPr lang="en-US" sz="2000" b="0" dirty="0">
                <a:latin typeface="Arial Black" pitchFamily="34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Arial Black" pitchFamily="34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0"/>
            <a:ext cx="5486400" cy="26776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[Tom Jones, 36, M, 40000.0]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[Sue Smith, 29, F, 50000.0]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[Bob Brown, 40, M, 50000.0]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Tom and Sue are not equal.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Tom and Bob are not equal.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Sue and Bob are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equal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40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Java1036 Graphic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381000" y="1143000"/>
            <a:ext cx="8382000" cy="42735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10000"/>
              </a:lnSpc>
            </a:pPr>
            <a:endParaRPr lang="en-US" sz="3600">
              <a:sym typeface="Symbol" pitchFamily="18" charset="2"/>
            </a:endParaRPr>
          </a:p>
          <a:p>
            <a:pPr algn="just" eaLnBrk="1" hangingPunct="1"/>
            <a:endParaRPr lang="en-US" sz="3600">
              <a:sym typeface="Symbol" pitchFamily="18" charset="2"/>
            </a:endParaRPr>
          </a:p>
          <a:p>
            <a:pPr algn="just" eaLnBrk="1" hangingPunct="1">
              <a:lnSpc>
                <a:spcPct val="50000"/>
              </a:lnSpc>
            </a:pPr>
            <a:endParaRPr lang="en-US" sz="36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>
              <a:lnSpc>
                <a:spcPct val="60000"/>
              </a:lnSpc>
            </a:pPr>
            <a:endParaRPr lang="en-US" sz="2800">
              <a:sym typeface="Symbol" pitchFamily="18" charset="2"/>
            </a:endParaRPr>
          </a:p>
        </p:txBody>
      </p:sp>
      <p:graphicFrame>
        <p:nvGraphicFramePr>
          <p:cNvPr id="773124" name="Group 4"/>
          <p:cNvGraphicFramePr>
            <a:graphicFrameLocks noGrp="1"/>
          </p:cNvGraphicFramePr>
          <p:nvPr/>
        </p:nvGraphicFramePr>
        <p:xfrm>
          <a:off x="762000" y="14478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@16f0472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3132" name="Group 12"/>
          <p:cNvGraphicFramePr>
            <a:graphicFrameLocks noGrp="1"/>
          </p:cNvGraphicFramePr>
          <p:nvPr/>
        </p:nvGraphicFramePr>
        <p:xfrm>
          <a:off x="3429000" y="14478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@18d107f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27668" name="Line 33"/>
          <p:cNvSpPr>
            <a:spLocks noChangeShapeType="1"/>
          </p:cNvSpPr>
          <p:nvPr/>
        </p:nvSpPr>
        <p:spPr bwMode="auto">
          <a:xfrm>
            <a:off x="1905000" y="2667000"/>
            <a:ext cx="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9" name="Line 34"/>
          <p:cNvSpPr>
            <a:spLocks noChangeShapeType="1"/>
          </p:cNvSpPr>
          <p:nvPr/>
        </p:nvSpPr>
        <p:spPr bwMode="auto">
          <a:xfrm>
            <a:off x="4572000" y="2667000"/>
            <a:ext cx="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73155" name="Group 35"/>
          <p:cNvGraphicFramePr>
            <a:graphicFrameLocks noGrp="1"/>
          </p:cNvGraphicFramePr>
          <p:nvPr/>
        </p:nvGraphicFramePr>
        <p:xfrm>
          <a:off x="6096000" y="14478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@3b0eb0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27678" name="Line 43"/>
          <p:cNvSpPr>
            <a:spLocks noChangeShapeType="1"/>
          </p:cNvSpPr>
          <p:nvPr/>
        </p:nvSpPr>
        <p:spPr bwMode="auto">
          <a:xfrm>
            <a:off x="7239000" y="2667000"/>
            <a:ext cx="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3164" name="WordArt 44"/>
          <p:cNvSpPr>
            <a:spLocks noChangeArrowheads="1" noChangeShapeType="1" noTextEdit="1"/>
          </p:cNvSpPr>
          <p:nvPr/>
        </p:nvSpPr>
        <p:spPr bwMode="auto">
          <a:xfrm>
            <a:off x="342900" y="5486400"/>
            <a:ext cx="8496300" cy="1295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029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Now Person has its own equals method.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We chose to define equality based on salary.</a:t>
            </a:r>
          </a:p>
        </p:txBody>
      </p:sp>
      <p:graphicFrame>
        <p:nvGraphicFramePr>
          <p:cNvPr id="773193" name="Group 73"/>
          <p:cNvGraphicFramePr>
            <a:graphicFrameLocks noGrp="1"/>
          </p:cNvGraphicFramePr>
          <p:nvPr/>
        </p:nvGraphicFramePr>
        <p:xfrm>
          <a:off x="762000" y="3505200"/>
          <a:ext cx="2209800" cy="1676401"/>
        </p:xfrm>
        <a:graphic>
          <a:graphicData uri="http://schemas.openxmlformats.org/drawingml/2006/table">
            <a:tbl>
              <a:tblPr/>
              <a:tblGrid>
                <a:gridCol w="1600200"/>
                <a:gridCol w="609600"/>
              </a:tblGrid>
              <a:tr h="58896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16f0472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4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Tom Jones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$40,000.00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‘M’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3206" name="Group 86"/>
          <p:cNvGraphicFramePr>
            <a:graphicFrameLocks noGrp="1"/>
          </p:cNvGraphicFramePr>
          <p:nvPr/>
        </p:nvGraphicFramePr>
        <p:xfrm>
          <a:off x="3429000" y="3505200"/>
          <a:ext cx="2209800" cy="1676401"/>
        </p:xfrm>
        <a:graphic>
          <a:graphicData uri="http://schemas.openxmlformats.org/drawingml/2006/table">
            <a:tbl>
              <a:tblPr/>
              <a:tblGrid>
                <a:gridCol w="1600200"/>
                <a:gridCol w="609600"/>
              </a:tblGrid>
              <a:tr h="60483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18d107f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34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Sue Smith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$50,000.00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‘F’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3219" name="Group 99"/>
          <p:cNvGraphicFramePr>
            <a:graphicFrameLocks noGrp="1"/>
          </p:cNvGraphicFramePr>
          <p:nvPr/>
        </p:nvGraphicFramePr>
        <p:xfrm>
          <a:off x="6096000" y="3505200"/>
          <a:ext cx="2209800" cy="1676401"/>
        </p:xfrm>
        <a:graphic>
          <a:graphicData uri="http://schemas.openxmlformats.org/drawingml/2006/table">
            <a:tbl>
              <a:tblPr/>
              <a:tblGrid>
                <a:gridCol w="1600200"/>
                <a:gridCol w="609600"/>
              </a:tblGrid>
              <a:tr h="6000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3b0eb0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38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Bob Brown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$50,000.00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‘M’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773191" name="Rectangle 71"/>
          <p:cNvSpPr>
            <a:spLocks noChangeArrowheads="1"/>
          </p:cNvSpPr>
          <p:nvPr/>
        </p:nvSpPr>
        <p:spPr bwMode="auto">
          <a:xfrm>
            <a:off x="685800" y="4572000"/>
            <a:ext cx="1752600" cy="68580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3192" name="Rectangle 72"/>
          <p:cNvSpPr>
            <a:spLocks noChangeArrowheads="1"/>
          </p:cNvSpPr>
          <p:nvPr/>
        </p:nvSpPr>
        <p:spPr bwMode="auto">
          <a:xfrm>
            <a:off x="3352800" y="4572000"/>
            <a:ext cx="1752600" cy="68580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3232" name="Rectangle 112"/>
          <p:cNvSpPr>
            <a:spLocks noChangeArrowheads="1"/>
          </p:cNvSpPr>
          <p:nvPr/>
        </p:nvSpPr>
        <p:spPr bwMode="auto">
          <a:xfrm>
            <a:off x="6019800" y="4572000"/>
            <a:ext cx="1752600" cy="68580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7316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7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7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73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3164" grpId="0" animBg="1"/>
      <p:bldP spid="773191" grpId="0" animBg="1"/>
      <p:bldP spid="773192" grpId="0" animBg="1"/>
      <p:bldP spid="773232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349500" algn="l"/>
                <a:tab pos="2916238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349500" algn="l"/>
                <a:tab pos="2916238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349500" algn="l"/>
                <a:tab pos="2916238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349500" algn="l"/>
                <a:tab pos="2916238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349500" algn="l"/>
                <a:tab pos="2916238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349500" algn="l"/>
                <a:tab pos="2916238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349500" algn="l"/>
                <a:tab pos="2916238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349500" algn="l"/>
                <a:tab pos="2916238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349500" algn="l"/>
                <a:tab pos="2916238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 smtClean="0">
                <a:latin typeface="Times New Roman" pitchFamily="18" charset="0"/>
              </a:rPr>
              <a:t>// Java1037.java</a:t>
            </a:r>
          </a:p>
          <a:p>
            <a:pPr eaLnBrk="1" hangingPunct="1"/>
            <a:r>
              <a:rPr lang="en-US" sz="2000" dirty="0" smtClean="0">
                <a:latin typeface="Times New Roman" pitchFamily="18" charset="0"/>
              </a:rPr>
              <a:t>// This program defines equality differently from the previous programs. </a:t>
            </a:r>
          </a:p>
          <a:p>
            <a:pPr eaLnBrk="1" hangingPunct="1"/>
            <a:r>
              <a:rPr lang="en-US" sz="2000" dirty="0" smtClean="0">
                <a:latin typeface="Times New Roman" pitchFamily="18" charset="0"/>
              </a:rPr>
              <a:t>// Now all data fields must match for 2 Person objects to be considered equal.  </a:t>
            </a:r>
          </a:p>
          <a:p>
            <a:pPr eaLnBrk="1" hangingPunct="1"/>
            <a:r>
              <a:rPr lang="en-US" sz="2000" dirty="0" smtClean="0">
                <a:latin typeface="Times New Roman" pitchFamily="18" charset="0"/>
              </a:rPr>
              <a:t>// A special </a:t>
            </a:r>
            <a:r>
              <a:rPr lang="en-US" sz="2000" dirty="0">
                <a:latin typeface="Times New Roman" pitchFamily="18" charset="0"/>
              </a:rPr>
              <a:t>&lt;</a:t>
            </a:r>
            <a:r>
              <a:rPr lang="en-US" sz="2000" dirty="0" smtClean="0">
                <a:latin typeface="Times New Roman" pitchFamily="18" charset="0"/>
              </a:rPr>
              <a:t>this&gt; reference in the equals method helps to distinguish the 2 objects.</a:t>
            </a:r>
          </a:p>
          <a:p>
            <a:pPr eaLnBrk="1" hangingPunct="1"/>
            <a:r>
              <a:rPr lang="en-US" sz="2000" dirty="0" smtClean="0">
                <a:latin typeface="Times New Roman" pitchFamily="18" charset="0"/>
              </a:rPr>
              <a:t>// NOTE: It is not uncommon for the equals method from one class to call the </a:t>
            </a:r>
          </a:p>
          <a:p>
            <a:pPr eaLnBrk="1" hangingPunct="1"/>
            <a:r>
              <a:rPr lang="en-US" sz="2000" dirty="0" smtClean="0">
                <a:latin typeface="Times New Roman" pitchFamily="18" charset="0"/>
              </a:rPr>
              <a:t>// equals method from another class.</a:t>
            </a:r>
          </a:p>
          <a:p>
            <a:pPr eaLnBrk="1" hangingPunct="1"/>
            <a:endParaRPr lang="en-US" sz="2400" dirty="0" smtClean="0">
              <a:latin typeface="Times New Roman" pitchFamily="18" charset="0"/>
            </a:endParaRPr>
          </a:p>
          <a:p>
            <a:pPr eaLnBrk="1" hangingPunct="1"/>
            <a:r>
              <a:rPr lang="en-US" sz="2400" dirty="0" smtClean="0">
                <a:latin typeface="Arial Black" pitchFamily="34" charset="0"/>
              </a:rPr>
              <a:t>public </a:t>
            </a:r>
            <a:r>
              <a:rPr lang="en-US" sz="2400" dirty="0" err="1" smtClean="0">
                <a:latin typeface="Arial Black" pitchFamily="34" charset="0"/>
              </a:rPr>
              <a:t>boolean</a:t>
            </a:r>
            <a:r>
              <a:rPr lang="en-US" sz="2400" dirty="0" smtClean="0">
                <a:latin typeface="Arial Black" pitchFamily="34" charset="0"/>
              </a:rPr>
              <a:t> equals(Person that)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latin typeface="Arial Black" pitchFamily="34" charset="0"/>
              </a:rPr>
              <a:t>{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714500" algn="l"/>
                <a:tab pos="2171700" algn="l"/>
                <a:tab pos="3771900" algn="l"/>
                <a:tab pos="4114800" algn="l"/>
                <a:tab pos="4572000" algn="l"/>
                <a:tab pos="5029200" algn="l"/>
                <a:tab pos="5486400" algn="l"/>
                <a:tab pos="6572250" algn="l"/>
              </a:tabLst>
            </a:pPr>
            <a:r>
              <a:rPr lang="en-US" sz="2400" b="0" dirty="0" smtClean="0">
                <a:latin typeface="Arial Black" pitchFamily="34" charset="0"/>
              </a:rPr>
              <a:t>	return 	</a:t>
            </a:r>
            <a:r>
              <a:rPr lang="en-US" sz="2400" b="0" dirty="0" err="1" smtClean="0">
                <a:latin typeface="Arial Black" pitchFamily="34" charset="0"/>
              </a:rPr>
              <a:t>this.name.equals</a:t>
            </a:r>
            <a:r>
              <a:rPr lang="en-US" sz="2400" b="0" dirty="0" smtClean="0">
                <a:latin typeface="Arial Black" pitchFamily="34" charset="0"/>
              </a:rPr>
              <a:t>(that.name) &amp;&amp; 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714500" algn="l"/>
                <a:tab pos="2171700" algn="l"/>
                <a:tab pos="3771900" algn="l"/>
                <a:tab pos="4114800" algn="l"/>
                <a:tab pos="4572000" algn="l"/>
                <a:tab pos="5029200" algn="l"/>
                <a:tab pos="5486400" algn="l"/>
                <a:tab pos="6572250" algn="l"/>
              </a:tabLst>
            </a:pPr>
            <a:r>
              <a:rPr lang="en-US" sz="2400" b="0" dirty="0" smtClean="0">
                <a:latin typeface="Arial Black" pitchFamily="34" charset="0"/>
              </a:rPr>
              <a:t>		       	</a:t>
            </a:r>
            <a:r>
              <a:rPr lang="en-US" sz="2400" b="0" dirty="0" err="1" smtClean="0">
                <a:latin typeface="Arial Black" pitchFamily="34" charset="0"/>
              </a:rPr>
              <a:t>this.age</a:t>
            </a:r>
            <a:r>
              <a:rPr lang="en-US" sz="2400" b="0" dirty="0" smtClean="0">
                <a:latin typeface="Arial Black" pitchFamily="34" charset="0"/>
              </a:rPr>
              <a:t>   	==  </a:t>
            </a:r>
            <a:r>
              <a:rPr lang="en-US" sz="2400" b="0" dirty="0" err="1" smtClean="0">
                <a:latin typeface="Arial Black" pitchFamily="34" charset="0"/>
              </a:rPr>
              <a:t>that.age</a:t>
            </a:r>
            <a:r>
              <a:rPr lang="en-US" sz="2400" b="0" dirty="0" smtClean="0">
                <a:latin typeface="Arial Black" pitchFamily="34" charset="0"/>
              </a:rPr>
              <a:t>     	&amp;&amp;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714500" algn="l"/>
                <a:tab pos="2171700" algn="l"/>
                <a:tab pos="3771900" algn="l"/>
                <a:tab pos="4114800" algn="l"/>
                <a:tab pos="4572000" algn="l"/>
                <a:tab pos="5029200" algn="l"/>
                <a:tab pos="5486400" algn="l"/>
                <a:tab pos="6572250" algn="l"/>
              </a:tabLst>
            </a:pPr>
            <a:r>
              <a:rPr lang="en-US" sz="2400" b="0" dirty="0" smtClean="0">
                <a:latin typeface="Arial Black" pitchFamily="34" charset="0"/>
              </a:rPr>
              <a:t>	      		</a:t>
            </a:r>
            <a:r>
              <a:rPr lang="en-US" sz="2400" b="0" dirty="0" err="1" smtClean="0">
                <a:latin typeface="Arial Black" pitchFamily="34" charset="0"/>
              </a:rPr>
              <a:t>this.gender</a:t>
            </a:r>
            <a:r>
              <a:rPr lang="en-US" sz="2400" b="0" dirty="0" smtClean="0">
                <a:latin typeface="Arial Black" pitchFamily="34" charset="0"/>
              </a:rPr>
              <a:t> 	==  </a:t>
            </a:r>
            <a:r>
              <a:rPr lang="en-US" sz="2400" b="0" dirty="0" err="1" smtClean="0">
                <a:latin typeface="Arial Black" pitchFamily="34" charset="0"/>
              </a:rPr>
              <a:t>that.gender</a:t>
            </a:r>
            <a:r>
              <a:rPr lang="en-US" sz="2400" b="0" dirty="0">
                <a:latin typeface="Arial Black" pitchFamily="34" charset="0"/>
              </a:rPr>
              <a:t>	</a:t>
            </a:r>
            <a:r>
              <a:rPr lang="en-US" sz="2400" b="0" dirty="0" smtClean="0">
                <a:latin typeface="Arial Black" pitchFamily="34" charset="0"/>
              </a:rPr>
              <a:t>&amp;&amp;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714500" algn="l"/>
                <a:tab pos="2171700" algn="l"/>
                <a:tab pos="37719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400" b="0" dirty="0" smtClean="0">
                <a:latin typeface="Arial Black" pitchFamily="34" charset="0"/>
              </a:rPr>
              <a:t>		       	</a:t>
            </a:r>
            <a:r>
              <a:rPr lang="en-US" sz="2400" b="0" dirty="0" err="1" smtClean="0">
                <a:latin typeface="Arial Black" pitchFamily="34" charset="0"/>
              </a:rPr>
              <a:t>this.salary</a:t>
            </a:r>
            <a:r>
              <a:rPr lang="en-US" sz="2400" b="0" dirty="0" smtClean="0">
                <a:latin typeface="Arial Black" pitchFamily="34" charset="0"/>
              </a:rPr>
              <a:t> 	==  </a:t>
            </a:r>
            <a:r>
              <a:rPr lang="en-US" sz="2400" b="0" dirty="0" err="1" smtClean="0">
                <a:latin typeface="Arial Black" pitchFamily="34" charset="0"/>
              </a:rPr>
              <a:t>that.salary</a:t>
            </a:r>
            <a:r>
              <a:rPr lang="en-US" sz="2400" b="0" dirty="0" smtClean="0">
                <a:latin typeface="Arial Black" pitchFamily="34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latin typeface="Arial Black" pitchFamily="34" charset="0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Arial Black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 smtClean="0">
              <a:latin typeface="Arial Black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 smtClean="0">
              <a:latin typeface="Arial Black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Arial Black" pitchFamily="34" charset="0"/>
            </a:endParaRPr>
          </a:p>
          <a:p>
            <a:pPr eaLnBrk="1" hangingPunct="1"/>
            <a:endParaRPr lang="en-US" sz="1700" dirty="0" smtClean="0">
              <a:latin typeface="Times New Roman" pitchFamily="18" charset="0"/>
            </a:endParaRPr>
          </a:p>
          <a:p>
            <a:pPr eaLnBrk="1" hangingPunct="1"/>
            <a:endParaRPr lang="en-US" sz="1700" dirty="0">
              <a:latin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4600" y="4648200"/>
            <a:ext cx="4114800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[Tom Jones, 36, M, 40000.0]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[Sue Smith, 29, F, 50000.0]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[Bob Brown, 40, M, 50000.0]</a:t>
            </a:r>
          </a:p>
          <a:p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Tom and Sue are not equal.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Tom and Bob are not equal.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Sue and Bob are not equal.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42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Java1037 Graphic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381000" y="1143000"/>
            <a:ext cx="8382000" cy="42735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93738" algn="l"/>
                <a:tab pos="1371600" algn="l"/>
                <a:tab pos="20653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10000"/>
              </a:lnSpc>
            </a:pPr>
            <a:endParaRPr lang="en-US" sz="3600">
              <a:sym typeface="Symbol" pitchFamily="18" charset="2"/>
            </a:endParaRPr>
          </a:p>
          <a:p>
            <a:pPr algn="just" eaLnBrk="1" hangingPunct="1"/>
            <a:endParaRPr lang="en-US" sz="3600">
              <a:sym typeface="Symbol" pitchFamily="18" charset="2"/>
            </a:endParaRPr>
          </a:p>
          <a:p>
            <a:pPr algn="just" eaLnBrk="1" hangingPunct="1">
              <a:lnSpc>
                <a:spcPct val="50000"/>
              </a:lnSpc>
            </a:pPr>
            <a:endParaRPr lang="en-US" sz="36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/>
            <a:endParaRPr lang="en-US" sz="2800">
              <a:sym typeface="Symbol" pitchFamily="18" charset="2"/>
            </a:endParaRPr>
          </a:p>
          <a:p>
            <a:pPr algn="just" eaLnBrk="1" hangingPunct="1">
              <a:lnSpc>
                <a:spcPct val="60000"/>
              </a:lnSpc>
            </a:pPr>
            <a:endParaRPr lang="en-US" sz="2800">
              <a:sym typeface="Symbol" pitchFamily="18" charset="2"/>
            </a:endParaRPr>
          </a:p>
        </p:txBody>
      </p:sp>
      <p:graphicFrame>
        <p:nvGraphicFramePr>
          <p:cNvPr id="774148" name="Group 4"/>
          <p:cNvGraphicFramePr>
            <a:graphicFrameLocks noGrp="1"/>
          </p:cNvGraphicFramePr>
          <p:nvPr/>
        </p:nvGraphicFramePr>
        <p:xfrm>
          <a:off x="762000" y="14478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@16f0472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4156" name="Group 12"/>
          <p:cNvGraphicFramePr>
            <a:graphicFrameLocks noGrp="1"/>
          </p:cNvGraphicFramePr>
          <p:nvPr/>
        </p:nvGraphicFramePr>
        <p:xfrm>
          <a:off x="3429000" y="14478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@18d107f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29716" name="Line 20"/>
          <p:cNvSpPr>
            <a:spLocks noChangeShapeType="1"/>
          </p:cNvSpPr>
          <p:nvPr/>
        </p:nvSpPr>
        <p:spPr bwMode="auto">
          <a:xfrm>
            <a:off x="1905000" y="2667000"/>
            <a:ext cx="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7" name="Line 21"/>
          <p:cNvSpPr>
            <a:spLocks noChangeShapeType="1"/>
          </p:cNvSpPr>
          <p:nvPr/>
        </p:nvSpPr>
        <p:spPr bwMode="auto">
          <a:xfrm>
            <a:off x="4572000" y="2667000"/>
            <a:ext cx="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74166" name="Group 22"/>
          <p:cNvGraphicFramePr>
            <a:graphicFrameLocks noGrp="1"/>
          </p:cNvGraphicFramePr>
          <p:nvPr/>
        </p:nvGraphicFramePr>
        <p:xfrm>
          <a:off x="6096000" y="1447800"/>
          <a:ext cx="2209800" cy="1219200"/>
        </p:xfrm>
        <a:graphic>
          <a:graphicData uri="http://schemas.openxmlformats.org/drawingml/2006/table">
            <a:tbl>
              <a:tblPr/>
              <a:tblGrid>
                <a:gridCol w="2209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@3b0eb0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29726" name="Line 30"/>
          <p:cNvSpPr>
            <a:spLocks noChangeShapeType="1"/>
          </p:cNvSpPr>
          <p:nvPr/>
        </p:nvSpPr>
        <p:spPr bwMode="auto">
          <a:xfrm>
            <a:off x="7239000" y="2667000"/>
            <a:ext cx="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4175" name="WordArt 31"/>
          <p:cNvSpPr>
            <a:spLocks noChangeArrowheads="1" noChangeShapeType="1" noTextEdit="1"/>
          </p:cNvSpPr>
          <p:nvPr/>
        </p:nvSpPr>
        <p:spPr bwMode="auto">
          <a:xfrm>
            <a:off x="342900" y="5486400"/>
            <a:ext cx="8496300" cy="1295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029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 this case, the 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re-defined 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equals method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bases equality on all 4 fields in the record.</a:t>
            </a:r>
          </a:p>
        </p:txBody>
      </p:sp>
      <p:graphicFrame>
        <p:nvGraphicFramePr>
          <p:cNvPr id="774176" name="Group 32"/>
          <p:cNvGraphicFramePr>
            <a:graphicFrameLocks noGrp="1"/>
          </p:cNvGraphicFramePr>
          <p:nvPr/>
        </p:nvGraphicFramePr>
        <p:xfrm>
          <a:off x="762000" y="3505200"/>
          <a:ext cx="2209800" cy="1676401"/>
        </p:xfrm>
        <a:graphic>
          <a:graphicData uri="http://schemas.openxmlformats.org/drawingml/2006/table">
            <a:tbl>
              <a:tblPr/>
              <a:tblGrid>
                <a:gridCol w="1600200"/>
                <a:gridCol w="609600"/>
              </a:tblGrid>
              <a:tr h="58896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16f0472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4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Tom Jones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$40,000.00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‘M’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4189" name="Group 45"/>
          <p:cNvGraphicFramePr>
            <a:graphicFrameLocks noGrp="1"/>
          </p:cNvGraphicFramePr>
          <p:nvPr/>
        </p:nvGraphicFramePr>
        <p:xfrm>
          <a:off x="3429000" y="3505200"/>
          <a:ext cx="2209800" cy="1676401"/>
        </p:xfrm>
        <a:graphic>
          <a:graphicData uri="http://schemas.openxmlformats.org/drawingml/2006/table">
            <a:tbl>
              <a:tblPr/>
              <a:tblGrid>
                <a:gridCol w="1600200"/>
                <a:gridCol w="609600"/>
              </a:tblGrid>
              <a:tr h="60483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18d107f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34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Sue Smith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$50,000.00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‘F’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4202" name="Group 58"/>
          <p:cNvGraphicFramePr>
            <a:graphicFrameLocks noGrp="1"/>
          </p:cNvGraphicFramePr>
          <p:nvPr/>
        </p:nvGraphicFramePr>
        <p:xfrm>
          <a:off x="6096000" y="3505200"/>
          <a:ext cx="2209800" cy="1676401"/>
        </p:xfrm>
        <a:graphic>
          <a:graphicData uri="http://schemas.openxmlformats.org/drawingml/2006/table">
            <a:tbl>
              <a:tblPr/>
              <a:tblGrid>
                <a:gridCol w="1600200"/>
                <a:gridCol w="609600"/>
              </a:tblGrid>
              <a:tr h="6000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3b0eb0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38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Bob Brown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$50,000.00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‘M’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774218" name="Rectangle 74"/>
          <p:cNvSpPr>
            <a:spLocks noChangeArrowheads="1"/>
          </p:cNvSpPr>
          <p:nvPr/>
        </p:nvSpPr>
        <p:spPr bwMode="auto">
          <a:xfrm>
            <a:off x="838200" y="4130675"/>
            <a:ext cx="1447800" cy="45720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4219" name="Rectangle 75"/>
          <p:cNvSpPr>
            <a:spLocks noChangeArrowheads="1"/>
          </p:cNvSpPr>
          <p:nvPr/>
        </p:nvSpPr>
        <p:spPr bwMode="auto">
          <a:xfrm>
            <a:off x="3505200" y="4130675"/>
            <a:ext cx="1447800" cy="45720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4220" name="Rectangle 76"/>
          <p:cNvSpPr>
            <a:spLocks noChangeArrowheads="1"/>
          </p:cNvSpPr>
          <p:nvPr/>
        </p:nvSpPr>
        <p:spPr bwMode="auto">
          <a:xfrm>
            <a:off x="6172200" y="4130675"/>
            <a:ext cx="1447800" cy="45720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4221" name="Rectangle 77"/>
          <p:cNvSpPr>
            <a:spLocks noChangeArrowheads="1"/>
          </p:cNvSpPr>
          <p:nvPr/>
        </p:nvSpPr>
        <p:spPr bwMode="auto">
          <a:xfrm>
            <a:off x="2438400" y="4130675"/>
            <a:ext cx="457200" cy="457200"/>
          </a:xfrm>
          <a:prstGeom prst="rect">
            <a:avLst/>
          </a:prstGeom>
          <a:noFill/>
          <a:ln w="76200">
            <a:solidFill>
              <a:srgbClr val="0000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4222" name="Rectangle 78"/>
          <p:cNvSpPr>
            <a:spLocks noChangeArrowheads="1"/>
          </p:cNvSpPr>
          <p:nvPr/>
        </p:nvSpPr>
        <p:spPr bwMode="auto">
          <a:xfrm>
            <a:off x="5105400" y="4130675"/>
            <a:ext cx="457200" cy="457200"/>
          </a:xfrm>
          <a:prstGeom prst="rect">
            <a:avLst/>
          </a:prstGeom>
          <a:noFill/>
          <a:ln w="76200">
            <a:solidFill>
              <a:srgbClr val="0000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4223" name="Rectangle 79"/>
          <p:cNvSpPr>
            <a:spLocks noChangeArrowheads="1"/>
          </p:cNvSpPr>
          <p:nvPr/>
        </p:nvSpPr>
        <p:spPr bwMode="auto">
          <a:xfrm>
            <a:off x="7772400" y="4130675"/>
            <a:ext cx="457200" cy="457200"/>
          </a:xfrm>
          <a:prstGeom prst="rect">
            <a:avLst/>
          </a:prstGeom>
          <a:noFill/>
          <a:ln w="76200">
            <a:solidFill>
              <a:srgbClr val="0000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4224" name="Rectangle 80"/>
          <p:cNvSpPr>
            <a:spLocks noChangeArrowheads="1"/>
          </p:cNvSpPr>
          <p:nvPr/>
        </p:nvSpPr>
        <p:spPr bwMode="auto">
          <a:xfrm>
            <a:off x="2438400" y="4660900"/>
            <a:ext cx="457200" cy="457200"/>
          </a:xfrm>
          <a:prstGeom prst="rect">
            <a:avLst/>
          </a:prstGeom>
          <a:noFill/>
          <a:ln w="76200">
            <a:solidFill>
              <a:srgbClr val="003366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4225" name="Rectangle 81"/>
          <p:cNvSpPr>
            <a:spLocks noChangeArrowheads="1"/>
          </p:cNvSpPr>
          <p:nvPr/>
        </p:nvSpPr>
        <p:spPr bwMode="auto">
          <a:xfrm>
            <a:off x="5105400" y="4660900"/>
            <a:ext cx="457200" cy="457200"/>
          </a:xfrm>
          <a:prstGeom prst="rect">
            <a:avLst/>
          </a:prstGeom>
          <a:noFill/>
          <a:ln w="76200">
            <a:solidFill>
              <a:srgbClr val="003366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4226" name="Rectangle 82"/>
          <p:cNvSpPr>
            <a:spLocks noChangeArrowheads="1"/>
          </p:cNvSpPr>
          <p:nvPr/>
        </p:nvSpPr>
        <p:spPr bwMode="auto">
          <a:xfrm>
            <a:off x="7772400" y="4660900"/>
            <a:ext cx="457200" cy="457200"/>
          </a:xfrm>
          <a:prstGeom prst="rect">
            <a:avLst/>
          </a:prstGeom>
          <a:noFill/>
          <a:ln w="76200">
            <a:solidFill>
              <a:srgbClr val="003366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4227" name="Rectangle 83"/>
          <p:cNvSpPr>
            <a:spLocks noChangeArrowheads="1"/>
          </p:cNvSpPr>
          <p:nvPr/>
        </p:nvSpPr>
        <p:spPr bwMode="auto">
          <a:xfrm>
            <a:off x="838200" y="4660900"/>
            <a:ext cx="1447800" cy="457200"/>
          </a:xfrm>
          <a:prstGeom prst="rect">
            <a:avLst/>
          </a:prstGeom>
          <a:noFill/>
          <a:ln w="76200">
            <a:solidFill>
              <a:srgbClr val="9933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4228" name="Rectangle 84"/>
          <p:cNvSpPr>
            <a:spLocks noChangeArrowheads="1"/>
          </p:cNvSpPr>
          <p:nvPr/>
        </p:nvSpPr>
        <p:spPr bwMode="auto">
          <a:xfrm>
            <a:off x="3505200" y="4660900"/>
            <a:ext cx="1447800" cy="457200"/>
          </a:xfrm>
          <a:prstGeom prst="rect">
            <a:avLst/>
          </a:prstGeom>
          <a:noFill/>
          <a:ln w="76200">
            <a:solidFill>
              <a:srgbClr val="9933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4229" name="Rectangle 85"/>
          <p:cNvSpPr>
            <a:spLocks noChangeArrowheads="1"/>
          </p:cNvSpPr>
          <p:nvPr/>
        </p:nvSpPr>
        <p:spPr bwMode="auto">
          <a:xfrm>
            <a:off x="6172200" y="4660900"/>
            <a:ext cx="1447800" cy="457200"/>
          </a:xfrm>
          <a:prstGeom prst="rect">
            <a:avLst/>
          </a:prstGeom>
          <a:noFill/>
          <a:ln w="76200">
            <a:solidFill>
              <a:srgbClr val="9933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4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7417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7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7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74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7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7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7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7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7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74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74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74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74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175" grpId="0" animBg="1"/>
      <p:bldP spid="774218" grpId="0" animBg="1"/>
      <p:bldP spid="774219" grpId="0" animBg="1"/>
      <p:bldP spid="774220" grpId="0" animBg="1"/>
      <p:bldP spid="774221" grpId="0" animBg="1"/>
      <p:bldP spid="774222" grpId="0" animBg="1"/>
      <p:bldP spid="774223" grpId="0" animBg="1"/>
      <p:bldP spid="774224" grpId="0" animBg="1"/>
      <p:bldP spid="774225" grpId="0" animBg="1"/>
      <p:bldP spid="774226" grpId="0" animBg="1"/>
      <p:bldP spid="774227" grpId="0" animBg="1"/>
      <p:bldP spid="774228" grpId="0" animBg="1"/>
      <p:bldP spid="774229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990600"/>
          </a:xfrm>
        </p:spPr>
        <p:txBody>
          <a:bodyPr/>
          <a:lstStyle/>
          <a:p>
            <a:pPr eaLnBrk="1" hangingPunct="1"/>
            <a:r>
              <a:rPr lang="en-US" sz="4800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Re-defining vs. Overloading equals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304800" y="1143000"/>
            <a:ext cx="8534400" cy="532453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dirty="0"/>
              <a:t>The heading of the equals method in superclass Object is as follows:</a:t>
            </a:r>
          </a:p>
          <a:p>
            <a:r>
              <a:rPr lang="en-US" sz="2000" dirty="0"/>
              <a:t> </a:t>
            </a:r>
          </a:p>
          <a:p>
            <a:endParaRPr lang="en-US" sz="2000" dirty="0" smtClean="0"/>
          </a:p>
          <a:p>
            <a:r>
              <a:rPr lang="en-US" sz="2000" dirty="0"/>
              <a:t> </a:t>
            </a:r>
          </a:p>
          <a:p>
            <a:r>
              <a:rPr lang="en-US" sz="2000" dirty="0"/>
              <a:t>The headings of the last two programs are </a:t>
            </a:r>
            <a:r>
              <a:rPr lang="en-US" sz="2000" dirty="0" smtClean="0"/>
              <a:t>as </a:t>
            </a:r>
            <a:r>
              <a:rPr lang="en-US" sz="2000" dirty="0"/>
              <a:t>follows:</a:t>
            </a:r>
          </a:p>
          <a:p>
            <a:r>
              <a:rPr lang="en-US" sz="2000" dirty="0"/>
              <a:t> </a:t>
            </a:r>
          </a:p>
          <a:p>
            <a:r>
              <a:rPr lang="en-US" sz="2000" dirty="0" smtClean="0"/>
              <a:t> </a:t>
            </a:r>
            <a:endParaRPr lang="en-US" sz="2000" dirty="0"/>
          </a:p>
          <a:p>
            <a:r>
              <a:rPr lang="en-US" sz="2000" dirty="0" smtClean="0"/>
              <a:t> </a:t>
            </a:r>
            <a:endParaRPr lang="en-US" sz="2000" dirty="0"/>
          </a:p>
          <a:p>
            <a:r>
              <a:rPr lang="en-US" sz="2000" dirty="0"/>
              <a:t> </a:t>
            </a:r>
          </a:p>
          <a:p>
            <a:r>
              <a:rPr lang="en-US" sz="2000" dirty="0" smtClean="0"/>
              <a:t>While the previous 2 programs seemed to work, we did not actually re-define </a:t>
            </a:r>
            <a:r>
              <a:rPr lang="en-US" sz="2000" dirty="0" smtClean="0">
                <a:latin typeface="Arial Black" panose="020B0A04020102020204" pitchFamily="34" charset="0"/>
              </a:rPr>
              <a:t>equals</a:t>
            </a:r>
            <a:r>
              <a:rPr lang="en-US" sz="2000" b="0" dirty="0" smtClean="0"/>
              <a:t> </a:t>
            </a:r>
            <a:r>
              <a:rPr lang="en-US" sz="2000" dirty="0" smtClean="0"/>
              <a:t>method of the </a:t>
            </a:r>
            <a:r>
              <a:rPr lang="en-US" sz="2000" b="0" dirty="0" smtClean="0">
                <a:latin typeface="Arial Black" panose="020B0A04020102020204" pitchFamily="34" charset="0"/>
              </a:rPr>
              <a:t>Object</a:t>
            </a:r>
            <a:r>
              <a:rPr lang="en-US" sz="2000" dirty="0" smtClean="0"/>
              <a:t> class.  </a:t>
            </a:r>
          </a:p>
          <a:p>
            <a:endParaRPr lang="en-US" sz="2000" dirty="0"/>
          </a:p>
          <a:p>
            <a:r>
              <a:rPr lang="en-US" sz="2000" dirty="0" smtClean="0"/>
              <a:t>Instead, each program created an </a:t>
            </a:r>
            <a:r>
              <a:rPr lang="en-US" sz="2000" i="1" dirty="0" smtClean="0"/>
              <a:t>overloaded</a:t>
            </a:r>
            <a:r>
              <a:rPr lang="en-US" sz="2000" dirty="0" smtClean="0"/>
              <a:t> </a:t>
            </a:r>
            <a:r>
              <a:rPr lang="en-US" sz="2000" dirty="0" smtClean="0">
                <a:latin typeface="Arial Black" panose="020B0A04020102020204" pitchFamily="34" charset="0"/>
              </a:rPr>
              <a:t>equals</a:t>
            </a:r>
            <a:r>
              <a:rPr lang="en-US" sz="2000" dirty="0" smtClean="0"/>
              <a:t> method with a </a:t>
            </a:r>
            <a:r>
              <a:rPr lang="en-US" sz="2000" dirty="0" smtClean="0">
                <a:latin typeface="Arial Black" panose="020B0A04020102020204" pitchFamily="34" charset="0"/>
              </a:rPr>
              <a:t>Person</a:t>
            </a:r>
            <a:r>
              <a:rPr lang="en-US" sz="2000" dirty="0" smtClean="0"/>
              <a:t> object parameter.  </a:t>
            </a:r>
          </a:p>
          <a:p>
            <a:endParaRPr lang="en-US" sz="2000" dirty="0"/>
          </a:p>
          <a:p>
            <a:r>
              <a:rPr lang="en-US" sz="2000" dirty="0" smtClean="0"/>
              <a:t>To properly re-define </a:t>
            </a:r>
            <a:r>
              <a:rPr lang="en-US" sz="2000" dirty="0" smtClean="0">
                <a:latin typeface="Arial Black" panose="020B0A04020102020204" pitchFamily="34" charset="0"/>
              </a:rPr>
              <a:t>equals</a:t>
            </a:r>
            <a:r>
              <a:rPr lang="en-US" sz="2000" dirty="0" smtClean="0"/>
              <a:t>, it needs to have an </a:t>
            </a:r>
            <a:r>
              <a:rPr lang="en-US" sz="2000" b="0" dirty="0">
                <a:latin typeface="Arial Black" panose="020B0A04020102020204" pitchFamily="34" charset="0"/>
              </a:rPr>
              <a:t>Object</a:t>
            </a:r>
            <a:r>
              <a:rPr lang="en-US" sz="2000" dirty="0"/>
              <a:t> </a:t>
            </a:r>
            <a:r>
              <a:rPr lang="en-US" sz="2000" dirty="0" smtClean="0"/>
              <a:t>parameter, just like it does in the </a:t>
            </a:r>
            <a:r>
              <a:rPr lang="en-US" sz="2000" b="0" dirty="0">
                <a:latin typeface="Arial Black" panose="020B0A04020102020204" pitchFamily="34" charset="0"/>
              </a:rPr>
              <a:t>Object</a:t>
            </a:r>
            <a:r>
              <a:rPr lang="en-US" sz="2000" dirty="0"/>
              <a:t> </a:t>
            </a:r>
            <a:r>
              <a:rPr lang="en-US" sz="2000" dirty="0" smtClean="0"/>
              <a:t>class.</a:t>
            </a:r>
            <a:endParaRPr lang="en-US" sz="2000" dirty="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143000" y="1752600"/>
            <a:ext cx="6858000" cy="46166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2400" b="0" dirty="0">
                <a:latin typeface="Arial Black" panose="020B0A04020102020204" pitchFamily="34" charset="0"/>
              </a:rPr>
              <a:t>public </a:t>
            </a:r>
            <a:r>
              <a:rPr lang="en-US" sz="2400" b="0" dirty="0" err="1">
                <a:latin typeface="Arial Black" panose="020B0A04020102020204" pitchFamily="34" charset="0"/>
              </a:rPr>
              <a:t>boolean</a:t>
            </a:r>
            <a:r>
              <a:rPr lang="en-US" sz="2400" b="0" dirty="0">
                <a:latin typeface="Arial Black" panose="020B0A04020102020204" pitchFamily="34" charset="0"/>
              </a:rPr>
              <a:t> equals(Object other)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143000" y="2895600"/>
            <a:ext cx="6858000" cy="83099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2400" b="0" dirty="0">
                <a:latin typeface="Arial Black" panose="020B0A04020102020204" pitchFamily="34" charset="0"/>
              </a:rPr>
              <a:t>public </a:t>
            </a:r>
            <a:r>
              <a:rPr lang="en-US" sz="2400" b="0" dirty="0" err="1">
                <a:latin typeface="Arial Black" panose="020B0A04020102020204" pitchFamily="34" charset="0"/>
              </a:rPr>
              <a:t>boolean</a:t>
            </a:r>
            <a:r>
              <a:rPr lang="en-US" sz="2400" b="0" dirty="0">
                <a:latin typeface="Arial Black" panose="020B0A04020102020204" pitchFamily="34" charset="0"/>
              </a:rPr>
              <a:t> </a:t>
            </a:r>
            <a:r>
              <a:rPr lang="en-US" sz="2400" b="0" dirty="0" smtClean="0">
                <a:latin typeface="Arial Black" panose="020B0A04020102020204" pitchFamily="34" charset="0"/>
              </a:rPr>
              <a:t>equals(Person temp)</a:t>
            </a:r>
          </a:p>
          <a:p>
            <a:pPr algn="ctr"/>
            <a:r>
              <a:rPr lang="en-US" sz="2400" b="0" dirty="0">
                <a:latin typeface="Arial Black" panose="020B0A04020102020204" pitchFamily="34" charset="0"/>
              </a:rPr>
              <a:t>public </a:t>
            </a:r>
            <a:r>
              <a:rPr lang="en-US" sz="2400" b="0" dirty="0" err="1">
                <a:latin typeface="Arial Black" panose="020B0A04020102020204" pitchFamily="34" charset="0"/>
              </a:rPr>
              <a:t>boolean</a:t>
            </a:r>
            <a:r>
              <a:rPr lang="en-US" sz="2400" b="0" dirty="0">
                <a:latin typeface="Arial Black" panose="020B0A04020102020204" pitchFamily="34" charset="0"/>
              </a:rPr>
              <a:t> equals(Person </a:t>
            </a:r>
            <a:r>
              <a:rPr lang="en-US" sz="2400" b="0" dirty="0" smtClean="0">
                <a:latin typeface="Arial Black" panose="020B0A04020102020204" pitchFamily="34" charset="0"/>
              </a:rPr>
              <a:t>that)</a:t>
            </a:r>
            <a:endParaRPr lang="en-US" sz="2400" b="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91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52486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</a:rPr>
              <a:t>// Java1038.java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// This program shows the correct re-definition of the &lt;equals&gt; method.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// The heading uses &lt;Object&gt; and requires class casting</a:t>
            </a:r>
            <a:r>
              <a:rPr lang="en-US" sz="2200" dirty="0" smtClean="0">
                <a:latin typeface="Times New Roman" pitchFamily="18" charset="0"/>
              </a:rPr>
              <a:t>.</a:t>
            </a:r>
          </a:p>
          <a:p>
            <a:pPr eaLnBrk="1" hangingPunct="1"/>
            <a:endParaRPr lang="en-US" sz="2200" dirty="0" smtClean="0">
              <a:latin typeface="Times New Roman" pitchFamily="18" charset="0"/>
            </a:endParaRPr>
          </a:p>
          <a:p>
            <a:pPr eaLnBrk="1" hangingPunct="1"/>
            <a:r>
              <a:rPr lang="en-US" sz="2400" b="0" dirty="0">
                <a:latin typeface="Arial Black" panose="020B0A04020102020204" pitchFamily="34" charset="0"/>
              </a:rPr>
              <a:t>	public </a:t>
            </a:r>
            <a:r>
              <a:rPr lang="en-US" sz="2400" b="0" dirty="0" err="1">
                <a:latin typeface="Arial Black" panose="020B0A04020102020204" pitchFamily="34" charset="0"/>
              </a:rPr>
              <a:t>boolean</a:t>
            </a:r>
            <a:r>
              <a:rPr lang="en-US" sz="2400" b="0" dirty="0">
                <a:latin typeface="Arial Black" panose="020B0A04020102020204" pitchFamily="34" charset="0"/>
              </a:rPr>
              <a:t> equals(Object that)</a:t>
            </a:r>
          </a:p>
          <a:p>
            <a:pPr eaLnBrk="1" hangingPunct="1"/>
            <a:r>
              <a:rPr lang="en-US" sz="2400" b="0" dirty="0">
                <a:latin typeface="Arial Black" panose="020B0A04020102020204" pitchFamily="34" charset="0"/>
              </a:rPr>
              <a:t>	{</a:t>
            </a:r>
          </a:p>
          <a:p>
            <a:pPr eaLnBrk="1" hangingPunct="1"/>
            <a:r>
              <a:rPr lang="en-US" sz="2400" b="0" dirty="0">
                <a:latin typeface="Arial Black" panose="020B0A04020102020204" pitchFamily="34" charset="0"/>
              </a:rPr>
              <a:t>		return </a:t>
            </a:r>
            <a:r>
              <a:rPr lang="en-US" sz="2400" b="0" dirty="0" err="1" smtClean="0">
                <a:latin typeface="Arial Black" panose="020B0A04020102020204" pitchFamily="34" charset="0"/>
              </a:rPr>
              <a:t>this.salary</a:t>
            </a:r>
            <a:r>
              <a:rPr lang="en-US" sz="2400" b="0" dirty="0" smtClean="0">
                <a:latin typeface="Arial Black" panose="020B0A04020102020204" pitchFamily="34" charset="0"/>
              </a:rPr>
              <a:t>  </a:t>
            </a:r>
            <a:r>
              <a:rPr lang="en-US" sz="2400" b="0" dirty="0">
                <a:latin typeface="Arial Black" panose="020B0A04020102020204" pitchFamily="34" charset="0"/>
              </a:rPr>
              <a:t>== ( (Person) that).salary;</a:t>
            </a:r>
          </a:p>
          <a:p>
            <a:pPr eaLnBrk="1" hangingPunct="1"/>
            <a:r>
              <a:rPr lang="en-US" sz="2400" b="0" dirty="0">
                <a:latin typeface="Arial Black" panose="020B0A04020102020204" pitchFamily="34" charset="0"/>
              </a:rPr>
              <a:t>	</a:t>
            </a:r>
            <a:r>
              <a:rPr lang="en-US" sz="2400" b="0" dirty="0" smtClean="0">
                <a:latin typeface="Arial Black" panose="020B0A04020102020204" pitchFamily="34" charset="0"/>
              </a:rPr>
              <a:t>}</a:t>
            </a:r>
          </a:p>
          <a:p>
            <a:pPr eaLnBrk="1" hangingPunct="1"/>
            <a:endParaRPr lang="en-US" sz="1800" dirty="0" smtClean="0">
              <a:latin typeface="Times New Roman" pitchFamily="18" charset="0"/>
            </a:endParaRPr>
          </a:p>
          <a:p>
            <a:pPr eaLnBrk="1" hangingPunct="1"/>
            <a:endParaRPr lang="en-US" sz="1800" dirty="0">
              <a:latin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</a:endParaRPr>
          </a:p>
          <a:p>
            <a:pPr eaLnBrk="1" hangingPunct="1"/>
            <a:endParaRPr lang="en-US" sz="1800" dirty="0">
              <a:latin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</a:endParaRPr>
          </a:p>
          <a:p>
            <a:pPr eaLnBrk="1" hangingPunct="1"/>
            <a:endParaRPr lang="en-US" sz="1800" dirty="0">
              <a:latin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</a:endParaRPr>
          </a:p>
          <a:p>
            <a:pPr eaLnBrk="1" hangingPunct="1"/>
            <a:endParaRPr lang="en-US" sz="1800" dirty="0">
              <a:latin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</a:endParaRPr>
          </a:p>
          <a:p>
            <a:pPr eaLnBrk="1" hangingPunct="1"/>
            <a:endParaRPr lang="en-US" sz="1800" dirty="0">
              <a:latin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</a:endParaRPr>
          </a:p>
          <a:p>
            <a:pPr eaLnBrk="1" hangingPunct="1"/>
            <a:endParaRPr lang="en-US" sz="1800" dirty="0">
              <a:latin typeface="Times New Roman" pitchFamily="18" charset="0"/>
            </a:endParaRPr>
          </a:p>
          <a:p>
            <a:pPr eaLnBrk="1" hangingPunct="1"/>
            <a:endParaRPr lang="en-US" sz="1800" dirty="0">
              <a:latin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95500" y="2871787"/>
            <a:ext cx="4953000" cy="24622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[Tom Jones, 36, M, 40000.0]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[Sue Smith, 29, F, 50000.0]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[Bob Brown, 40, M, 50000.0]</a:t>
            </a: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Tom and Sue are not equal.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Tom and Bob are not equal.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Sue and Bob are 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equal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en-US" sz="2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657671"/>
            <a:ext cx="9144000" cy="1200329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NOTE:  The Java compiler uses something similar to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“Order of Operations”.  Without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extra 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(parentheses)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it would attempt to cast the </a:t>
            </a:r>
            <a:r>
              <a:rPr lang="en-US" sz="2400" b="0" dirty="0" smtClean="0">
                <a:cs typeface="Arial" panose="020B0604020202020204" pitchFamily="34" charset="0"/>
              </a:rPr>
              <a:t>salary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attribute as a </a:t>
            </a:r>
            <a:r>
              <a:rPr lang="en-US" sz="2400" b="0" dirty="0" smtClean="0">
                <a:cs typeface="Arial" panose="020B0604020202020204" pitchFamily="34" charset="0"/>
              </a:rPr>
              <a:t>Person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object.</a:t>
            </a:r>
          </a:p>
        </p:txBody>
      </p:sp>
    </p:spTree>
    <p:extLst>
      <p:ext uri="{BB962C8B-B14F-4D97-AF65-F5344CB8AC3E}">
        <p14:creationId xmlns:p14="http://schemas.microsoft.com/office/powerpoint/2010/main" val="113714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9875</TotalTime>
  <Words>3520</Words>
  <Application>Microsoft Office PowerPoint</Application>
  <PresentationFormat>On-screen Show (4:3)</PresentationFormat>
  <Paragraphs>2022</Paragraphs>
  <Slides>111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2" baseType="lpstr">
      <vt:lpstr>Default Design</vt:lpstr>
      <vt:lpstr>PowerPoint Presentation</vt:lpstr>
      <vt:lpstr>PowerPoint Presentation</vt:lpstr>
      <vt:lpstr>PowerPoint Presentation</vt:lpstr>
      <vt:lpstr>Class Interaction</vt:lpstr>
      <vt:lpstr>Utility Classes</vt:lpstr>
      <vt:lpstr>Inheritance</vt:lpstr>
      <vt:lpstr>“Is-A” and “Has-A”</vt:lpstr>
      <vt:lpstr>Composition</vt:lpstr>
      <vt:lpstr>Inheritance vs. Composition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Inheritance Fundamentals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Subclass Methods</vt:lpstr>
      <vt:lpstr>PowerPoint Presentation</vt:lpstr>
      <vt:lpstr>PowerPoint Presentation</vt:lpstr>
      <vt:lpstr>PowerPoint Presentation</vt:lpstr>
      <vt:lpstr>Multi-Level Inheritance &amp; Multiple Inheritance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Inheritance and Constructor Calls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super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Java1029 Graphic</vt:lpstr>
      <vt:lpstr>PowerPoint Presentation</vt:lpstr>
      <vt:lpstr>The Original toString Method</vt:lpstr>
      <vt:lpstr>“The mother of all classes”  All classes automatically inherit from  The Object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Person class used in  the next several programs</vt:lpstr>
      <vt:lpstr>PowerPoint Presentation</vt:lpstr>
      <vt:lpstr>Java1034 Graphic</vt:lpstr>
      <vt:lpstr>PowerPoint Presentation</vt:lpstr>
      <vt:lpstr>Java1035 Graphic</vt:lpstr>
      <vt:lpstr>PowerPoint Presentation</vt:lpstr>
      <vt:lpstr>PowerPoint Presentation</vt:lpstr>
      <vt:lpstr>Java1036 Graphic</vt:lpstr>
      <vt:lpstr>PowerPoint Presentation</vt:lpstr>
      <vt:lpstr>Java1037 Graphic</vt:lpstr>
      <vt:lpstr>Re-defining vs. Overloading equals</vt:lpstr>
      <vt:lpstr>PowerPoint Presentation</vt:lpstr>
    </vt:vector>
  </TitlesOfParts>
  <Manager>Leon Schram</Manager>
  <Company>BHS-RISD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Exposure Java Slides</dc:title>
  <dc:subject>APCS1</dc:subject>
  <dc:creator>John Schram</dc:creator>
  <cp:lastModifiedBy>leonschram</cp:lastModifiedBy>
  <cp:revision>1038</cp:revision>
  <dcterms:created xsi:type="dcterms:W3CDTF">2003-07-04T03:08:29Z</dcterms:created>
  <dcterms:modified xsi:type="dcterms:W3CDTF">2015-05-15T22:59:36Z</dcterms:modified>
</cp:coreProperties>
</file>