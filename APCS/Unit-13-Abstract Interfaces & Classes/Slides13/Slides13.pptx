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89" r:id="rId3"/>
    <p:sldId id="720" r:id="rId4"/>
    <p:sldId id="721" r:id="rId5"/>
    <p:sldId id="723" r:id="rId6"/>
    <p:sldId id="727" r:id="rId7"/>
    <p:sldId id="872" r:id="rId8"/>
    <p:sldId id="873" r:id="rId9"/>
    <p:sldId id="874" r:id="rId10"/>
    <p:sldId id="821" r:id="rId11"/>
    <p:sldId id="883" r:id="rId12"/>
    <p:sldId id="801" r:id="rId13"/>
    <p:sldId id="761" r:id="rId14"/>
    <p:sldId id="884" r:id="rId15"/>
    <p:sldId id="885" r:id="rId16"/>
    <p:sldId id="886" r:id="rId17"/>
    <p:sldId id="887" r:id="rId18"/>
    <p:sldId id="733" r:id="rId19"/>
    <p:sldId id="888" r:id="rId20"/>
    <p:sldId id="889" r:id="rId21"/>
    <p:sldId id="763" r:id="rId22"/>
    <p:sldId id="890" r:id="rId23"/>
    <p:sldId id="891" r:id="rId24"/>
    <p:sldId id="736" r:id="rId25"/>
    <p:sldId id="764" r:id="rId26"/>
    <p:sldId id="892" r:id="rId27"/>
    <p:sldId id="893" r:id="rId28"/>
    <p:sldId id="894" r:id="rId29"/>
    <p:sldId id="831" r:id="rId30"/>
    <p:sldId id="895" r:id="rId31"/>
    <p:sldId id="743" r:id="rId32"/>
    <p:sldId id="834" r:id="rId33"/>
    <p:sldId id="832" r:id="rId34"/>
    <p:sldId id="896" r:id="rId35"/>
    <p:sldId id="897" r:id="rId36"/>
    <p:sldId id="898" r:id="rId37"/>
    <p:sldId id="899" r:id="rId38"/>
    <p:sldId id="900" r:id="rId39"/>
    <p:sldId id="901" r:id="rId40"/>
    <p:sldId id="903" r:id="rId41"/>
    <p:sldId id="905" r:id="rId42"/>
    <p:sldId id="904" r:id="rId43"/>
    <p:sldId id="833" r:id="rId44"/>
    <p:sldId id="906" r:id="rId45"/>
    <p:sldId id="907" r:id="rId46"/>
    <p:sldId id="908" r:id="rId47"/>
    <p:sldId id="909" r:id="rId48"/>
    <p:sldId id="910" r:id="rId49"/>
    <p:sldId id="911" r:id="rId50"/>
    <p:sldId id="912" r:id="rId51"/>
    <p:sldId id="913" r:id="rId52"/>
    <p:sldId id="914" r:id="rId53"/>
    <p:sldId id="915" r:id="rId54"/>
    <p:sldId id="835" r:id="rId55"/>
    <p:sldId id="746" r:id="rId56"/>
    <p:sldId id="916" r:id="rId57"/>
    <p:sldId id="917" r:id="rId58"/>
    <p:sldId id="750" r:id="rId59"/>
    <p:sldId id="918" r:id="rId60"/>
    <p:sldId id="920" r:id="rId61"/>
    <p:sldId id="922" r:id="rId62"/>
    <p:sldId id="921" r:id="rId63"/>
    <p:sldId id="924" r:id="rId64"/>
    <p:sldId id="923" r:id="rId65"/>
    <p:sldId id="925" r:id="rId66"/>
    <p:sldId id="926" r:id="rId67"/>
    <p:sldId id="927" r:id="rId68"/>
    <p:sldId id="928" r:id="rId69"/>
    <p:sldId id="929" r:id="rId70"/>
    <p:sldId id="930" r:id="rId71"/>
    <p:sldId id="931" r:id="rId72"/>
    <p:sldId id="935" r:id="rId73"/>
    <p:sldId id="936" r:id="rId74"/>
    <p:sldId id="934" r:id="rId75"/>
    <p:sldId id="937" r:id="rId76"/>
    <p:sldId id="938" r:id="rId77"/>
    <p:sldId id="939" r:id="rId78"/>
    <p:sldId id="940" r:id="rId79"/>
    <p:sldId id="941" r:id="rId80"/>
    <p:sldId id="942" r:id="rId81"/>
    <p:sldId id="944" r:id="rId82"/>
    <p:sldId id="945" r:id="rId83"/>
    <p:sldId id="947" r:id="rId84"/>
    <p:sldId id="948" r:id="rId85"/>
    <p:sldId id="949" r:id="rId86"/>
    <p:sldId id="744" r:id="rId8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FFFF99"/>
    <a:srgbClr val="00FFFF"/>
    <a:srgbClr val="00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3" autoAdjust="0"/>
    <p:restoredTop sz="94576" autoAdjust="0"/>
  </p:normalViewPr>
  <p:slideViewPr>
    <p:cSldViewPr>
      <p:cViewPr varScale="1">
        <p:scale>
          <a:sx n="87" d="100"/>
          <a:sy n="87" d="100"/>
        </p:scale>
        <p:origin x="-720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EEDEC-86AF-4516-8CCB-38E75C9A15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B8DDE-BAF0-4469-AE5A-F0DA8BDF1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32074-6469-43F7-BE7B-B181C1D9BE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D0A09-C362-4634-84ED-9FA9F9E8E8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8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D848A-DA34-4E04-9F2D-6B8D987C22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49B2F-927E-495C-912D-B0B65F7EAA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4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E4A80-E9FA-4AF2-87F9-D87989F94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1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93B3C2-64C5-42B0-9EA5-F861921A9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D6796-0A34-4D31-8E14-2E3C65ECB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6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3D9E4-A3E2-4218-B646-EC5B53211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8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7D774-FB9D-411D-B63E-161CCB0DF8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1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B5B1AC73-D1D7-41CC-9366-AB1E0AC313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6"/>
          <p:cNvSpPr>
            <a:spLocks noChangeArrowheads="1" noChangeShapeType="1" noTextEdit="1"/>
          </p:cNvSpPr>
          <p:nvPr/>
        </p:nvSpPr>
        <p:spPr bwMode="auto">
          <a:xfrm>
            <a:off x="685800" y="1654175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</a:t>
            </a:r>
            <a:r>
              <a:rPr lang="en-US" sz="3600" kern="1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13 </a:t>
            </a:r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Slides</a:t>
            </a:r>
          </a:p>
        </p:txBody>
      </p:sp>
      <p:sp>
        <p:nvSpPr>
          <p:cNvPr id="2051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APCS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  <p:sp>
        <p:nvSpPr>
          <p:cNvPr id="2052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2053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WordArt 18"/>
          <p:cNvSpPr>
            <a:spLocks noChangeArrowheads="1" noChangeShapeType="1" noTextEdit="1"/>
          </p:cNvSpPr>
          <p:nvPr/>
        </p:nvSpPr>
        <p:spPr bwMode="auto">
          <a:xfrm>
            <a:off x="371475" y="3962400"/>
            <a:ext cx="8391525" cy="7239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Interfaces and Abstract Classes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2133600"/>
            <a:ext cx="8382000" cy="2438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</a:t>
            </a: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9906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4800" smtClean="0">
                <a:solidFill>
                  <a:schemeClr val="tx1"/>
                </a:solidFill>
                <a:latin typeface="Arial Black" pitchFamily="34" charset="0"/>
              </a:rPr>
              <a:t>Java Collection Hierarchy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429000" y="1543050"/>
            <a:ext cx="2286000" cy="112395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Collection</a:t>
            </a:r>
          </a:p>
          <a:p>
            <a:pPr algn="ctr" eaLnBrk="1" hangingPunct="1"/>
            <a:r>
              <a:rPr lang="en-US" sz="3200" dirty="0" smtClean="0"/>
              <a:t>interface</a:t>
            </a:r>
            <a:endParaRPr lang="en-US" sz="3200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914400" y="3448050"/>
            <a:ext cx="2743200" cy="11239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List</a:t>
            </a:r>
          </a:p>
          <a:p>
            <a:pPr algn="ctr" eaLnBrk="1" hangingPunct="1"/>
            <a:r>
              <a:rPr lang="en-US" sz="3200" dirty="0" smtClean="0"/>
              <a:t>subinterface</a:t>
            </a:r>
            <a:endParaRPr lang="en-US" sz="3200" dirty="0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486400" y="3448050"/>
            <a:ext cx="2743200" cy="11239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Set</a:t>
            </a:r>
          </a:p>
          <a:p>
            <a:pPr algn="ctr" eaLnBrk="1" hangingPunct="1"/>
            <a:r>
              <a:rPr lang="en-US" sz="3200" dirty="0"/>
              <a:t>subinterface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1750" y="5334000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ArrayList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286000" y="5334000"/>
            <a:ext cx="228600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LinkedList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756150" y="5335588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HashSet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7010400" y="5335588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TreeSet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 flipH="1">
            <a:off x="3048000" y="2667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5486400" y="2667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1219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5791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7315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2743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Collections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62000" y="1676400"/>
            <a:ext cx="7620000" cy="5847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3200" dirty="0"/>
              <a:t>A </a:t>
            </a:r>
            <a:r>
              <a:rPr lang="en-US" sz="3200" b="0" dirty="0" smtClean="0">
                <a:latin typeface="Arial Black" pitchFamily="34" charset="0"/>
              </a:rPr>
              <a:t>Collection</a:t>
            </a:r>
            <a:r>
              <a:rPr lang="en-US" sz="3200" dirty="0" smtClean="0"/>
              <a:t> </a:t>
            </a:r>
            <a:r>
              <a:rPr lang="en-US" sz="3200" dirty="0"/>
              <a:t>is a group of objects.</a:t>
            </a:r>
          </a:p>
        </p:txBody>
      </p:sp>
      <p:pic>
        <p:nvPicPr>
          <p:cNvPr id="19460" name="Picture 4" descr="j02804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962400"/>
            <a:ext cx="25400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 descr="MCj0240341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743200"/>
            <a:ext cx="182245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 descr="MCj0353379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800600"/>
            <a:ext cx="18145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 descr="MCj0233739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8400"/>
            <a:ext cx="2757488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8" descr="MCj02386870000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029200"/>
            <a:ext cx="177165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4478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Lists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62000" y="1447800"/>
            <a:ext cx="7620000" cy="193899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/>
              <a:t>A </a:t>
            </a:r>
            <a:r>
              <a:rPr lang="en-US" sz="3000" b="0" dirty="0" smtClean="0">
                <a:latin typeface="Arial Black" pitchFamily="34" charset="0"/>
              </a:rPr>
              <a:t>List</a:t>
            </a:r>
            <a:r>
              <a:rPr lang="en-US" sz="3000" dirty="0" smtClean="0"/>
              <a:t> </a:t>
            </a:r>
            <a:r>
              <a:rPr lang="en-US" sz="3000" dirty="0"/>
              <a:t>is </a:t>
            </a:r>
            <a:r>
              <a:rPr lang="en-US" sz="3000" dirty="0" smtClean="0"/>
              <a:t>a linear </a:t>
            </a:r>
            <a:r>
              <a:rPr lang="en-US" sz="3000" b="0" dirty="0">
                <a:latin typeface="Arial Black" pitchFamily="34" charset="0"/>
              </a:rPr>
              <a:t>C</a:t>
            </a:r>
            <a:r>
              <a:rPr lang="en-US" sz="3000" b="0" dirty="0" smtClean="0">
                <a:latin typeface="Arial Black" pitchFamily="34" charset="0"/>
              </a:rPr>
              <a:t>ollection</a:t>
            </a:r>
            <a:r>
              <a:rPr lang="en-US" sz="3000" dirty="0" smtClean="0"/>
              <a:t> </a:t>
            </a:r>
            <a:r>
              <a:rPr lang="en-US" sz="3000" dirty="0"/>
              <a:t>that allows access to any element in the list</a:t>
            </a:r>
            <a:r>
              <a:rPr lang="en-US" sz="3000" dirty="0" smtClean="0"/>
              <a:t>.</a:t>
            </a:r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 smtClean="0"/>
              <a:t>A </a:t>
            </a:r>
            <a:r>
              <a:rPr lang="en-US" sz="3000" b="0" dirty="0" smtClean="0">
                <a:latin typeface="Arial Black" pitchFamily="34" charset="0"/>
              </a:rPr>
              <a:t>List</a:t>
            </a:r>
            <a:r>
              <a:rPr lang="en-US" sz="3000" dirty="0" smtClean="0"/>
              <a:t> may have duplicate elements.</a:t>
            </a:r>
            <a:endParaRPr lang="en-US" sz="3000" dirty="0"/>
          </a:p>
        </p:txBody>
      </p:sp>
      <p:pic>
        <p:nvPicPr>
          <p:cNvPr id="21508" name="Picture 4" descr="MCj0137531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463" y="3581400"/>
            <a:ext cx="2649537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Sets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7010400" cy="1077218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/>
              <a:t>A </a:t>
            </a:r>
            <a:r>
              <a:rPr lang="en-US" sz="3200" b="0" dirty="0" smtClean="0">
                <a:latin typeface="Arial Black" pitchFamily="34" charset="0"/>
              </a:rPr>
              <a:t>Set</a:t>
            </a:r>
            <a:r>
              <a:rPr lang="en-US" sz="3200" dirty="0" smtClean="0"/>
              <a:t> </a:t>
            </a:r>
            <a:r>
              <a:rPr lang="en-US" sz="3200" dirty="0"/>
              <a:t>is an unordered collection </a:t>
            </a:r>
            <a:r>
              <a:rPr lang="en-US" sz="3200" u="sng" dirty="0"/>
              <a:t>without any</a:t>
            </a:r>
            <a:r>
              <a:rPr lang="en-US" sz="3200" dirty="0"/>
              <a:t> duplicate elements.</a:t>
            </a:r>
          </a:p>
        </p:txBody>
      </p:sp>
      <p:pic>
        <p:nvPicPr>
          <p:cNvPr id="24580" name="Picture 4" descr="j023332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3087688"/>
            <a:ext cx="2419350" cy="239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 descr="j023794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200400"/>
            <a:ext cx="1508125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6" descr="j029609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3200400"/>
            <a:ext cx="2192337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2133600"/>
            <a:ext cx="8382000" cy="2438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Interfaces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2403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25908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Example of a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Printer </a:t>
            </a:r>
            <a:r>
              <a:rPr lang="en-US" sz="4800" i="1" dirty="0" smtClean="0">
                <a:latin typeface="Arial Black" pitchFamily="34" charset="0"/>
              </a:rPr>
              <a:t>Interface</a:t>
            </a:r>
            <a:r>
              <a:rPr lang="en-US" sz="4800" dirty="0" smtClean="0">
                <a:latin typeface="Arial Black" pitchFamily="34" charset="0"/>
              </a:rPr>
              <a:t/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with a USB Cable</a:t>
            </a:r>
          </a:p>
        </p:txBody>
      </p:sp>
      <p:pic>
        <p:nvPicPr>
          <p:cNvPr id="7" name="Picture 6" descr="C:\Users\leonschram\Desktop\APCS-2014 Working\TeachAPCS(A) WORKING\APCS-TeachingUnits-WORKING\Unit-13-Interfaces &amp; Abstract Classes-WORKINMG\Programs13\Programs13a-Interfaces\USB-Interfac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90800"/>
            <a:ext cx="3836035" cy="4048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740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4478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Abstraction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762000" y="1447800"/>
            <a:ext cx="7620000" cy="156966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3200" dirty="0"/>
              <a:t>The concept of communicating about ideas without concern about the implementation of the ideas.</a:t>
            </a:r>
          </a:p>
        </p:txBody>
      </p:sp>
    </p:spTree>
    <p:extLst>
      <p:ext uri="{BB962C8B-B14F-4D97-AF65-F5344CB8AC3E}">
        <p14:creationId xmlns:p14="http://schemas.microsoft.com/office/powerpoint/2010/main" val="242871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452431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Interface01A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program introduces the abstract &lt;Bank&gt; interface.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All interface methods are abstract and have no method bodies.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public double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95600" y="5013960"/>
            <a:ext cx="6248400" cy="146304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295400"/>
            <a:ext cx="4492882" cy="146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34" y="4953000"/>
            <a:ext cx="2874666" cy="14478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program compiles but has nothing to execute.</a:t>
            </a:r>
          </a:p>
        </p:txBody>
      </p:sp>
    </p:spTree>
    <p:extLst>
      <p:ext uri="{BB962C8B-B14F-4D97-AF65-F5344CB8AC3E}">
        <p14:creationId xmlns:p14="http://schemas.microsoft.com/office/powerpoint/2010/main" val="299115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483209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Interface01B</a:t>
            </a:r>
          </a:p>
          <a:p>
            <a:r>
              <a:rPr lang="en-US" sz="2700" dirty="0">
                <a:latin typeface="Arial Black" panose="020B0A04020102020204" pitchFamily="34" charset="0"/>
                <a:cs typeface="Times New Roman" panose="02020603050405020304" pitchFamily="18" charset="0"/>
              </a:rPr>
              <a:t>// The reserved word abstract is optional.</a:t>
            </a:r>
          </a:p>
          <a:p>
            <a:r>
              <a:rPr lang="en-US" sz="2700" dirty="0">
                <a:latin typeface="Arial Black" panose="020B0A04020102020204" pitchFamily="34" charset="0"/>
                <a:cs typeface="Times New Roman" panose="02020603050405020304" pitchFamily="18" charset="0"/>
              </a:rPr>
              <a:t>// In an interface abstract is implied if not used.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abstract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602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5240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Java Interfaces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85800" y="1524000"/>
            <a:ext cx="7772400" cy="38068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/>
              <a:t>A Java </a:t>
            </a:r>
            <a:r>
              <a:rPr lang="en-US" sz="3000" b="0" dirty="0">
                <a:latin typeface="Arial Black" pitchFamily="34" charset="0"/>
              </a:rPr>
              <a:t>Interface</a:t>
            </a:r>
            <a:r>
              <a:rPr lang="en-US" sz="3000" dirty="0"/>
              <a:t> provides a group of method signatures that will be available for any client of a class that implements the interface.</a:t>
            </a:r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/>
              <a:t>Implementation details of the </a:t>
            </a:r>
            <a:r>
              <a:rPr lang="en-US" sz="3000" b="0" dirty="0" smtClean="0">
                <a:latin typeface="Arial Black" pitchFamily="34" charset="0"/>
              </a:rPr>
              <a:t>Interface</a:t>
            </a:r>
            <a:r>
              <a:rPr lang="en-US" sz="3000" dirty="0" smtClean="0"/>
              <a:t> methods </a:t>
            </a:r>
            <a:r>
              <a:rPr lang="en-US" sz="3000" dirty="0"/>
              <a:t>are neither required </a:t>
            </a:r>
            <a:r>
              <a:rPr lang="en-US" sz="3000" dirty="0" smtClean="0"/>
              <a:t>nor desired </a:t>
            </a:r>
            <a:r>
              <a:rPr lang="en-US" sz="3000" dirty="0"/>
              <a:t>at the </a:t>
            </a:r>
            <a:r>
              <a:rPr lang="en-US" sz="3000" b="0" dirty="0" smtClean="0">
                <a:latin typeface="Arial Black" pitchFamily="34" charset="0"/>
              </a:rPr>
              <a:t>Interface</a:t>
            </a:r>
            <a:r>
              <a:rPr lang="en-US" sz="3000" dirty="0" smtClean="0"/>
              <a:t> level</a:t>
            </a:r>
            <a:r>
              <a:rPr lang="en-US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482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92608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Implementing</a:t>
            </a:r>
          </a:p>
        </p:txBody>
      </p:sp>
      <p:sp>
        <p:nvSpPr>
          <p:cNvPr id="25603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13.3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5604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058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Interfaces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class implements the &lt;Bank&gt; interface.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24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CreditUnion</a:t>
            </a:r>
            <a:r>
              <a:rPr lang="en-US" sz="24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implements Bank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balance;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{   balance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 balance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balance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 amount;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75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The &lt;Runner02&gt; class tests the implementation of the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class and the &lt;Bank&gt; interface.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Runner02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String[ ] args)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tom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(5000.0);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balance: 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tom.makeDeposit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(1500.0);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balance: 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tom.makeWithdrawal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(2500.0);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balance: "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5320605"/>
            <a:ext cx="50292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balance: 5000.0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balance: 6500.0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balance: 4000.0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0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524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Using Implements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533400" y="1524000"/>
            <a:ext cx="8077200" cy="440120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/>
              <a:t>First there is an abstract interface, like </a:t>
            </a:r>
            <a:r>
              <a:rPr lang="en-US" sz="2800" b="0" dirty="0">
                <a:latin typeface="Arial Black" panose="020B0A04020102020204" pitchFamily="34" charset="0"/>
              </a:rPr>
              <a:t>Bank</a:t>
            </a:r>
            <a:r>
              <a:rPr lang="en-US" sz="2800" dirty="0"/>
              <a:t>.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Then comes a concrete class, which </a:t>
            </a:r>
            <a:r>
              <a:rPr lang="en-US" sz="2800" b="0" dirty="0">
                <a:latin typeface="Arial Black" panose="020B0A04020102020204" pitchFamily="34" charset="0"/>
              </a:rPr>
              <a:t>implements</a:t>
            </a:r>
            <a:r>
              <a:rPr lang="en-US" sz="2800" dirty="0"/>
              <a:t> the interface.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The implementing class uses a different identifier name than the interface </a:t>
            </a:r>
            <a:r>
              <a:rPr lang="en-US" sz="2800" b="0" dirty="0">
                <a:latin typeface="Arial Black" panose="020B0A04020102020204" pitchFamily="34" charset="0"/>
              </a:rPr>
              <a:t>Bank </a:t>
            </a:r>
            <a:r>
              <a:rPr lang="en-US" sz="2800" dirty="0" smtClean="0"/>
              <a:t>name</a:t>
            </a:r>
            <a:r>
              <a:rPr lang="en-US" sz="2800" dirty="0"/>
              <a:t>.  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This </a:t>
            </a:r>
            <a:r>
              <a:rPr lang="en-US" sz="2800" dirty="0"/>
              <a:t>is required, otherwise you get a </a:t>
            </a:r>
            <a:r>
              <a:rPr lang="en-US" sz="2800" i="1" dirty="0"/>
              <a:t>duplicate identifier </a:t>
            </a:r>
            <a:r>
              <a:rPr lang="en-US" sz="2800" dirty="0"/>
              <a:t>error.  </a:t>
            </a:r>
          </a:p>
        </p:txBody>
      </p:sp>
    </p:spTree>
    <p:extLst>
      <p:ext uri="{BB962C8B-B14F-4D97-AF65-F5344CB8AC3E}">
        <p14:creationId xmlns:p14="http://schemas.microsoft.com/office/powerpoint/2010/main" val="395062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526297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Interface03</a:t>
            </a:r>
          </a:p>
          <a:p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&lt;</a:t>
            </a:r>
            <a:r>
              <a:rPr lang="en-US" sz="2400" spc="-4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class partially implements the &lt;Bank&gt; interface</a:t>
            </a:r>
            <a:r>
              <a:rPr lang="en-US" sz="2400" spc="-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Bank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balance;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{   balance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 balance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2"/>
          <a:srcRect l="1601" t="9362" r="2006" b="25973"/>
          <a:stretch/>
        </p:blipFill>
        <p:spPr>
          <a:xfrm>
            <a:off x="0" y="5293361"/>
            <a:ext cx="9144000" cy="15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7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447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Implementation Rule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143000" y="1665288"/>
            <a:ext cx="6781800" cy="16113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/>
              <a:t>A class, which implements an interface, must implement </a:t>
            </a:r>
            <a:r>
              <a:rPr lang="en-US" sz="3200" u="sng"/>
              <a:t>every</a:t>
            </a:r>
            <a:r>
              <a:rPr lang="en-US" sz="3200"/>
              <a:t> method declared in the interface.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class defines the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getAccount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method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was not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an abstract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the &lt;Bank&gt;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interface. 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class may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more 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never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methods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are declared in the interface.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Bank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account;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balance;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a, double c)				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account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a;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balance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c;	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sz="24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  </a:t>
            </a:r>
            <a:r>
              <a:rPr lang="en-US" sz="24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public </a:t>
            </a:r>
            <a:r>
              <a:rPr lang="en-US" sz="24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int </a:t>
            </a:r>
            <a:r>
              <a:rPr lang="en-US" sz="24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getAccount</a:t>
            </a:r>
            <a:r>
              <a:rPr lang="en-US" sz="24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()   {   return </a:t>
            </a:r>
            <a:r>
              <a:rPr lang="en-US" sz="24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account</a:t>
            </a:r>
            <a:r>
              <a:rPr lang="en-US" sz="24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;   }</a:t>
            </a:r>
            <a:endParaRPr lang="en-US" sz="2400" b="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{   return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{   balance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{   balance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 amount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}</a:t>
            </a:r>
          </a:p>
          <a:p>
            <a:pPr>
              <a:lnSpc>
                <a:spcPct val="9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43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470898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program tests the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CreditUnion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class defining more methods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than are declared in the &lt;Bank&gt; interface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Runner04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String[ ] args)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		</a:t>
            </a:r>
            <a:r>
              <a:rPr lang="en-US" sz="20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CreditUnion</a:t>
            </a: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tom = new </a:t>
            </a:r>
            <a:r>
              <a:rPr lang="en-US" sz="20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CreditUnion</a:t>
            </a: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(736829056,5000.0);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</a:t>
            </a:r>
            <a:r>
              <a:rPr lang="en-US" sz="2000" b="0" spc="-10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2000" b="0" spc="-10" dirty="0">
                <a:latin typeface="Arial Black" panose="020B0A04020102020204" pitchFamily="34" charset="0"/>
                <a:cs typeface="Times New Roman" panose="02020603050405020304" pitchFamily="18" charset="0"/>
              </a:rPr>
              <a:t>("Tom's account: " + </a:t>
            </a:r>
            <a:r>
              <a:rPr lang="en-US" sz="2000" b="0" spc="-1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tom.getAccount</a:t>
            </a:r>
            <a:r>
              <a:rPr lang="en-US" sz="2000" b="0" spc="-1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());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balance: " +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tom.getBalance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2100" y="5297050"/>
            <a:ext cx="60198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account: 736829056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balance: 5000.0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8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WordArt 2"/>
          <p:cNvSpPr>
            <a:spLocks noChangeArrowheads="1" noChangeShapeType="1" noTextEdit="1"/>
          </p:cNvSpPr>
          <p:nvPr/>
        </p:nvSpPr>
        <p:spPr bwMode="auto">
          <a:xfrm>
            <a:off x="457200" y="1371600"/>
            <a:ext cx="8305800" cy="1828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700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Implementing</a:t>
            </a:r>
          </a:p>
        </p:txBody>
      </p:sp>
      <p:sp>
        <p:nvSpPr>
          <p:cNvPr id="32771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13.4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2772" name="WordArt 2"/>
          <p:cNvSpPr>
            <a:spLocks noChangeArrowheads="1" noChangeShapeType="1" noTextEdit="1"/>
          </p:cNvSpPr>
          <p:nvPr/>
        </p:nvSpPr>
        <p:spPr bwMode="auto">
          <a:xfrm>
            <a:off x="457200" y="4876800"/>
            <a:ext cx="8305800" cy="164592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5505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Interfaces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2773" name="WordArt 2"/>
          <p:cNvSpPr>
            <a:spLocks noChangeArrowheads="1" noChangeShapeType="1" noTextEdit="1"/>
          </p:cNvSpPr>
          <p:nvPr/>
        </p:nvSpPr>
        <p:spPr bwMode="auto">
          <a:xfrm>
            <a:off x="457200" y="3124200"/>
            <a:ext cx="8305800" cy="1828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7759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  Multiple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3429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abstract interface Checking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double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getChecking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checkingDeposit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checkingWithdrawal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3428999"/>
            <a:ext cx="9144000" cy="3429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abstract interface Checking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double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getChecking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checkingDeposit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checkingWithdrawal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319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769441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program shows how one class, &lt;Bank&gt; can implement two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interfaces &lt;Checking&gt; and &lt;Savings&gt;.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public </a:t>
            </a: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class Bank implements </a:t>
            </a:r>
            <a:r>
              <a:rPr lang="en-US" sz="20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Checking,Savings</a:t>
            </a:r>
            <a:endParaRPr lang="en-US" sz="2000" b="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checking;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savings;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Bank(double c, double s)		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checking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c;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savings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s;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getChecking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					{   return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checkingDeposit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		{   checking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	}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checkingWithdrawal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	{   checking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getSavings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					{   return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savingsDeposit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		{   savings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80057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savingsWithdrawal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amount)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{   savings -= amount;   	}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6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406265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Interface05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&lt;Runner05&gt; tests the &lt;Bank&gt; class implementing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the &lt;Checking&gt; interface and the &lt;Savings&gt; interface.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Runner05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 (String args[])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Bank tom = new Bank(5000.0,7500.0);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("Tom's checking balance: " + </a:t>
            </a:r>
            <a:r>
              <a:rPr lang="en-US" sz="2000" dirty="0" err="1">
                <a:latin typeface="Times New Roman" pitchFamily="18" charset="0"/>
              </a:rPr>
              <a:t>tom.getChecking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("Tom's savings balance: " + </a:t>
            </a:r>
            <a:r>
              <a:rPr lang="en-US" sz="2000" dirty="0" err="1">
                <a:latin typeface="Times New Roman" pitchFamily="18" charset="0"/>
              </a:rPr>
              <a:t>tom.getSavings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950" y="4572000"/>
            <a:ext cx="68961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checking balance: 5000.0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savings balance: 7500.0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Using Fields in</a:t>
            </a:r>
          </a:p>
        </p:txBody>
      </p:sp>
      <p:sp>
        <p:nvSpPr>
          <p:cNvPr id="35843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13.5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5844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489364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Interface06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&lt;Bank1&gt; interface declares a data field.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is only possible if the field has an assigned value.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abstract interface Bank1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double rate;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double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abstract void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3" name="Picture 2"/>
          <p:cNvPicPr/>
          <p:nvPr/>
        </p:nvPicPr>
        <p:blipFill rotWithShape="1">
          <a:blip r:embed="rId2"/>
          <a:srcRect l="2525" t="11705" r="24343" b="19532"/>
          <a:stretch/>
        </p:blipFill>
        <p:spPr>
          <a:xfrm>
            <a:off x="2191840" y="4495800"/>
            <a:ext cx="695216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6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483209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Interface06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&lt;Bank2&gt; interface declares a data field properly.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interface Bank2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double rate = 3.25;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152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92497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&lt;Bank3&gt; class implements the &lt;Bank2&gt;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and also provides a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method.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public class Bank3 implements Bank2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account;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private double balance;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Bank3(int a, double c)				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account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a;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balance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c;	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	public </a:t>
            </a: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double </a:t>
            </a:r>
            <a:r>
              <a:rPr lang="en-US" sz="2000" b="0" dirty="0" err="1">
                <a:latin typeface="Arial Black" panose="020B0A04020102020204" pitchFamily="34" charset="0"/>
                <a:cs typeface="Times New Roman" panose="02020603050405020304" pitchFamily="18" charset="0"/>
              </a:rPr>
              <a:t>getRate</a:t>
            </a:r>
            <a:r>
              <a:rPr lang="en-US" sz="20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()   			{  return </a:t>
            </a:r>
            <a:r>
              <a:rPr lang="en-US" sz="2000" b="0" dirty="0">
                <a:latin typeface="Arial Black" panose="020B0A04020102020204" pitchFamily="34" charset="0"/>
                <a:cs typeface="Times New Roman" panose="02020603050405020304" pitchFamily="18" charset="0"/>
              </a:rPr>
              <a:t>rate</a:t>
            </a:r>
            <a:r>
              <a:rPr lang="en-US" sz="2000" b="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;   	}</a:t>
            </a:r>
            <a:endParaRPr lang="en-US" sz="2000" b="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getAccount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					{   return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getBalance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				{   return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makeDeposit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	{   balance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548563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makeWithdrawal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(double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	{   balance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-= amount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	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89525" algn="l"/>
                <a:tab pos="5486400" algn="l"/>
                <a:tab pos="7661275" algn="l"/>
              </a:tabLst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08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447800"/>
          </a:xfrm>
        </p:spPr>
        <p:txBody>
          <a:bodyPr/>
          <a:lstStyle/>
          <a:p>
            <a:pPr eaLnBrk="1" hangingPunct="1"/>
            <a:r>
              <a:rPr lang="en-US" sz="4600" smtClean="0">
                <a:latin typeface="Arial Black" pitchFamily="34" charset="0"/>
              </a:rPr>
              <a:t>Using Fields in an Interface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28600" y="1662113"/>
            <a:ext cx="8686800" cy="313848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Fields may be used in an interface declaration.</a:t>
            </a:r>
          </a:p>
          <a:p>
            <a:pPr eaLnBrk="1" hangingPunct="1"/>
            <a:endParaRPr lang="en-US" sz="2800"/>
          </a:p>
          <a:p>
            <a:pPr eaLnBrk="1" hangingPunct="1"/>
            <a:r>
              <a:rPr lang="en-US" sz="2800"/>
              <a:t>All fields must have an initialized value.</a:t>
            </a:r>
          </a:p>
          <a:p>
            <a:pPr eaLnBrk="1" hangingPunct="1"/>
            <a:endParaRPr lang="en-US" sz="2800"/>
          </a:p>
          <a:p>
            <a:pPr eaLnBrk="1" hangingPunct="1"/>
            <a:r>
              <a:rPr lang="en-US" sz="2800"/>
              <a:t>Field values are </a:t>
            </a:r>
            <a:r>
              <a:rPr lang="en-US" sz="2800" u="sng"/>
              <a:t>constant</a:t>
            </a:r>
            <a:r>
              <a:rPr lang="en-US" sz="2800"/>
              <a:t> and cannot be changed.</a:t>
            </a:r>
          </a:p>
          <a:p>
            <a:pPr eaLnBrk="1" hangingPunct="1"/>
            <a:endParaRPr lang="en-US" sz="2800"/>
          </a:p>
          <a:p>
            <a:pPr eaLnBrk="1" hangingPunct="1"/>
            <a:r>
              <a:rPr lang="en-US" sz="2800"/>
              <a:t>The </a:t>
            </a:r>
            <a:r>
              <a:rPr lang="en-US" sz="2800" b="0">
                <a:latin typeface="Arial Black" pitchFamily="34" charset="0"/>
              </a:rPr>
              <a:t>final</a:t>
            </a:r>
            <a:r>
              <a:rPr lang="en-US" sz="2800"/>
              <a:t> keyword is </a:t>
            </a:r>
            <a:r>
              <a:rPr lang="en-US" sz="2800" u="sng"/>
              <a:t>optional</a:t>
            </a:r>
            <a:r>
              <a:rPr lang="en-US" sz="2800"/>
              <a:t>.  Final is implied. </a:t>
            </a:r>
          </a:p>
        </p:txBody>
      </p:sp>
    </p:spTree>
    <p:extLst>
      <p:ext uri="{BB962C8B-B14F-4D97-AF65-F5344CB8AC3E}">
        <p14:creationId xmlns:p14="http://schemas.microsoft.com/office/powerpoint/2010/main" val="354328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55092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Interface06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program tests the &lt;Bank1&gt; interface with a non-abstract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data field and a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method in the &lt;Bank2&gt; class.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Runner06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 (String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]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args)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Bank3 tom = new Bank3(736829056,5000.0);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account: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tom.getAccount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balance: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tom.getBalance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rate:   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tom.getRate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("Tom's rate:    " +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tom.rate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9275" y="4953000"/>
            <a:ext cx="550545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account: 736829056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balance: 5000.0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rate:    3.25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Tom's rate:    3.25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9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057400"/>
          </a:xfrm>
        </p:spPr>
        <p:txBody>
          <a:bodyPr/>
          <a:lstStyle/>
          <a:p>
            <a:pPr eaLnBrk="1" hangingPunct="1"/>
            <a:r>
              <a:rPr lang="en-US" sz="4600" dirty="0" smtClean="0">
                <a:latin typeface="Arial Black" pitchFamily="34" charset="0"/>
              </a:rPr>
              <a:t>Interface, Abstract Class</a:t>
            </a:r>
            <a:br>
              <a:rPr lang="en-US" sz="4600" dirty="0" smtClean="0">
                <a:latin typeface="Arial Black" pitchFamily="34" charset="0"/>
              </a:rPr>
            </a:br>
            <a:r>
              <a:rPr lang="en-US" sz="4600" dirty="0" smtClean="0">
                <a:latin typeface="Arial Black" pitchFamily="34" charset="0"/>
              </a:rPr>
              <a:t>and Concrete Class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533400" y="2214563"/>
            <a:ext cx="8077200" cy="3662541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600" dirty="0"/>
              <a:t>All methods of an </a:t>
            </a:r>
            <a:r>
              <a:rPr lang="en-US" sz="2600" b="0" dirty="0">
                <a:latin typeface="Arial Black" panose="020B0A04020102020204" pitchFamily="34" charset="0"/>
              </a:rPr>
              <a:t>interface</a:t>
            </a:r>
            <a:r>
              <a:rPr lang="en-US" sz="2600" dirty="0"/>
              <a:t> must be </a:t>
            </a:r>
            <a:r>
              <a:rPr lang="en-US" sz="2600" b="0" dirty="0">
                <a:latin typeface="Arial Black" panose="020B0A04020102020204" pitchFamily="34" charset="0"/>
              </a:rPr>
              <a:t>abstract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All methods in a concrete class must be </a:t>
            </a:r>
            <a:r>
              <a:rPr lang="en-US" sz="2600" i="1" dirty="0"/>
              <a:t>concrete</a:t>
            </a:r>
            <a:r>
              <a:rPr lang="en-US" sz="2600" dirty="0"/>
              <a:t> and all the methods of the </a:t>
            </a:r>
            <a:r>
              <a:rPr lang="en-US" sz="2600" b="0" dirty="0">
                <a:latin typeface="Arial Black" panose="020B0A04020102020204" pitchFamily="34" charset="0"/>
              </a:rPr>
              <a:t>interface</a:t>
            </a:r>
            <a:r>
              <a:rPr lang="en-US" sz="2600" dirty="0"/>
              <a:t> </a:t>
            </a:r>
            <a:r>
              <a:rPr lang="en-US" sz="2600" dirty="0" smtClean="0"/>
              <a:t>must </a:t>
            </a:r>
            <a:r>
              <a:rPr lang="en-US" sz="2600" dirty="0"/>
              <a:t>be implemented.  </a:t>
            </a:r>
          </a:p>
          <a:p>
            <a:endParaRPr lang="en-US" sz="2600" dirty="0" smtClean="0"/>
          </a:p>
          <a:p>
            <a:r>
              <a:rPr lang="en-US" sz="2600" dirty="0"/>
              <a:t>Methods in an </a:t>
            </a:r>
            <a:r>
              <a:rPr lang="en-US" sz="2600" b="0" dirty="0">
                <a:latin typeface="Arial Black" panose="020B0A04020102020204" pitchFamily="34" charset="0"/>
              </a:rPr>
              <a:t>abstract </a:t>
            </a:r>
            <a:r>
              <a:rPr lang="en-US" sz="2600" dirty="0" smtClean="0"/>
              <a:t>class </a:t>
            </a:r>
            <a:r>
              <a:rPr lang="en-US" sz="2600" dirty="0"/>
              <a:t>may be </a:t>
            </a:r>
            <a:r>
              <a:rPr lang="en-US" sz="2600" b="0" dirty="0">
                <a:latin typeface="Arial Black" panose="020B0A04020102020204" pitchFamily="34" charset="0"/>
              </a:rPr>
              <a:t>abstract </a:t>
            </a:r>
            <a:r>
              <a:rPr lang="en-US" sz="2600" dirty="0" smtClean="0"/>
              <a:t>or </a:t>
            </a:r>
            <a:r>
              <a:rPr lang="en-US" sz="2600" i="1" dirty="0"/>
              <a:t>concrete</a:t>
            </a:r>
            <a:r>
              <a:rPr lang="en-US" sz="2600" dirty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Abstract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Classes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98078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dirty="0">
                <a:latin typeface="Times New Roman" pitchFamily="18" charset="0"/>
              </a:rPr>
              <a:t>// AbstractClass01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This is the &lt;</a:t>
            </a:r>
            <a:r>
              <a:rPr lang="en-US" sz="2200" dirty="0" err="1">
                <a:latin typeface="Times New Roman" pitchFamily="18" charset="0"/>
              </a:rPr>
              <a:t>HighSchool</a:t>
            </a:r>
            <a:r>
              <a:rPr lang="en-US" sz="2200" dirty="0">
                <a:latin typeface="Times New Roman" pitchFamily="18" charset="0"/>
              </a:rPr>
              <a:t>&gt; interface that will be used for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// the Chapter XIII "interface &amp; abstract class" Case Study .</a:t>
            </a:r>
          </a:p>
          <a:p>
            <a:pPr eaLnBrk="1" hangingPunct="1"/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public abstract interface </a:t>
            </a:r>
            <a:r>
              <a:rPr lang="en-US" sz="2200" dirty="0" err="1">
                <a:latin typeface="Times New Roman" pitchFamily="18" charset="0"/>
              </a:rPr>
              <a:t>HighSchool</a:t>
            </a:r>
            <a:endParaRPr lang="en-US" sz="2200" dirty="0">
              <a:latin typeface="Times New Roman" pitchFamily="18" charset="0"/>
            </a:endParaRP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abstract void information();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abstract void test();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abstract void emergency();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	public abstract void </a:t>
            </a:r>
            <a:r>
              <a:rPr lang="en-US" sz="2200" dirty="0" err="1">
                <a:latin typeface="Times New Roman" pitchFamily="18" charset="0"/>
              </a:rPr>
              <a:t>computeGPA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progress();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attendance();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</a:t>
            </a:r>
            <a:r>
              <a:rPr lang="en-US" sz="2200" dirty="0" err="1">
                <a:latin typeface="Times New Roman" pitchFamily="18" charset="0"/>
              </a:rPr>
              <a:t>dressCode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residence();  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register();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orientation();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</a:t>
            </a:r>
            <a:r>
              <a:rPr lang="en-US" sz="2200" dirty="0" err="1">
                <a:latin typeface="Times New Roman" pitchFamily="18" charset="0"/>
              </a:rPr>
              <a:t>fundRaising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</a:t>
            </a:r>
            <a:r>
              <a:rPr lang="en-US" sz="2200" dirty="0" err="1">
                <a:latin typeface="Times New Roman" pitchFamily="18" charset="0"/>
              </a:rPr>
              <a:t>socialEvents</a:t>
            </a:r>
            <a:r>
              <a:rPr lang="en-US" sz="22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</a:rPr>
              <a:t>abstract void parking();</a:t>
            </a:r>
          </a:p>
          <a:p>
            <a:pPr eaLnBrk="1" hangingPunct="1"/>
            <a:r>
              <a:rPr lang="en-US" sz="22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038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is the &lt;Grade09&gt; implementation of the &lt;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r>
              <a:rPr lang="en-US" sz="1600" dirty="0">
                <a:latin typeface="Times New Roman" pitchFamily="18" charset="0"/>
              </a:rPr>
              <a:t>&gt; interface. 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public class Grade09 implements 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information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information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smtClean="0">
                <a:latin typeface="Times New Roman" pitchFamily="18" charset="0"/>
              </a:rPr>
              <a:t>test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("Administer pre-enrollment STUDENT testing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emergency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("Gather STUDENT emergency forms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err="1">
                <a:latin typeface="Times New Roman" pitchFamily="18" charset="0"/>
              </a:rPr>
              <a:t>computeGPA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("Compute STUDENT GPA 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progress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("Mail STUDENT progress report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attendance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("Take STUDENT attendance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("Pass out STUDENT </a:t>
            </a:r>
            <a:r>
              <a:rPr lang="en-US" sz="1600" dirty="0" err="1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policies</a:t>
            </a:r>
            <a:r>
              <a:rPr lang="en-US" sz="1600" dirty="0" smtClean="0">
                <a:latin typeface="Times New Roman" pitchFamily="18" charset="0"/>
              </a:rPr>
              <a:t>");   } 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residence()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residence proof</a:t>
            </a:r>
            <a:r>
              <a:rPr lang="en-US" sz="16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register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("Register 9TH GRADER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orientation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9TH GRADE orientation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fundRaising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("Explain 9TH GRADE fund raising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</a:rPr>
              <a:t>socialEvents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9TH GRADE social events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parking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("9TH GRADE students have no parking lot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686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is the &lt;</a:t>
            </a:r>
            <a:r>
              <a:rPr lang="en-US" sz="1600" dirty="0" smtClean="0">
                <a:latin typeface="Times New Roman" pitchFamily="18" charset="0"/>
              </a:rPr>
              <a:t>Grade10&gt; </a:t>
            </a:r>
            <a:r>
              <a:rPr lang="en-US" sz="1600" dirty="0">
                <a:latin typeface="Times New Roman" pitchFamily="18" charset="0"/>
              </a:rPr>
              <a:t>implementation of the &lt;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r>
              <a:rPr lang="en-US" sz="1600" dirty="0">
                <a:latin typeface="Times New Roman" pitchFamily="18" charset="0"/>
              </a:rPr>
              <a:t>&gt; interface. 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Grade10 </a:t>
            </a:r>
            <a:r>
              <a:rPr lang="en-US" sz="1600" dirty="0">
                <a:latin typeface="Times New Roman" pitchFamily="18" charset="0"/>
              </a:rPr>
              <a:t>implements 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information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information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smtClean="0">
                <a:latin typeface="Times New Roman" pitchFamily="18" charset="0"/>
              </a:rPr>
              <a:t>test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("Administer pre-enrollment STUDENT testing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emergency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("Gather STUDENT emergency forms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err="1">
                <a:latin typeface="Times New Roman" pitchFamily="18" charset="0"/>
              </a:rPr>
              <a:t>computeGPA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("Compute STUDENT GPA 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progress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("Mail STUDENT progress report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attendance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("Take STUDENT attendance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("Pass out STUDENT </a:t>
            </a:r>
            <a:r>
              <a:rPr lang="en-US" sz="1600" dirty="0" err="1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policies</a:t>
            </a:r>
            <a:r>
              <a:rPr lang="en-US" sz="1600" dirty="0" smtClean="0">
                <a:latin typeface="Times New Roman" pitchFamily="18" charset="0"/>
              </a:rPr>
              <a:t>");   } 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residence()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residence proof</a:t>
            </a:r>
            <a:r>
              <a:rPr lang="en-US" sz="16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register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("Register </a:t>
            </a:r>
            <a:r>
              <a:rPr lang="en-US" sz="1600" dirty="0" smtClean="0">
                <a:latin typeface="Times New Roman" pitchFamily="18" charset="0"/>
              </a:rPr>
              <a:t>10TH GRADER");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orientation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10TH GRADE </a:t>
            </a:r>
            <a:r>
              <a:rPr lang="en-US" sz="1600" dirty="0">
                <a:latin typeface="Times New Roman" pitchFamily="18" charset="0"/>
              </a:rPr>
              <a:t>orientation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fundRaising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("Explain </a:t>
            </a:r>
            <a:r>
              <a:rPr lang="en-US" sz="1600" dirty="0" smtClean="0">
                <a:latin typeface="Times New Roman" pitchFamily="18" charset="0"/>
              </a:rPr>
              <a:t>10TH GRADE </a:t>
            </a:r>
            <a:r>
              <a:rPr lang="en-US" sz="1600" dirty="0">
                <a:latin typeface="Times New Roman" pitchFamily="18" charset="0"/>
              </a:rPr>
              <a:t>fund raising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</a:rPr>
              <a:t>socialEvents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10TH GRADE </a:t>
            </a:r>
            <a:r>
              <a:rPr lang="en-US" sz="1600" dirty="0">
                <a:latin typeface="Times New Roman" pitchFamily="18" charset="0"/>
              </a:rPr>
              <a:t>social events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parking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</a:t>
            </a:r>
            <a:r>
              <a:rPr lang="en-US" sz="1600" dirty="0" smtClean="0">
                <a:latin typeface="Times New Roman" pitchFamily="18" charset="0"/>
              </a:rPr>
              <a:t>10TH GRADE </a:t>
            </a:r>
            <a:r>
              <a:rPr lang="en-US" sz="1600" dirty="0">
                <a:latin typeface="Times New Roman" pitchFamily="18" charset="0"/>
              </a:rPr>
              <a:t>students have no parking lot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665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is the &lt;</a:t>
            </a:r>
            <a:r>
              <a:rPr lang="en-US" sz="1600" dirty="0" smtClean="0">
                <a:latin typeface="Times New Roman" pitchFamily="18" charset="0"/>
              </a:rPr>
              <a:t>Grade11&gt; </a:t>
            </a:r>
            <a:r>
              <a:rPr lang="en-US" sz="1600" dirty="0">
                <a:latin typeface="Times New Roman" pitchFamily="18" charset="0"/>
              </a:rPr>
              <a:t>implementation of the &lt;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r>
              <a:rPr lang="en-US" sz="1600" dirty="0">
                <a:latin typeface="Times New Roman" pitchFamily="18" charset="0"/>
              </a:rPr>
              <a:t>&gt; interface. 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Grade11 </a:t>
            </a:r>
            <a:r>
              <a:rPr lang="en-US" sz="1600" dirty="0">
                <a:latin typeface="Times New Roman" pitchFamily="18" charset="0"/>
              </a:rPr>
              <a:t>implements 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information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information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smtClean="0">
                <a:latin typeface="Times New Roman" pitchFamily="18" charset="0"/>
              </a:rPr>
              <a:t>test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("Administer pre-enrollment STUDENT testing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emergency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("Gather STUDENT emergency forms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err="1">
                <a:latin typeface="Times New Roman" pitchFamily="18" charset="0"/>
              </a:rPr>
              <a:t>computeGPA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("Compute STUDENT GPA 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progress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("Mail STUDENT progress report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attendance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("Take STUDENT attendance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("Pass out STUDENT </a:t>
            </a:r>
            <a:r>
              <a:rPr lang="en-US" sz="1600" dirty="0" err="1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policies</a:t>
            </a:r>
            <a:r>
              <a:rPr lang="en-US" sz="1600" dirty="0" smtClean="0">
                <a:latin typeface="Times New Roman" pitchFamily="18" charset="0"/>
              </a:rPr>
              <a:t>");   } 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residence()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residence proof</a:t>
            </a:r>
            <a:r>
              <a:rPr lang="en-US" sz="16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register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("Register </a:t>
            </a:r>
            <a:r>
              <a:rPr lang="en-US" sz="1600" dirty="0" smtClean="0">
                <a:latin typeface="Times New Roman" pitchFamily="18" charset="0"/>
              </a:rPr>
              <a:t>11TH GRADER");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orientation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11TH GRADE </a:t>
            </a:r>
            <a:r>
              <a:rPr lang="en-US" sz="1600" dirty="0">
                <a:latin typeface="Times New Roman" pitchFamily="18" charset="0"/>
              </a:rPr>
              <a:t>orientation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fundRaising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("Explain </a:t>
            </a:r>
            <a:r>
              <a:rPr lang="en-US" sz="1600" dirty="0" smtClean="0">
                <a:latin typeface="Times New Roman" pitchFamily="18" charset="0"/>
              </a:rPr>
              <a:t>11TH GRADE </a:t>
            </a:r>
            <a:r>
              <a:rPr lang="en-US" sz="1600" dirty="0">
                <a:latin typeface="Times New Roman" pitchFamily="18" charset="0"/>
              </a:rPr>
              <a:t>fund raising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</a:rPr>
              <a:t>socialEvents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11TH GRADE </a:t>
            </a:r>
            <a:r>
              <a:rPr lang="en-US" sz="1600" dirty="0">
                <a:latin typeface="Times New Roman" pitchFamily="18" charset="0"/>
              </a:rPr>
              <a:t>social events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parking   </a:t>
            </a:r>
            <a:r>
              <a:rPr lang="en-US" sz="1600" dirty="0" smtClean="0">
                <a:latin typeface="Times New Roman" pitchFamily="18" charset="0"/>
              </a:rPr>
              <a:t>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("Distribute 11TH GRADE parking lot stickers");   </a:t>
            </a:r>
            <a:r>
              <a:rPr lang="en-US" sz="1600" dirty="0" smtClean="0">
                <a:latin typeface="Times New Roman" pitchFamily="18" charset="0"/>
              </a:rPr>
              <a:t>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475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is the &lt;</a:t>
            </a:r>
            <a:r>
              <a:rPr lang="en-US" sz="1600" dirty="0" smtClean="0">
                <a:latin typeface="Times New Roman" pitchFamily="18" charset="0"/>
              </a:rPr>
              <a:t>Grade12&gt; </a:t>
            </a:r>
            <a:r>
              <a:rPr lang="en-US" sz="1600" dirty="0">
                <a:latin typeface="Times New Roman" pitchFamily="18" charset="0"/>
              </a:rPr>
              <a:t>implementation of the &lt;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r>
              <a:rPr lang="en-US" sz="1600" dirty="0">
                <a:latin typeface="Times New Roman" pitchFamily="18" charset="0"/>
              </a:rPr>
              <a:t>&gt; interface. 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smtClean="0">
                <a:latin typeface="Times New Roman" pitchFamily="18" charset="0"/>
              </a:rPr>
              <a:t>Grade12 </a:t>
            </a:r>
            <a:r>
              <a:rPr lang="en-US" sz="1600" dirty="0">
                <a:latin typeface="Times New Roman" pitchFamily="18" charset="0"/>
              </a:rPr>
              <a:t>implements </a:t>
            </a:r>
            <a:r>
              <a:rPr lang="en-US" sz="1600" dirty="0" err="1">
                <a:latin typeface="Times New Roman" pitchFamily="18" charset="0"/>
              </a:rPr>
              <a:t>HighSchool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information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information</a:t>
            </a:r>
            <a:r>
              <a:rPr lang="en-US" sz="1600" dirty="0" smtClean="0">
                <a:latin typeface="Times New Roman" pitchFamily="18" charset="0"/>
              </a:rPr>
              <a:t>");   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smtClean="0">
                <a:latin typeface="Times New Roman" pitchFamily="18" charset="0"/>
              </a:rPr>
              <a:t>test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("Administer pre-enrollment STUDENT testing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emergency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("Gather STUDENT emergency forms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	public void </a:t>
            </a:r>
            <a:r>
              <a:rPr lang="en-US" sz="1600" dirty="0" err="1">
                <a:latin typeface="Times New Roman" pitchFamily="18" charset="0"/>
              </a:rPr>
              <a:t>computeGPA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("Compute STUDENT GPA 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progress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("Mail STUDENT progress report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attendance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("Take STUDENT attendance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("Pass out STUDENT </a:t>
            </a:r>
            <a:r>
              <a:rPr lang="en-US" sz="1600" dirty="0" err="1">
                <a:latin typeface="Times New Roman" pitchFamily="18" charset="0"/>
              </a:rPr>
              <a:t>dresscode</a:t>
            </a:r>
            <a:r>
              <a:rPr lang="en-US" sz="1600" dirty="0">
                <a:latin typeface="Times New Roman" pitchFamily="18" charset="0"/>
              </a:rPr>
              <a:t> policies</a:t>
            </a:r>
            <a:r>
              <a:rPr lang="en-US" sz="1600" dirty="0" smtClean="0">
                <a:latin typeface="Times New Roman" pitchFamily="18" charset="0"/>
              </a:rPr>
              <a:t>");   } 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smtClean="0">
                <a:latin typeface="Times New Roman" pitchFamily="18" charset="0"/>
              </a:rPr>
              <a:t>residence()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("Process STUDENT residence proof</a:t>
            </a:r>
            <a:r>
              <a:rPr lang="en-US" sz="16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register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("Register </a:t>
            </a:r>
            <a:r>
              <a:rPr lang="en-US" sz="1600" dirty="0" smtClean="0">
                <a:latin typeface="Times New Roman" pitchFamily="18" charset="0"/>
              </a:rPr>
              <a:t>12TH GRADER");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orientation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12TH GRADE </a:t>
            </a:r>
            <a:r>
              <a:rPr lang="en-US" sz="1600" dirty="0">
                <a:latin typeface="Times New Roman" pitchFamily="18" charset="0"/>
              </a:rPr>
              <a:t>orientation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</a:rPr>
              <a:t>fundRaising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</a:rPr>
              <a:t>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("Explain </a:t>
            </a:r>
            <a:r>
              <a:rPr lang="en-US" sz="1600" dirty="0" smtClean="0">
                <a:latin typeface="Times New Roman" pitchFamily="18" charset="0"/>
              </a:rPr>
              <a:t>12TH GRADE </a:t>
            </a:r>
            <a:r>
              <a:rPr lang="en-US" sz="1600" dirty="0">
                <a:latin typeface="Times New Roman" pitchFamily="18" charset="0"/>
              </a:rPr>
              <a:t>fund raising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</a:t>
            </a:r>
            <a:r>
              <a:rPr lang="en-US" sz="1600" dirty="0" err="1">
                <a:latin typeface="Times New Roman" pitchFamily="18" charset="0"/>
              </a:rPr>
              <a:t>socialEvents</a:t>
            </a:r>
            <a:r>
              <a:rPr lang="en-US" sz="1600" dirty="0" smtClean="0">
                <a:latin typeface="Times New Roman" pitchFamily="18" charset="0"/>
              </a:rPr>
              <a:t>()   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("Organize </a:t>
            </a:r>
            <a:r>
              <a:rPr lang="en-US" sz="1600" dirty="0" smtClean="0">
                <a:latin typeface="Times New Roman" pitchFamily="18" charset="0"/>
              </a:rPr>
              <a:t>12TH GRADE </a:t>
            </a:r>
            <a:r>
              <a:rPr lang="en-US" sz="1600" dirty="0">
                <a:latin typeface="Times New Roman" pitchFamily="18" charset="0"/>
              </a:rPr>
              <a:t>social events</a:t>
            </a:r>
            <a:r>
              <a:rPr lang="en-US" sz="1600" dirty="0" smtClean="0">
                <a:latin typeface="Times New Roman" pitchFamily="18" charset="0"/>
              </a:rPr>
              <a:t>");   }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1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void parking   </a:t>
            </a:r>
            <a:r>
              <a:rPr lang="en-US" sz="1600" dirty="0" smtClean="0">
                <a:latin typeface="Times New Roman" pitchFamily="18" charset="0"/>
              </a:rPr>
              <a:t>{  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("Distribute </a:t>
            </a:r>
            <a:r>
              <a:rPr lang="en-US" sz="1600" dirty="0" smtClean="0">
                <a:latin typeface="Times New Roman" pitchFamily="18" charset="0"/>
              </a:rPr>
              <a:t>12TH </a:t>
            </a:r>
            <a:r>
              <a:rPr lang="en-US" sz="1600" dirty="0">
                <a:latin typeface="Times New Roman" pitchFamily="18" charset="0"/>
              </a:rPr>
              <a:t>GRADE parking lot stickers");   </a:t>
            </a:r>
            <a:r>
              <a:rPr lang="en-US" sz="1600" dirty="0" smtClean="0">
                <a:latin typeface="Times New Roman" pitchFamily="18" charset="0"/>
              </a:rPr>
              <a:t>} 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120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86528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program tests the abstract interface and </a:t>
            </a:r>
            <a:r>
              <a:rPr lang="en-US" sz="1600" dirty="0" smtClean="0">
                <a:latin typeface="Times New Roman" pitchFamily="18" charset="0"/>
              </a:rPr>
              <a:t>its </a:t>
            </a:r>
            <a:r>
              <a:rPr lang="en-US" sz="1600" dirty="0">
                <a:latin typeface="Times New Roman" pitchFamily="18" charset="0"/>
              </a:rPr>
              <a:t>four implementing classes.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class Test02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static void main(String[] args)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{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HighSchool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tom = new Grade09();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HighSchool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sue = new Grade10();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HighSchool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bob = new Grade11();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HighSchool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ann</a:t>
            </a:r>
            <a:r>
              <a:rPr lang="en-US" sz="1600" dirty="0">
                <a:latin typeface="Times New Roman" pitchFamily="18" charset="0"/>
              </a:rPr>
              <a:t> = new Grade12();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("TEST 9TH GRADE TOM");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tom.information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tom.test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tom.emergency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tom.computeGPA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tom.progress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tom.attendance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tom.dressCode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tom.residence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tom.register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tom.orientation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tom.fundRaising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tom.socialEvents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tom.parking</a:t>
            </a:r>
            <a:r>
              <a:rPr lang="en-US" sz="1600" dirty="0">
                <a:latin typeface="Times New Roman" pitchFamily="18" charset="0"/>
              </a:rPr>
              <a:t>();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05055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619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 smtClean="0">
                <a:latin typeface="Times New Roman" pitchFamily="18" charset="0"/>
              </a:rPr>
              <a:t>       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("TEST 10TH GRADE SUE");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sue.information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sue.test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sue.emergency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sue.computeGPA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sue.progress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sue.attendance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sue.dressCode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sue.residence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sue.register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sue.orientation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sue.fundRaising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sue.socialEvents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sue.parking</a:t>
            </a:r>
            <a:r>
              <a:rPr lang="en-US" sz="1600" dirty="0">
                <a:latin typeface="Times New Roman" pitchFamily="18" charset="0"/>
              </a:rPr>
              <a:t>();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("TEST 11TH GRADE BOB");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bob.information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bob.test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bob.emergency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bob.computeGPA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bob.progress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bob.attendance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bob.dressCode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bob.residence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bob.register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bob.orientation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bob.fundRaising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bob.socialEvents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bob.parking</a:t>
            </a:r>
            <a:r>
              <a:rPr lang="en-US" sz="1600" dirty="0">
                <a:latin typeface="Times New Roman" pitchFamily="18" charset="0"/>
              </a:rPr>
              <a:t>();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();</a:t>
            </a:r>
            <a:endParaRPr lang="en-US" sz="1600" dirty="0">
              <a:latin typeface="Times New Roman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572000" y="838200"/>
            <a:ext cx="4572000" cy="477053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1600" dirty="0" smtClean="0">
              <a:latin typeface="Times New Roman" pitchFamily="18" charset="0"/>
            </a:endParaRPr>
          </a:p>
          <a:p>
            <a:pPr eaLnBrk="1" hangingPunct="1"/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("TEST 12TH GRADE ANN");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ann.information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ann.test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ann.emergency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ann.computeGPA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ann.progress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ann.attendance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ann.dressCode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ann.residence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ann.register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ann.orientation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ann.fundRaising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ann.socialEvents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ann.parking</a:t>
            </a:r>
            <a:r>
              <a:rPr lang="en-US" sz="1600" dirty="0">
                <a:latin typeface="Times New Roman" pitchFamily="18" charset="0"/>
              </a:rPr>
              <a:t>();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();      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}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36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9TH GRADE TOM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information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Administer pre-enrollment STUDENT testing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STUDENT emergency forms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STUDENT GPA 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STUDENT progress report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STUDENT attendance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out STUDENT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dresscode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residence proof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9TH GRADER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9TH GRADE orientation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9TH GRADE fund raising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9TH GRADE social events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9TH GRADE students have no parking lot</a:t>
            </a:r>
          </a:p>
          <a:p>
            <a:pPr>
              <a:lnSpc>
                <a:spcPct val="94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10TH GRADE SUE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information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Administer pre-enrollment STUDENT testing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STUDENT emergency forms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STUDENT GPA 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STUDENT progress report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STUDENT attendance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out STUDENT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dresscode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residence proof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10TH GRADER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10TH GRADE orientation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10TH GRADE fund raising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10TH GRADE social events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10TH GRADE students have no parking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4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11TH GRADE BOB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information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Administer pre-enrollment STUDENT testing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STUDENT emergency forms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STUDENT GPA 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STUDENT progress report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STUDENT attendance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out STUDENT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dresscode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residence proof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11TH GRADER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11TH GRADE orientation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11TH GRADE fund raising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11TH GRADE social events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 11TH GRADE parking lot stickers</a:t>
            </a:r>
          </a:p>
          <a:p>
            <a:pPr>
              <a:lnSpc>
                <a:spcPct val="94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12TH GRADE ANN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information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Administer pre-enrollment STUDENT testing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STUDENT emergency forms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STUDENT GPA 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 STUDENT progress report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STUDENT attendance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out STUDENT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dresscode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STUDENT residence proof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12TH GRADER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12TH GRADE orientation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12TH GRADE fund raising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12TH GRADE social events</a:t>
            </a:r>
          </a:p>
          <a:p>
            <a:pPr>
              <a:lnSpc>
                <a:spcPct val="94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 12TH GRADE parking lot stickers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0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Abstract Class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381000" y="3733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as a Bridge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47142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1828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1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9988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// AbstractClass03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// This is the &lt;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&gt; abstract class implementation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// of the &lt;</a:t>
            </a:r>
            <a:r>
              <a:rPr lang="en-US" sz="1700" dirty="0" err="1">
                <a:latin typeface="Times New Roman" pitchFamily="18" charset="0"/>
              </a:rPr>
              <a:t>HighSchool</a:t>
            </a:r>
            <a:r>
              <a:rPr lang="en-US" sz="1700" dirty="0">
                <a:latin typeface="Times New Roman" pitchFamily="18" charset="0"/>
              </a:rPr>
              <a:t>&gt; interface. All methods that are implemented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// individually by grade are left abstract. </a:t>
            </a:r>
          </a:p>
          <a:p>
            <a:pPr eaLnBrk="1" hangingPunct="1">
              <a:lnSpc>
                <a:spcPct val="80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700" dirty="0" smtClean="0">
                <a:latin typeface="Times New Roman" pitchFamily="18" charset="0"/>
              </a:rPr>
              <a:t>public </a:t>
            </a:r>
            <a:r>
              <a:rPr lang="en-US" sz="1700" dirty="0">
                <a:latin typeface="Times New Roman" pitchFamily="18" charset="0"/>
              </a:rPr>
              <a:t>abstract class 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 implements </a:t>
            </a:r>
            <a:r>
              <a:rPr lang="en-US" sz="1700" dirty="0" err="1">
                <a:latin typeface="Times New Roman" pitchFamily="18" charset="0"/>
              </a:rPr>
              <a:t>HighSchool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information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information</a:t>
            </a:r>
            <a:r>
              <a:rPr lang="en-US" sz="1700" dirty="0" smtClean="0">
                <a:latin typeface="Times New Roman" pitchFamily="18" charset="0"/>
              </a:rPr>
              <a:t>");  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test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("Administer pre-enrollment STUDENT testing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emergency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("Gather STUDENT emergency forms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err="1" smtClean="0">
                <a:latin typeface="Times New Roman" pitchFamily="18" charset="0"/>
              </a:rPr>
              <a:t>computeGPA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("Compute STUDENT GPA 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progress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("Mail STUDENT progress report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attendance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("Take STUDENT attendance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("Pass out STUDENT </a:t>
            </a:r>
            <a:r>
              <a:rPr lang="en-US" sz="1700" dirty="0" err="1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policies</a:t>
            </a:r>
            <a:r>
              <a:rPr lang="en-US" sz="1700" dirty="0" smtClean="0">
                <a:latin typeface="Times New Roman" pitchFamily="18" charset="0"/>
              </a:rPr>
              <a:t>");   }   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residence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residence proof</a:t>
            </a:r>
            <a:r>
              <a:rPr lang="en-US" sz="1700" dirty="0" smtClean="0">
                <a:latin typeface="Times New Roman" pitchFamily="18" charset="0"/>
              </a:rPr>
              <a:t>");   }   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abstract void register();       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abstract void orientation();    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abstract void </a:t>
            </a:r>
            <a:r>
              <a:rPr lang="en-US" sz="1700" dirty="0" err="1">
                <a:latin typeface="Times New Roman" pitchFamily="18" charset="0"/>
              </a:rPr>
              <a:t>fundRaising</a:t>
            </a:r>
            <a:r>
              <a:rPr lang="en-US" sz="1700" dirty="0">
                <a:latin typeface="Times New Roman" pitchFamily="18" charset="0"/>
              </a:rPr>
              <a:t>();    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abstract 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>
                <a:latin typeface="Times New Roman" pitchFamily="18" charset="0"/>
              </a:rPr>
              <a:t>();   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abstract void parking();          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393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AbstractClass03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This is the &lt;Grade09&gt; subclass of &lt;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&gt;. 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public </a:t>
            </a:r>
            <a:r>
              <a:rPr lang="en-US" sz="2000" b="0" dirty="0">
                <a:latin typeface="Arial Black" panose="020B0A04020102020204" pitchFamily="34" charset="0"/>
              </a:rPr>
              <a:t>class Grade09 extends 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register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("Register 9TH GRADER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orientation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9TH GRADE orientation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fundRaising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("Explain 9TH GRADE fund raising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 smtClean="0">
                <a:latin typeface="Times New Roman" pitchFamily="18" charset="0"/>
              </a:rPr>
              <a:t>()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9TH GRADE social events</a:t>
            </a:r>
            <a:r>
              <a:rPr lang="en-US" sz="1700" dirty="0" smtClean="0">
                <a:latin typeface="Times New Roman" pitchFamily="18" charset="0"/>
              </a:rPr>
              <a:t>");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parking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("9TH GRADE students have no parking lot</a:t>
            </a:r>
            <a:r>
              <a:rPr lang="en-US" sz="1700" dirty="0" smtClean="0">
                <a:latin typeface="Times New Roman" pitchFamily="18" charset="0"/>
              </a:rPr>
              <a:t>"); 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3428999"/>
            <a:ext cx="9144000" cy="3429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AbstractClass03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This is the &lt;</a:t>
            </a:r>
            <a:r>
              <a:rPr lang="en-US" sz="1700" dirty="0" smtClean="0">
                <a:latin typeface="Times New Roman" pitchFamily="18" charset="0"/>
              </a:rPr>
              <a:t>Grade10&gt; </a:t>
            </a:r>
            <a:r>
              <a:rPr lang="en-US" sz="1700" dirty="0">
                <a:latin typeface="Times New Roman" pitchFamily="18" charset="0"/>
              </a:rPr>
              <a:t>subclass of &lt;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&gt;. 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public </a:t>
            </a:r>
            <a:r>
              <a:rPr lang="en-US" sz="2000" b="0" dirty="0">
                <a:latin typeface="Arial Black" panose="020B0A04020102020204" pitchFamily="34" charset="0"/>
              </a:rPr>
              <a:t>class </a:t>
            </a:r>
            <a:r>
              <a:rPr lang="en-US" sz="2000" b="0" dirty="0" smtClean="0">
                <a:latin typeface="Arial Black" panose="020B0A04020102020204" pitchFamily="34" charset="0"/>
              </a:rPr>
              <a:t>Grade10 </a:t>
            </a:r>
            <a:r>
              <a:rPr lang="en-US" sz="2000" b="0" dirty="0">
                <a:latin typeface="Arial Black" panose="020B0A04020102020204" pitchFamily="34" charset="0"/>
              </a:rPr>
              <a:t>extends 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register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("Register </a:t>
            </a:r>
            <a:r>
              <a:rPr lang="en-US" sz="1700" dirty="0" smtClean="0">
                <a:latin typeface="Times New Roman" pitchFamily="18" charset="0"/>
              </a:rPr>
              <a:t>10TH </a:t>
            </a:r>
            <a:r>
              <a:rPr lang="en-US" sz="1700" dirty="0">
                <a:latin typeface="Times New Roman" pitchFamily="18" charset="0"/>
              </a:rPr>
              <a:t>GRADER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orientation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10TH </a:t>
            </a:r>
            <a:r>
              <a:rPr lang="en-US" sz="1700" dirty="0">
                <a:latin typeface="Times New Roman" pitchFamily="18" charset="0"/>
              </a:rPr>
              <a:t>GRADE orientation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fundRaising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("Explain </a:t>
            </a:r>
            <a:r>
              <a:rPr lang="en-US" sz="1700" dirty="0" smtClean="0">
                <a:latin typeface="Times New Roman" pitchFamily="18" charset="0"/>
              </a:rPr>
              <a:t>10TH </a:t>
            </a:r>
            <a:r>
              <a:rPr lang="en-US" sz="1700" dirty="0">
                <a:latin typeface="Times New Roman" pitchFamily="18" charset="0"/>
              </a:rPr>
              <a:t>GRADE fund raising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 smtClean="0">
                <a:latin typeface="Times New Roman" pitchFamily="18" charset="0"/>
              </a:rPr>
              <a:t>()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10TH </a:t>
            </a:r>
            <a:r>
              <a:rPr lang="en-US" sz="1700" dirty="0">
                <a:latin typeface="Times New Roman" pitchFamily="18" charset="0"/>
              </a:rPr>
              <a:t>GRADE social events</a:t>
            </a:r>
            <a:r>
              <a:rPr lang="en-US" sz="1700" dirty="0" smtClean="0">
                <a:latin typeface="Times New Roman" pitchFamily="18" charset="0"/>
              </a:rPr>
              <a:t>");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parking {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 smtClean="0">
                <a:latin typeface="Times New Roman" pitchFamily="18" charset="0"/>
              </a:rPr>
              <a:t>("10TH </a:t>
            </a:r>
            <a:r>
              <a:rPr lang="en-US" sz="1700" dirty="0">
                <a:latin typeface="Times New Roman" pitchFamily="18" charset="0"/>
              </a:rPr>
              <a:t>GRADE students have no parking lot</a:t>
            </a:r>
            <a:r>
              <a:rPr lang="en-US" sz="1700" dirty="0" smtClean="0">
                <a:latin typeface="Times New Roman" pitchFamily="18" charset="0"/>
              </a:rPr>
              <a:t>");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854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66254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AbstractClass03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This is the &lt;</a:t>
            </a:r>
            <a:r>
              <a:rPr lang="en-US" sz="1700" dirty="0" smtClean="0">
                <a:latin typeface="Times New Roman" pitchFamily="18" charset="0"/>
              </a:rPr>
              <a:t>Grade11&gt; </a:t>
            </a:r>
            <a:r>
              <a:rPr lang="en-US" sz="1700" dirty="0">
                <a:latin typeface="Times New Roman" pitchFamily="18" charset="0"/>
              </a:rPr>
              <a:t>subclass of &lt;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&gt;. 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public </a:t>
            </a:r>
            <a:r>
              <a:rPr lang="en-US" sz="2000" b="0" dirty="0">
                <a:latin typeface="Arial Black" panose="020B0A04020102020204" pitchFamily="34" charset="0"/>
              </a:rPr>
              <a:t>class </a:t>
            </a:r>
            <a:r>
              <a:rPr lang="en-US" sz="2000" b="0" dirty="0" smtClean="0">
                <a:latin typeface="Arial Black" panose="020B0A04020102020204" pitchFamily="34" charset="0"/>
              </a:rPr>
              <a:t>Grade11 </a:t>
            </a:r>
            <a:r>
              <a:rPr lang="en-US" sz="2000" b="0" dirty="0">
                <a:latin typeface="Arial Black" panose="020B0A04020102020204" pitchFamily="34" charset="0"/>
              </a:rPr>
              <a:t>extends 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register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("Register </a:t>
            </a:r>
            <a:r>
              <a:rPr lang="en-US" sz="1700" dirty="0" smtClean="0">
                <a:latin typeface="Times New Roman" pitchFamily="18" charset="0"/>
              </a:rPr>
              <a:t>11TH </a:t>
            </a:r>
            <a:r>
              <a:rPr lang="en-US" sz="1700" dirty="0">
                <a:latin typeface="Times New Roman" pitchFamily="18" charset="0"/>
              </a:rPr>
              <a:t>GRADER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orientation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11TH </a:t>
            </a:r>
            <a:r>
              <a:rPr lang="en-US" sz="1700" dirty="0">
                <a:latin typeface="Times New Roman" pitchFamily="18" charset="0"/>
              </a:rPr>
              <a:t>GRADE orientation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fundRaising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("Explain </a:t>
            </a:r>
            <a:r>
              <a:rPr lang="en-US" sz="1700" dirty="0" smtClean="0">
                <a:latin typeface="Times New Roman" pitchFamily="18" charset="0"/>
              </a:rPr>
              <a:t>11TH </a:t>
            </a:r>
            <a:r>
              <a:rPr lang="en-US" sz="1700" dirty="0">
                <a:latin typeface="Times New Roman" pitchFamily="18" charset="0"/>
              </a:rPr>
              <a:t>GRADE fund raising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 smtClean="0">
                <a:latin typeface="Times New Roman" pitchFamily="18" charset="0"/>
              </a:rPr>
              <a:t>()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11TH </a:t>
            </a:r>
            <a:r>
              <a:rPr lang="en-US" sz="1700" dirty="0">
                <a:latin typeface="Times New Roman" pitchFamily="18" charset="0"/>
              </a:rPr>
              <a:t>GRADE social events</a:t>
            </a:r>
            <a:r>
              <a:rPr lang="en-US" sz="1700" dirty="0" smtClean="0">
                <a:latin typeface="Times New Roman" pitchFamily="18" charset="0"/>
              </a:rPr>
              <a:t>");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</a:t>
            </a:r>
            <a:r>
              <a:rPr lang="en-US" sz="1700" spc="-10" dirty="0">
                <a:latin typeface="Times New Roman" pitchFamily="18" charset="0"/>
              </a:rPr>
              <a:t>public void parking { </a:t>
            </a:r>
            <a:r>
              <a:rPr lang="en-US" sz="1700" spc="-10" dirty="0" err="1">
                <a:latin typeface="Times New Roman" pitchFamily="18" charset="0"/>
              </a:rPr>
              <a:t>System.out.println</a:t>
            </a:r>
            <a:r>
              <a:rPr lang="en-US" sz="1700" spc="-10" dirty="0">
                <a:latin typeface="Times New Roman" pitchFamily="18" charset="0"/>
              </a:rPr>
              <a:t>("Distribute </a:t>
            </a:r>
            <a:r>
              <a:rPr lang="en-US" sz="1700" spc="-10" dirty="0" smtClean="0">
                <a:latin typeface="Times New Roman" pitchFamily="18" charset="0"/>
              </a:rPr>
              <a:t>11TH </a:t>
            </a:r>
            <a:r>
              <a:rPr lang="en-US" sz="1700" spc="-10" dirty="0">
                <a:latin typeface="Times New Roman" pitchFamily="18" charset="0"/>
              </a:rPr>
              <a:t>GRADE parking lot stickers"); }    </a:t>
            </a: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3428998"/>
            <a:ext cx="9144000" cy="3429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AbstractClass03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This is the &lt;</a:t>
            </a:r>
            <a:r>
              <a:rPr lang="en-US" sz="1700" dirty="0" smtClean="0">
                <a:latin typeface="Times New Roman" pitchFamily="18" charset="0"/>
              </a:rPr>
              <a:t>Grade12&gt; </a:t>
            </a:r>
            <a:r>
              <a:rPr lang="en-US" sz="1700" dirty="0">
                <a:latin typeface="Times New Roman" pitchFamily="18" charset="0"/>
              </a:rPr>
              <a:t>subclass of &lt;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&gt;. </a:t>
            </a:r>
          </a:p>
          <a:p>
            <a:pPr eaLnBrk="1" hangingPunct="1"/>
            <a:endParaRPr lang="en-US" sz="1000" dirty="0">
              <a:latin typeface="Times New Roman" pitchFamily="18" charset="0"/>
            </a:endParaRPr>
          </a:p>
          <a:p>
            <a:pPr eaLnBrk="1" hangingPunct="1"/>
            <a:r>
              <a:rPr lang="en-US" sz="2000" b="0" dirty="0" smtClean="0">
                <a:latin typeface="Arial Black" panose="020B0A04020102020204" pitchFamily="34" charset="0"/>
              </a:rPr>
              <a:t>public </a:t>
            </a:r>
            <a:r>
              <a:rPr lang="en-US" sz="2000" b="0" dirty="0">
                <a:latin typeface="Arial Black" panose="020B0A04020102020204" pitchFamily="34" charset="0"/>
              </a:rPr>
              <a:t>class </a:t>
            </a:r>
            <a:r>
              <a:rPr lang="en-US" sz="2000" b="0" dirty="0" smtClean="0">
                <a:latin typeface="Arial Black" panose="020B0A04020102020204" pitchFamily="34" charset="0"/>
              </a:rPr>
              <a:t>Grade12 </a:t>
            </a:r>
            <a:r>
              <a:rPr lang="en-US" sz="2000" b="0" dirty="0">
                <a:latin typeface="Arial Black" panose="020B0A04020102020204" pitchFamily="34" charset="0"/>
              </a:rPr>
              <a:t>extends 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register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("Register </a:t>
            </a:r>
            <a:r>
              <a:rPr lang="en-US" sz="1700" dirty="0" smtClean="0">
                <a:latin typeface="Times New Roman" pitchFamily="18" charset="0"/>
              </a:rPr>
              <a:t>12TH </a:t>
            </a:r>
            <a:r>
              <a:rPr lang="en-US" sz="1700" dirty="0">
                <a:latin typeface="Times New Roman" pitchFamily="18" charset="0"/>
              </a:rPr>
              <a:t>GRADER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orientation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12TH </a:t>
            </a:r>
            <a:r>
              <a:rPr lang="en-US" sz="1700" dirty="0">
                <a:latin typeface="Times New Roman" pitchFamily="18" charset="0"/>
              </a:rPr>
              <a:t>GRADE orientation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fundRaising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("Explain </a:t>
            </a:r>
            <a:r>
              <a:rPr lang="en-US" sz="1700" dirty="0" smtClean="0">
                <a:latin typeface="Times New Roman" pitchFamily="18" charset="0"/>
              </a:rPr>
              <a:t>12TH </a:t>
            </a:r>
            <a:r>
              <a:rPr lang="en-US" sz="1700" dirty="0">
                <a:latin typeface="Times New Roman" pitchFamily="18" charset="0"/>
              </a:rPr>
              <a:t>GRADE fund raising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 smtClean="0">
                <a:latin typeface="Times New Roman" pitchFamily="18" charset="0"/>
              </a:rPr>
              <a:t>()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</a:t>
            </a:r>
            <a:r>
              <a:rPr lang="en-US" sz="1700" dirty="0" smtClean="0">
                <a:latin typeface="Times New Roman" pitchFamily="18" charset="0"/>
              </a:rPr>
              <a:t>12TH </a:t>
            </a:r>
            <a:r>
              <a:rPr lang="en-US" sz="1700" dirty="0">
                <a:latin typeface="Times New Roman" pitchFamily="18" charset="0"/>
              </a:rPr>
              <a:t>GRADE social events</a:t>
            </a:r>
            <a:r>
              <a:rPr lang="en-US" sz="1700" dirty="0" smtClean="0">
                <a:latin typeface="Times New Roman" pitchFamily="18" charset="0"/>
              </a:rPr>
              <a:t>");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8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</a:t>
            </a:r>
            <a:r>
              <a:rPr lang="en-US" sz="1700" spc="-10" dirty="0" smtClean="0">
                <a:latin typeface="Times New Roman" pitchFamily="18" charset="0"/>
              </a:rPr>
              <a:t>public </a:t>
            </a:r>
            <a:r>
              <a:rPr lang="en-US" sz="1700" spc="-10" dirty="0">
                <a:latin typeface="Times New Roman" pitchFamily="18" charset="0"/>
              </a:rPr>
              <a:t>void </a:t>
            </a:r>
            <a:r>
              <a:rPr lang="en-US" sz="1700" spc="-10" dirty="0" smtClean="0">
                <a:latin typeface="Times New Roman" pitchFamily="18" charset="0"/>
              </a:rPr>
              <a:t>parking { </a:t>
            </a:r>
            <a:r>
              <a:rPr lang="en-US" sz="1700" spc="-10" dirty="0" err="1" smtClean="0">
                <a:latin typeface="Times New Roman" pitchFamily="18" charset="0"/>
              </a:rPr>
              <a:t>System.out.println</a:t>
            </a:r>
            <a:r>
              <a:rPr lang="en-US" sz="1700" spc="-10" dirty="0">
                <a:latin typeface="Times New Roman" pitchFamily="18" charset="0"/>
              </a:rPr>
              <a:t>("Distribute 12TH GRADE parking lot stickers"); </a:t>
            </a:r>
            <a:r>
              <a:rPr lang="en-US" sz="1700" spc="-10" dirty="0" smtClean="0">
                <a:latin typeface="Times New Roman" pitchFamily="18" charset="0"/>
              </a:rPr>
              <a:t>}    </a:t>
            </a:r>
            <a:endParaRPr lang="en-US" sz="1700" spc="-1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395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</a:rPr>
              <a:t>AbstractClass04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is the &lt;</a:t>
            </a:r>
            <a:r>
              <a:rPr lang="en-US" sz="2400" dirty="0" err="1">
                <a:latin typeface="Times New Roman" pitchFamily="18" charset="0"/>
              </a:rPr>
              <a:t>CommonHighSchool</a:t>
            </a:r>
            <a:r>
              <a:rPr lang="en-US" sz="2400" dirty="0">
                <a:latin typeface="Times New Roman" pitchFamily="18" charset="0"/>
              </a:rPr>
              <a:t>&gt; abstract class implementation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of the &lt;</a:t>
            </a:r>
            <a:r>
              <a:rPr lang="en-US" sz="2400" dirty="0" err="1">
                <a:latin typeface="Times New Roman" pitchFamily="18" charset="0"/>
              </a:rPr>
              <a:t>HighSchool</a:t>
            </a:r>
            <a:r>
              <a:rPr lang="en-US" sz="2400" dirty="0">
                <a:latin typeface="Times New Roman" pitchFamily="18" charset="0"/>
              </a:rPr>
              <a:t>&gt; interface. All methods that are </a:t>
            </a:r>
            <a:r>
              <a:rPr lang="en-US" sz="2400" dirty="0" err="1">
                <a:latin typeface="Times New Roman" pitchFamily="18" charset="0"/>
              </a:rPr>
              <a:t>are</a:t>
            </a:r>
            <a:r>
              <a:rPr lang="en-US" sz="2400" dirty="0">
                <a:latin typeface="Times New Roman" pitchFamily="18" charset="0"/>
              </a:rPr>
              <a:t> not 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implemented are not shown, as they were in Stage #3</a:t>
            </a:r>
            <a:r>
              <a:rPr lang="en-US" sz="2400" dirty="0" smtClean="0">
                <a:latin typeface="Times New Roman" pitchFamily="18" charset="0"/>
              </a:rPr>
              <a:t>.</a:t>
            </a:r>
          </a:p>
          <a:p>
            <a:pPr eaLnBrk="1" hangingPunct="1"/>
            <a:endParaRPr lang="en-US" sz="2400" dirty="0" smtClean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public </a:t>
            </a:r>
            <a:r>
              <a:rPr lang="en-US" sz="1700" dirty="0">
                <a:latin typeface="Times New Roman" pitchFamily="18" charset="0"/>
              </a:rPr>
              <a:t>abstract class 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r>
              <a:rPr lang="en-US" sz="1700" dirty="0">
                <a:latin typeface="Times New Roman" pitchFamily="18" charset="0"/>
              </a:rPr>
              <a:t> implements </a:t>
            </a:r>
            <a:r>
              <a:rPr lang="en-US" sz="1700" dirty="0" err="1">
                <a:latin typeface="Times New Roman" pitchFamily="18" charset="0"/>
              </a:rPr>
              <a:t>HighSchool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information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information</a:t>
            </a:r>
            <a:r>
              <a:rPr lang="en-US" sz="1700" dirty="0" smtClean="0">
                <a:latin typeface="Times New Roman" pitchFamily="18" charset="0"/>
              </a:rPr>
              <a:t>");  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test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("Administer pre-enrollment STUDENT testing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emergency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("Gather STUDENT emergency forms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err="1" smtClean="0">
                <a:latin typeface="Times New Roman" pitchFamily="18" charset="0"/>
              </a:rPr>
              <a:t>computeGPA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("Compute STUDENT GPA 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progress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("Mail STUDENT progress report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attendance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("Take STUDENT attendance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("Pass out STUDENT </a:t>
            </a:r>
            <a:r>
              <a:rPr lang="en-US" sz="1700" dirty="0" err="1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policies</a:t>
            </a:r>
            <a:r>
              <a:rPr lang="en-US" sz="1700" dirty="0" smtClean="0">
                <a:latin typeface="Times New Roman" pitchFamily="18" charset="0"/>
              </a:rPr>
              <a:t>");   } 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residence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residence proof</a:t>
            </a:r>
            <a:r>
              <a:rPr lang="en-US" sz="17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700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98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// AbstractClass05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// This is an abstract class with all methods implemented,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// but none of them - intentionally - in a functional manner.</a:t>
            </a:r>
          </a:p>
          <a:p>
            <a:pPr eaLnBrk="1" hangingPunct="1">
              <a:lnSpc>
                <a:spcPct val="92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400" dirty="0" smtClean="0">
                <a:latin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</a:rPr>
              <a:t>abstract class </a:t>
            </a:r>
            <a:r>
              <a:rPr lang="en-US" sz="2400" dirty="0" err="1">
                <a:latin typeface="Times New Roman" pitchFamily="18" charset="0"/>
              </a:rPr>
              <a:t>HighSchoolAdapter</a:t>
            </a:r>
            <a:r>
              <a:rPr lang="en-US" sz="2400" dirty="0">
                <a:latin typeface="Times New Roman" pitchFamily="18" charset="0"/>
              </a:rPr>
              <a:t> implements </a:t>
            </a:r>
            <a:r>
              <a:rPr lang="en-US" sz="2400" dirty="0" err="1">
                <a:latin typeface="Times New Roman" pitchFamily="18" charset="0"/>
              </a:rPr>
              <a:t>HighSchool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</a:rPr>
              <a:t>void information()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	public void test()         </a:t>
            </a:r>
            <a:r>
              <a:rPr lang="en-US" sz="2400" dirty="0" smtClean="0">
                <a:latin typeface="Times New Roman" pitchFamily="18" charset="0"/>
              </a:rPr>
              <a:t>		{ </a:t>
            </a:r>
            <a:r>
              <a:rPr lang="en-US" sz="2400" dirty="0">
                <a:latin typeface="Times New Roman" pitchFamily="18" charset="0"/>
              </a:rPr>
              <a:t>}        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	public void emergency() 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	public void </a:t>
            </a:r>
            <a:r>
              <a:rPr lang="en-US" sz="2400" dirty="0" err="1">
                <a:latin typeface="Times New Roman" pitchFamily="18" charset="0"/>
              </a:rPr>
              <a:t>computeGPA</a:t>
            </a:r>
            <a:r>
              <a:rPr lang="en-US" sz="2400" dirty="0">
                <a:latin typeface="Times New Roman" pitchFamily="18" charset="0"/>
              </a:rPr>
              <a:t>()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 smtClean="0">
                <a:latin typeface="Times New Roman" pitchFamily="18" charset="0"/>
              </a:rPr>
              <a:t>   	public </a:t>
            </a:r>
            <a:r>
              <a:rPr lang="en-US" sz="2400" dirty="0">
                <a:latin typeface="Times New Roman" pitchFamily="18" charset="0"/>
              </a:rPr>
              <a:t>void progress()  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attendance()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</a:t>
            </a:r>
            <a:r>
              <a:rPr lang="en-US" sz="2400" dirty="0" err="1">
                <a:latin typeface="Times New Roman" pitchFamily="18" charset="0"/>
              </a:rPr>
              <a:t>dressCode</a:t>
            </a:r>
            <a:r>
              <a:rPr lang="en-US" sz="2400" dirty="0">
                <a:latin typeface="Times New Roman" pitchFamily="18" charset="0"/>
              </a:rPr>
              <a:t>() 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residence() 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register()     </a:t>
            </a:r>
            <a:r>
              <a:rPr lang="en-US" sz="2400" dirty="0" smtClean="0">
                <a:latin typeface="Times New Roman" pitchFamily="18" charset="0"/>
              </a:rPr>
              <a:t>	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orientation()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</a:t>
            </a:r>
            <a:r>
              <a:rPr lang="en-US" sz="2400" dirty="0" err="1">
                <a:latin typeface="Times New Roman" pitchFamily="18" charset="0"/>
              </a:rPr>
              <a:t>fundRaising</a:t>
            </a:r>
            <a:r>
              <a:rPr lang="en-US" sz="2400" dirty="0">
                <a:latin typeface="Times New Roman" pitchFamily="18" charset="0"/>
              </a:rPr>
              <a:t>()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</a:t>
            </a:r>
            <a:r>
              <a:rPr lang="en-US" sz="2400" dirty="0" err="1">
                <a:latin typeface="Times New Roman" pitchFamily="18" charset="0"/>
              </a:rPr>
              <a:t>socialEvents</a:t>
            </a:r>
            <a:r>
              <a:rPr lang="en-US" sz="2400" dirty="0">
                <a:latin typeface="Times New Roman" pitchFamily="18" charset="0"/>
              </a:rPr>
              <a:t>()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void parking()      </a:t>
            </a:r>
            <a:r>
              <a:rPr lang="en-US" sz="2400" dirty="0" smtClean="0">
                <a:latin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</a:rPr>
              <a:t>} </a:t>
            </a:r>
          </a:p>
          <a:p>
            <a:pPr eaLnBrk="1" hangingPunct="1">
              <a:lnSpc>
                <a:spcPct val="92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1700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6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880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AbstractClass05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This is the &lt;Grade09&gt; implementation of the &lt;</a:t>
            </a:r>
            <a:r>
              <a:rPr lang="en-US" sz="2000" dirty="0" err="1">
                <a:latin typeface="Times New Roman" pitchFamily="18" charset="0"/>
              </a:rPr>
              <a:t>HighSchool</a:t>
            </a:r>
            <a:r>
              <a:rPr lang="en-US" sz="2000" dirty="0">
                <a:latin typeface="Times New Roman" pitchFamily="18" charset="0"/>
              </a:rPr>
              <a:t>&gt; interface.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None of the other methods have to be implemented anymore.</a:t>
            </a:r>
          </a:p>
          <a:p>
            <a:pPr eaLnBrk="1" hangingPunct="1">
              <a:lnSpc>
                <a:spcPct val="92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public class Grade09A implements </a:t>
            </a:r>
            <a:r>
              <a:rPr lang="en-US" sz="2000" dirty="0" err="1">
                <a:latin typeface="Times New Roman" pitchFamily="18" charset="0"/>
              </a:rPr>
              <a:t>HighSchool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information()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	{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   	</a:t>
            </a:r>
            <a:r>
              <a:rPr lang="en-US" sz="2000" dirty="0" smtClean="0">
                <a:latin typeface="Times New Roman" pitchFamily="18" charset="0"/>
              </a:rPr>
              <a:t>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("Process 9TH GRADE information");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}</a:t>
            </a:r>
          </a:p>
          <a:p>
            <a:pPr eaLnBrk="1" hangingPunct="1">
              <a:lnSpc>
                <a:spcPct val="92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test()          </a:t>
            </a:r>
            <a:r>
              <a:rPr lang="en-US" sz="2000" dirty="0" smtClean="0">
                <a:latin typeface="Times New Roman" pitchFamily="18" charset="0"/>
              </a:rPr>
              <a:t>	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emergency()   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</a:t>
            </a:r>
            <a:r>
              <a:rPr lang="en-US" sz="2000" dirty="0" err="1">
                <a:latin typeface="Times New Roman" pitchFamily="18" charset="0"/>
              </a:rPr>
              <a:t>computeGPA</a:t>
            </a:r>
            <a:r>
              <a:rPr lang="en-US" sz="2000" dirty="0">
                <a:latin typeface="Times New Roman" pitchFamily="18" charset="0"/>
              </a:rPr>
              <a:t>()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progress()   </a:t>
            </a:r>
            <a:r>
              <a:rPr lang="en-US" sz="2000" dirty="0" smtClean="0">
                <a:latin typeface="Times New Roman" pitchFamily="18" charset="0"/>
              </a:rPr>
              <a:t>	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attendance()  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</a:t>
            </a:r>
            <a:r>
              <a:rPr lang="en-US" sz="2000" dirty="0" err="1">
                <a:latin typeface="Times New Roman" pitchFamily="18" charset="0"/>
              </a:rPr>
              <a:t>dressCode</a:t>
            </a:r>
            <a:r>
              <a:rPr lang="en-US" sz="2000" dirty="0">
                <a:latin typeface="Times New Roman" pitchFamily="18" charset="0"/>
              </a:rPr>
              <a:t>()   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	public void residence()   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register()    	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orientation()  	{  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</a:t>
            </a:r>
            <a:r>
              <a:rPr lang="en-US" sz="2000" dirty="0" err="1">
                <a:latin typeface="Times New Roman" pitchFamily="18" charset="0"/>
              </a:rPr>
              <a:t>fundRaising</a:t>
            </a:r>
            <a:r>
              <a:rPr lang="en-US" sz="2000" dirty="0">
                <a:latin typeface="Times New Roman" pitchFamily="18" charset="0"/>
              </a:rPr>
              <a:t>() 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</a:t>
            </a:r>
            <a:r>
              <a:rPr lang="en-US" sz="2000" dirty="0" err="1">
                <a:latin typeface="Times New Roman" pitchFamily="18" charset="0"/>
              </a:rPr>
              <a:t>socialEvents</a:t>
            </a:r>
            <a:r>
              <a:rPr lang="en-US" sz="2000" dirty="0">
                <a:latin typeface="Times New Roman" pitchFamily="18" charset="0"/>
              </a:rPr>
              <a:t>()  </a:t>
            </a:r>
            <a:r>
              <a:rPr lang="en-US" sz="2000" dirty="0" smtClean="0">
                <a:latin typeface="Times New Roman" pitchFamily="18" charset="0"/>
              </a:rPr>
              <a:t>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public void parking()       </a:t>
            </a:r>
            <a:r>
              <a:rPr lang="en-US" sz="2000" dirty="0" smtClean="0">
                <a:latin typeface="Times New Roman" pitchFamily="18" charset="0"/>
              </a:rPr>
              <a:t>		{  </a:t>
            </a: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864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320703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AbstractClass05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This is the &lt;Grade09B&gt; </a:t>
            </a:r>
            <a:r>
              <a:rPr lang="en-US" sz="2000" dirty="0" smtClean="0">
                <a:latin typeface="Times New Roman" pitchFamily="18" charset="0"/>
              </a:rPr>
              <a:t>extension of the &lt;</a:t>
            </a:r>
            <a:r>
              <a:rPr lang="en-US" sz="2000" dirty="0" err="1" smtClean="0">
                <a:latin typeface="Times New Roman" pitchFamily="18" charset="0"/>
              </a:rPr>
              <a:t>HighSchoolAdapter</a:t>
            </a:r>
            <a:r>
              <a:rPr lang="en-US" sz="2000" dirty="0" smtClean="0">
                <a:latin typeface="Times New Roman" pitchFamily="18" charset="0"/>
              </a:rPr>
              <a:t>&gt; abstract class.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// None of the other methods have to be implemented anymore.</a:t>
            </a:r>
          </a:p>
          <a:p>
            <a:pPr eaLnBrk="1" hangingPunct="1">
              <a:lnSpc>
                <a:spcPct val="92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 smtClean="0">
                <a:latin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</a:rPr>
              <a:t>class Grade09B extends </a:t>
            </a:r>
            <a:r>
              <a:rPr lang="en-US" sz="2000" dirty="0" err="1">
                <a:latin typeface="Times New Roman" pitchFamily="18" charset="0"/>
              </a:rPr>
              <a:t>HighSchoolAdapter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	public void information()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	{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   		</a:t>
            </a:r>
            <a:r>
              <a:rPr lang="en-US" sz="2000" dirty="0" err="1">
                <a:latin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</a:rPr>
              <a:t>("Process 9TH GRADE information");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>
                <a:latin typeface="Times New Roman" pitchFamily="18" charset="0"/>
              </a:rPr>
              <a:t>   	</a:t>
            </a:r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2000"/>
              </a:lnSpc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72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489364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>
                <a:latin typeface="Times New Roman" pitchFamily="18" charset="0"/>
              </a:rPr>
              <a:t>// AbstractClass05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This program tests the abstract </a:t>
            </a:r>
            <a:r>
              <a:rPr lang="en-US" sz="2400" dirty="0" err="1">
                <a:latin typeface="Times New Roman" pitchFamily="18" charset="0"/>
              </a:rPr>
              <a:t>HighSchool</a:t>
            </a:r>
            <a:r>
              <a:rPr lang="en-US" sz="2400" dirty="0">
                <a:latin typeface="Times New Roman" pitchFamily="18" charset="0"/>
              </a:rPr>
              <a:t> interface,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the </a:t>
            </a:r>
            <a:r>
              <a:rPr lang="en-US" sz="2400" dirty="0" err="1">
                <a:latin typeface="Times New Roman" pitchFamily="18" charset="0"/>
              </a:rPr>
              <a:t>HighSchoolAdapter</a:t>
            </a:r>
            <a:r>
              <a:rPr lang="en-US" sz="2400" dirty="0">
                <a:latin typeface="Times New Roman" pitchFamily="18" charset="0"/>
              </a:rPr>
              <a:t> abstract class and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// the Grade09B concrete class.</a:t>
            </a:r>
          </a:p>
          <a:p>
            <a:pPr eaLnBrk="1" hangingPunct="1"/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 smtClean="0">
                <a:latin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</a:rPr>
              <a:t>class Test05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public </a:t>
            </a:r>
            <a:r>
              <a:rPr lang="en-US" sz="2400" dirty="0">
                <a:latin typeface="Times New Roman" pitchFamily="18" charset="0"/>
              </a:rPr>
              <a:t>static void main(String[] args)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{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</a:rPr>
              <a:t>HighSchool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tom = new Grade09B();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</a:rPr>
              <a:t>tom.information</a:t>
            </a:r>
            <a:r>
              <a:rPr lang="en-US" sz="24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</a:rPr>
              <a:t>	}</a:t>
            </a:r>
            <a:endParaRPr lang="en-US" sz="2400" dirty="0">
              <a:latin typeface="Times New Roman" pitchFamily="18" charset="0"/>
            </a:endParaRPr>
          </a:p>
          <a:p>
            <a:pPr eaLnBrk="1" hangingPunct="1"/>
            <a:r>
              <a:rPr lang="en-US" sz="24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8737" y="5638800"/>
            <a:ext cx="648652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Process 9TH GRADE information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40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9419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AbstractClass06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abstract class has a constructor.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This stage tests to see if a constructor in an abstract </a:t>
            </a:r>
            <a:r>
              <a:rPr lang="en-US" sz="1600" dirty="0" smtClean="0">
                <a:latin typeface="Times New Roman" pitchFamily="18" charset="0"/>
              </a:rPr>
              <a:t>class can </a:t>
            </a:r>
            <a:r>
              <a:rPr lang="en-US" sz="1600" dirty="0">
                <a:latin typeface="Times New Roman" pitchFamily="18" charset="0"/>
              </a:rPr>
              <a:t>be called and used by a subclass</a:t>
            </a:r>
            <a:r>
              <a:rPr lang="en-US" sz="1600" dirty="0" smtClean="0">
                <a:latin typeface="Times New Roman" pitchFamily="18" charset="0"/>
              </a:rPr>
              <a:t>.</a:t>
            </a:r>
          </a:p>
          <a:p>
            <a:pPr eaLnBrk="1" hangingPunct="1"/>
            <a:endParaRPr lang="en-US" sz="1600" dirty="0" smtClean="0">
              <a:latin typeface="Times New Roman" pitchFamily="18" charset="0"/>
            </a:endParaRPr>
          </a:p>
          <a:p>
            <a:pPr eaLnBrk="1" hangingPunct="1"/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abstract class </a:t>
            </a:r>
            <a:r>
              <a:rPr lang="en-US" sz="1600" dirty="0" err="1">
                <a:latin typeface="Times New Roman" pitchFamily="18" charset="0"/>
              </a:rPr>
              <a:t>CommonHighSchool</a:t>
            </a:r>
            <a:r>
              <a:rPr lang="en-US" sz="1600" dirty="0">
                <a:latin typeface="Times New Roman" pitchFamily="18" charset="0"/>
              </a:rPr>
              <a:t> implements </a:t>
            </a:r>
            <a:r>
              <a:rPr lang="en-US" sz="1600" dirty="0" err="1" smtClean="0">
                <a:latin typeface="Times New Roman" pitchFamily="18" charset="0"/>
              </a:rPr>
              <a:t>HighSchool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</a:t>
            </a:r>
            <a:r>
              <a:rPr lang="en-US" sz="2000" b="0" dirty="0" smtClean="0">
                <a:latin typeface="Arial Black" panose="020B0A04020102020204" pitchFamily="34" charset="0"/>
              </a:rPr>
              <a:t>	public 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r>
              <a:rPr lang="en-US" sz="2000" b="0" dirty="0" smtClean="0">
                <a:latin typeface="Arial Black" panose="020B0A04020102020204" pitchFamily="34" charset="0"/>
              </a:rPr>
              <a:t>()  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</a:t>
            </a:r>
            <a:r>
              <a:rPr lang="en-US" sz="2000" b="0" dirty="0" smtClean="0">
                <a:latin typeface="Arial Black" panose="020B0A04020102020204" pitchFamily="34" charset="0"/>
              </a:rPr>
              <a:t>{  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</a:t>
            </a:r>
            <a:r>
              <a:rPr lang="en-US" sz="2000" b="0" dirty="0" smtClean="0">
                <a:latin typeface="Arial Black" panose="020B0A04020102020204" pitchFamily="34" charset="0"/>
              </a:rPr>
              <a:t>	</a:t>
            </a:r>
            <a:r>
              <a:rPr lang="en-US" sz="2000" b="0" dirty="0" err="1" smtClean="0">
                <a:latin typeface="Arial Black" panose="020B0A04020102020204" pitchFamily="34" charset="0"/>
              </a:rPr>
              <a:t>System.out.println</a:t>
            </a:r>
            <a:r>
              <a:rPr lang="en-US" sz="2000" b="0" dirty="0">
                <a:latin typeface="Arial Black" panose="020B0A04020102020204" pitchFamily="34" charset="0"/>
              </a:rPr>
              <a:t>("</a:t>
            </a:r>
            <a:r>
              <a:rPr lang="en-US" sz="2000" b="0" dirty="0" err="1">
                <a:latin typeface="Arial Black" panose="020B0A04020102020204" pitchFamily="34" charset="0"/>
              </a:rPr>
              <a:t>CommonHighSchool</a:t>
            </a:r>
            <a:r>
              <a:rPr lang="en-US" sz="2000" b="0" dirty="0">
                <a:latin typeface="Arial Black" panose="020B0A04020102020204" pitchFamily="34" charset="0"/>
              </a:rPr>
              <a:t> Constructor</a:t>
            </a:r>
            <a:r>
              <a:rPr lang="en-US" sz="2000" b="0" dirty="0" smtClean="0">
                <a:latin typeface="Arial Black" panose="020B0A04020102020204" pitchFamily="34" charset="0"/>
              </a:rPr>
              <a:t>");  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	</a:t>
            </a:r>
            <a:r>
              <a:rPr lang="en-US" sz="2000" b="0" dirty="0" smtClean="0">
                <a:latin typeface="Arial Black" panose="020B0A04020102020204" pitchFamily="34" charset="0"/>
              </a:rPr>
              <a:t>}</a:t>
            </a:r>
          </a:p>
          <a:p>
            <a:pPr eaLnBrk="1" hangingPunct="1"/>
            <a:endParaRPr lang="en-US" sz="1400" dirty="0" smtClean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information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information</a:t>
            </a:r>
            <a:r>
              <a:rPr lang="en-US" sz="1700" dirty="0" smtClean="0">
                <a:latin typeface="Times New Roman" pitchFamily="18" charset="0"/>
              </a:rPr>
              <a:t>");  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test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("Administer pre-enrollment STUDENT testing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smtClean="0">
                <a:latin typeface="Times New Roman" pitchFamily="18" charset="0"/>
              </a:rPr>
              <a:t>emergency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("Gather STUDENT emergency forms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public void </a:t>
            </a:r>
            <a:r>
              <a:rPr lang="en-US" sz="1700" dirty="0" err="1" smtClean="0">
                <a:latin typeface="Times New Roman" pitchFamily="18" charset="0"/>
              </a:rPr>
              <a:t>computeGPA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("Compute STUDENT GPA 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progress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("Mail STUDENT progress report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attendance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("Take STUDENT attendance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 smtClean="0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smtClean="0">
                <a:latin typeface="Times New Roman" pitchFamily="18" charset="0"/>
              </a:rPr>
              <a:t>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("Pass out STUDENT </a:t>
            </a:r>
            <a:r>
              <a:rPr lang="en-US" sz="1700" dirty="0" err="1">
                <a:latin typeface="Times New Roman" pitchFamily="18" charset="0"/>
              </a:rPr>
              <a:t>dresscode</a:t>
            </a:r>
            <a:r>
              <a:rPr lang="en-US" sz="1700" dirty="0">
                <a:latin typeface="Times New Roman" pitchFamily="18" charset="0"/>
              </a:rPr>
              <a:t> policies</a:t>
            </a:r>
            <a:r>
              <a:rPr lang="en-US" sz="1700" dirty="0" smtClean="0">
                <a:latin typeface="Times New Roman" pitchFamily="18" charset="0"/>
              </a:rPr>
              <a:t>");   } 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residence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("Process STUDENT residence proof</a:t>
            </a:r>
            <a:r>
              <a:rPr lang="en-US" sz="1700" dirty="0" smtClean="0">
                <a:latin typeface="Times New Roman" pitchFamily="18" charset="0"/>
              </a:rPr>
              <a:t>");   }   </a:t>
            </a:r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41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AbstractClass06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This program tests if a subclass can call and use </a:t>
            </a:r>
            <a:r>
              <a:rPr lang="en-US" sz="1700" dirty="0" smtClean="0">
                <a:latin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</a:rPr>
              <a:t>a constructor in an abstract class.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public class Grade09 extends </a:t>
            </a:r>
            <a:r>
              <a:rPr lang="en-US" sz="1700" dirty="0" err="1">
                <a:latin typeface="Times New Roman" pitchFamily="18" charset="0"/>
              </a:rPr>
              <a:t>CommonHighSchool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public </a:t>
            </a:r>
            <a:r>
              <a:rPr lang="en-US" sz="2000" b="0" dirty="0">
                <a:latin typeface="Arial Black" panose="020B0A04020102020204" pitchFamily="34" charset="0"/>
              </a:rPr>
              <a:t>Grade09()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{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</a:rPr>
              <a:t>	super</a:t>
            </a:r>
            <a:r>
              <a:rPr lang="en-US" sz="2000" b="0" dirty="0">
                <a:latin typeface="Arial Black" panose="020B0A04020102020204" pitchFamily="34" charset="0"/>
              </a:rPr>
              <a:t>();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   </a:t>
            </a:r>
            <a:r>
              <a:rPr lang="en-US" sz="2000" b="0" dirty="0" smtClean="0">
                <a:latin typeface="Arial Black" panose="020B0A04020102020204" pitchFamily="34" charset="0"/>
              </a:rPr>
              <a:t>	</a:t>
            </a:r>
            <a:r>
              <a:rPr lang="en-US" sz="2000" b="0" dirty="0" err="1" smtClean="0">
                <a:latin typeface="Arial Black" panose="020B0A04020102020204" pitchFamily="34" charset="0"/>
              </a:rPr>
              <a:t>System.out.println</a:t>
            </a:r>
            <a:r>
              <a:rPr lang="en-US" sz="2000" b="0" dirty="0">
                <a:latin typeface="Arial Black" panose="020B0A04020102020204" pitchFamily="34" charset="0"/>
              </a:rPr>
              <a:t>("Grade09 Constructor");</a:t>
            </a:r>
          </a:p>
          <a:p>
            <a:pPr eaLnBrk="1" hangingPunct="1"/>
            <a:r>
              <a:rPr lang="en-US" sz="2000" b="0" dirty="0">
                <a:latin typeface="Arial Black" panose="020B0A04020102020204" pitchFamily="34" charset="0"/>
              </a:rPr>
              <a:t>   </a:t>
            </a:r>
            <a:r>
              <a:rPr lang="en-US" sz="2000" b="0" dirty="0" smtClean="0">
                <a:latin typeface="Arial Black" panose="020B0A04020102020204" pitchFamily="34" charset="0"/>
              </a:rPr>
              <a:t>	}</a:t>
            </a:r>
            <a:endParaRPr lang="en-US" sz="2000" b="0" dirty="0">
              <a:latin typeface="Arial Black" panose="020B0A04020102020204" pitchFamily="34" charset="0"/>
            </a:endParaRP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register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("Register 9TH GRADER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orientation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9TH GRADE orientation</a:t>
            </a:r>
            <a:r>
              <a:rPr lang="en-US" sz="1700" dirty="0" smtClean="0">
                <a:latin typeface="Times New Roman" pitchFamily="18" charset="0"/>
              </a:rPr>
              <a:t>");   }  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fundRaising</a:t>
            </a:r>
            <a:r>
              <a:rPr lang="en-US" sz="1700" dirty="0" smtClean="0">
                <a:latin typeface="Times New Roman" pitchFamily="18" charset="0"/>
              </a:rPr>
              <a:t>()   { 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("Explain 9TH GRADE fund raising</a:t>
            </a:r>
            <a:r>
              <a:rPr lang="en-US" sz="1700" dirty="0" smtClean="0">
                <a:latin typeface="Times New Roman" pitchFamily="18" charset="0"/>
              </a:rPr>
              <a:t>");   } </a:t>
            </a: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err="1">
                <a:latin typeface="Times New Roman" pitchFamily="18" charset="0"/>
              </a:rPr>
              <a:t>socialEvents</a:t>
            </a:r>
            <a:r>
              <a:rPr lang="en-US" sz="1700" dirty="0" smtClean="0">
                <a:latin typeface="Times New Roman" pitchFamily="18" charset="0"/>
              </a:rPr>
              <a:t>()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("Organize 9TH GRADE social events</a:t>
            </a:r>
            <a:r>
              <a:rPr lang="en-US" sz="1700" dirty="0" smtClean="0">
                <a:latin typeface="Times New Roman" pitchFamily="18" charset="0"/>
              </a:rPr>
              <a:t>");  } </a:t>
            </a: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void </a:t>
            </a:r>
            <a:r>
              <a:rPr lang="en-US" sz="1700" dirty="0" smtClean="0">
                <a:latin typeface="Times New Roman" pitchFamily="18" charset="0"/>
              </a:rPr>
              <a:t>parking  {  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</a:rPr>
              <a:t>("9TH GRADE students have no parking lot</a:t>
            </a:r>
            <a:r>
              <a:rPr lang="en-US" sz="1700" dirty="0" smtClean="0">
                <a:latin typeface="Times New Roman" pitchFamily="18" charset="0"/>
              </a:rPr>
              <a:t>");  } 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endParaRPr lang="en-US" sz="1700" dirty="0" smtClean="0">
              <a:latin typeface="Times New Roman" pitchFamily="18" charset="0"/>
            </a:endParaRP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0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</a:rPr>
              <a:t>// AbstractClass07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This program tests if you can </a:t>
            </a:r>
            <a:r>
              <a:rPr lang="en-US" sz="2800" dirty="0" smtClean="0">
                <a:latin typeface="Times New Roman" pitchFamily="18" charset="0"/>
              </a:rPr>
              <a:t> 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// instantiate an abstract class.</a:t>
            </a: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public class Test07 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public static void main(String</a:t>
            </a:r>
            <a:r>
              <a:rPr lang="en-US" sz="2800" dirty="0" smtClean="0">
                <a:latin typeface="Times New Roman" pitchFamily="18" charset="0"/>
              </a:rPr>
              <a:t>[ ] </a:t>
            </a:r>
            <a:r>
              <a:rPr lang="en-US" sz="2800" dirty="0">
                <a:latin typeface="Times New Roman" pitchFamily="18" charset="0"/>
              </a:rPr>
              <a:t>args)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   </a:t>
            </a:r>
            <a:r>
              <a:rPr lang="en-US" sz="2800" dirty="0" err="1">
                <a:latin typeface="Times New Roman" pitchFamily="18" charset="0"/>
              </a:rPr>
              <a:t>CommonHighSchool</a:t>
            </a:r>
            <a:r>
              <a:rPr lang="en-US" sz="2800" dirty="0">
                <a:latin typeface="Times New Roman" pitchFamily="18" charset="0"/>
              </a:rPr>
              <a:t> test = new </a:t>
            </a:r>
            <a:r>
              <a:rPr lang="en-US" sz="2800" dirty="0" err="1">
                <a:latin typeface="Times New Roman" pitchFamily="18" charset="0"/>
              </a:rPr>
              <a:t>CommonHighSchool</a:t>
            </a:r>
            <a:r>
              <a:rPr lang="en-US" sz="2800" dirty="0">
                <a:latin typeface="Times New Roman" pitchFamily="18" charset="0"/>
              </a:rPr>
              <a:t>();      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}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1700" dirty="0" smtClean="0">
              <a:latin typeface="Times New Roman" pitchFamily="18" charset="0"/>
            </a:endParaRP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490" t="17625" r="5320" b="13880"/>
          <a:stretch/>
        </p:blipFill>
        <p:spPr>
          <a:xfrm>
            <a:off x="1066800" y="4267200"/>
            <a:ext cx="787240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7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Behind the           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13.8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Generics Curtain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pic>
        <p:nvPicPr>
          <p:cNvPr id="2054" name="Picture 6" descr="C:\Users\JohnSchram\AppData\Local\Microsoft\Windows\Temporary Internet Files\Content.IE5\FFLW5XXG\curtain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093" y="1524000"/>
            <a:ext cx="3070707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23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0173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Generics01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an example of using &lt;ArrayList&gt; with “generics”.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java.util.ArrayList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GenericsDemo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static void main (String[] args)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ArrayList</a:t>
            </a:r>
            <a:r>
              <a:rPr lang="en-US" b="0" dirty="0" smtClean="0">
                <a:latin typeface="Arial Black" panose="020B0A04020102020204" pitchFamily="34" charset="0"/>
                <a:cs typeface="Times New Roman" pitchFamily="18" charset="0"/>
              </a:rPr>
              <a:t>&lt;String</a:t>
            </a:r>
            <a:r>
              <a:rPr lang="en-US" b="0" dirty="0">
                <a:latin typeface="Arial Black" panose="020B0A04020102020204" pitchFamily="34" charset="0"/>
                <a:cs typeface="Times New Roman" pitchFamily="18" charset="0"/>
              </a:rPr>
              <a:t>&gt;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names = new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b="0" dirty="0">
                <a:latin typeface="Arial Black" panose="020B0A04020102020204" pitchFamily="34" charset="0"/>
                <a:cs typeface="Times New Roman" pitchFamily="18" charset="0"/>
              </a:rPr>
              <a:t>&lt;String</a:t>
            </a:r>
            <a:r>
              <a:rPr lang="en-US" b="0" dirty="0" smtClean="0">
                <a:latin typeface="Arial Black" panose="020B0A04020102020204" pitchFamily="34" charset="0"/>
                <a:cs typeface="Times New Roman" pitchFamily="18" charset="0"/>
              </a:rPr>
              <a:t>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ArrayList</a:t>
            </a:r>
            <a:r>
              <a:rPr lang="en-US" b="0" dirty="0" smtClean="0">
                <a:latin typeface="Arial Black" panose="020B0A04020102020204" pitchFamily="34" charset="0"/>
                <a:cs typeface="Times New Roman" pitchFamily="18" charset="0"/>
              </a:rPr>
              <a:t>&lt;Person</a:t>
            </a:r>
            <a:r>
              <a:rPr lang="en-US" b="0" dirty="0">
                <a:latin typeface="Arial Black" panose="020B0A04020102020204" pitchFamily="34" charset="0"/>
                <a:cs typeface="Times New Roman" pitchFamily="18" charset="0"/>
              </a:rPr>
              <a:t>&gt;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people = new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b="0" dirty="0">
                <a:latin typeface="Arial Black" panose="020B0A04020102020204" pitchFamily="34" charset="0"/>
                <a:cs typeface="Times New Roman" pitchFamily="18" charset="0"/>
              </a:rPr>
              <a:t>&lt;Person</a:t>
            </a:r>
            <a:r>
              <a:rPr lang="en-US" b="0" dirty="0" smtClean="0">
                <a:latin typeface="Arial Black" panose="020B0A04020102020204" pitchFamily="34" charset="0"/>
                <a:cs typeface="Times New Roman" pitchFamily="18" charset="0"/>
              </a:rPr>
              <a:t>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Person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String name;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int age;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Person(String n, int a)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name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n;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a;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Generics01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This is how the &lt;List&gt; interface appears on the College Board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interface List&lt;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 Size();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add(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void add(int index,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get(int index);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set(int index, 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remove(int index);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8133" name="Picture 5" descr="C:\Users\JohnSchram\AppData\Local\Microsoft\Windows\Temporary Internet Files\Content.IE5\4IKOJ3QF\MC900434389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438400"/>
            <a:ext cx="2223666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29400" y="2590800"/>
            <a:ext cx="160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What</a:t>
            </a:r>
          </a:p>
          <a:p>
            <a:pPr algn="ctr"/>
            <a:r>
              <a:rPr lang="en-US" dirty="0" smtClean="0"/>
              <a:t>exactly is this </a:t>
            </a:r>
            <a:r>
              <a:rPr lang="en-US" b="0" dirty="0" smtClean="0">
                <a:latin typeface="Arial Black" pitchFamily="34" charset="0"/>
              </a:rPr>
              <a:t>E</a:t>
            </a:r>
            <a:r>
              <a:rPr lang="en-US" dirty="0" smtClean="0"/>
              <a:t> </a:t>
            </a:r>
          </a:p>
          <a:p>
            <a:pPr algn="ctr"/>
            <a:r>
              <a:rPr lang="en-US" dirty="0" smtClean="0"/>
              <a:t>thing?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6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leonschram\Desktop\APCS-2014 Working\TeachAPCS(A) WORKING\APCS-TeachingUnits-WORKING\Unit-13-Interfaces &amp; Abstract Classes-WORKING\Programs13\Programs13c-Generics\Generics01\Generics01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2960"/>
            <a:ext cx="9144000" cy="5212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690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// Generics02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// This &lt;</a:t>
            </a:r>
            <a:r>
              <a:rPr lang="en-US" sz="2400" dirty="0" err="1">
                <a:latin typeface="Times New Roman" pitchFamily="18" charset="0"/>
              </a:rPr>
              <a:t>IntList</a:t>
            </a:r>
            <a:r>
              <a:rPr lang="en-US" sz="2400" dirty="0">
                <a:latin typeface="Times New Roman" pitchFamily="18" charset="0"/>
              </a:rPr>
              <a:t>&gt; interface strictly specializes with methods to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// process &lt;int&gt; variables only.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public interface </a:t>
            </a:r>
            <a:r>
              <a:rPr lang="en-US" sz="2400" dirty="0" err="1">
                <a:latin typeface="Times New Roman" pitchFamily="18" charset="0"/>
              </a:rPr>
              <a:t>IntList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int size();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add(int </a:t>
            </a:r>
            <a:r>
              <a:rPr lang="en-US" sz="2400" dirty="0" err="1">
                <a:latin typeface="Times New Roman" pitchFamily="18" charset="0"/>
              </a:rPr>
              <a:t>nbr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add(int index, int </a:t>
            </a:r>
            <a:r>
              <a:rPr lang="en-US" sz="2400" dirty="0" err="1">
                <a:latin typeface="Times New Roman" pitchFamily="18" charset="0"/>
              </a:rPr>
              <a:t>nbr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int get(int index);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set(int index, int </a:t>
            </a:r>
            <a:r>
              <a:rPr lang="en-US" sz="2400" dirty="0" err="1">
                <a:latin typeface="Times New Roman" pitchFamily="18" charset="0"/>
              </a:rPr>
              <a:t>nbr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int remove(int index);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Generics02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The &lt;</a:t>
            </a:r>
            <a:r>
              <a:rPr lang="en-US" sz="1600" dirty="0" err="1">
                <a:latin typeface="Times New Roman" pitchFamily="18" charset="0"/>
              </a:rPr>
              <a:t>IntArray</a:t>
            </a:r>
            <a:r>
              <a:rPr lang="en-US" sz="1600" dirty="0">
                <a:latin typeface="Times New Roman" pitchFamily="18" charset="0"/>
              </a:rPr>
              <a:t>&gt; "concrete" class implements </a:t>
            </a:r>
            <a:r>
              <a:rPr lang="en-US" sz="1600" dirty="0" smtClean="0">
                <a:latin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</a:rPr>
              <a:t>&lt;</a:t>
            </a:r>
            <a:r>
              <a:rPr lang="en-US" sz="1600" dirty="0" err="1">
                <a:latin typeface="Times New Roman" pitchFamily="18" charset="0"/>
              </a:rPr>
              <a:t>IntList</a:t>
            </a:r>
            <a:r>
              <a:rPr lang="en-US" sz="1600" dirty="0">
                <a:latin typeface="Times New Roman" pitchFamily="18" charset="0"/>
              </a:rPr>
              <a:t>&gt; "abstract" interface.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public class </a:t>
            </a:r>
            <a:r>
              <a:rPr lang="en-US" sz="1600" dirty="0" err="1">
                <a:latin typeface="Times New Roman" pitchFamily="18" charset="0"/>
              </a:rPr>
              <a:t>IntArray</a:t>
            </a:r>
            <a:r>
              <a:rPr lang="en-US" sz="1600" dirty="0">
                <a:latin typeface="Times New Roman" pitchFamily="18" charset="0"/>
              </a:rPr>
              <a:t> implements </a:t>
            </a:r>
            <a:r>
              <a:rPr lang="en-US" sz="1600" dirty="0" err="1">
                <a:latin typeface="Times New Roman" pitchFamily="18" charset="0"/>
              </a:rPr>
              <a:t>IntList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private int[] array;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</a:t>
            </a:r>
            <a:r>
              <a:rPr lang="en-US" sz="1600" dirty="0" err="1">
                <a:latin typeface="Times New Roman" pitchFamily="18" charset="0"/>
              </a:rPr>
              <a:t>IntArray</a:t>
            </a:r>
            <a:r>
              <a:rPr lang="en-US" sz="16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array = new int[10000];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int size</a:t>
            </a:r>
            <a:r>
              <a:rPr lang="en-US" sz="1600" dirty="0" smtClean="0">
                <a:latin typeface="Times New Roman" pitchFamily="18" charset="0"/>
              </a:rPr>
              <a:t>()   {   return </a:t>
            </a:r>
            <a:r>
              <a:rPr lang="en-US" sz="1600" dirty="0">
                <a:latin typeface="Times New Roman" pitchFamily="18" charset="0"/>
              </a:rPr>
              <a:t>size</a:t>
            </a:r>
            <a:r>
              <a:rPr lang="en-US" sz="1600" dirty="0" smtClean="0">
                <a:latin typeface="Times New Roman" pitchFamily="18" charset="0"/>
              </a:rPr>
              <a:t>;   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void add(int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array[size] =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size++;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void add(int index, int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size</a:t>
            </a:r>
            <a:r>
              <a:rPr lang="en-US" sz="1600" dirty="0">
                <a:latin typeface="Times New Roman" pitchFamily="18" charset="0"/>
              </a:rPr>
              <a:t>++;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for (int k = size-1; k &gt; index; k--)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	array[k] = array[k-1];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	array[index] =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572000" y="567892"/>
            <a:ext cx="4572000" cy="626364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public int get(int index</a:t>
            </a:r>
            <a:r>
              <a:rPr lang="en-US" sz="1600" dirty="0" smtClean="0">
                <a:latin typeface="Times New Roman" pitchFamily="18" charset="0"/>
              </a:rPr>
              <a:t>)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{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	return </a:t>
            </a:r>
            <a:r>
              <a:rPr lang="en-US" sz="1600" dirty="0">
                <a:latin typeface="Times New Roman" pitchFamily="18" charset="0"/>
              </a:rPr>
              <a:t>array[index</a:t>
            </a:r>
            <a:r>
              <a:rPr lang="en-US" sz="1600" dirty="0" smtClean="0">
                <a:latin typeface="Times New Roman" pitchFamily="18" charset="0"/>
              </a:rPr>
              <a:t>];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public void set(int index, int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{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	array[index</a:t>
            </a:r>
            <a:r>
              <a:rPr lang="en-US" sz="1600" dirty="0">
                <a:latin typeface="Times New Roman" pitchFamily="18" charset="0"/>
              </a:rPr>
              <a:t>] = </a:t>
            </a:r>
            <a:r>
              <a:rPr lang="en-US" sz="1600" dirty="0" err="1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;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	</a:t>
            </a:r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int remove(int index)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int temp = array[index];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for (int k = index; k &lt; size-1; k++)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	array[k] = array[k+1];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size--;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return temp;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public String toString()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String </a:t>
            </a:r>
            <a:r>
              <a:rPr lang="en-US" sz="1600" dirty="0">
                <a:latin typeface="Times New Roman" pitchFamily="18" charset="0"/>
              </a:rPr>
              <a:t>temp = "[";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for (int k = 0; k &lt; size-1; k++)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		temp = temp + array[k] + ", ";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temp </a:t>
            </a:r>
            <a:r>
              <a:rPr lang="en-US" sz="1600" dirty="0">
                <a:latin typeface="Times New Roman" pitchFamily="18" charset="0"/>
              </a:rPr>
              <a:t>= </a:t>
            </a:r>
            <a:r>
              <a:rPr lang="en-US" sz="1600" dirty="0" smtClean="0">
                <a:latin typeface="Times New Roman" pitchFamily="18" charset="0"/>
              </a:rPr>
              <a:t>temp </a:t>
            </a:r>
            <a:r>
              <a:rPr lang="en-US" sz="1600" dirty="0">
                <a:latin typeface="Times New Roman" pitchFamily="18" charset="0"/>
              </a:rPr>
              <a:t>+ array[size-1] + "]" + "\n";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  </a:t>
            </a:r>
            <a:r>
              <a:rPr lang="en-US" sz="1600" dirty="0" smtClean="0">
                <a:latin typeface="Times New Roman" pitchFamily="18" charset="0"/>
              </a:rPr>
              <a:t>		return </a:t>
            </a:r>
            <a:r>
              <a:rPr lang="en-US" sz="16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338138" algn="l"/>
                <a:tab pos="688975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21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Generics02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This class tests the &lt;</a:t>
            </a:r>
            <a:r>
              <a:rPr lang="en-US" sz="1600" dirty="0" err="1">
                <a:latin typeface="Times New Roman" pitchFamily="18" charset="0"/>
              </a:rPr>
              <a:t>IntArray</a:t>
            </a:r>
            <a:r>
              <a:rPr lang="en-US" sz="1600" dirty="0">
                <a:latin typeface="Times New Roman" pitchFamily="18" charset="0"/>
              </a:rPr>
              <a:t>&gt; implementation of the &lt;</a:t>
            </a:r>
            <a:r>
              <a:rPr lang="en-US" sz="1600" dirty="0" err="1">
                <a:latin typeface="Times New Roman" pitchFamily="18" charset="0"/>
              </a:rPr>
              <a:t>IntList</a:t>
            </a:r>
            <a:r>
              <a:rPr lang="en-US" sz="1600" dirty="0">
                <a:latin typeface="Times New Roman" pitchFamily="18" charset="0"/>
              </a:rPr>
              <a:t>&gt; interface.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public class Runner02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IntArray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numbers = new </a:t>
            </a:r>
            <a:r>
              <a:rPr lang="en-US" sz="1600" dirty="0" err="1">
                <a:latin typeface="Times New Roman" pitchFamily="18" charset="0"/>
              </a:rPr>
              <a:t>IntArray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for </a:t>
            </a:r>
            <a:r>
              <a:rPr lang="en-US" sz="1600" dirty="0">
                <a:latin typeface="Times New Roman" pitchFamily="18" charset="0"/>
              </a:rPr>
              <a:t>(int k = 0; k &lt; 10;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numbers.add</a:t>
            </a:r>
            <a:r>
              <a:rPr lang="en-US" sz="1600" dirty="0" smtClean="0">
                <a:latin typeface="Times New Roman" pitchFamily="18" charset="0"/>
              </a:rPr>
              <a:t>(k </a:t>
            </a:r>
            <a:r>
              <a:rPr lang="en-US" sz="1600" dirty="0">
                <a:latin typeface="Times New Roman" pitchFamily="18" charset="0"/>
              </a:rPr>
              <a:t>+ 100);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(numbers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numbers.add</a:t>
            </a:r>
            <a:r>
              <a:rPr lang="en-US" sz="1600" dirty="0" smtClean="0">
                <a:latin typeface="Times New Roman" pitchFamily="18" charset="0"/>
              </a:rPr>
              <a:t>(10,999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numbers.add</a:t>
            </a:r>
            <a:r>
              <a:rPr lang="en-US" sz="1600" dirty="0" smtClean="0">
                <a:latin typeface="Times New Roman" pitchFamily="18" charset="0"/>
              </a:rPr>
              <a:t>(0,999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(numbers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for </a:t>
            </a:r>
            <a:r>
              <a:rPr lang="en-US" sz="1600" dirty="0">
                <a:latin typeface="Times New Roman" pitchFamily="18" charset="0"/>
              </a:rPr>
              <a:t>(int k = 0; k &lt; </a:t>
            </a:r>
            <a:r>
              <a:rPr lang="en-US" sz="1600" dirty="0" err="1">
                <a:latin typeface="Times New Roman" pitchFamily="18" charset="0"/>
              </a:rPr>
              <a:t>numbers.size</a:t>
            </a:r>
            <a:r>
              <a:rPr lang="en-US" sz="1600" dirty="0">
                <a:latin typeface="Times New Roman" pitchFamily="18" charset="0"/>
              </a:rPr>
              <a:t>();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</a:t>
            </a:r>
            <a:r>
              <a:rPr lang="en-US" sz="1600" dirty="0" smtClean="0">
                <a:latin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</a:rPr>
              <a:t>numbers.get</a:t>
            </a:r>
            <a:r>
              <a:rPr lang="en-US" sz="1600" dirty="0" smtClean="0">
                <a:latin typeface="Times New Roman" pitchFamily="18" charset="0"/>
              </a:rPr>
              <a:t>(k</a:t>
            </a:r>
            <a:r>
              <a:rPr lang="en-US" sz="1600" dirty="0">
                <a:latin typeface="Times New Roman" pitchFamily="18" charset="0"/>
              </a:rPr>
              <a:t>) + "  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("\n");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numbers.set</a:t>
            </a:r>
            <a:r>
              <a:rPr lang="en-US" sz="1600" dirty="0" smtClean="0">
                <a:latin typeface="Times New Roman" pitchFamily="18" charset="0"/>
              </a:rPr>
              <a:t>(3,555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numbers.set</a:t>
            </a:r>
            <a:r>
              <a:rPr lang="en-US" sz="1600" dirty="0" smtClean="0">
                <a:latin typeface="Times New Roman" pitchFamily="18" charset="0"/>
              </a:rPr>
              <a:t>(6,555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(numbers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numbers.remove</a:t>
            </a:r>
            <a:r>
              <a:rPr lang="en-US" sz="1600" dirty="0" smtClean="0">
                <a:latin typeface="Times New Roman" pitchFamily="18" charset="0"/>
              </a:rPr>
              <a:t>(3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numbers.remove</a:t>
            </a:r>
            <a:r>
              <a:rPr lang="en-US" sz="1600" dirty="0" smtClean="0">
                <a:latin typeface="Times New Roman" pitchFamily="18" charset="0"/>
              </a:rPr>
              <a:t>(6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(numbers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3800" y="4343400"/>
            <a:ext cx="5410200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[100, 101, 102, 103, 104, 105, 106, 107, 108, 109]</a:t>
            </a:r>
          </a:p>
          <a:p>
            <a:endParaRPr lang="en-US" sz="16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[999, 100, 101, 102, 103, 104, 105, 106, 107, 108, 109, 999]</a:t>
            </a:r>
          </a:p>
          <a:p>
            <a:endParaRPr lang="en-US" sz="16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999  100  101  102  103  104  105  106  107  108  109  999  </a:t>
            </a:r>
          </a:p>
          <a:p>
            <a:endParaRPr lang="en-US" sz="16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[999, 100, 101, 555, 103, 104, 555, 106, 107, 108, 109, 999]</a:t>
            </a:r>
          </a:p>
          <a:p>
            <a:endParaRPr lang="en-US" sz="16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[999, 100, 101, 103, 104, 555, 107, 108, 109, 999]</a:t>
            </a:r>
            <a:endParaRPr lang="en-US" dirty="0" smtClean="0">
              <a:latin typeface="Arial Narrow" panose="020B0606020202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15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Generics03A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This &lt;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&gt; class is declared as a "generic" class.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"Class Parameter" </a:t>
            </a:r>
            <a:r>
              <a:rPr lang="en-US" sz="2000" dirty="0" smtClean="0">
                <a:latin typeface="Times New Roman" pitchFamily="18" charset="0"/>
              </a:rPr>
              <a:t>&lt;</a:t>
            </a:r>
            <a:r>
              <a:rPr lang="en-US" sz="2400" b="0" dirty="0">
                <a:latin typeface="Arial Black" panose="020B0A04020102020204" pitchFamily="34" charset="0"/>
              </a:rPr>
              <a:t>E</a:t>
            </a:r>
            <a:r>
              <a:rPr lang="en-US" sz="2000" dirty="0" smtClean="0">
                <a:latin typeface="Times New Roman" pitchFamily="18" charset="0"/>
              </a:rPr>
              <a:t>&gt; </a:t>
            </a:r>
            <a:r>
              <a:rPr lang="en-US" sz="2000" dirty="0">
                <a:latin typeface="Times New Roman" pitchFamily="18" charset="0"/>
              </a:rPr>
              <a:t>takes on the value of the data type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when a new &lt;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&gt; object is instantiated.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&lt;</a:t>
            </a:r>
            <a:r>
              <a:rPr lang="en-US" sz="2400" b="0" dirty="0">
                <a:latin typeface="Arial Black" panose="020B0A04020102020204" pitchFamily="34" charset="0"/>
              </a:rPr>
              <a:t>E</a:t>
            </a:r>
            <a:r>
              <a:rPr lang="en-US" sz="2000" dirty="0">
                <a:latin typeface="Times New Roman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Object[] array;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array = new Object[10000];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int size</a:t>
            </a:r>
            <a:r>
              <a:rPr lang="en-US" sz="2000" dirty="0" smtClean="0">
                <a:latin typeface="Times New Roman" pitchFamily="18" charset="0"/>
              </a:rPr>
              <a:t>()   {   return </a:t>
            </a:r>
            <a:r>
              <a:rPr lang="en-US" sz="2000" dirty="0">
                <a:latin typeface="Times New Roman" pitchFamily="18" charset="0"/>
              </a:rPr>
              <a:t>size</a:t>
            </a:r>
            <a:r>
              <a:rPr lang="en-US" sz="2000" dirty="0" smtClean="0">
                <a:latin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void </a:t>
            </a:r>
            <a:r>
              <a:rPr lang="en-US" sz="2000" dirty="0" smtClean="0">
                <a:latin typeface="Times New Roman" pitchFamily="18" charset="0"/>
              </a:rPr>
              <a:t>add(</a:t>
            </a:r>
            <a:r>
              <a:rPr lang="en-US" sz="2400" b="0" dirty="0">
                <a:latin typeface="Arial Black" panose="020B0A04020102020204" pitchFamily="34" charset="0"/>
              </a:rPr>
              <a:t>E</a:t>
            </a:r>
            <a:r>
              <a:rPr lang="en-US" sz="2000" dirty="0" smtClean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obj</a:t>
            </a:r>
            <a:r>
              <a:rPr lang="en-US" sz="20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array[size] = </a:t>
            </a:r>
            <a:r>
              <a:rPr lang="en-US" sz="2000" dirty="0" err="1">
                <a:latin typeface="Times New Roman" pitchFamily="18" charset="0"/>
              </a:rPr>
              <a:t>obj</a:t>
            </a:r>
            <a:r>
              <a:rPr lang="en-US" sz="20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size++;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3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add(int index, 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size</a:t>
            </a:r>
            <a:r>
              <a:rPr lang="en-US" sz="2400" dirty="0">
                <a:latin typeface="Times New Roman" pitchFamily="18" charset="0"/>
              </a:rPr>
              <a:t>++;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size-1; k &gt; index; k--)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array[k-1];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get(int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(E) 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set(int index, 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5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remove(int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800" b="0" dirty="0">
                <a:latin typeface="Arial Black" panose="020B0A04020102020204" pitchFamily="34" charset="0"/>
              </a:rPr>
              <a:t> E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temp = </a:t>
            </a:r>
            <a:r>
              <a:rPr lang="en-US" sz="2400" dirty="0" smtClean="0">
                <a:latin typeface="Times New Roman" pitchFamily="18" charset="0"/>
              </a:rPr>
              <a:t>(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</a:rPr>
              <a:t>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index;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array[k+1];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size--;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</a:t>
            </a:r>
            <a:r>
              <a:rPr lang="en-US" sz="2400" dirty="0" smtClean="0">
                <a:latin typeface="Times New Roman" pitchFamily="18" charset="0"/>
              </a:rPr>
              <a:t>(</a:t>
            </a:r>
            <a:r>
              <a:rPr lang="en-US" sz="2800" b="0" dirty="0">
                <a:latin typeface="Arial Black" panose="020B0A04020102020204" pitchFamily="34" charset="0"/>
              </a:rPr>
              <a:t>E</a:t>
            </a:r>
            <a:r>
              <a:rPr lang="en-US" sz="2400" dirty="0" smtClean="0">
                <a:latin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String toString()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String </a:t>
            </a:r>
            <a:r>
              <a:rPr lang="en-US" sz="2400" dirty="0">
                <a:latin typeface="Times New Roman" pitchFamily="18" charset="0"/>
              </a:rPr>
              <a:t>temp = "[";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0;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temp = temp + array[k] + ", 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temp </a:t>
            </a:r>
            <a:r>
              <a:rPr lang="en-US" sz="2400" dirty="0">
                <a:latin typeface="Times New Roman" pitchFamily="18" charset="0"/>
              </a:rPr>
              <a:t>= temp + array[size-1] + "]" + "\n";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19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Generics03A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The &lt;Runner03&gt; class tests the "generic" &lt;</a:t>
            </a:r>
            <a:r>
              <a:rPr lang="en-US" sz="1600" dirty="0" err="1">
                <a:latin typeface="Times New Roman" pitchFamily="18" charset="0"/>
              </a:rPr>
              <a:t>ObjArray</a:t>
            </a:r>
            <a:r>
              <a:rPr lang="en-US" sz="1600" dirty="0">
                <a:latin typeface="Times New Roman" pitchFamily="18" charset="0"/>
              </a:rPr>
              <a:t>&gt; class.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class Runner03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ObjArray</a:t>
            </a:r>
            <a:r>
              <a:rPr lang="en-US" sz="1600" dirty="0" smtClean="0">
                <a:latin typeface="Times New Roman" pitchFamily="18" charset="0"/>
              </a:rPr>
              <a:t>&lt;String</a:t>
            </a:r>
            <a:r>
              <a:rPr lang="en-US" sz="1600" dirty="0">
                <a:latin typeface="Times New Roman" pitchFamily="18" charset="0"/>
              </a:rPr>
              <a:t>&gt; names = new </a:t>
            </a:r>
            <a:r>
              <a:rPr lang="en-US" sz="1600" dirty="0" err="1">
                <a:latin typeface="Times New Roman" pitchFamily="18" charset="0"/>
              </a:rPr>
              <a:t>ObjArray</a:t>
            </a:r>
            <a:r>
              <a:rPr lang="en-US" sz="1600" dirty="0">
                <a:latin typeface="Times New Roman" pitchFamily="18" charset="0"/>
              </a:rPr>
              <a:t>&lt;String&gt;();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("Isolde");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("John");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("Greg");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("Maria");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("Heidi");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 smtClean="0">
                <a:latin typeface="Times New Roman" pitchFamily="18" charset="0"/>
              </a:rPr>
              <a:t>(5</a:t>
            </a:r>
            <a:r>
              <a:rPr lang="en-US" sz="1600" dirty="0">
                <a:latin typeface="Times New Roman" pitchFamily="18" charset="0"/>
              </a:rPr>
              <a:t>,"Braxi");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 smtClean="0">
                <a:latin typeface="Times New Roman" pitchFamily="18" charset="0"/>
              </a:rPr>
              <a:t>(0</a:t>
            </a:r>
            <a:r>
              <a:rPr lang="en-US" sz="1600" dirty="0">
                <a:latin typeface="Times New Roman" pitchFamily="18" charset="0"/>
              </a:rPr>
              <a:t>,"Marie");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for </a:t>
            </a:r>
            <a:r>
              <a:rPr lang="en-US" sz="1600" dirty="0">
                <a:latin typeface="Times New Roman" pitchFamily="18" charset="0"/>
              </a:rPr>
              <a:t>(int k = 0; k &lt; </a:t>
            </a:r>
            <a:r>
              <a:rPr lang="en-US" sz="1600" dirty="0" err="1">
                <a:latin typeface="Times New Roman" pitchFamily="18" charset="0"/>
              </a:rPr>
              <a:t>names.size</a:t>
            </a:r>
            <a:r>
              <a:rPr lang="en-US" sz="1600" dirty="0">
                <a:latin typeface="Times New Roman" pitchFamily="18" charset="0"/>
              </a:rPr>
              <a:t>();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</a:t>
            </a:r>
            <a:r>
              <a:rPr lang="en-US" sz="1600" dirty="0" smtClean="0">
                <a:latin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</a:rPr>
              <a:t>names.get</a:t>
            </a:r>
            <a:r>
              <a:rPr lang="en-US" sz="1600" dirty="0" smtClean="0">
                <a:latin typeface="Times New Roman" pitchFamily="18" charset="0"/>
              </a:rPr>
              <a:t>(k</a:t>
            </a:r>
            <a:r>
              <a:rPr lang="en-US" sz="1600" dirty="0">
                <a:latin typeface="Times New Roman" pitchFamily="18" charset="0"/>
              </a:rPr>
              <a:t>) + "  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("\n");</a:t>
            </a:r>
          </a:p>
          <a:p>
            <a:pPr eaLnBrk="1" hangingPunct="1">
              <a:lnSpc>
                <a:spcPct val="90000"/>
              </a:lnSpc>
            </a:pPr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names.set</a:t>
            </a:r>
            <a:r>
              <a:rPr lang="en-US" sz="1600" dirty="0" smtClean="0">
                <a:latin typeface="Times New Roman" pitchFamily="18" charset="0"/>
              </a:rPr>
              <a:t>(3</a:t>
            </a:r>
            <a:r>
              <a:rPr lang="en-US" sz="1600" dirty="0">
                <a:latin typeface="Times New Roman" pitchFamily="18" charset="0"/>
              </a:rPr>
              <a:t>,"Aardvark");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names.set</a:t>
            </a:r>
            <a:r>
              <a:rPr lang="en-US" sz="1600" dirty="0" smtClean="0">
                <a:latin typeface="Times New Roman" pitchFamily="18" charset="0"/>
              </a:rPr>
              <a:t>(4</a:t>
            </a:r>
            <a:r>
              <a:rPr lang="en-US" sz="1600" dirty="0">
                <a:latin typeface="Times New Roman" pitchFamily="18" charset="0"/>
              </a:rPr>
              <a:t>,"Aardvark");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1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names.remove</a:t>
            </a:r>
            <a:r>
              <a:rPr lang="en-US" sz="1600" dirty="0" smtClean="0">
                <a:latin typeface="Times New Roman" pitchFamily="18" charset="0"/>
              </a:rPr>
              <a:t>(3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names.remove</a:t>
            </a:r>
            <a:r>
              <a:rPr lang="en-US" sz="1600" dirty="0" smtClean="0">
                <a:latin typeface="Times New Roman" pitchFamily="18" charset="0"/>
              </a:rPr>
              <a:t>(4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38600" y="4611231"/>
            <a:ext cx="51054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[Isolde, John, Greg, Maria, Heidi]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[Marie, Isolde, John, Greg, Maria, Heidi, </a:t>
            </a:r>
            <a:r>
              <a:rPr lang="en-US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Marie  Isolde  John  Greg  Maria  Heidi  </a:t>
            </a:r>
            <a:r>
              <a:rPr lang="en-US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  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[Marie, Isolde, John, Aardvark, Aardvark, Heidi, </a:t>
            </a:r>
            <a:r>
              <a:rPr lang="en-US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[Marie, Isolde, John, Aardvark, </a:t>
            </a:r>
            <a:r>
              <a:rPr lang="en-US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dirty="0">
                <a:latin typeface="Arial Narrow" panose="020B0606020202030204" pitchFamily="34" charset="0"/>
                <a:cs typeface="Courier New" panose="02070309020205020404" pitchFamily="49" charset="0"/>
              </a:rPr>
              <a:t>]</a:t>
            </a:r>
            <a:endParaRPr lang="en-US" dirty="0" smtClean="0">
              <a:latin typeface="Arial Narrow" panose="020B0606020202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98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69065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Generics03B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This &lt;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&gt; class is declared as a "generic" class.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The is almost identical to the Generics03A file.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All the methods do the same process.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The only difference is that &lt;E&gt; is now &lt;Aardvark</a:t>
            </a:r>
            <a:r>
              <a:rPr lang="en-US" sz="2000" dirty="0" smtClean="0">
                <a:latin typeface="Times New Roman" pitchFamily="18" charset="0"/>
              </a:rPr>
              <a:t>&gt;.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public class </a:t>
            </a:r>
            <a:r>
              <a:rPr lang="en-US" sz="2000" dirty="0" err="1" smtClean="0">
                <a:latin typeface="Times New Roman" pitchFamily="18" charset="0"/>
              </a:rPr>
              <a:t>ObjArray</a:t>
            </a:r>
            <a:r>
              <a:rPr lang="en-US" sz="2000" dirty="0" smtClean="0">
                <a:latin typeface="Times New Roman" pitchFamily="18" charset="0"/>
              </a:rPr>
              <a:t>&lt;</a:t>
            </a:r>
            <a:r>
              <a:rPr lang="en-US" sz="2400" b="0" dirty="0" smtClean="0">
                <a:latin typeface="Arial Black" panose="020B0A04020102020204" pitchFamily="34" charset="0"/>
              </a:rPr>
              <a:t>Aardvark</a:t>
            </a:r>
            <a:r>
              <a:rPr lang="en-US" sz="2000" dirty="0" smtClean="0">
                <a:latin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Object[] array;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ObjArray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array = new Object[10000];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int size</a:t>
            </a:r>
            <a:r>
              <a:rPr lang="en-US" sz="2000" dirty="0" smtClean="0">
                <a:latin typeface="Times New Roman" pitchFamily="18" charset="0"/>
              </a:rPr>
              <a:t>()   {   return </a:t>
            </a:r>
            <a:r>
              <a:rPr lang="en-US" sz="2000" dirty="0">
                <a:latin typeface="Times New Roman" pitchFamily="18" charset="0"/>
              </a:rPr>
              <a:t>size</a:t>
            </a:r>
            <a:r>
              <a:rPr lang="en-US" sz="2000" dirty="0" smtClean="0">
                <a:latin typeface="Times New Roman" pitchFamily="18" charset="0"/>
              </a:rPr>
              <a:t>;   }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void </a:t>
            </a:r>
            <a:r>
              <a:rPr lang="en-US" sz="2000" dirty="0" smtClean="0">
                <a:latin typeface="Times New Roman" pitchFamily="18" charset="0"/>
              </a:rPr>
              <a:t>add(</a:t>
            </a:r>
            <a:r>
              <a:rPr lang="en-US" sz="2400" b="0" dirty="0">
                <a:latin typeface="Arial Black" panose="020B0A04020102020204" pitchFamily="34" charset="0"/>
              </a:rPr>
              <a:t>Aardvark</a:t>
            </a:r>
            <a:r>
              <a:rPr lang="en-US" sz="2000" dirty="0" smtClean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obj</a:t>
            </a:r>
            <a:r>
              <a:rPr lang="en-US" sz="20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array[size] = </a:t>
            </a:r>
            <a:r>
              <a:rPr lang="en-US" sz="2000" dirty="0" err="1">
                <a:latin typeface="Times New Roman" pitchFamily="18" charset="0"/>
              </a:rPr>
              <a:t>obj</a:t>
            </a:r>
            <a:r>
              <a:rPr lang="en-US" sz="20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	size++;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45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add(int index, 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size</a:t>
            </a:r>
            <a:r>
              <a:rPr lang="en-US" sz="2400" dirty="0">
                <a:latin typeface="Times New Roman" pitchFamily="18" charset="0"/>
              </a:rPr>
              <a:t>++;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size-1; k &gt; index; k--)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array[k-1];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get(int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(E) 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void set(int index, 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04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remove(int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</a:t>
            </a:r>
            <a:r>
              <a:rPr lang="en-US" sz="2800" b="0" dirty="0" smtClean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temp = </a:t>
            </a:r>
            <a:r>
              <a:rPr lang="en-US" sz="2400" dirty="0" smtClean="0">
                <a:latin typeface="Times New Roman" pitchFamily="18" charset="0"/>
              </a:rPr>
              <a:t>(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</a:rPr>
              <a:t>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index;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array[k+1];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size--;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</a:t>
            </a:r>
            <a:r>
              <a:rPr lang="en-US" sz="2400" dirty="0" smtClean="0">
                <a:latin typeface="Times New Roman" pitchFamily="18" charset="0"/>
              </a:rPr>
              <a:t>(</a:t>
            </a:r>
            <a:r>
              <a:rPr lang="en-US" sz="2800" b="0" dirty="0">
                <a:latin typeface="Arial Black" panose="020B0A04020102020204" pitchFamily="34" charset="0"/>
              </a:rPr>
              <a:t>Aardvark</a:t>
            </a:r>
            <a:r>
              <a:rPr lang="en-US" sz="2400" dirty="0" smtClean="0">
                <a:latin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String toString()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String </a:t>
            </a:r>
            <a:r>
              <a:rPr lang="en-US" sz="2400" dirty="0">
                <a:latin typeface="Times New Roman" pitchFamily="18" charset="0"/>
              </a:rPr>
              <a:t>temp = "[";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0;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temp = temp + array[k] + ", 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temp </a:t>
            </a:r>
            <a:r>
              <a:rPr lang="en-US" sz="2400" dirty="0">
                <a:latin typeface="Times New Roman" pitchFamily="18" charset="0"/>
              </a:rPr>
              <a:t>= temp + array[size-1] + "]" + "\n";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0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50178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The Logic Behind the “Generics” Name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28600" y="950178"/>
            <a:ext cx="8686800" cy="575542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/>
              <a:t>With medicine we understand a "generic" drug to be one that does not have a brand-name requirement.  Consider the following class heading</a:t>
            </a:r>
            <a:r>
              <a:rPr lang="en-US" sz="2000" dirty="0" smtClean="0"/>
              <a:t>:</a:t>
            </a:r>
          </a:p>
          <a:p>
            <a:pPr algn="ctr"/>
            <a:r>
              <a:rPr lang="en-US" sz="2400" b="0" dirty="0" smtClean="0">
                <a:latin typeface="Arial Black" panose="020B0A04020102020204" pitchFamily="34" charset="0"/>
              </a:rPr>
              <a:t>public </a:t>
            </a:r>
            <a:r>
              <a:rPr lang="en-US" sz="2400" b="0" dirty="0">
                <a:latin typeface="Arial Black" panose="020B0A04020102020204" pitchFamily="34" charset="0"/>
              </a:rPr>
              <a:t>class Hospital&lt;E&gt;</a:t>
            </a:r>
          </a:p>
          <a:p>
            <a:r>
              <a:rPr lang="en-US" sz="2000" dirty="0"/>
              <a:t> </a:t>
            </a:r>
          </a:p>
          <a:p>
            <a:r>
              <a:rPr lang="en-US" sz="2000" dirty="0"/>
              <a:t>It is not known what data type will be used by the Hospital class.  In this case </a:t>
            </a:r>
            <a:r>
              <a:rPr lang="en-US" sz="2000" b="0" dirty="0">
                <a:latin typeface="Arial Black" panose="020B0A04020102020204" pitchFamily="34" charset="0"/>
              </a:rPr>
              <a:t>E</a:t>
            </a:r>
            <a:r>
              <a:rPr lang="en-US" sz="2000" dirty="0"/>
              <a:t> </a:t>
            </a:r>
            <a:r>
              <a:rPr lang="en-US" sz="2000" dirty="0" smtClean="0"/>
              <a:t>may be </a:t>
            </a:r>
            <a:r>
              <a:rPr lang="en-US" sz="2000" dirty="0"/>
              <a:t>objects of the </a:t>
            </a:r>
            <a:r>
              <a:rPr lang="en-US" sz="2000" b="0" dirty="0">
                <a:latin typeface="Arial Black" panose="020B0A04020102020204" pitchFamily="34" charset="0"/>
              </a:rPr>
              <a:t>Patient</a:t>
            </a:r>
            <a:r>
              <a:rPr lang="en-US" sz="2000" dirty="0"/>
              <a:t> class or </a:t>
            </a:r>
            <a:r>
              <a:rPr lang="en-US" sz="2000" b="0" dirty="0">
                <a:latin typeface="Arial Black" panose="020B0A04020102020204" pitchFamily="34" charset="0"/>
              </a:rPr>
              <a:t>Person</a:t>
            </a:r>
            <a:r>
              <a:rPr lang="en-US" sz="2000" dirty="0"/>
              <a:t> </a:t>
            </a:r>
            <a:r>
              <a:rPr lang="en-US" sz="2000" dirty="0" smtClean="0"/>
              <a:t>class</a:t>
            </a:r>
            <a:r>
              <a:rPr lang="en-US" sz="2000" dirty="0"/>
              <a:t>.  It does not matter.  The class is designed to accept what is decided in an actual client program.  Now look at the following instantiation:</a:t>
            </a:r>
          </a:p>
          <a:p>
            <a:r>
              <a:rPr lang="en-US" sz="2000" dirty="0"/>
              <a:t> </a:t>
            </a:r>
          </a:p>
          <a:p>
            <a:pPr algn="ctr"/>
            <a:r>
              <a:rPr lang="en-US" sz="2400" b="0" dirty="0">
                <a:latin typeface="Arial Black" panose="020B0A04020102020204" pitchFamily="34" charset="0"/>
              </a:rPr>
              <a:t>Hospital&lt;Person&gt; h = new Hospital&lt;Person&gt;()</a:t>
            </a:r>
          </a:p>
          <a:p>
            <a:r>
              <a:rPr lang="en-US" sz="2000" dirty="0"/>
              <a:t> </a:t>
            </a:r>
          </a:p>
          <a:p>
            <a:r>
              <a:rPr lang="en-US" sz="2000" dirty="0"/>
              <a:t>The confusion occurs when people look at the generic declaration, like the </a:t>
            </a:r>
            <a:r>
              <a:rPr lang="en-US" sz="2000" b="0" dirty="0">
                <a:latin typeface="Arial Black" panose="020B0A04020102020204" pitchFamily="34" charset="0"/>
              </a:rPr>
              <a:t>Hospital</a:t>
            </a:r>
            <a:r>
              <a:rPr lang="en-US" sz="2000" dirty="0"/>
              <a:t> one.  That is not generic.  It is very specific.  It states that the </a:t>
            </a:r>
            <a:r>
              <a:rPr lang="en-US" sz="2000" b="0" dirty="0">
                <a:latin typeface="Arial Black" panose="020B0A04020102020204" pitchFamily="34" charset="0"/>
              </a:rPr>
              <a:t>Hospital</a:t>
            </a:r>
            <a:r>
              <a:rPr lang="en-US" sz="2000" dirty="0"/>
              <a:t> </a:t>
            </a:r>
            <a:r>
              <a:rPr lang="en-US" sz="2000" dirty="0" smtClean="0"/>
              <a:t>class </a:t>
            </a:r>
            <a:r>
              <a:rPr lang="en-US" sz="2000" dirty="0"/>
              <a:t>will use </a:t>
            </a:r>
            <a:r>
              <a:rPr lang="en-US" sz="2000" b="0" dirty="0">
                <a:latin typeface="Arial Black" panose="020B0A04020102020204" pitchFamily="34" charset="0"/>
              </a:rPr>
              <a:t>Person</a:t>
            </a:r>
            <a:r>
              <a:rPr lang="en-US" sz="2000" dirty="0"/>
              <a:t> objects.  To understand the name </a:t>
            </a:r>
            <a:r>
              <a:rPr lang="en-US" sz="2000" i="1" dirty="0"/>
              <a:t>generics </a:t>
            </a:r>
            <a:r>
              <a:rPr lang="en-US" sz="2000" dirty="0"/>
              <a:t>you must look at the class declaration and there you see the very generic letter </a:t>
            </a:r>
            <a:r>
              <a:rPr lang="en-US" sz="2000" b="0" dirty="0">
                <a:latin typeface="Arial Black" panose="020B0A04020102020204" pitchFamily="34" charset="0"/>
              </a:rPr>
              <a:t>E</a:t>
            </a:r>
            <a:r>
              <a:rPr lang="en-US" sz="2000" dirty="0" smtClean="0"/>
              <a:t>, </a:t>
            </a:r>
            <a:r>
              <a:rPr lang="en-US" sz="2000" dirty="0"/>
              <a:t>which indicates that a specific data type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80550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The Generic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13.9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List Interface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336847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Generics04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This is how the &lt;List&gt; interface appears on the College Board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interface List&lt;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 Size();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add(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void add(int index,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get(int index);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set(int index, 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800" b="0" dirty="0">
                <a:latin typeface="Arial Black" panose="020B0A04020102020204" pitchFamily="34" charset="0"/>
                <a:cs typeface="Times New Roman" pitchFamily="18" charset="0"/>
              </a:rPr>
              <a:t>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remove(int index);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46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// Generics04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// The &lt;</a:t>
            </a:r>
            <a:r>
              <a:rPr lang="en-US" sz="1900" dirty="0" err="1">
                <a:latin typeface="Times New Roman" pitchFamily="18" charset="0"/>
              </a:rPr>
              <a:t>ObjArray</a:t>
            </a:r>
            <a:r>
              <a:rPr lang="en-US" sz="1900" dirty="0">
                <a:latin typeface="Times New Roman" pitchFamily="18" charset="0"/>
              </a:rPr>
              <a:t>&gt; class implements the &lt;List&gt; interface.</a:t>
            </a:r>
          </a:p>
          <a:p>
            <a:pPr eaLnBrk="1" hangingPunct="1">
              <a:lnSpc>
                <a:spcPct val="90000"/>
              </a:lnSpc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900" dirty="0" smtClean="0">
                <a:latin typeface="Times New Roman" pitchFamily="18" charset="0"/>
              </a:rPr>
              <a:t>public </a:t>
            </a:r>
            <a:r>
              <a:rPr lang="en-US" sz="1900" dirty="0">
                <a:latin typeface="Times New Roman" pitchFamily="18" charset="0"/>
              </a:rPr>
              <a:t>class </a:t>
            </a:r>
            <a:r>
              <a:rPr lang="en-US" sz="1900" dirty="0" err="1">
                <a:latin typeface="Times New Roman" pitchFamily="18" charset="0"/>
              </a:rPr>
              <a:t>ObjArray</a:t>
            </a:r>
            <a:r>
              <a:rPr lang="en-US" sz="1900" dirty="0">
                <a:latin typeface="Times New Roman" pitchFamily="18" charset="0"/>
              </a:rPr>
              <a:t>&lt;E&gt; implements List&lt;E&gt;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private Object[] array;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public </a:t>
            </a:r>
            <a:r>
              <a:rPr lang="en-US" sz="1900" dirty="0" err="1">
                <a:latin typeface="Times New Roman" pitchFamily="18" charset="0"/>
              </a:rPr>
              <a:t>ObjArray</a:t>
            </a:r>
            <a:r>
              <a:rPr lang="en-US" sz="19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	array = new Object[10000];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public int size()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	return size;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19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public </a:t>
            </a:r>
            <a:r>
              <a:rPr lang="en-US" sz="1900" dirty="0" err="1">
                <a:latin typeface="Times New Roman" pitchFamily="18" charset="0"/>
              </a:rPr>
              <a:t>boolean</a:t>
            </a:r>
            <a:r>
              <a:rPr lang="en-US" sz="1900" dirty="0">
                <a:latin typeface="Times New Roman" pitchFamily="18" charset="0"/>
              </a:rPr>
              <a:t> add(E </a:t>
            </a:r>
            <a:r>
              <a:rPr lang="en-US" sz="1900" dirty="0" err="1">
                <a:latin typeface="Times New Roman" pitchFamily="18" charset="0"/>
              </a:rPr>
              <a:t>obj</a:t>
            </a:r>
            <a:r>
              <a:rPr lang="en-US" sz="19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	array[size] = </a:t>
            </a:r>
            <a:r>
              <a:rPr lang="en-US" sz="1900" dirty="0" err="1">
                <a:latin typeface="Times New Roman" pitchFamily="18" charset="0"/>
              </a:rPr>
              <a:t>obj</a:t>
            </a:r>
            <a:r>
              <a:rPr lang="en-US" sz="19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	size++;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return </a:t>
            </a:r>
            <a:r>
              <a:rPr lang="en-US" sz="1900" dirty="0">
                <a:latin typeface="Times New Roman" pitchFamily="18" charset="0"/>
              </a:rPr>
              <a:t>true;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dirty="0">
                <a:latin typeface="Times New Roman" pitchFamily="18" charset="0"/>
              </a:rPr>
              <a:t>	</a:t>
            </a:r>
            <a:r>
              <a:rPr lang="en-US" sz="1900" dirty="0" smtClean="0">
                <a:latin typeface="Times New Roman" pitchFamily="18" charset="0"/>
              </a:rPr>
              <a:t>}</a:t>
            </a:r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9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3"/>
            <a:ext cx="9144000" cy="70173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 New Roman" pitchFamily="18" charset="0"/>
              </a:rPr>
              <a:t>  </a:t>
            </a:r>
            <a:endParaRPr lang="en-US" sz="24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</a:rPr>
              <a:t> 	public </a:t>
            </a:r>
            <a:r>
              <a:rPr lang="en-US" sz="2400" dirty="0">
                <a:latin typeface="Times New Roman" pitchFamily="18" charset="0"/>
              </a:rPr>
              <a:t>void add(int index, E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size</a:t>
            </a:r>
            <a:r>
              <a:rPr lang="en-US" sz="2400" dirty="0">
                <a:latin typeface="Times New Roman" pitchFamily="18" charset="0"/>
              </a:rPr>
              <a:t>++;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size-1; k &gt; index; k--)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array[k-1];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E get(int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(E) 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E set(int index, E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E </a:t>
            </a:r>
            <a:r>
              <a:rPr lang="en-US" sz="2400" dirty="0">
                <a:latin typeface="Times New Roman" pitchFamily="18" charset="0"/>
              </a:rPr>
              <a:t>temp = (E) 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array[index] = </a:t>
            </a:r>
            <a:r>
              <a:rPr lang="en-US" sz="2400" dirty="0" err="1">
                <a:latin typeface="Times New Roman" pitchFamily="18" charset="0"/>
              </a:rPr>
              <a:t>obj</a:t>
            </a:r>
            <a:r>
              <a:rPr lang="en-US" sz="24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03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4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E remove(int index)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E temp = (E) array[index];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index;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array[k] = array[k+1];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size--;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return (E) 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public String toString()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String </a:t>
            </a:r>
            <a:r>
              <a:rPr lang="en-US" sz="2400" dirty="0">
                <a:latin typeface="Times New Roman" pitchFamily="18" charset="0"/>
              </a:rPr>
              <a:t>temp = "[";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for (int k = 0; k &lt; size-1;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		temp = temp + array[k] + ", 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temp </a:t>
            </a:r>
            <a:r>
              <a:rPr lang="en-US" sz="2400" dirty="0">
                <a:latin typeface="Times New Roman" pitchFamily="18" charset="0"/>
              </a:rPr>
              <a:t>= temp + array[size-1] + "]" + "\n";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return </a:t>
            </a:r>
            <a:r>
              <a:rPr lang="en-US" sz="2400" dirty="0">
                <a:latin typeface="Times New Roman" pitchFamily="18" charset="0"/>
              </a:rPr>
              <a:t>temp;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0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710040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Generics04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// The &lt;Runner04&gt; class tests the "generic" &lt;</a:t>
            </a:r>
            <a:r>
              <a:rPr lang="en-US" sz="1600" dirty="0" err="1">
                <a:latin typeface="Times New Roman" pitchFamily="18" charset="0"/>
              </a:rPr>
              <a:t>ObjArray</a:t>
            </a:r>
            <a:r>
              <a:rPr lang="en-US" sz="1600" dirty="0">
                <a:latin typeface="Times New Roman" pitchFamily="18" charset="0"/>
              </a:rPr>
              <a:t>&gt; class.</a:t>
            </a:r>
          </a:p>
          <a:p>
            <a:pPr eaLnBrk="1" hangingPunct="1">
              <a:lnSpc>
                <a:spcPct val="90000"/>
              </a:lnSpc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public class Runner04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public static void main 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ObjArray</a:t>
            </a:r>
            <a:r>
              <a:rPr lang="en-US" sz="1600" dirty="0" smtClean="0">
                <a:latin typeface="Times New Roman" pitchFamily="18" charset="0"/>
              </a:rPr>
              <a:t>&lt;String</a:t>
            </a:r>
            <a:r>
              <a:rPr lang="en-US" sz="1600" dirty="0">
                <a:latin typeface="Times New Roman" pitchFamily="18" charset="0"/>
              </a:rPr>
              <a:t>&gt; names = new </a:t>
            </a:r>
            <a:r>
              <a:rPr lang="en-US" sz="1600" dirty="0" err="1">
                <a:latin typeface="Times New Roman" pitchFamily="18" charset="0"/>
              </a:rPr>
              <a:t>ObjArray</a:t>
            </a:r>
            <a:r>
              <a:rPr lang="en-US" sz="1600" dirty="0">
                <a:latin typeface="Times New Roman" pitchFamily="18" charset="0"/>
              </a:rPr>
              <a:t>&lt;String&gt;();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("Isolde");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("John");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("Greg");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("Maria");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>
                <a:latin typeface="Times New Roman" pitchFamily="18" charset="0"/>
              </a:rPr>
              <a:t>("Heidi");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 smtClean="0">
                <a:latin typeface="Times New Roman" pitchFamily="18" charset="0"/>
              </a:rPr>
              <a:t>(0</a:t>
            </a:r>
            <a:r>
              <a:rPr lang="en-US" sz="1600" dirty="0">
                <a:latin typeface="Times New Roman" pitchFamily="18" charset="0"/>
              </a:rPr>
              <a:t>,"Braxi");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names.add</a:t>
            </a:r>
            <a:r>
              <a:rPr lang="en-US" sz="1600" dirty="0" smtClean="0">
                <a:latin typeface="Times New Roman" pitchFamily="18" charset="0"/>
              </a:rPr>
              <a:t>(6</a:t>
            </a:r>
            <a:r>
              <a:rPr lang="en-US" sz="1600" dirty="0">
                <a:latin typeface="Times New Roman" pitchFamily="18" charset="0"/>
              </a:rPr>
              <a:t>,"Marie");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for </a:t>
            </a:r>
            <a:r>
              <a:rPr lang="en-US" sz="1600" dirty="0">
                <a:latin typeface="Times New Roman" pitchFamily="18" charset="0"/>
              </a:rPr>
              <a:t>(int k = 0; k &lt; </a:t>
            </a:r>
            <a:r>
              <a:rPr lang="en-US" sz="1600" dirty="0" err="1">
                <a:latin typeface="Times New Roman" pitchFamily="18" charset="0"/>
              </a:rPr>
              <a:t>names.size</a:t>
            </a:r>
            <a:r>
              <a:rPr lang="en-US" sz="1600" dirty="0">
                <a:latin typeface="Times New Roman" pitchFamily="18" charset="0"/>
              </a:rPr>
              <a:t>(); k++)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</a:t>
            </a:r>
            <a:r>
              <a:rPr lang="en-US" sz="1600" dirty="0" smtClean="0">
                <a:latin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</a:rPr>
              <a:t>names.get</a:t>
            </a:r>
            <a:r>
              <a:rPr lang="en-US" sz="1600" dirty="0" smtClean="0">
                <a:latin typeface="Times New Roman" pitchFamily="18" charset="0"/>
              </a:rPr>
              <a:t>(k</a:t>
            </a:r>
            <a:r>
              <a:rPr lang="en-US" sz="1600" dirty="0">
                <a:latin typeface="Times New Roman" pitchFamily="18" charset="0"/>
              </a:rPr>
              <a:t>) + "  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>
                <a:latin typeface="Times New Roman" pitchFamily="18" charset="0"/>
              </a:rPr>
              <a:t>("\n");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names.set</a:t>
            </a:r>
            <a:r>
              <a:rPr lang="en-US" sz="1600" dirty="0" smtClean="0">
                <a:latin typeface="Times New Roman" pitchFamily="18" charset="0"/>
              </a:rPr>
              <a:t>(3</a:t>
            </a:r>
            <a:r>
              <a:rPr lang="en-US" sz="1600" dirty="0">
                <a:latin typeface="Times New Roman" pitchFamily="18" charset="0"/>
              </a:rPr>
              <a:t>,"Aardvark");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</a:rPr>
              <a:t>names.set</a:t>
            </a:r>
            <a:r>
              <a:rPr lang="en-US" sz="1600" dirty="0" smtClean="0">
                <a:latin typeface="Times New Roman" pitchFamily="18" charset="0"/>
              </a:rPr>
              <a:t>(4</a:t>
            </a:r>
            <a:r>
              <a:rPr lang="en-US" sz="1600" dirty="0">
                <a:latin typeface="Times New Roman" pitchFamily="18" charset="0"/>
              </a:rPr>
              <a:t>,"Aardvark"));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200" dirty="0">
                <a:latin typeface="Times New Roman" pitchFamily="18" charset="0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names.remove</a:t>
            </a:r>
            <a:r>
              <a:rPr lang="en-US" sz="1600" dirty="0" smtClean="0">
                <a:latin typeface="Times New Roman" pitchFamily="18" charset="0"/>
              </a:rPr>
              <a:t>(3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names.remove</a:t>
            </a:r>
            <a:r>
              <a:rPr lang="en-US" sz="1600" dirty="0" smtClean="0">
                <a:latin typeface="Times New Roman" pitchFamily="18" charset="0"/>
              </a:rPr>
              <a:t>(4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</a:t>
            </a:r>
            <a:r>
              <a:rPr lang="en-US" sz="1600" dirty="0" err="1" smtClean="0">
                <a:latin typeface="Times New Roman" pitchFamily="18" charset="0"/>
              </a:rPr>
              <a:t>System.out.println</a:t>
            </a:r>
            <a:r>
              <a:rPr lang="en-US" sz="1600" dirty="0" smtClean="0">
                <a:latin typeface="Times New Roman" pitchFamily="18" charset="0"/>
              </a:rPr>
              <a:t>(names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5800" y="1882676"/>
            <a:ext cx="441960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[Isolde, John, Greg, Maria, Heidi]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, Isolde, John, Greg, Maria, Heidi, Marie]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  Isolde  John  Greg  Maria  Heidi  Marie  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Maria</a:t>
            </a:r>
          </a:p>
          <a:p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, Isolde, John, Aardvark, Aardvark, Heidi, Marie]</a:t>
            </a:r>
          </a:p>
          <a:p>
            <a:endParaRPr lang="en-US" sz="1200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latin typeface="Arial Narrow" panose="020B0606020202030204" pitchFamily="34" charset="0"/>
                <a:cs typeface="Courier New" panose="02070309020205020404" pitchFamily="49" charset="0"/>
              </a:rPr>
              <a:t>Braxi</a:t>
            </a:r>
            <a:r>
              <a:rPr lang="en-US" sz="1600" dirty="0">
                <a:latin typeface="Arial Narrow" panose="020B0606020202030204" pitchFamily="34" charset="0"/>
                <a:cs typeface="Courier New" panose="02070309020205020404" pitchFamily="49" charset="0"/>
              </a:rPr>
              <a:t>, Isolde, John, Aardvark, Marie]</a:t>
            </a:r>
            <a:endParaRPr lang="en-US" sz="1600" dirty="0" smtClean="0">
              <a:latin typeface="Arial Narrow" panose="020B0606020202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381000" y="14478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Generics and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13.10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0" name="WordArt 2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05800" cy="2819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SubInterfaces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286779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9906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4800" smtClean="0">
                <a:solidFill>
                  <a:schemeClr val="tx1"/>
                </a:solidFill>
                <a:latin typeface="Arial Black" pitchFamily="34" charset="0"/>
              </a:rPr>
              <a:t>Java Collection Hierarchy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3429000" y="1543050"/>
            <a:ext cx="2286000" cy="112395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Collection</a:t>
            </a:r>
          </a:p>
          <a:p>
            <a:pPr algn="ctr" eaLnBrk="1" hangingPunct="1"/>
            <a:r>
              <a:rPr lang="en-US" sz="3200" dirty="0" smtClean="0"/>
              <a:t>interface</a:t>
            </a:r>
            <a:endParaRPr lang="en-US" sz="3200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914400" y="3448050"/>
            <a:ext cx="2743200" cy="11239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List</a:t>
            </a:r>
          </a:p>
          <a:p>
            <a:pPr algn="ctr" eaLnBrk="1" hangingPunct="1"/>
            <a:r>
              <a:rPr lang="en-US" sz="3200" dirty="0" smtClean="0"/>
              <a:t>subinterface</a:t>
            </a:r>
            <a:endParaRPr lang="en-US" sz="3200" dirty="0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5486400" y="3448050"/>
            <a:ext cx="2743200" cy="11239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/>
              <a:t>Set</a:t>
            </a:r>
          </a:p>
          <a:p>
            <a:pPr algn="ctr" eaLnBrk="1" hangingPunct="1"/>
            <a:r>
              <a:rPr lang="en-US" sz="3200" dirty="0"/>
              <a:t>subinterface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31750" y="5334000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ArrayList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286000" y="5334000"/>
            <a:ext cx="228600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LinkedList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756150" y="5335588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HashSet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7010400" y="5335588"/>
            <a:ext cx="2101850" cy="11239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/>
              <a:t>TreeSet</a:t>
            </a:r>
          </a:p>
          <a:p>
            <a:pPr algn="ctr" eaLnBrk="1" hangingPunct="1"/>
            <a:r>
              <a:rPr lang="en-US" sz="3200"/>
              <a:t>class</a:t>
            </a:r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 flipH="1">
            <a:off x="3048000" y="2667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5486400" y="2667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H="1">
            <a:off x="1219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>
            <a:off x="5791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7315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2743200" y="45720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1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5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Generics05A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In this example &lt;Collection&gt; is an interface.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&lt;List&gt; is a subinterface, which extends &lt;Collection&gt;.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&lt;</a:t>
            </a:r>
            <a:r>
              <a:rPr lang="en-US" sz="2000" dirty="0" err="1">
                <a:latin typeface="Times New Roman" pitchFamily="18" charset="0"/>
              </a:rPr>
              <a:t>MyList</a:t>
            </a:r>
            <a:r>
              <a:rPr lang="en-US" sz="2000" dirty="0">
                <a:latin typeface="Times New Roman" pitchFamily="18" charset="0"/>
              </a:rPr>
              <a:t>&gt; implements &lt;List&gt; and by extension also &lt;Collection&gt;.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// This is not a practical example of using a subinterface.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latin typeface="Arial Black" panose="020B0A04020102020204" pitchFamily="34" charset="0"/>
              </a:rPr>
              <a:t>public </a:t>
            </a:r>
            <a:r>
              <a:rPr lang="en-US" sz="2400" dirty="0">
                <a:latin typeface="Arial Black" panose="020B0A04020102020204" pitchFamily="34" charset="0"/>
              </a:rPr>
              <a:t>interface </a:t>
            </a:r>
            <a:r>
              <a:rPr lang="en-US" sz="2400" dirty="0" err="1">
                <a:latin typeface="Arial Black" panose="020B0A04020102020204" pitchFamily="34" charset="0"/>
              </a:rPr>
              <a:t>CollectionA</a:t>
            </a:r>
            <a:endParaRPr lang="en-US" sz="2400" dirty="0">
              <a:latin typeface="Arial Black" panose="020B0A040201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boolean</a:t>
            </a:r>
            <a:r>
              <a:rPr lang="en-US" sz="2000" dirty="0">
                <a:latin typeface="Times New Roman" pitchFamily="18" charset="0"/>
              </a:rPr>
              <a:t> add(int </a:t>
            </a:r>
            <a:r>
              <a:rPr lang="en-US" sz="2000" dirty="0" err="1">
                <a:latin typeface="Times New Roman" pitchFamily="18" charset="0"/>
              </a:rPr>
              <a:t>nbr</a:t>
            </a:r>
            <a:r>
              <a:rPr lang="en-US" sz="2000" dirty="0">
                <a:latin typeface="Times New Roman" pitchFamily="18" charset="0"/>
              </a:rPr>
              <a:t>);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boolean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isEmpty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b="0" dirty="0">
                <a:latin typeface="Arial Black" panose="020B0A04020102020204" pitchFamily="34" charset="0"/>
              </a:rPr>
              <a:t>interface List extends </a:t>
            </a:r>
            <a:r>
              <a:rPr lang="en-US" sz="2400" b="0" dirty="0" err="1">
                <a:latin typeface="Arial Black" panose="020B0A04020102020204" pitchFamily="34" charset="0"/>
              </a:rPr>
              <a:t>CollectionA</a:t>
            </a:r>
            <a:endParaRPr lang="en-US" sz="2400" b="0" dirty="0">
              <a:latin typeface="Arial Black" panose="020B0A040201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</a:rPr>
              <a:t>int get(int index);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b="0" dirty="0">
                <a:latin typeface="Arial Black" panose="020B0A04020102020204" pitchFamily="34" charset="0"/>
              </a:rPr>
              <a:t>class </a:t>
            </a:r>
            <a:r>
              <a:rPr lang="en-US" sz="2400" b="0" dirty="0" err="1">
                <a:latin typeface="Arial Black" panose="020B0A04020102020204" pitchFamily="34" charset="0"/>
              </a:rPr>
              <a:t>MyList</a:t>
            </a:r>
            <a:r>
              <a:rPr lang="en-US" sz="2400" b="0" dirty="0">
                <a:latin typeface="Arial Black" panose="020B0A04020102020204" pitchFamily="34" charset="0"/>
              </a:rPr>
              <a:t> implements List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boolean</a:t>
            </a:r>
            <a:r>
              <a:rPr lang="en-US" sz="2000" dirty="0">
                <a:latin typeface="Times New Roman" pitchFamily="18" charset="0"/>
              </a:rPr>
              <a:t> add (int </a:t>
            </a:r>
            <a:r>
              <a:rPr lang="en-US" sz="2000" dirty="0" err="1">
                <a:latin typeface="Times New Roman" pitchFamily="18" charset="0"/>
              </a:rPr>
              <a:t>nbr</a:t>
            </a:r>
            <a:r>
              <a:rPr lang="en-US" sz="2000" dirty="0" smtClean="0">
                <a:latin typeface="Times New Roman" pitchFamily="18" charset="0"/>
              </a:rPr>
              <a:t>)	{ </a:t>
            </a:r>
            <a:r>
              <a:rPr lang="en-US" sz="2000" dirty="0">
                <a:latin typeface="Times New Roman" pitchFamily="18" charset="0"/>
              </a:rPr>
              <a:t>return true; 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</a:rPr>
              <a:t>boolean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isEmpty</a:t>
            </a:r>
            <a:r>
              <a:rPr lang="en-US" sz="2000" dirty="0">
                <a:latin typeface="Times New Roman" pitchFamily="18" charset="0"/>
              </a:rPr>
              <a:t>()      </a:t>
            </a:r>
            <a:r>
              <a:rPr lang="en-US" sz="2000" dirty="0" smtClean="0">
                <a:latin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</a:rPr>
              <a:t>return true; 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</a:rPr>
              <a:t>int get(int index)     </a:t>
            </a:r>
            <a:r>
              <a:rPr lang="en-US" sz="2000" dirty="0" smtClean="0">
                <a:latin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</a:rPr>
              <a:t>return 0; 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91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5"/>
            <a:ext cx="9144000" cy="688585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Generics05B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In this example &lt;Collection&gt; is an interface.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&lt;List&gt; is a subinterface, which extends &lt;Collection&gt;.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&lt;Set&gt; is also a subinterface, which extends &lt;Collection&gt;.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&lt;</a:t>
            </a:r>
            <a:r>
              <a:rPr lang="en-US" sz="1600" dirty="0" err="1" smtClean="0">
                <a:latin typeface="Times New Roman" pitchFamily="18" charset="0"/>
              </a:rPr>
              <a:t>MyList</a:t>
            </a:r>
            <a:r>
              <a:rPr lang="en-US" sz="1600" dirty="0" smtClean="0">
                <a:latin typeface="Times New Roman" pitchFamily="18" charset="0"/>
              </a:rPr>
              <a:t>&gt; implements &lt;List&gt; and by extension also &lt;Collection&gt;.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// &lt;</a:t>
            </a:r>
            <a:r>
              <a:rPr lang="en-US" sz="1600" dirty="0" err="1" smtClean="0">
                <a:latin typeface="Times New Roman" pitchFamily="18" charset="0"/>
              </a:rPr>
              <a:t>MySet</a:t>
            </a:r>
            <a:r>
              <a:rPr lang="en-US" sz="1600" dirty="0" smtClean="0">
                <a:latin typeface="Times New Roman" pitchFamily="18" charset="0"/>
              </a:rPr>
              <a:t>&gt; implements &lt;Set&gt; and by extension also &lt;Collection&gt;.</a:t>
            </a:r>
          </a:p>
          <a:p>
            <a:pPr eaLnBrk="1" hangingPunct="1">
              <a:lnSpc>
                <a:spcPct val="78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b="0" dirty="0" smtClean="0">
                <a:latin typeface="Arial Black" panose="020B0A04020102020204" pitchFamily="34" charset="0"/>
              </a:rPr>
              <a:t>public interface </a:t>
            </a:r>
            <a:r>
              <a:rPr lang="en-US" sz="1600" b="0" dirty="0" err="1" smtClean="0">
                <a:latin typeface="Arial Black" panose="020B0A04020102020204" pitchFamily="34" charset="0"/>
              </a:rPr>
              <a:t>CollectionB</a:t>
            </a:r>
            <a:endParaRPr lang="en-US" sz="1600" b="0" dirty="0" smtClean="0">
              <a:latin typeface="Arial Black" panose="020B0A04020102020204" pitchFamily="34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add(int </a:t>
            </a:r>
            <a:r>
              <a:rPr lang="en-US" sz="1600" dirty="0" err="1" smtClean="0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); 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</a:rPr>
              <a:t>isEmpty</a:t>
            </a:r>
            <a:r>
              <a:rPr lang="en-US" sz="1600" dirty="0" smtClean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78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b="0" dirty="0" smtClean="0">
                <a:latin typeface="Arial Black" panose="020B0A04020102020204" pitchFamily="34" charset="0"/>
              </a:rPr>
              <a:t>interface List extends </a:t>
            </a:r>
            <a:r>
              <a:rPr lang="en-US" sz="1600" b="0" dirty="0" err="1" smtClean="0">
                <a:latin typeface="Arial Black" panose="020B0A04020102020204" pitchFamily="34" charset="0"/>
              </a:rPr>
              <a:t>CollectionB</a:t>
            </a:r>
            <a:endParaRPr lang="en-US" sz="1600" b="0" dirty="0" smtClean="0">
              <a:latin typeface="Arial Black" panose="020B0A04020102020204" pitchFamily="34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int get(int index);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78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b="0" dirty="0" smtClean="0">
                <a:latin typeface="Arial Black" panose="020B0A04020102020204" pitchFamily="34" charset="0"/>
              </a:rPr>
              <a:t>interface Set extends </a:t>
            </a:r>
            <a:r>
              <a:rPr lang="en-US" sz="1600" b="0" dirty="0" err="1" smtClean="0">
                <a:latin typeface="Arial Black" panose="020B0A04020102020204" pitchFamily="34" charset="0"/>
              </a:rPr>
              <a:t>CollectionB</a:t>
            </a:r>
            <a:endParaRPr lang="en-US" sz="1600" b="0" dirty="0" smtClean="0">
              <a:latin typeface="Arial Black" panose="020B0A04020102020204" pitchFamily="34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contain(int </a:t>
            </a:r>
            <a:r>
              <a:rPr lang="en-US" sz="1600" dirty="0" err="1" smtClean="0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78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b="0" dirty="0" smtClean="0">
                <a:latin typeface="Arial Black" panose="020B0A04020102020204" pitchFamily="34" charset="0"/>
              </a:rPr>
              <a:t>class </a:t>
            </a:r>
            <a:r>
              <a:rPr lang="en-US" sz="1600" b="0" dirty="0" err="1" smtClean="0">
                <a:latin typeface="Arial Black" panose="020B0A04020102020204" pitchFamily="34" charset="0"/>
              </a:rPr>
              <a:t>MyList</a:t>
            </a:r>
            <a:r>
              <a:rPr lang="en-US" sz="1600" b="0" dirty="0" smtClean="0">
                <a:latin typeface="Arial Black" panose="020B0A04020102020204" pitchFamily="34" charset="0"/>
              </a:rPr>
              <a:t> implements List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add (int </a:t>
            </a:r>
            <a:r>
              <a:rPr lang="en-US" sz="1600" dirty="0" err="1" smtClean="0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   	{ return true;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</a:rPr>
              <a:t>isEmpty</a:t>
            </a:r>
            <a:r>
              <a:rPr lang="en-US" sz="1600" dirty="0" smtClean="0">
                <a:latin typeface="Times New Roman" pitchFamily="18" charset="0"/>
              </a:rPr>
              <a:t>()     	{ return true;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int get(int index)        	{ return 0;     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78000"/>
              </a:lnSpc>
            </a:pPr>
            <a:endParaRPr lang="en-US" sz="1400" dirty="0" smtClean="0">
              <a:latin typeface="Times New Roman" pitchFamily="18" charset="0"/>
            </a:endParaRPr>
          </a:p>
          <a:p>
            <a:pPr eaLnBrk="1" hangingPunct="1">
              <a:lnSpc>
                <a:spcPct val="78000"/>
              </a:lnSpc>
            </a:pPr>
            <a:r>
              <a:rPr lang="en-US" sz="1600" b="0" dirty="0" smtClean="0">
                <a:latin typeface="Arial Black" panose="020B0A04020102020204" pitchFamily="34" charset="0"/>
              </a:rPr>
              <a:t>class </a:t>
            </a:r>
            <a:r>
              <a:rPr lang="en-US" sz="1600" b="0" dirty="0" err="1" smtClean="0">
                <a:latin typeface="Arial Black" panose="020B0A04020102020204" pitchFamily="34" charset="0"/>
              </a:rPr>
              <a:t>MySet</a:t>
            </a:r>
            <a:r>
              <a:rPr lang="en-US" sz="1600" b="0" dirty="0" smtClean="0">
                <a:latin typeface="Arial Black" panose="020B0A04020102020204" pitchFamily="34" charset="0"/>
              </a:rPr>
              <a:t> implements Set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add (int </a:t>
            </a:r>
            <a:r>
              <a:rPr lang="en-US" sz="1600" dirty="0" err="1" smtClean="0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   	{ return true;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</a:rPr>
              <a:t>isEmpty</a:t>
            </a:r>
            <a:r>
              <a:rPr lang="en-US" sz="1600" dirty="0" smtClean="0">
                <a:latin typeface="Times New Roman" pitchFamily="18" charset="0"/>
              </a:rPr>
              <a:t>()         	{ return true;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   	public </a:t>
            </a:r>
            <a:r>
              <a:rPr lang="en-US" sz="1600" dirty="0" err="1" smtClean="0">
                <a:latin typeface="Times New Roman" pitchFamily="18" charset="0"/>
              </a:rPr>
              <a:t>boolean</a:t>
            </a:r>
            <a:r>
              <a:rPr lang="en-US" sz="1600" dirty="0" smtClean="0">
                <a:latin typeface="Times New Roman" pitchFamily="18" charset="0"/>
              </a:rPr>
              <a:t> contain(int </a:t>
            </a:r>
            <a:r>
              <a:rPr lang="en-US" sz="1600" dirty="0" err="1" smtClean="0">
                <a:latin typeface="Times New Roman" pitchFamily="18" charset="0"/>
              </a:rPr>
              <a:t>nbr</a:t>
            </a:r>
            <a:r>
              <a:rPr lang="en-US" sz="1600" dirty="0" smtClean="0">
                <a:latin typeface="Times New Roman" pitchFamily="18" charset="0"/>
              </a:rPr>
              <a:t>)	{ return true; }</a:t>
            </a:r>
          </a:p>
          <a:p>
            <a:pPr eaLnBrk="1" hangingPunct="1">
              <a:lnSpc>
                <a:spcPct val="78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2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3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5"/>
            <a:ext cx="9144000" cy="6957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// Generics06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// The &lt;int&gt; interfaces and classes are now replaced by generics.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// All the methods are the same as in Generics05B, but now the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// a specific class can be used when instantiating a &lt;</a:t>
            </a:r>
            <a:r>
              <a:rPr lang="en-US" sz="1600" dirty="0" err="1">
                <a:latin typeface="Times New Roman" pitchFamily="18" charset="0"/>
              </a:rPr>
              <a:t>MyList</a:t>
            </a:r>
            <a:r>
              <a:rPr lang="en-US" sz="1600" dirty="0">
                <a:latin typeface="Times New Roman" pitchFamily="18" charset="0"/>
              </a:rPr>
              <a:t>&gt; or &lt;</a:t>
            </a:r>
            <a:r>
              <a:rPr lang="en-US" sz="1600" dirty="0" err="1">
                <a:latin typeface="Times New Roman" pitchFamily="18" charset="0"/>
              </a:rPr>
              <a:t>MySet</a:t>
            </a:r>
            <a:r>
              <a:rPr lang="en-US" sz="1600" dirty="0">
                <a:latin typeface="Times New Roman" pitchFamily="18" charset="0"/>
              </a:rPr>
              <a:t>&gt; object.</a:t>
            </a:r>
          </a:p>
          <a:p>
            <a:pPr eaLnBrk="1" hangingPunct="1">
              <a:lnSpc>
                <a:spcPct val="82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2000"/>
              </a:lnSpc>
            </a:pPr>
            <a:r>
              <a:rPr lang="en-US" sz="1600" b="0" dirty="0">
                <a:latin typeface="Arial Black" panose="020B0A04020102020204" pitchFamily="34" charset="0"/>
              </a:rPr>
              <a:t>public interface Collection&lt;E&gt;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	public void add(E </a:t>
            </a:r>
            <a:r>
              <a:rPr lang="en-US" sz="1600" dirty="0" err="1">
                <a:latin typeface="Times New Roman" pitchFamily="18" charset="0"/>
              </a:rPr>
              <a:t>obj</a:t>
            </a:r>
            <a:r>
              <a:rPr lang="en-US" sz="1600" dirty="0">
                <a:latin typeface="Times New Roman" pitchFamily="18" charset="0"/>
              </a:rPr>
              <a:t>); 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 err="1">
                <a:latin typeface="Times New Roman" pitchFamily="18" charset="0"/>
              </a:rPr>
              <a:t>boolean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isEmpty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2000"/>
              </a:lnSpc>
            </a:pPr>
            <a:r>
              <a:rPr lang="en-US" sz="1600" b="0" dirty="0">
                <a:latin typeface="Arial Black" panose="020B0A04020102020204" pitchFamily="34" charset="0"/>
              </a:rPr>
              <a:t>interface List&lt;E&gt; extends Collection&lt;E&gt;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>
                <a:latin typeface="Times New Roman" pitchFamily="18" charset="0"/>
              </a:rPr>
              <a:t>E get(int index);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Arial Black" panose="020B0A04020102020204" pitchFamily="34" charset="0"/>
              </a:rPr>
              <a:t>interface Set&lt;E&gt; extends Collection&lt;E&gt;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   </a:t>
            </a:r>
            <a:r>
              <a:rPr lang="en-US" sz="1600" dirty="0" smtClean="0">
                <a:latin typeface="Times New Roman" pitchFamily="18" charset="0"/>
              </a:rPr>
              <a:t>	public </a:t>
            </a:r>
            <a:r>
              <a:rPr lang="en-US" sz="1600" dirty="0" err="1">
                <a:latin typeface="Times New Roman" pitchFamily="18" charset="0"/>
              </a:rPr>
              <a:t>boolean</a:t>
            </a:r>
            <a:r>
              <a:rPr lang="en-US" sz="1600" dirty="0">
                <a:latin typeface="Times New Roman" pitchFamily="18" charset="0"/>
              </a:rPr>
              <a:t> contain(E </a:t>
            </a:r>
            <a:r>
              <a:rPr lang="en-US" sz="1600" dirty="0" err="1">
                <a:latin typeface="Times New Roman" pitchFamily="18" charset="0"/>
              </a:rPr>
              <a:t>obj</a:t>
            </a:r>
            <a:r>
              <a:rPr lang="en-US" sz="16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2000"/>
              </a:lnSpc>
            </a:pPr>
            <a:r>
              <a:rPr lang="en-US" sz="1600" b="0" dirty="0">
                <a:latin typeface="Arial Black" panose="020B0A04020102020204" pitchFamily="34" charset="0"/>
              </a:rPr>
              <a:t>class </a:t>
            </a:r>
            <a:r>
              <a:rPr lang="en-US" sz="1600" b="0" dirty="0" err="1">
                <a:latin typeface="Arial Black" panose="020B0A04020102020204" pitchFamily="34" charset="0"/>
              </a:rPr>
              <a:t>MyList</a:t>
            </a:r>
            <a:r>
              <a:rPr lang="en-US" sz="1600" b="0" dirty="0">
                <a:latin typeface="Arial Black" panose="020B0A04020102020204" pitchFamily="34" charset="0"/>
              </a:rPr>
              <a:t>&lt;E&gt; implements List&lt;E&gt;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454275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454275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void add (E </a:t>
            </a:r>
            <a:r>
              <a:rPr lang="en-US" sz="1600" dirty="0" err="1">
                <a:latin typeface="Times New Roman" pitchFamily="18" charset="0"/>
              </a:rPr>
              <a:t>obj</a:t>
            </a:r>
            <a:r>
              <a:rPr lang="en-US" sz="1600" dirty="0">
                <a:latin typeface="Times New Roman" pitchFamily="18" charset="0"/>
              </a:rPr>
              <a:t>)      </a:t>
            </a:r>
            <a:r>
              <a:rPr lang="en-US" sz="1600" dirty="0" smtClean="0">
                <a:latin typeface="Times New Roman" pitchFamily="18" charset="0"/>
              </a:rPr>
              <a:t>{  </a:t>
            </a: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454275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</a:t>
            </a:r>
            <a:r>
              <a:rPr lang="en-US" sz="1600" dirty="0" err="1">
                <a:latin typeface="Times New Roman" pitchFamily="18" charset="0"/>
              </a:rPr>
              <a:t>boolean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isEmpty</a:t>
            </a:r>
            <a:r>
              <a:rPr lang="en-US" sz="1600" dirty="0" smtClean="0">
                <a:latin typeface="Times New Roman" pitchFamily="18" charset="0"/>
              </a:rPr>
              <a:t>()	{ </a:t>
            </a:r>
            <a:r>
              <a:rPr lang="en-US" sz="1600" dirty="0">
                <a:latin typeface="Times New Roman" pitchFamily="18" charset="0"/>
              </a:rPr>
              <a:t>return true; }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454275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E get(int index)    </a:t>
            </a:r>
            <a:r>
              <a:rPr lang="en-US" sz="1600" dirty="0" smtClean="0">
                <a:latin typeface="Times New Roman" pitchFamily="18" charset="0"/>
              </a:rPr>
              <a:t>	{ </a:t>
            </a:r>
            <a:r>
              <a:rPr lang="en-US" sz="1600" dirty="0">
                <a:latin typeface="Times New Roman" pitchFamily="18" charset="0"/>
              </a:rPr>
              <a:t>return null; }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2000"/>
              </a:lnSpc>
            </a:pPr>
            <a:r>
              <a:rPr lang="en-US" sz="1600" b="0" dirty="0">
                <a:latin typeface="Arial Black" panose="020B0A04020102020204" pitchFamily="34" charset="0"/>
              </a:rPr>
              <a:t>class </a:t>
            </a:r>
            <a:r>
              <a:rPr lang="en-US" sz="1600" b="0" dirty="0" err="1">
                <a:latin typeface="Arial Black" panose="020B0A04020102020204" pitchFamily="34" charset="0"/>
              </a:rPr>
              <a:t>MySet</a:t>
            </a:r>
            <a:r>
              <a:rPr lang="en-US" sz="1600" b="0" dirty="0">
                <a:latin typeface="Arial Black" panose="020B0A04020102020204" pitchFamily="34" charset="0"/>
              </a:rPr>
              <a:t>&lt;E&gt; implements Set&lt;E&gt;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862263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void add (E </a:t>
            </a:r>
            <a:r>
              <a:rPr lang="en-US" sz="1600" dirty="0" err="1">
                <a:latin typeface="Times New Roman" pitchFamily="18" charset="0"/>
              </a:rPr>
              <a:t>obj</a:t>
            </a:r>
            <a:r>
              <a:rPr lang="en-US" sz="1600" dirty="0">
                <a:latin typeface="Times New Roman" pitchFamily="18" charset="0"/>
              </a:rPr>
              <a:t>)          </a:t>
            </a:r>
            <a:r>
              <a:rPr lang="en-US" sz="1600" dirty="0" smtClean="0">
                <a:latin typeface="Times New Roman" pitchFamily="18" charset="0"/>
              </a:rPr>
              <a:t>	{  </a:t>
            </a: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862263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</a:t>
            </a:r>
            <a:r>
              <a:rPr lang="en-US" sz="1600" dirty="0" err="1">
                <a:latin typeface="Times New Roman" pitchFamily="18" charset="0"/>
              </a:rPr>
              <a:t>boolean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isEmpty</a:t>
            </a:r>
            <a:r>
              <a:rPr lang="en-US" sz="1600" dirty="0">
                <a:latin typeface="Times New Roman" pitchFamily="18" charset="0"/>
              </a:rPr>
              <a:t>()      </a:t>
            </a:r>
            <a:r>
              <a:rPr lang="en-US" sz="1600" dirty="0" smtClean="0">
                <a:latin typeface="Times New Roman" pitchFamily="18" charset="0"/>
              </a:rPr>
              <a:t>	{ </a:t>
            </a:r>
            <a:r>
              <a:rPr lang="en-US" sz="1600" dirty="0">
                <a:latin typeface="Times New Roman" pitchFamily="18" charset="0"/>
              </a:rPr>
              <a:t>return true; }</a:t>
            </a:r>
          </a:p>
          <a:p>
            <a:pPr eaLnBrk="1" hangingPunct="1">
              <a:lnSpc>
                <a:spcPct val="82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862263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</a:pPr>
            <a:r>
              <a:rPr lang="en-US" sz="1600" dirty="0">
                <a:latin typeface="Times New Roman" pitchFamily="18" charset="0"/>
              </a:rPr>
              <a:t>   public </a:t>
            </a:r>
            <a:r>
              <a:rPr lang="en-US" sz="1600" dirty="0" err="1">
                <a:latin typeface="Times New Roman" pitchFamily="18" charset="0"/>
              </a:rPr>
              <a:t>boolean</a:t>
            </a:r>
            <a:r>
              <a:rPr lang="en-US" sz="1600" dirty="0">
                <a:latin typeface="Times New Roman" pitchFamily="18" charset="0"/>
              </a:rPr>
              <a:t> contain(E </a:t>
            </a:r>
            <a:r>
              <a:rPr lang="en-US" sz="1600" dirty="0" err="1">
                <a:latin typeface="Times New Roman" pitchFamily="18" charset="0"/>
              </a:rPr>
              <a:t>obj</a:t>
            </a:r>
            <a:r>
              <a:rPr lang="en-US" sz="1600" dirty="0" smtClean="0">
                <a:latin typeface="Times New Roman" pitchFamily="18" charset="0"/>
              </a:rPr>
              <a:t>)	{ </a:t>
            </a:r>
            <a:r>
              <a:rPr lang="en-US" sz="1600" dirty="0">
                <a:latin typeface="Times New Roman" pitchFamily="18" charset="0"/>
              </a:rPr>
              <a:t>return true; }</a:t>
            </a:r>
          </a:p>
          <a:p>
            <a:pPr eaLnBrk="1" hangingPunct="1">
              <a:lnSpc>
                <a:spcPct val="82000"/>
              </a:lnSpc>
            </a:pP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0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7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</a:rPr>
              <a:t>// Generics07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The &lt;Collection&gt; interface starts with methods </a:t>
            </a:r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// &lt;</a:t>
            </a:r>
            <a:r>
              <a:rPr lang="en-US" sz="2800" dirty="0">
                <a:latin typeface="Times New Roman" pitchFamily="18" charset="0"/>
              </a:rPr>
              <a:t>add&gt; and &lt;</a:t>
            </a:r>
            <a:r>
              <a:rPr lang="en-US" sz="2800" dirty="0" err="1">
                <a:latin typeface="Times New Roman" pitchFamily="18" charset="0"/>
              </a:rPr>
              <a:t>isEmpty</a:t>
            </a:r>
            <a:r>
              <a:rPr lang="en-US" sz="2800" dirty="0">
                <a:latin typeface="Times New Roman" pitchFamily="18" charset="0"/>
              </a:rPr>
              <a:t>&gt;.</a:t>
            </a: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public </a:t>
            </a:r>
            <a:r>
              <a:rPr lang="en-US" sz="2800" dirty="0">
                <a:latin typeface="Times New Roman" pitchFamily="18" charset="0"/>
              </a:rPr>
              <a:t>interface Collection&lt;E&gt;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	public </a:t>
            </a:r>
            <a:r>
              <a:rPr lang="en-US" sz="2800" dirty="0" err="1">
                <a:latin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</a:rPr>
              <a:t> add(E </a:t>
            </a:r>
            <a:r>
              <a:rPr lang="en-US" sz="2800" dirty="0" err="1">
                <a:latin typeface="Times New Roman" pitchFamily="18" charset="0"/>
              </a:rPr>
              <a:t>obj</a:t>
            </a:r>
            <a:r>
              <a:rPr lang="en-US" sz="2800" dirty="0">
                <a:latin typeface="Times New Roman" pitchFamily="18" charset="0"/>
              </a:rPr>
              <a:t>); 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 </a:t>
            </a:r>
            <a:r>
              <a:rPr lang="en-US" sz="2800" dirty="0" smtClean="0">
                <a:latin typeface="Times New Roman" pitchFamily="18" charset="0"/>
              </a:rPr>
              <a:t>	public </a:t>
            </a:r>
            <a:r>
              <a:rPr lang="en-US" sz="2800" dirty="0" err="1">
                <a:latin typeface="Times New Roman" pitchFamily="18" charset="0"/>
              </a:rPr>
              <a:t>boolean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</a:rPr>
              <a:t>isEmpty</a:t>
            </a:r>
            <a:r>
              <a:rPr lang="en-US" sz="2800" dirty="0">
                <a:latin typeface="Times New Roman" pitchFamily="18" charset="0"/>
              </a:rPr>
              <a:t>();</a:t>
            </a: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39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6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>
                <a:latin typeface="Times New Roman" pitchFamily="18" charset="0"/>
              </a:rPr>
              <a:t>// Generics07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The &lt;List&gt; subinterface adds the &lt;get&gt; method to the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// &lt;add&gt; and &lt;</a:t>
            </a:r>
            <a:r>
              <a:rPr lang="en-US" sz="2800" dirty="0" err="1">
                <a:latin typeface="Times New Roman" pitchFamily="18" charset="0"/>
              </a:rPr>
              <a:t>isEmpty</a:t>
            </a:r>
            <a:r>
              <a:rPr lang="en-US" sz="2800" dirty="0">
                <a:latin typeface="Times New Roman" pitchFamily="18" charset="0"/>
              </a:rPr>
              <a:t>&gt; methods.</a:t>
            </a: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 smtClean="0">
                <a:latin typeface="Times New Roman" pitchFamily="18" charset="0"/>
              </a:rPr>
              <a:t>public </a:t>
            </a:r>
            <a:r>
              <a:rPr lang="en-US" sz="2800" dirty="0">
                <a:latin typeface="Times New Roman" pitchFamily="18" charset="0"/>
              </a:rPr>
              <a:t>interface List&lt;E&gt; extends Collection&lt;E&gt;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  </a:t>
            </a:r>
            <a:r>
              <a:rPr lang="en-US" sz="2800" dirty="0" smtClean="0">
                <a:latin typeface="Times New Roman" pitchFamily="18" charset="0"/>
              </a:rPr>
              <a:t>	public </a:t>
            </a:r>
            <a:r>
              <a:rPr lang="en-US" sz="2800" dirty="0">
                <a:latin typeface="Times New Roman" pitchFamily="18" charset="0"/>
              </a:rPr>
              <a:t>E get(int index);</a:t>
            </a:r>
          </a:p>
          <a:p>
            <a:pPr eaLnBrk="1" hangingPunct="1"/>
            <a:r>
              <a:rPr lang="en-US" sz="28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endParaRPr lang="en-US" sz="2800" dirty="0" smtClean="0">
              <a:latin typeface="Times New Roman" pitchFamily="18" charset="0"/>
            </a:endParaRP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6"/>
            <a:ext cx="9144000" cy="706347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900" dirty="0">
                <a:latin typeface="Times New Roman" pitchFamily="18" charset="0"/>
              </a:rPr>
              <a:t>// Generics07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// The &lt;</a:t>
            </a:r>
            <a:r>
              <a:rPr lang="en-US" sz="1900" dirty="0" err="1">
                <a:latin typeface="Times New Roman" pitchFamily="18" charset="0"/>
              </a:rPr>
              <a:t>MyList</a:t>
            </a:r>
            <a:r>
              <a:rPr lang="en-US" sz="1900" dirty="0">
                <a:latin typeface="Times New Roman" pitchFamily="18" charset="0"/>
              </a:rPr>
              <a:t>&gt; class implements the &lt;List&gt; subinterface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// Compare the &lt;add&gt; method with the &lt;</a:t>
            </a:r>
            <a:r>
              <a:rPr lang="en-US" sz="1900" dirty="0" err="1">
                <a:latin typeface="Times New Roman" pitchFamily="18" charset="0"/>
              </a:rPr>
              <a:t>MySet</a:t>
            </a:r>
            <a:r>
              <a:rPr lang="en-US" sz="1900" dirty="0">
                <a:latin typeface="Times New Roman" pitchFamily="18" charset="0"/>
              </a:rPr>
              <a:t>&gt; code of &lt;add&gt;.</a:t>
            </a:r>
          </a:p>
          <a:p>
            <a:pPr eaLnBrk="1" hangingPunct="1"/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public class </a:t>
            </a:r>
            <a:r>
              <a:rPr lang="en-US" sz="1900" dirty="0" err="1">
                <a:latin typeface="Times New Roman" pitchFamily="18" charset="0"/>
              </a:rPr>
              <a:t>MyList</a:t>
            </a:r>
            <a:r>
              <a:rPr lang="en-US" sz="1900" dirty="0">
                <a:latin typeface="Times New Roman" pitchFamily="18" charset="0"/>
              </a:rPr>
              <a:t>&lt;E&gt; implements List&lt;E&gt;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private </a:t>
            </a:r>
            <a:r>
              <a:rPr lang="en-US" sz="1900" dirty="0">
                <a:latin typeface="Times New Roman" pitchFamily="18" charset="0"/>
              </a:rPr>
              <a:t>int size;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private </a:t>
            </a:r>
            <a:r>
              <a:rPr lang="en-US" sz="1900" dirty="0">
                <a:latin typeface="Times New Roman" pitchFamily="18" charset="0"/>
              </a:rPr>
              <a:t>Object[] objects;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public </a:t>
            </a:r>
            <a:r>
              <a:rPr lang="en-US" sz="1900" dirty="0" err="1">
                <a:latin typeface="Times New Roman" pitchFamily="18" charset="0"/>
              </a:rPr>
              <a:t>MyList</a:t>
            </a:r>
            <a:r>
              <a:rPr lang="en-US" sz="1900" dirty="0">
                <a:latin typeface="Times New Roman" pitchFamily="18" charset="0"/>
              </a:rPr>
              <a:t>(int n)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{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objects </a:t>
            </a:r>
            <a:r>
              <a:rPr lang="en-US" sz="1900" dirty="0">
                <a:latin typeface="Times New Roman" pitchFamily="18" charset="0"/>
              </a:rPr>
              <a:t>= new Object[n];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size </a:t>
            </a:r>
            <a:r>
              <a:rPr lang="en-US" sz="1900" dirty="0">
                <a:latin typeface="Times New Roman" pitchFamily="18" charset="0"/>
              </a:rPr>
              <a:t>= 0;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}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</a:t>
            </a:r>
            <a:r>
              <a:rPr lang="en-US" sz="1900" dirty="0" smtClean="0">
                <a:latin typeface="Arial Black" panose="020B0A04020102020204" pitchFamily="34" charset="0"/>
              </a:rPr>
              <a:t>	public </a:t>
            </a:r>
            <a:r>
              <a:rPr lang="en-US" sz="1900" dirty="0" err="1">
                <a:latin typeface="Arial Black" panose="020B0A04020102020204" pitchFamily="34" charset="0"/>
              </a:rPr>
              <a:t>boolean</a:t>
            </a:r>
            <a:r>
              <a:rPr lang="en-US" sz="1900" dirty="0">
                <a:latin typeface="Arial Black" panose="020B0A04020102020204" pitchFamily="34" charset="0"/>
              </a:rPr>
              <a:t> add (E </a:t>
            </a:r>
            <a:r>
              <a:rPr lang="en-US" sz="1900" dirty="0" err="1">
                <a:latin typeface="Arial Black" panose="020B0A04020102020204" pitchFamily="34" charset="0"/>
              </a:rPr>
              <a:t>obj</a:t>
            </a:r>
            <a:r>
              <a:rPr lang="en-US" sz="1900" dirty="0">
                <a:latin typeface="Arial Black" panose="020B0A04020102020204" pitchFamily="34" charset="0"/>
              </a:rPr>
              <a:t>)          </a:t>
            </a: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</a:t>
            </a:r>
            <a:r>
              <a:rPr lang="en-US" sz="1900" dirty="0" smtClean="0">
                <a:latin typeface="Arial Black" panose="020B0A04020102020204" pitchFamily="34" charset="0"/>
              </a:rPr>
              <a:t>	{</a:t>
            </a:r>
            <a:endParaRPr lang="en-US" sz="19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   </a:t>
            </a:r>
            <a:r>
              <a:rPr lang="en-US" sz="1900" dirty="0" smtClean="0">
                <a:latin typeface="Arial Black" panose="020B0A04020102020204" pitchFamily="34" charset="0"/>
              </a:rPr>
              <a:t>	objects[size</a:t>
            </a:r>
            <a:r>
              <a:rPr lang="en-US" sz="1900" dirty="0">
                <a:latin typeface="Arial Black" panose="020B0A04020102020204" pitchFamily="34" charset="0"/>
              </a:rPr>
              <a:t>] = </a:t>
            </a:r>
            <a:r>
              <a:rPr lang="en-US" sz="1900" dirty="0" err="1">
                <a:latin typeface="Arial Black" panose="020B0A04020102020204" pitchFamily="34" charset="0"/>
              </a:rPr>
              <a:t>obj</a:t>
            </a:r>
            <a:r>
              <a:rPr lang="en-US" sz="1900" dirty="0">
                <a:latin typeface="Arial Black" panose="020B0A04020102020204" pitchFamily="34" charset="0"/>
              </a:rPr>
              <a:t>;</a:t>
            </a: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   </a:t>
            </a:r>
            <a:r>
              <a:rPr lang="en-US" sz="1900" dirty="0" smtClean="0">
                <a:latin typeface="Arial Black" panose="020B0A04020102020204" pitchFamily="34" charset="0"/>
              </a:rPr>
              <a:t>	size</a:t>
            </a:r>
            <a:r>
              <a:rPr lang="en-US" sz="1900" dirty="0">
                <a:latin typeface="Arial Black" panose="020B0A04020102020204" pitchFamily="34" charset="0"/>
              </a:rPr>
              <a:t>++;</a:t>
            </a: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   </a:t>
            </a:r>
            <a:r>
              <a:rPr lang="en-US" sz="1900" dirty="0" smtClean="0">
                <a:latin typeface="Arial Black" panose="020B0A04020102020204" pitchFamily="34" charset="0"/>
              </a:rPr>
              <a:t>	return </a:t>
            </a:r>
            <a:r>
              <a:rPr lang="en-US" sz="1900" dirty="0">
                <a:latin typeface="Arial Black" panose="020B0A04020102020204" pitchFamily="34" charset="0"/>
              </a:rPr>
              <a:t>true;</a:t>
            </a:r>
          </a:p>
          <a:p>
            <a:pPr eaLnBrk="1" hangingPunct="1"/>
            <a:r>
              <a:rPr lang="en-US" sz="1900" dirty="0">
                <a:latin typeface="Arial Black" panose="020B0A04020102020204" pitchFamily="34" charset="0"/>
              </a:rPr>
              <a:t>   </a:t>
            </a:r>
            <a:r>
              <a:rPr lang="en-US" sz="1900" dirty="0" smtClean="0">
                <a:latin typeface="Arial Black" panose="020B0A04020102020204" pitchFamily="34" charset="0"/>
              </a:rPr>
              <a:t>	}</a:t>
            </a:r>
            <a:endParaRPr lang="en-US" sz="19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public </a:t>
            </a:r>
            <a:r>
              <a:rPr lang="en-US" sz="1900" dirty="0" err="1">
                <a:latin typeface="Times New Roman" pitchFamily="18" charset="0"/>
              </a:rPr>
              <a:t>boolean</a:t>
            </a:r>
            <a:r>
              <a:rPr lang="en-US" sz="1900" dirty="0">
                <a:latin typeface="Times New Roman" pitchFamily="18" charset="0"/>
              </a:rPr>
              <a:t> </a:t>
            </a:r>
            <a:r>
              <a:rPr lang="en-US" sz="1900" dirty="0" err="1">
                <a:latin typeface="Times New Roman" pitchFamily="18" charset="0"/>
              </a:rPr>
              <a:t>isEmpty</a:t>
            </a:r>
            <a:r>
              <a:rPr lang="en-US" sz="1900" dirty="0" smtClean="0">
                <a:latin typeface="Times New Roman" pitchFamily="18" charset="0"/>
              </a:rPr>
              <a:t>()   {   return </a:t>
            </a:r>
            <a:r>
              <a:rPr lang="en-US" sz="1900" dirty="0">
                <a:latin typeface="Times New Roman" pitchFamily="18" charset="0"/>
              </a:rPr>
              <a:t>size == 0</a:t>
            </a:r>
            <a:r>
              <a:rPr lang="en-US" sz="1900" dirty="0" smtClean="0">
                <a:latin typeface="Times New Roman" pitchFamily="18" charset="0"/>
              </a:rPr>
              <a:t>;   }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   </a:t>
            </a:r>
            <a:endParaRPr lang="en-US" sz="2800" dirty="0">
              <a:latin typeface="Times New Roman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91000" y="2057400"/>
            <a:ext cx="4953000" cy="413959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900" dirty="0" smtClean="0">
                <a:latin typeface="Times New Roman" pitchFamily="18" charset="0"/>
              </a:rPr>
              <a:t>   	public </a:t>
            </a:r>
            <a:r>
              <a:rPr lang="en-US" sz="1900" dirty="0">
                <a:latin typeface="Times New Roman" pitchFamily="18" charset="0"/>
              </a:rPr>
              <a:t>E get(int index)          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{ 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return </a:t>
            </a:r>
            <a:r>
              <a:rPr lang="en-US" sz="1900" dirty="0">
                <a:latin typeface="Times New Roman" pitchFamily="18" charset="0"/>
              </a:rPr>
              <a:t>(E) objects[index]; 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}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public </a:t>
            </a:r>
            <a:r>
              <a:rPr lang="en-US" sz="1900" dirty="0">
                <a:latin typeface="Times New Roman" pitchFamily="18" charset="0"/>
              </a:rPr>
              <a:t>String toString()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{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String </a:t>
            </a:r>
            <a:r>
              <a:rPr lang="en-US" sz="1900" dirty="0">
                <a:latin typeface="Times New Roman" pitchFamily="18" charset="0"/>
              </a:rPr>
              <a:t>temp = "";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for </a:t>
            </a:r>
            <a:r>
              <a:rPr lang="en-US" sz="1900" dirty="0">
                <a:latin typeface="Times New Roman" pitchFamily="18" charset="0"/>
              </a:rPr>
              <a:t>(int k = 0; k &lt; size; k++)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   </a:t>
            </a:r>
            <a:r>
              <a:rPr lang="en-US" sz="1900" dirty="0" smtClean="0">
                <a:latin typeface="Times New Roman" pitchFamily="18" charset="0"/>
              </a:rPr>
              <a:t>		temp </a:t>
            </a:r>
            <a:r>
              <a:rPr lang="en-US" sz="1900" dirty="0">
                <a:latin typeface="Times New Roman" pitchFamily="18" charset="0"/>
              </a:rPr>
              <a:t>= temp + objects[k] + "\n";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   </a:t>
            </a:r>
            <a:r>
              <a:rPr lang="en-US" sz="1900" dirty="0" smtClean="0">
                <a:latin typeface="Times New Roman" pitchFamily="18" charset="0"/>
              </a:rPr>
              <a:t>		return </a:t>
            </a:r>
            <a:r>
              <a:rPr lang="en-US" sz="1900" dirty="0">
                <a:latin typeface="Times New Roman" pitchFamily="18" charset="0"/>
              </a:rPr>
              <a:t>temp;</a:t>
            </a: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   </a:t>
            </a:r>
            <a:r>
              <a:rPr lang="en-US" sz="1900" dirty="0" smtClean="0">
                <a:latin typeface="Times New Roman" pitchFamily="18" charset="0"/>
              </a:rPr>
              <a:t>	}   </a:t>
            </a:r>
            <a:endParaRPr lang="en-US" sz="1900" dirty="0">
              <a:latin typeface="Times New Roman" pitchFamily="18" charset="0"/>
            </a:endParaRPr>
          </a:p>
          <a:p>
            <a:pPr eaLnBrk="1" hangingPunct="1"/>
            <a:r>
              <a:rPr lang="en-US" sz="19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58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6"/>
            <a:ext cx="9144000" cy="692497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>
                <a:latin typeface="Times New Roman" pitchFamily="18" charset="0"/>
              </a:rPr>
              <a:t>// Generics07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The &lt;</a:t>
            </a:r>
            <a:r>
              <a:rPr lang="en-US" sz="1700" dirty="0" err="1">
                <a:latin typeface="Times New Roman" pitchFamily="18" charset="0"/>
              </a:rPr>
              <a:t>MySet</a:t>
            </a:r>
            <a:r>
              <a:rPr lang="en-US" sz="1700" dirty="0">
                <a:latin typeface="Times New Roman" pitchFamily="18" charset="0"/>
              </a:rPr>
              <a:t>&gt; class implements the &lt;Set&gt; subinterface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// Compare the &lt;add&gt; method with the &lt;</a:t>
            </a:r>
            <a:r>
              <a:rPr lang="en-US" sz="1700" dirty="0" err="1">
                <a:latin typeface="Times New Roman" pitchFamily="18" charset="0"/>
              </a:rPr>
              <a:t>MyList</a:t>
            </a:r>
            <a:r>
              <a:rPr lang="en-US" sz="1700" dirty="0">
                <a:latin typeface="Times New Roman" pitchFamily="18" charset="0"/>
              </a:rPr>
              <a:t>&gt; code of &lt;add</a:t>
            </a:r>
            <a:r>
              <a:rPr lang="en-US" sz="1700" dirty="0" smtClean="0">
                <a:latin typeface="Times New Roman" pitchFamily="18" charset="0"/>
              </a:rPr>
              <a:t>&gt;.</a:t>
            </a:r>
          </a:p>
          <a:p>
            <a:pPr eaLnBrk="1" hangingPunct="1"/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public class </a:t>
            </a:r>
            <a:r>
              <a:rPr lang="en-US" sz="1700" dirty="0" err="1">
                <a:latin typeface="Times New Roman" pitchFamily="18" charset="0"/>
              </a:rPr>
              <a:t>MySet</a:t>
            </a:r>
            <a:r>
              <a:rPr lang="en-US" sz="1700" dirty="0">
                <a:latin typeface="Times New Roman" pitchFamily="18" charset="0"/>
              </a:rPr>
              <a:t>&lt;E&gt; implements List&lt;E&gt;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private </a:t>
            </a:r>
            <a:r>
              <a:rPr lang="en-US" sz="1700" dirty="0">
                <a:latin typeface="Times New Roman" pitchFamily="18" charset="0"/>
              </a:rPr>
              <a:t>int size;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private </a:t>
            </a:r>
            <a:r>
              <a:rPr lang="en-US" sz="1700" dirty="0">
                <a:latin typeface="Times New Roman" pitchFamily="18" charset="0"/>
              </a:rPr>
              <a:t>Object[] objects;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 err="1" smtClean="0">
                <a:latin typeface="Times New Roman" pitchFamily="18" charset="0"/>
              </a:rPr>
              <a:t>MySet</a:t>
            </a:r>
            <a:r>
              <a:rPr lang="en-US" sz="1700" dirty="0" smtClean="0">
                <a:latin typeface="Times New Roman" pitchFamily="18" charset="0"/>
              </a:rPr>
              <a:t>(int </a:t>
            </a:r>
            <a:r>
              <a:rPr lang="en-US" sz="1700" dirty="0">
                <a:latin typeface="Times New Roman" pitchFamily="18" charset="0"/>
              </a:rPr>
              <a:t>n)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objects </a:t>
            </a:r>
            <a:r>
              <a:rPr lang="en-US" sz="1700" dirty="0">
                <a:latin typeface="Times New Roman" pitchFamily="18" charset="0"/>
              </a:rPr>
              <a:t>= new Object[n];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size </a:t>
            </a:r>
            <a:r>
              <a:rPr lang="en-US" sz="1700" dirty="0">
                <a:latin typeface="Times New Roman" pitchFamily="18" charset="0"/>
              </a:rPr>
              <a:t>= 0;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</a:t>
            </a:r>
            <a:r>
              <a:rPr lang="en-US" sz="1700" dirty="0" smtClean="0">
                <a:latin typeface="Arial Black" panose="020B0A04020102020204" pitchFamily="34" charset="0"/>
              </a:rPr>
              <a:t>	public </a:t>
            </a:r>
            <a:r>
              <a:rPr lang="en-US" sz="1700" dirty="0" err="1">
                <a:latin typeface="Arial Black" panose="020B0A04020102020204" pitchFamily="34" charset="0"/>
              </a:rPr>
              <a:t>boolean</a:t>
            </a:r>
            <a:r>
              <a:rPr lang="en-US" sz="1700" dirty="0">
                <a:latin typeface="Arial Black" panose="020B0A04020102020204" pitchFamily="34" charset="0"/>
              </a:rPr>
              <a:t> add (E </a:t>
            </a:r>
            <a:r>
              <a:rPr lang="en-US" sz="1700" dirty="0" err="1">
                <a:latin typeface="Arial Black" panose="020B0A04020102020204" pitchFamily="34" charset="0"/>
              </a:rPr>
              <a:t>obj</a:t>
            </a:r>
            <a:r>
              <a:rPr lang="en-US" sz="1700" dirty="0">
                <a:latin typeface="Arial Black" panose="020B0A04020102020204" pitchFamily="34" charset="0"/>
              </a:rPr>
              <a:t>)          </a:t>
            </a: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</a:t>
            </a:r>
            <a:r>
              <a:rPr lang="en-US" sz="1700" dirty="0" smtClean="0">
                <a:latin typeface="Arial Black" panose="020B0A04020102020204" pitchFamily="34" charset="0"/>
              </a:rPr>
              <a:t>	{</a:t>
            </a:r>
            <a:endParaRPr lang="en-US" sz="17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</a:t>
            </a:r>
            <a:r>
              <a:rPr lang="en-US" sz="1700" dirty="0" smtClean="0">
                <a:latin typeface="Arial Black" panose="020B0A04020102020204" pitchFamily="34" charset="0"/>
              </a:rPr>
              <a:t>		if </a:t>
            </a:r>
            <a:r>
              <a:rPr lang="en-US" sz="1700" dirty="0">
                <a:latin typeface="Arial Black" panose="020B0A04020102020204" pitchFamily="34" charset="0"/>
              </a:rPr>
              <a:t>(contain(</a:t>
            </a:r>
            <a:r>
              <a:rPr lang="en-US" sz="1700" dirty="0" err="1">
                <a:latin typeface="Arial Black" panose="020B0A04020102020204" pitchFamily="34" charset="0"/>
              </a:rPr>
              <a:t>obj</a:t>
            </a:r>
            <a:r>
              <a:rPr lang="en-US" sz="1700" dirty="0">
                <a:latin typeface="Arial Black" panose="020B0A04020102020204" pitchFamily="34" charset="0"/>
              </a:rPr>
              <a:t>))</a:t>
            </a:r>
          </a:p>
          <a:p>
            <a:pPr eaLnBrk="1" hangingPunct="1"/>
            <a:r>
              <a:rPr lang="en-US" sz="1700" dirty="0" smtClean="0">
                <a:latin typeface="Arial Black" panose="020B0A04020102020204" pitchFamily="34" charset="0"/>
              </a:rPr>
              <a:t>			return </a:t>
            </a:r>
            <a:r>
              <a:rPr lang="en-US" sz="1700" dirty="0">
                <a:latin typeface="Arial Black" panose="020B0A04020102020204" pitchFamily="34" charset="0"/>
              </a:rPr>
              <a:t>false;</a:t>
            </a:r>
          </a:p>
          <a:p>
            <a:pPr eaLnBrk="1" hangingPunct="1"/>
            <a:r>
              <a:rPr lang="en-US" sz="1700" dirty="0" smtClean="0">
                <a:latin typeface="Arial Black" panose="020B0A04020102020204" pitchFamily="34" charset="0"/>
              </a:rPr>
              <a:t>		else</a:t>
            </a:r>
            <a:endParaRPr lang="en-US" sz="17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</a:t>
            </a:r>
            <a:r>
              <a:rPr lang="en-US" sz="1700" dirty="0" smtClean="0">
                <a:latin typeface="Arial Black" panose="020B0A04020102020204" pitchFamily="34" charset="0"/>
              </a:rPr>
              <a:t>		{</a:t>
            </a:r>
            <a:endParaRPr lang="en-US" sz="17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   </a:t>
            </a:r>
            <a:r>
              <a:rPr lang="en-US" sz="1700" dirty="0" smtClean="0">
                <a:latin typeface="Arial Black" panose="020B0A04020102020204" pitchFamily="34" charset="0"/>
              </a:rPr>
              <a:t>		objects[size</a:t>
            </a:r>
            <a:r>
              <a:rPr lang="en-US" sz="1700" dirty="0">
                <a:latin typeface="Arial Black" panose="020B0A04020102020204" pitchFamily="34" charset="0"/>
              </a:rPr>
              <a:t>] = </a:t>
            </a:r>
            <a:r>
              <a:rPr lang="en-US" sz="1700" dirty="0" err="1">
                <a:latin typeface="Arial Black" panose="020B0A04020102020204" pitchFamily="34" charset="0"/>
              </a:rPr>
              <a:t>obj</a:t>
            </a:r>
            <a:r>
              <a:rPr lang="en-US" sz="1700" dirty="0">
                <a:latin typeface="Arial Black" panose="020B0A04020102020204" pitchFamily="34" charset="0"/>
              </a:rPr>
              <a:t>;</a:t>
            </a: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   </a:t>
            </a:r>
            <a:r>
              <a:rPr lang="en-US" sz="1700" dirty="0" smtClean="0">
                <a:latin typeface="Arial Black" panose="020B0A04020102020204" pitchFamily="34" charset="0"/>
              </a:rPr>
              <a:t>		size</a:t>
            </a:r>
            <a:r>
              <a:rPr lang="en-US" sz="1700" dirty="0">
                <a:latin typeface="Arial Black" panose="020B0A04020102020204" pitchFamily="34" charset="0"/>
              </a:rPr>
              <a:t>++;</a:t>
            </a: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   </a:t>
            </a:r>
            <a:r>
              <a:rPr lang="en-US" sz="1700" dirty="0" smtClean="0">
                <a:latin typeface="Arial Black" panose="020B0A04020102020204" pitchFamily="34" charset="0"/>
              </a:rPr>
              <a:t>		return </a:t>
            </a:r>
            <a:r>
              <a:rPr lang="en-US" sz="1700" dirty="0">
                <a:latin typeface="Arial Black" panose="020B0A04020102020204" pitchFamily="34" charset="0"/>
              </a:rPr>
              <a:t>true;</a:t>
            </a: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   </a:t>
            </a:r>
            <a:r>
              <a:rPr lang="en-US" sz="1700" dirty="0" smtClean="0">
                <a:latin typeface="Arial Black" panose="020B0A04020102020204" pitchFamily="34" charset="0"/>
              </a:rPr>
              <a:t>		}</a:t>
            </a:r>
            <a:endParaRPr lang="en-US" sz="1700" dirty="0">
              <a:latin typeface="Arial Black" panose="020B0A04020102020204" pitchFamily="34" charset="0"/>
            </a:endParaRPr>
          </a:p>
          <a:p>
            <a:pPr eaLnBrk="1" hangingPunct="1"/>
            <a:r>
              <a:rPr lang="en-US" sz="1700" dirty="0">
                <a:latin typeface="Arial Black" panose="020B0A04020102020204" pitchFamily="34" charset="0"/>
              </a:rPr>
              <a:t>   </a:t>
            </a:r>
            <a:r>
              <a:rPr lang="en-US" sz="1700" dirty="0" smtClean="0">
                <a:latin typeface="Arial Black" panose="020B0A04020102020204" pitchFamily="34" charset="0"/>
              </a:rPr>
              <a:t>	}     </a:t>
            </a:r>
            <a:r>
              <a:rPr lang="en-US" sz="1900" dirty="0" smtClean="0">
                <a:latin typeface="Times New Roman" pitchFamily="18" charset="0"/>
              </a:rPr>
              <a:t>	</a:t>
            </a:r>
            <a:endParaRPr lang="en-US" sz="2800" dirty="0">
              <a:latin typeface="Times New Roman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267200" y="1524000"/>
            <a:ext cx="4876800" cy="480131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700" dirty="0" smtClean="0">
                <a:latin typeface="Times New Roman" pitchFamily="18" charset="0"/>
              </a:rPr>
              <a:t>   	</a:t>
            </a:r>
            <a:r>
              <a:rPr lang="en-US" sz="1700" dirty="0">
                <a:latin typeface="Times New Roman" pitchFamily="18" charset="0"/>
              </a:rPr>
              <a:t>public </a:t>
            </a:r>
            <a:r>
              <a:rPr lang="en-US" sz="1700" dirty="0" err="1">
                <a:latin typeface="Times New Roman" pitchFamily="18" charset="0"/>
              </a:rPr>
              <a:t>boolean</a:t>
            </a:r>
            <a:r>
              <a:rPr lang="en-US" sz="1700" dirty="0">
                <a:latin typeface="Times New Roman" pitchFamily="18" charset="0"/>
              </a:rPr>
              <a:t> </a:t>
            </a:r>
            <a:r>
              <a:rPr lang="en-US" sz="1700" dirty="0" err="1">
                <a:latin typeface="Times New Roman" pitchFamily="18" charset="0"/>
              </a:rPr>
              <a:t>isEmpty</a:t>
            </a:r>
            <a:r>
              <a:rPr lang="en-US" sz="1700" dirty="0" smtClean="0">
                <a:latin typeface="Times New Roman" pitchFamily="18" charset="0"/>
              </a:rPr>
              <a:t>()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</a:t>
            </a:r>
            <a:r>
              <a:rPr lang="en-US" sz="1700" dirty="0" smtClean="0">
                <a:latin typeface="Times New Roman" pitchFamily="18" charset="0"/>
              </a:rPr>
              <a:t>{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</a:t>
            </a:r>
            <a:r>
              <a:rPr lang="en-US" sz="1700" dirty="0" smtClean="0">
                <a:latin typeface="Times New Roman" pitchFamily="18" charset="0"/>
              </a:rPr>
              <a:t>	return </a:t>
            </a:r>
            <a:r>
              <a:rPr lang="en-US" sz="1700" dirty="0">
                <a:latin typeface="Times New Roman" pitchFamily="18" charset="0"/>
              </a:rPr>
              <a:t>size == 0;   </a:t>
            </a:r>
            <a:endParaRPr lang="en-US" sz="1700" dirty="0" smtClean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</a:t>
            </a:r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endParaRPr lang="en-US" sz="1700" dirty="0" smtClean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	</a:t>
            </a:r>
            <a:r>
              <a:rPr lang="en-US" sz="1700" dirty="0" smtClean="0">
                <a:latin typeface="Times New Roman" pitchFamily="18" charset="0"/>
              </a:rPr>
              <a:t>public </a:t>
            </a:r>
            <a:r>
              <a:rPr lang="en-US" sz="1700" dirty="0">
                <a:latin typeface="Times New Roman" pitchFamily="18" charset="0"/>
              </a:rPr>
              <a:t>E get(int index)       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{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return </a:t>
            </a:r>
            <a:r>
              <a:rPr lang="en-US" sz="1700" dirty="0">
                <a:latin typeface="Times New Roman" pitchFamily="18" charset="0"/>
              </a:rPr>
              <a:t>(E) objects[index];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String toString()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String </a:t>
            </a:r>
            <a:r>
              <a:rPr lang="en-US" sz="1700" dirty="0">
                <a:latin typeface="Times New Roman" pitchFamily="18" charset="0"/>
              </a:rPr>
              <a:t>temp = "";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for </a:t>
            </a:r>
            <a:r>
              <a:rPr lang="en-US" sz="1700" dirty="0">
                <a:latin typeface="Times New Roman" pitchFamily="18" charset="0"/>
              </a:rPr>
              <a:t>(int k = 0; k &lt; size; k++)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   </a:t>
            </a:r>
            <a:r>
              <a:rPr lang="en-US" sz="1700" dirty="0" smtClean="0">
                <a:latin typeface="Times New Roman" pitchFamily="18" charset="0"/>
              </a:rPr>
              <a:t>		temp </a:t>
            </a:r>
            <a:r>
              <a:rPr lang="en-US" sz="1700" dirty="0">
                <a:latin typeface="Times New Roman" pitchFamily="18" charset="0"/>
              </a:rPr>
              <a:t>= temp + objects[k] + "\n";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return </a:t>
            </a:r>
            <a:r>
              <a:rPr lang="en-US" sz="1700" dirty="0">
                <a:latin typeface="Times New Roman" pitchFamily="18" charset="0"/>
              </a:rPr>
              <a:t>temp;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}   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5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50178"/>
          </a:xfrm>
        </p:spPr>
        <p:txBody>
          <a:bodyPr/>
          <a:lstStyle/>
          <a:p>
            <a:pPr eaLnBrk="1" hangingPunct="1"/>
            <a:r>
              <a:rPr lang="en-US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Compare </a:t>
            </a:r>
            <a:r>
              <a:rPr lang="en-US" b="1" dirty="0" err="1" smtClean="0">
                <a:latin typeface="Arial Narrow" panose="020B0606020202030204" pitchFamily="34" charset="0"/>
                <a:cs typeface="Arial" panose="020B0604020202020204" pitchFamily="34" charset="0"/>
              </a:rPr>
              <a:t>MyList</a:t>
            </a:r>
            <a:r>
              <a:rPr lang="en-US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 add to </a:t>
            </a:r>
            <a:r>
              <a:rPr lang="en-US" b="1" dirty="0" err="1" smtClean="0">
                <a:latin typeface="Arial Narrow" panose="020B0606020202030204" pitchFamily="34" charset="0"/>
                <a:cs typeface="Arial" panose="020B0604020202020204" pitchFamily="34" charset="0"/>
              </a:rPr>
              <a:t>MySet</a:t>
            </a:r>
            <a:r>
              <a:rPr lang="en-US" b="1" dirty="0" smtClean="0">
                <a:latin typeface="Arial Narrow" panose="020B0606020202030204" pitchFamily="34" charset="0"/>
                <a:cs typeface="Arial" panose="020B0604020202020204" pitchFamily="34" charset="0"/>
              </a:rPr>
              <a:t> add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5017"/>
              </p:ext>
            </p:extLst>
          </p:nvPr>
        </p:nvGraphicFramePr>
        <p:xfrm>
          <a:off x="152400" y="1066800"/>
          <a:ext cx="8610600" cy="51206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05300"/>
                <a:gridCol w="43053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MyList</a:t>
                      </a:r>
                      <a:r>
                        <a:rPr lang="en-US" sz="2400" b="1" dirty="0">
                          <a:effectLst/>
                        </a:rPr>
                        <a:t> add method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</a:rPr>
                        <a:t>MySet</a:t>
                      </a:r>
                      <a:r>
                        <a:rPr lang="en-US" sz="2400" b="1" dirty="0">
                          <a:effectLst/>
                        </a:rPr>
                        <a:t> add method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 (E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         </a:t>
                      </a:r>
                      <a:endParaRPr lang="en-US" sz="2400" b="1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objects[size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add (E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         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(contain(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))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objects[size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sz="24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true;</a:t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b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04800" y="4297740"/>
            <a:ext cx="4038600" cy="156966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You can add any elements to a list, but you can only add non-duplicate elements to a set.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-6"/>
            <a:ext cx="9144000" cy="70942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51538" algn="l"/>
                <a:tab pos="6400800" algn="l"/>
                <a:tab pos="6865938" algn="l"/>
                <a:tab pos="7315200" algn="l"/>
                <a:tab pos="7551738" algn="l"/>
              </a:tabLs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</a:rPr>
              <a:t>// Generics07</a:t>
            </a:r>
          </a:p>
          <a:p>
            <a:pPr eaLnBrk="1" hangingPunct="1"/>
            <a:r>
              <a:rPr lang="en-US" sz="1600" dirty="0">
                <a:latin typeface="Times New Roman" pitchFamily="18" charset="0"/>
              </a:rPr>
              <a:t>// &lt;Runner07&gt; the difference between the &lt;</a:t>
            </a:r>
            <a:r>
              <a:rPr lang="en-US" sz="1600" dirty="0" err="1">
                <a:latin typeface="Times New Roman" pitchFamily="18" charset="0"/>
              </a:rPr>
              <a:t>MyList</a:t>
            </a:r>
            <a:r>
              <a:rPr lang="en-US" sz="1600" dirty="0">
                <a:latin typeface="Times New Roman" pitchFamily="18" charset="0"/>
              </a:rPr>
              <a:t>&gt; and &lt;</a:t>
            </a:r>
            <a:r>
              <a:rPr lang="en-US" sz="1600" dirty="0" err="1" smtClean="0">
                <a:latin typeface="Times New Roman" pitchFamily="18" charset="0"/>
              </a:rPr>
              <a:t>MySet</a:t>
            </a:r>
            <a:r>
              <a:rPr lang="en-US" sz="1600" dirty="0" smtClean="0">
                <a:latin typeface="Times New Roman" pitchFamily="18" charset="0"/>
              </a:rPr>
              <a:t>&gt; implementations</a:t>
            </a:r>
            <a:r>
              <a:rPr lang="en-US" sz="1600" dirty="0">
                <a:latin typeface="Times New Roman" pitchFamily="18" charset="0"/>
              </a:rPr>
              <a:t>.  </a:t>
            </a:r>
            <a:endParaRPr lang="en-US" sz="1600" dirty="0" smtClean="0">
              <a:latin typeface="Times New Roman" pitchFamily="18" charset="0"/>
            </a:endParaRPr>
          </a:p>
          <a:p>
            <a:pPr eaLnBrk="1" hangingPunct="1"/>
            <a:r>
              <a:rPr lang="en-US" sz="1600" spc="-10" dirty="0" smtClean="0">
                <a:latin typeface="Times New Roman" pitchFamily="18" charset="0"/>
              </a:rPr>
              <a:t>// Note how the &lt;add&gt; method is not the same for a list or a set.  A set does not contain duplicate objects.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public class Runner07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static void main(String[] args)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</a:endParaRP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MyList</a:t>
            </a:r>
            <a:r>
              <a:rPr lang="en-US" sz="1700" dirty="0" smtClean="0">
                <a:latin typeface="Times New Roman" pitchFamily="18" charset="0"/>
              </a:rPr>
              <a:t>&lt;String</a:t>
            </a:r>
            <a:r>
              <a:rPr lang="en-US" sz="1700" dirty="0">
                <a:latin typeface="Times New Roman" pitchFamily="18" charset="0"/>
              </a:rPr>
              <a:t>&gt; cats = new </a:t>
            </a:r>
            <a:r>
              <a:rPr lang="en-US" sz="1700" dirty="0" err="1">
                <a:latin typeface="Times New Roman" pitchFamily="18" charset="0"/>
              </a:rPr>
              <a:t>MyList</a:t>
            </a:r>
            <a:r>
              <a:rPr lang="en-US" sz="1700" dirty="0">
                <a:latin typeface="Times New Roman" pitchFamily="18" charset="0"/>
              </a:rPr>
              <a:t>&lt;String&gt;(1000);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("Tiger");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("Lion");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("Leopard");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("Cheetah");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("Panther");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cats.add</a:t>
            </a:r>
            <a:r>
              <a:rPr lang="en-US" sz="1700" dirty="0">
                <a:latin typeface="Times New Roman" pitchFamily="18" charset="0"/>
              </a:rPr>
              <a:t>("Leopard");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 smtClean="0">
                <a:latin typeface="Times New Roman" pitchFamily="18" charset="0"/>
              </a:rPr>
              <a:t>(cats</a:t>
            </a:r>
            <a:r>
              <a:rPr lang="en-US" sz="17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1400" dirty="0">
                <a:latin typeface="Times New Roman" pitchFamily="18" charset="0"/>
              </a:rPr>
              <a:t>  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MySet</a:t>
            </a:r>
            <a:r>
              <a:rPr lang="en-US" sz="1700" dirty="0" smtClean="0">
                <a:latin typeface="Times New Roman" pitchFamily="18" charset="0"/>
              </a:rPr>
              <a:t>&lt;String</a:t>
            </a:r>
            <a:r>
              <a:rPr lang="en-US" sz="1700" dirty="0">
                <a:latin typeface="Times New Roman" pitchFamily="18" charset="0"/>
              </a:rPr>
              <a:t>&gt; birds = new </a:t>
            </a:r>
            <a:r>
              <a:rPr lang="en-US" sz="1700" dirty="0" err="1">
                <a:latin typeface="Times New Roman" pitchFamily="18" charset="0"/>
              </a:rPr>
              <a:t>MySet</a:t>
            </a:r>
            <a:r>
              <a:rPr lang="en-US" sz="1700" dirty="0">
                <a:latin typeface="Times New Roman" pitchFamily="18" charset="0"/>
              </a:rPr>
              <a:t>&lt;String&gt;(1000);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("Eagle");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("Falcon");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("Owl");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("Pigeon");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("Cardinal");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birds.add</a:t>
            </a:r>
            <a:r>
              <a:rPr lang="en-US" sz="1700" dirty="0">
                <a:latin typeface="Times New Roman" pitchFamily="18" charset="0"/>
              </a:rPr>
              <a:t>("Falcon");</a:t>
            </a:r>
          </a:p>
          <a:p>
            <a:pPr eaLnBrk="1" hangingPunct="1"/>
            <a:r>
              <a:rPr lang="en-US" sz="1700" dirty="0">
                <a:latin typeface="Times New Roman" pitchFamily="18" charset="0"/>
              </a:rPr>
              <a:t>      </a:t>
            </a:r>
            <a:r>
              <a:rPr lang="en-US" sz="1700" dirty="0" smtClean="0">
                <a:latin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</a:rPr>
              <a:t>System.out.println</a:t>
            </a:r>
            <a:r>
              <a:rPr lang="en-US" sz="1700" dirty="0" smtClean="0">
                <a:latin typeface="Times New Roman" pitchFamily="18" charset="0"/>
              </a:rPr>
              <a:t>(birds</a:t>
            </a:r>
            <a:r>
              <a:rPr lang="en-US" sz="17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700" dirty="0" smtClean="0">
                <a:latin typeface="Times New Roman" pitchFamily="18" charset="0"/>
              </a:rPr>
              <a:t>}     	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676400"/>
            <a:ext cx="2133600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Tiger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Lion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Leopard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Cheetah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Panther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Leopard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Eagle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Falcon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Owl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Pigeon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Cardinal</a:t>
            </a:r>
          </a:p>
        </p:txBody>
      </p:sp>
    </p:spTree>
    <p:extLst>
      <p:ext uri="{BB962C8B-B14F-4D97-AF65-F5344CB8AC3E}">
        <p14:creationId xmlns:p14="http://schemas.microsoft.com/office/powerpoint/2010/main" val="263486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1143000"/>
          </a:xfrm>
        </p:spPr>
        <p:txBody>
          <a:bodyPr/>
          <a:lstStyle/>
          <a:p>
            <a:pPr eaLnBrk="1" hangingPunct="1"/>
            <a:r>
              <a:rPr lang="en-US" sz="4600" b="1" smtClean="0">
                <a:solidFill>
                  <a:schemeClr val="tx1"/>
                </a:solidFill>
              </a:rPr>
              <a:t>Interfaces vs. Abstract Classes</a:t>
            </a:r>
          </a:p>
        </p:txBody>
      </p:sp>
      <p:graphicFrame>
        <p:nvGraphicFramePr>
          <p:cNvPr id="81408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35457"/>
              </p:ext>
            </p:extLst>
          </p:nvPr>
        </p:nvGraphicFramePr>
        <p:xfrm>
          <a:off x="381000" y="1143000"/>
          <a:ext cx="8382000" cy="5105399"/>
        </p:xfrm>
        <a:graphic>
          <a:graphicData uri="http://schemas.openxmlformats.org/drawingml/2006/table">
            <a:tbl>
              <a:tblPr/>
              <a:tblGrid>
                <a:gridCol w="4191000"/>
                <a:gridCol w="4191000"/>
              </a:tblGrid>
              <a:tr h="687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Interface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Abstract Class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490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Abstract methods only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Abstract and concrete methods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90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No constructor allowed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Can have a constructor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752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Needs a class to implement the interface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Needs a subclass to implement the abstract methods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90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Only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final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attributes are allowed.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Any attribute is allowed.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6872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Cannot instantiate an object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Cannot instantiate an object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752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 keyword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abstract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is implied.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 keyword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abstract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is required.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752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 keyword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final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is implied for all attributes.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The keyword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final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is required for all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ea typeface="Times New Roman" pitchFamily="18" charset="0"/>
                          <a:cs typeface="Arial" charset="0"/>
                        </a:rPr>
                        <a:t>final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attributes.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9514</TotalTime>
  <Words>2664</Words>
  <Application>Microsoft Office PowerPoint</Application>
  <PresentationFormat>On-screen Show (4:3)</PresentationFormat>
  <Paragraphs>1588</Paragraphs>
  <Slides>86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7" baseType="lpstr">
      <vt:lpstr>Default Design</vt:lpstr>
      <vt:lpstr>PowerPoint Presentation</vt:lpstr>
      <vt:lpstr>PowerPoint Presentation</vt:lpstr>
      <vt:lpstr>Java Collection Hierarchy</vt:lpstr>
      <vt:lpstr>Collections</vt:lpstr>
      <vt:lpstr>Lists</vt:lpstr>
      <vt:lpstr>Sets</vt:lpstr>
      <vt:lpstr>PowerPoint Presentation</vt:lpstr>
      <vt:lpstr>Example of a Printer Interface with a USB Cable</vt:lpstr>
      <vt:lpstr>Abstraction</vt:lpstr>
      <vt:lpstr>The program compiles but has nothing to execute.</vt:lpstr>
      <vt:lpstr>PowerPoint Presentation</vt:lpstr>
      <vt:lpstr>Java Interfaces</vt:lpstr>
      <vt:lpstr>PowerPoint Presentation</vt:lpstr>
      <vt:lpstr>PowerPoint Presentation</vt:lpstr>
      <vt:lpstr>PowerPoint Presentation</vt:lpstr>
      <vt:lpstr>Using Implements</vt:lpstr>
      <vt:lpstr>PowerPoint Presentation</vt:lpstr>
      <vt:lpstr>Implementation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Fields in an Interface</vt:lpstr>
      <vt:lpstr>PowerPoint Presentation</vt:lpstr>
      <vt:lpstr>Interface, Abstract Class and Concrete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Logic Behind the “Generics”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 Collection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Compare MyList add to MySet add</vt:lpstr>
      <vt:lpstr>PowerPoint Presentation</vt:lpstr>
      <vt:lpstr>Interfaces vs. Abstract Classes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</cp:lastModifiedBy>
  <cp:revision>1061</cp:revision>
  <dcterms:created xsi:type="dcterms:W3CDTF">2003-07-04T03:08:29Z</dcterms:created>
  <dcterms:modified xsi:type="dcterms:W3CDTF">2015-05-17T14:23:43Z</dcterms:modified>
</cp:coreProperties>
</file>