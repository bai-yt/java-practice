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6" r:id="rId2"/>
    <p:sldId id="258" r:id="rId3"/>
    <p:sldId id="352" r:id="rId4"/>
    <p:sldId id="260" r:id="rId5"/>
    <p:sldId id="353" r:id="rId6"/>
    <p:sldId id="354" r:id="rId7"/>
    <p:sldId id="307" r:id="rId8"/>
    <p:sldId id="263" r:id="rId9"/>
    <p:sldId id="320" r:id="rId10"/>
    <p:sldId id="321" r:id="rId11"/>
    <p:sldId id="322" r:id="rId12"/>
    <p:sldId id="323" r:id="rId13"/>
    <p:sldId id="301" r:id="rId14"/>
    <p:sldId id="308" r:id="rId15"/>
    <p:sldId id="326" r:id="rId16"/>
    <p:sldId id="268" r:id="rId17"/>
    <p:sldId id="324" r:id="rId18"/>
    <p:sldId id="309" r:id="rId19"/>
    <p:sldId id="270" r:id="rId20"/>
    <p:sldId id="327" r:id="rId21"/>
    <p:sldId id="328" r:id="rId22"/>
    <p:sldId id="272" r:id="rId23"/>
    <p:sldId id="273" r:id="rId24"/>
    <p:sldId id="274" r:id="rId25"/>
    <p:sldId id="275" r:id="rId26"/>
    <p:sldId id="310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11" r:id="rId35"/>
    <p:sldId id="329" r:id="rId36"/>
    <p:sldId id="330" r:id="rId37"/>
    <p:sldId id="331" r:id="rId38"/>
    <p:sldId id="332" r:id="rId39"/>
    <p:sldId id="285" r:id="rId40"/>
    <p:sldId id="350" r:id="rId41"/>
    <p:sldId id="355" r:id="rId42"/>
    <p:sldId id="312" r:id="rId43"/>
    <p:sldId id="356" r:id="rId44"/>
    <p:sldId id="347" r:id="rId45"/>
    <p:sldId id="313" r:id="rId46"/>
    <p:sldId id="289" r:id="rId47"/>
    <p:sldId id="325" r:id="rId48"/>
    <p:sldId id="314" r:id="rId49"/>
    <p:sldId id="334" r:id="rId50"/>
    <p:sldId id="335" r:id="rId51"/>
    <p:sldId id="357" r:id="rId52"/>
    <p:sldId id="315" r:id="rId53"/>
    <p:sldId id="339" r:id="rId54"/>
    <p:sldId id="340" r:id="rId55"/>
    <p:sldId id="341" r:id="rId56"/>
    <p:sldId id="348" r:id="rId57"/>
    <p:sldId id="349" r:id="rId58"/>
    <p:sldId id="346" r:id="rId59"/>
    <p:sldId id="344" r:id="rId60"/>
    <p:sldId id="345" r:id="rId61"/>
    <p:sldId id="297" r:id="rId62"/>
    <p:sldId id="298" r:id="rId63"/>
    <p:sldId id="358" r:id="rId6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00"/>
    <a:srgbClr val="FF0000"/>
    <a:srgbClr val="FF99CC"/>
    <a:srgbClr val="FFFF99"/>
    <a:srgbClr val="00FF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28" autoAdjust="0"/>
    <p:restoredTop sz="94660"/>
  </p:normalViewPr>
  <p:slideViewPr>
    <p:cSldViewPr>
      <p:cViewPr varScale="1">
        <p:scale>
          <a:sx n="127" d="100"/>
          <a:sy n="127" d="100"/>
        </p:scale>
        <p:origin x="-20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printerSettings" Target="printerSettings/printerSettings1.bin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64B969-1C87-4FB7-AA4C-25A735320C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5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8ABDF-55C0-4BFB-9593-1E71F111AD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00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B6620-E086-40D4-B710-2CC6935BDB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23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E492E-D7B2-4D95-8490-6703FC0C78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0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22294-3640-4B8B-9CFA-DDEB51777B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CD3A94-E804-4B2E-8511-CFE6CA963B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32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89470-48F7-46AB-8B62-1592C667B4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72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A915D-7994-4D9D-B566-80AB625B85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2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CCE8F-6669-4B89-8932-38D6716059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E6072-4CB5-42D8-93ED-814B364FCB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9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9077E-C849-4535-B867-B77A7815F0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401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A049D-9851-469D-ACD8-EC39E013E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8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D977BF1B-F18D-4B7F-9C55-98D0B55817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wmf"/><Relationship Id="rId3" Type="http://schemas.openxmlformats.org/officeDocument/2006/relationships/image" Target="../media/image5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wmf"/><Relationship Id="rId3" Type="http://schemas.openxmlformats.org/officeDocument/2006/relationships/image" Target="../media/image9.gi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4" Type="http://schemas.openxmlformats.org/officeDocument/2006/relationships/image" Target="../media/image12.gif"/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gi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4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gi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gi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gif"/><Relationship Id="rId3" Type="http://schemas.openxmlformats.org/officeDocument/2006/relationships/image" Target="../media/image15.gi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Variables</a:t>
            </a:r>
          </a:p>
        </p:txBody>
      </p:sp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3.2</a:t>
            </a:r>
          </a:p>
        </p:txBody>
      </p:sp>
      <p:sp>
        <p:nvSpPr>
          <p:cNvPr id="3076" name="WordArt 2"/>
          <p:cNvSpPr>
            <a:spLocks noChangeArrowheads="1" noChangeShapeType="1" noTextEdit="1"/>
          </p:cNvSpPr>
          <p:nvPr/>
        </p:nvSpPr>
        <p:spPr bwMode="auto">
          <a:xfrm>
            <a:off x="457200" y="16002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Declaring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Java Keywords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295400" y="1752600"/>
            <a:ext cx="6629400" cy="416718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sz="3200" dirty="0">
                <a:sym typeface="Symbol" pitchFamily="18" charset="2"/>
              </a:rPr>
              <a:t></a:t>
            </a:r>
            <a:r>
              <a:rPr lang="en-US" sz="3200" dirty="0"/>
              <a:t>	Reserved Words</a:t>
            </a:r>
          </a:p>
          <a:p>
            <a:pPr algn="just" eaLnBrk="1" hangingPunct="1"/>
            <a:r>
              <a:rPr lang="en-US" sz="2400" dirty="0"/>
              <a:t>	Part of the Java language</a:t>
            </a:r>
          </a:p>
          <a:p>
            <a:pPr algn="just" eaLnBrk="1" hangingPunct="1"/>
            <a:r>
              <a:rPr lang="en-US" sz="2400" i="1" dirty="0"/>
              <a:t>	Examples:  </a:t>
            </a:r>
            <a:r>
              <a:rPr lang="en-US" sz="2400" dirty="0">
                <a:latin typeface="Courier New" pitchFamily="49" charset="0"/>
              </a:rPr>
              <a:t>public</a:t>
            </a:r>
            <a:r>
              <a:rPr lang="en-US" sz="2400" dirty="0"/>
              <a:t>, </a:t>
            </a:r>
            <a:r>
              <a:rPr lang="en-US" sz="2400" dirty="0" smtClean="0"/>
              <a:t> </a:t>
            </a:r>
            <a:r>
              <a:rPr lang="en-US" sz="2400" dirty="0" smtClean="0">
                <a:latin typeface="Courier New" pitchFamily="49" charset="0"/>
              </a:rPr>
              <a:t>static</a:t>
            </a:r>
            <a:r>
              <a:rPr lang="en-US" sz="2400" dirty="0" smtClean="0"/>
              <a:t>,  </a:t>
            </a:r>
            <a:r>
              <a:rPr lang="en-US" sz="2400" dirty="0">
                <a:latin typeface="Courier New" pitchFamily="49" charset="0"/>
              </a:rPr>
              <a:t>void</a:t>
            </a:r>
          </a:p>
          <a:p>
            <a:pPr algn="just" eaLnBrk="1" hangingPunct="1"/>
            <a:endParaRPr lang="en-US" sz="2400" dirty="0"/>
          </a:p>
          <a:p>
            <a:pPr algn="just" eaLnBrk="1" hangingPunct="1"/>
            <a:r>
              <a:rPr lang="en-US" sz="3200" dirty="0">
                <a:sym typeface="Symbol" pitchFamily="18" charset="2"/>
              </a:rPr>
              <a:t></a:t>
            </a:r>
            <a:r>
              <a:rPr lang="en-US" sz="3200" dirty="0"/>
              <a:t>	Pre-defined Java Identifiers</a:t>
            </a:r>
          </a:p>
          <a:p>
            <a:pPr algn="just" eaLnBrk="1" hangingPunct="1"/>
            <a:r>
              <a:rPr lang="en-US" sz="2400" dirty="0"/>
              <a:t>	Defined in Java Libraries</a:t>
            </a:r>
          </a:p>
          <a:p>
            <a:pPr algn="just" eaLnBrk="1" hangingPunct="1"/>
            <a:r>
              <a:rPr lang="en-US" sz="2400" i="1" dirty="0"/>
              <a:t>	Examples:  </a:t>
            </a:r>
            <a:r>
              <a:rPr lang="en-US" sz="2400" dirty="0" smtClean="0">
                <a:latin typeface="Courier New" pitchFamily="49" charset="0"/>
              </a:rPr>
              <a:t>print</a:t>
            </a:r>
            <a:r>
              <a:rPr lang="en-US" sz="2400" dirty="0" smtClean="0"/>
              <a:t>  &amp;  </a:t>
            </a:r>
            <a:r>
              <a:rPr lang="en-US" sz="2400" dirty="0" smtClean="0">
                <a:latin typeface="Courier New" pitchFamily="49" charset="0"/>
              </a:rPr>
              <a:t>println</a:t>
            </a:r>
            <a:endParaRPr lang="en-US" sz="2400" dirty="0">
              <a:latin typeface="Courier New" pitchFamily="49" charset="0"/>
            </a:endParaRPr>
          </a:p>
          <a:p>
            <a:pPr algn="just" eaLnBrk="1" hangingPunct="1"/>
            <a:endParaRPr lang="en-US" sz="2400" dirty="0"/>
          </a:p>
          <a:p>
            <a:pPr algn="just" eaLnBrk="1" hangingPunct="1"/>
            <a:r>
              <a:rPr lang="en-US" sz="3200" dirty="0">
                <a:sym typeface="Symbol" pitchFamily="18" charset="2"/>
              </a:rPr>
              <a:t></a:t>
            </a:r>
            <a:r>
              <a:rPr lang="en-US" sz="3200" dirty="0"/>
              <a:t>	User-defined Identifiers</a:t>
            </a:r>
          </a:p>
          <a:p>
            <a:pPr algn="just" eaLnBrk="1" hangingPunct="1"/>
            <a:r>
              <a:rPr lang="en-US" sz="2400" dirty="0"/>
              <a:t>	</a:t>
            </a:r>
            <a:r>
              <a:rPr lang="en-US" sz="2400" i="1" dirty="0"/>
              <a:t>Examples:  shown in this chapter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961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>
                <a:latin typeface="Times New Roman" pitchFamily="18" charset="0"/>
              </a:rPr>
              <a:t>// Java0301.java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// This program demonstrates how to declare integer variables with &lt;int&gt;,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// and it shows how to display the value of a variable with &lt;println&gt;.</a:t>
            </a:r>
          </a:p>
          <a:p>
            <a:pPr eaLnBrk="1" hangingPunct="1">
              <a:lnSpc>
                <a:spcPct val="70000"/>
              </a:lnSpc>
            </a:pPr>
            <a:endParaRPr lang="en-US" sz="2000">
              <a:latin typeface="Times New Roman" pitchFamily="18" charset="0"/>
            </a:endParaRPr>
          </a:p>
          <a:p>
            <a:pPr eaLnBrk="1" hangingPunct="1"/>
            <a:r>
              <a:rPr lang="en-US" sz="2400">
                <a:latin typeface="Times New Roman" pitchFamily="18" charset="0"/>
              </a:rPr>
              <a:t>public class Java0301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public static void main (String args[])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	int a;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	int b;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	</a:t>
            </a:r>
            <a:r>
              <a:rPr lang="en-US" sz="3200">
                <a:latin typeface="Arial Black" pitchFamily="34" charset="0"/>
              </a:rPr>
              <a:t>a = 10;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	b = 25;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	System.out.println();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	System.out.println(a);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	System.out.println(b);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	System.out.println();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40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1400">
              <a:latin typeface="Times New Roman" pitchFamily="18" charset="0"/>
            </a:endParaRPr>
          </a:p>
          <a:p>
            <a:pPr eaLnBrk="1" hangingPunct="1">
              <a:lnSpc>
                <a:spcPct val="30000"/>
              </a:lnSpc>
            </a:pPr>
            <a:endParaRPr lang="en-US"/>
          </a:p>
        </p:txBody>
      </p:sp>
      <p:graphicFrame>
        <p:nvGraphicFramePr>
          <p:cNvPr id="10" name="Group 26"/>
          <p:cNvGraphicFramePr>
            <a:graphicFrameLocks noGrp="1"/>
          </p:cNvGraphicFramePr>
          <p:nvPr/>
        </p:nvGraphicFramePr>
        <p:xfrm>
          <a:off x="1295400" y="5821363"/>
          <a:ext cx="2133600" cy="103663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11" name="WordArt 4"/>
          <p:cNvSpPr>
            <a:spLocks noChangeArrowheads="1" noChangeShapeType="1" noTextEdit="1"/>
          </p:cNvSpPr>
          <p:nvPr/>
        </p:nvSpPr>
        <p:spPr bwMode="auto">
          <a:xfrm>
            <a:off x="5953125" y="1676400"/>
            <a:ext cx="2428875" cy="7175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"a equals 10"</a:t>
            </a:r>
          </a:p>
        </p:txBody>
      </p:sp>
      <p:pic>
        <p:nvPicPr>
          <p:cNvPr id="12" name="Picture 5" descr="MCj0432538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2" y="1243012"/>
            <a:ext cx="35052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WordArt 6"/>
          <p:cNvSpPr>
            <a:spLocks noChangeArrowheads="1" noChangeShapeType="1" noTextEdit="1"/>
          </p:cNvSpPr>
          <p:nvPr/>
        </p:nvSpPr>
        <p:spPr bwMode="auto">
          <a:xfrm>
            <a:off x="2438400" y="2667000"/>
            <a:ext cx="2819400" cy="7175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"a becomes 10"</a:t>
            </a:r>
          </a:p>
        </p:txBody>
      </p:sp>
      <p:sp>
        <p:nvSpPr>
          <p:cNvPr id="14" name="WordArt 7"/>
          <p:cNvSpPr>
            <a:spLocks noChangeArrowheads="1" noChangeShapeType="1" noTextEdit="1"/>
          </p:cNvSpPr>
          <p:nvPr/>
        </p:nvSpPr>
        <p:spPr bwMode="auto">
          <a:xfrm>
            <a:off x="4038600" y="3429000"/>
            <a:ext cx="4800600" cy="7175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"a stores the value of 10"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2088" y="4724400"/>
            <a:ext cx="266700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8095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738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>
                <a:latin typeface="Times New Roman" pitchFamily="18" charset="0"/>
              </a:rPr>
              <a:t>// Java0302.java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// This program is the same as Java0301.java without assigning values  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// to the variables.  Java does not compile a program that attempts to use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// unassigned "simple" data types.  </a:t>
            </a:r>
          </a:p>
          <a:p>
            <a:pPr eaLnBrk="1" hangingPunct="1">
              <a:lnSpc>
                <a:spcPct val="70000"/>
              </a:lnSpc>
            </a:pPr>
            <a:endParaRPr lang="en-US" sz="2200">
              <a:latin typeface="Times New Roman" pitchFamily="18" charset="0"/>
            </a:endParaRPr>
          </a:p>
          <a:p>
            <a:pPr eaLnBrk="1" hangingPunct="1"/>
            <a:r>
              <a:rPr lang="en-US" sz="2200">
                <a:latin typeface="Times New Roman" pitchFamily="18" charset="0"/>
              </a:rPr>
              <a:t>public class Java0302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	public static void main (String args[])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		int a;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		int b;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		System.out.println(a);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		System.out.println(b);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200">
                <a:latin typeface="Times New Roman" pitchFamily="18" charset="0"/>
              </a:rPr>
              <a:t>}</a:t>
            </a: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  <a:p>
            <a:pPr eaLnBrk="1" hangingPunct="1">
              <a:lnSpc>
                <a:spcPct val="30000"/>
              </a:lnSpc>
            </a:pPr>
            <a:endParaRPr lang="en-US" sz="2200"/>
          </a:p>
        </p:txBody>
      </p:sp>
      <p:sp>
        <p:nvSpPr>
          <p:cNvPr id="536579" name="WordArt 3"/>
          <p:cNvSpPr>
            <a:spLocks noChangeArrowheads="1" noChangeShapeType="1" noTextEdit="1"/>
          </p:cNvSpPr>
          <p:nvPr/>
        </p:nvSpPr>
        <p:spPr bwMode="auto">
          <a:xfrm>
            <a:off x="4038600" y="5791200"/>
            <a:ext cx="4800600" cy="762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What does 'b' store?</a:t>
            </a:r>
          </a:p>
        </p:txBody>
      </p:sp>
      <p:sp>
        <p:nvSpPr>
          <p:cNvPr id="536580" name="WordArt 4"/>
          <p:cNvSpPr>
            <a:spLocks noChangeArrowheads="1" noChangeShapeType="1" noTextEdit="1"/>
          </p:cNvSpPr>
          <p:nvPr/>
        </p:nvSpPr>
        <p:spPr bwMode="auto">
          <a:xfrm>
            <a:off x="533400" y="5181600"/>
            <a:ext cx="4800600" cy="762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What does 'a' store?</a:t>
            </a:r>
          </a:p>
        </p:txBody>
      </p:sp>
      <p:graphicFrame>
        <p:nvGraphicFramePr>
          <p:cNvPr id="536606" name="Group 30"/>
          <p:cNvGraphicFramePr>
            <a:graphicFrameLocks noGrp="1"/>
          </p:cNvGraphicFramePr>
          <p:nvPr/>
        </p:nvGraphicFramePr>
        <p:xfrm>
          <a:off x="5943600" y="2819400"/>
          <a:ext cx="2133600" cy="103663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:\Users\leonschram\Desktop\Capture2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"/>
          <a:stretch/>
        </p:blipFill>
        <p:spPr bwMode="auto">
          <a:xfrm>
            <a:off x="0" y="4663440"/>
            <a:ext cx="9144000" cy="2194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3658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53657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53660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79" grpId="0" animBg="1"/>
      <p:bldP spid="53658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896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</a:rPr>
              <a:t>// Java0303.java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This program demonstrates that it is possible to declare a variable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identifier and initialize the variable in the same statement.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It is a good habit to initialize variables where they are declared.</a:t>
            </a:r>
          </a:p>
          <a:p>
            <a:pPr eaLnBrk="1" hangingPunct="1">
              <a:lnSpc>
                <a:spcPct val="6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public class Java0303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public static void main (String </a:t>
            </a:r>
            <a:r>
              <a:rPr lang="en-US" sz="2400" dirty="0" err="1">
                <a:latin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800" b="0" dirty="0">
                <a:latin typeface="Arial Black" panose="020B0A04020102020204" pitchFamily="34" charset="0"/>
              </a:rPr>
              <a:t>		</a:t>
            </a:r>
            <a:r>
              <a:rPr lang="en-US" sz="2800" b="0" dirty="0" err="1">
                <a:latin typeface="Arial Black" panose="020B0A04020102020204" pitchFamily="34" charset="0"/>
              </a:rPr>
              <a:t>int</a:t>
            </a:r>
            <a:r>
              <a:rPr lang="en-US" sz="2800" b="0" dirty="0">
                <a:latin typeface="Arial Black" panose="020B0A04020102020204" pitchFamily="34" charset="0"/>
              </a:rPr>
              <a:t> a = 10;</a:t>
            </a:r>
          </a:p>
          <a:p>
            <a:pPr eaLnBrk="1" hangingPunct="1"/>
            <a:r>
              <a:rPr lang="en-US" sz="2800" b="0" dirty="0">
                <a:latin typeface="Arial Black" panose="020B0A04020102020204" pitchFamily="34" charset="0"/>
              </a:rPr>
              <a:t>		</a:t>
            </a:r>
            <a:r>
              <a:rPr lang="en-US" sz="2800" b="0" dirty="0" err="1">
                <a:latin typeface="Arial Black" panose="020B0A04020102020204" pitchFamily="34" charset="0"/>
              </a:rPr>
              <a:t>int</a:t>
            </a:r>
            <a:r>
              <a:rPr lang="en-US" sz="2800" b="0" dirty="0">
                <a:latin typeface="Arial Black" panose="020B0A04020102020204" pitchFamily="34" charset="0"/>
              </a:rPr>
              <a:t> b = 25;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(a);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(b);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70000"/>
              </a:lnSpc>
            </a:pP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30000"/>
              </a:lnSpc>
            </a:pP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30000"/>
              </a:lnSpc>
            </a:pP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30000"/>
              </a:lnSpc>
            </a:pP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30000"/>
              </a:lnSpc>
            </a:pPr>
            <a:endParaRPr lang="en-US" sz="2200" dirty="0">
              <a:latin typeface="Times New Roman" pitchFamily="18" charset="0"/>
            </a:endParaRPr>
          </a:p>
        </p:txBody>
      </p:sp>
      <p:pic>
        <p:nvPicPr>
          <p:cNvPr id="7172" name="Picture 10" descr="MCj0349119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175" y="1600200"/>
            <a:ext cx="1952625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37626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877347"/>
              </p:ext>
            </p:extLst>
          </p:nvPr>
        </p:nvGraphicFramePr>
        <p:xfrm>
          <a:off x="4419600" y="3001962"/>
          <a:ext cx="2133600" cy="103663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22088" y="4724400"/>
            <a:ext cx="266700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618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376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</a:rPr>
              <a:t>// Java0304.java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This program combines output of literals and variables.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"a: " is a string literal, which displays the characters a: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a is an integer variable, which displays its integer value 10.</a:t>
            </a:r>
          </a:p>
          <a:p>
            <a:pPr eaLnBrk="1" hangingPunct="1"/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public class Java0304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public static void main (String </a:t>
            </a:r>
            <a:r>
              <a:rPr lang="en-US" sz="2400" dirty="0" err="1">
                <a:latin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</a:rPr>
              <a:t> a = 10;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</a:rPr>
              <a:t> b = 25;</a:t>
            </a:r>
          </a:p>
          <a:p>
            <a:pPr eaLnBrk="1" hangingPunct="1"/>
            <a:r>
              <a:rPr lang="en-US" sz="2800" b="0" dirty="0">
                <a:latin typeface="Arial Black" panose="020B0A04020102020204" pitchFamily="34" charset="0"/>
              </a:rPr>
              <a:t>		</a:t>
            </a:r>
            <a:r>
              <a:rPr lang="en-US" sz="2800" b="0" dirty="0" err="1">
                <a:latin typeface="Arial Black" panose="020B0A04020102020204" pitchFamily="34" charset="0"/>
              </a:rPr>
              <a:t>System.out.println</a:t>
            </a:r>
            <a:r>
              <a:rPr lang="en-US" sz="2800" b="0" dirty="0">
                <a:latin typeface="Arial Black" panose="020B0A04020102020204" pitchFamily="34" charset="0"/>
              </a:rPr>
              <a:t>("a: " + a);</a:t>
            </a:r>
          </a:p>
          <a:p>
            <a:pPr eaLnBrk="1" hangingPunct="1"/>
            <a:r>
              <a:rPr lang="en-US" sz="2800" b="0" dirty="0">
                <a:latin typeface="Arial Black" panose="020B0A04020102020204" pitchFamily="34" charset="0"/>
              </a:rPr>
              <a:t>		</a:t>
            </a:r>
            <a:r>
              <a:rPr lang="en-US" sz="2800" b="0" dirty="0" err="1">
                <a:latin typeface="Arial Black" panose="020B0A04020102020204" pitchFamily="34" charset="0"/>
              </a:rPr>
              <a:t>System.out.println</a:t>
            </a:r>
            <a:r>
              <a:rPr lang="en-US" sz="2800" b="0" dirty="0">
                <a:latin typeface="Arial Black" panose="020B0A04020102020204" pitchFamily="34" charset="0"/>
              </a:rPr>
              <a:t>("b: " + b);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14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7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7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7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30000"/>
              </a:lnSpc>
            </a:pPr>
            <a:endParaRPr lang="en-US" dirty="0"/>
          </a:p>
        </p:txBody>
      </p:sp>
      <p:graphicFrame>
        <p:nvGraphicFramePr>
          <p:cNvPr id="488464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39680"/>
              </p:ext>
            </p:extLst>
          </p:nvPr>
        </p:nvGraphicFramePr>
        <p:xfrm>
          <a:off x="6400800" y="2286000"/>
          <a:ext cx="2133600" cy="103663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29000" y="5486400"/>
            <a:ext cx="2667000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a: 10</a:t>
            </a:r>
          </a:p>
          <a:p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b: 25</a:t>
            </a:r>
          </a:p>
        </p:txBody>
      </p:sp>
    </p:spTree>
    <p:extLst>
      <p:ext uri="{BB962C8B-B14F-4D97-AF65-F5344CB8AC3E}">
        <p14:creationId xmlns:p14="http://schemas.microsoft.com/office/powerpoint/2010/main" val="33648664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8846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Data Types</a:t>
            </a:r>
          </a:p>
        </p:txBody>
      </p:sp>
      <p:sp>
        <p:nvSpPr>
          <p:cNvPr id="9219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3.3</a:t>
            </a:r>
          </a:p>
        </p:txBody>
      </p:sp>
      <p:sp>
        <p:nvSpPr>
          <p:cNvPr id="9220" name="WordArt 2"/>
          <p:cNvSpPr>
            <a:spLocks noChangeArrowheads="1" noChangeShapeType="1" noTextEdit="1"/>
          </p:cNvSpPr>
          <p:nvPr/>
        </p:nvSpPr>
        <p:spPr bwMode="auto">
          <a:xfrm>
            <a:off x="457200" y="16002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Integer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Java Integer Data Types</a:t>
            </a:r>
          </a:p>
        </p:txBody>
      </p:sp>
      <p:graphicFrame>
        <p:nvGraphicFramePr>
          <p:cNvPr id="551939" name="Group 3"/>
          <p:cNvGraphicFramePr>
            <a:graphicFrameLocks noGrp="1"/>
          </p:cNvGraphicFramePr>
          <p:nvPr/>
        </p:nvGraphicFramePr>
        <p:xfrm>
          <a:off x="381000" y="1401763"/>
          <a:ext cx="8458200" cy="5189478"/>
        </p:xfrm>
        <a:graphic>
          <a:graphicData uri="http://schemas.openxmlformats.org/drawingml/2006/table">
            <a:tbl>
              <a:tblPr/>
              <a:tblGrid>
                <a:gridCol w="1344613"/>
                <a:gridCol w="2389187"/>
                <a:gridCol w="4724400"/>
              </a:tblGrid>
              <a:tr h="10302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Data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Type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Bytes used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in memory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Minimum Value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Maximum Value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10302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byte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-128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127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  <a:tr h="10302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short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-32,768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32,767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10302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-2,147,483,648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2,147,483,647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  <a:tr h="10302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long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-9,223,372,036,854,775,808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9,223,372,036,854,775,807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0958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// Java0305.java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// This program demonstrates the five integer operations.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endParaRPr lang="en-US" sz="1900" dirty="0">
              <a:latin typeface="Times New Roman" pitchFamily="18" charset="0"/>
            </a:endParaRP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public class Java0305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public static void main (String </a:t>
            </a:r>
            <a:r>
              <a:rPr lang="en-US" sz="1900" dirty="0" err="1">
                <a:latin typeface="Times New Roman" pitchFamily="18" charset="0"/>
              </a:rPr>
              <a:t>args</a:t>
            </a:r>
            <a:r>
              <a:rPr lang="en-US" sz="1900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int</a:t>
            </a:r>
            <a:r>
              <a:rPr lang="en-US" sz="1900" dirty="0">
                <a:latin typeface="Times New Roman" pitchFamily="18" charset="0"/>
              </a:rPr>
              <a:t> a = 0;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int</a:t>
            </a:r>
            <a:r>
              <a:rPr lang="en-US" sz="1900" dirty="0">
                <a:latin typeface="Times New Roman" pitchFamily="18" charset="0"/>
              </a:rPr>
              <a:t> b = 25;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int</a:t>
            </a:r>
            <a:r>
              <a:rPr lang="en-US" sz="1900" dirty="0">
                <a:latin typeface="Times New Roman" pitchFamily="18" charset="0"/>
              </a:rPr>
              <a:t> c = 10;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2400" dirty="0">
                <a:latin typeface="Arial Black" pitchFamily="34" charset="0"/>
              </a:rPr>
              <a:t>		</a:t>
            </a:r>
            <a:r>
              <a:rPr lang="en-US" sz="2400" b="0" dirty="0">
                <a:latin typeface="Arial Black" pitchFamily="34" charset="0"/>
              </a:rPr>
              <a:t>a = b + c;</a:t>
            </a:r>
            <a:r>
              <a:rPr lang="en-US" sz="1900" dirty="0">
                <a:latin typeface="Times New Roman" pitchFamily="18" charset="0"/>
              </a:rPr>
              <a:t>	</a:t>
            </a:r>
            <a:r>
              <a:rPr lang="en-US" sz="1900" dirty="0" smtClean="0">
                <a:solidFill>
                  <a:srgbClr val="FF0000"/>
                </a:solidFill>
                <a:latin typeface="Times New Roman" pitchFamily="18" charset="0"/>
              </a:rPr>
              <a:t>// </a:t>
            </a:r>
            <a:r>
              <a:rPr lang="en-US" sz="1900" dirty="0">
                <a:solidFill>
                  <a:srgbClr val="FF0000"/>
                </a:solidFill>
                <a:latin typeface="Times New Roman" pitchFamily="18" charset="0"/>
              </a:rPr>
              <a:t>Addition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System.out.println</a:t>
            </a:r>
            <a:r>
              <a:rPr lang="en-US" sz="1900" dirty="0">
                <a:latin typeface="Times New Roman" pitchFamily="18" charset="0"/>
              </a:rPr>
              <a:t>(b + " + " + c + " = " + a); 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2400" b="0" dirty="0">
                <a:latin typeface="Arial Black" pitchFamily="34" charset="0"/>
              </a:rPr>
              <a:t>		a = b </a:t>
            </a:r>
            <a:r>
              <a:rPr lang="en-US" sz="2400" b="0" dirty="0" smtClean="0">
                <a:latin typeface="Arial Black" pitchFamily="34" charset="0"/>
              </a:rPr>
              <a:t>– c;</a:t>
            </a:r>
            <a:r>
              <a:rPr lang="en-US" sz="1900" dirty="0">
                <a:latin typeface="Times New Roman" pitchFamily="18" charset="0"/>
              </a:rPr>
              <a:t>	</a:t>
            </a:r>
            <a:r>
              <a:rPr lang="en-US" sz="1900" dirty="0" smtClean="0">
                <a:solidFill>
                  <a:srgbClr val="FF0000"/>
                </a:solidFill>
                <a:latin typeface="Times New Roman" pitchFamily="18" charset="0"/>
              </a:rPr>
              <a:t>// </a:t>
            </a:r>
            <a:r>
              <a:rPr lang="en-US" sz="1900" dirty="0">
                <a:solidFill>
                  <a:srgbClr val="FF0000"/>
                </a:solidFill>
                <a:latin typeface="Times New Roman" pitchFamily="18" charset="0"/>
              </a:rPr>
              <a:t>Subtraction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System.out.println</a:t>
            </a:r>
            <a:r>
              <a:rPr lang="en-US" sz="1900" dirty="0">
                <a:latin typeface="Times New Roman" pitchFamily="18" charset="0"/>
              </a:rPr>
              <a:t>(b + " - " + c + " = " + a); 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2400" b="0" dirty="0">
                <a:latin typeface="Arial Black" pitchFamily="34" charset="0"/>
              </a:rPr>
              <a:t>a = b * c;</a:t>
            </a:r>
            <a:r>
              <a:rPr lang="en-US" sz="1900" dirty="0">
                <a:latin typeface="Times New Roman" pitchFamily="18" charset="0"/>
              </a:rPr>
              <a:t>	</a:t>
            </a:r>
            <a:r>
              <a:rPr lang="en-US" sz="1900" dirty="0" smtClean="0">
                <a:solidFill>
                  <a:srgbClr val="FF0000"/>
                </a:solidFill>
                <a:latin typeface="Times New Roman" pitchFamily="18" charset="0"/>
              </a:rPr>
              <a:t>// </a:t>
            </a:r>
            <a:r>
              <a:rPr lang="en-US" sz="1900" dirty="0">
                <a:solidFill>
                  <a:srgbClr val="FF0000"/>
                </a:solidFill>
                <a:latin typeface="Times New Roman" pitchFamily="18" charset="0"/>
              </a:rPr>
              <a:t>Multiplication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System.out.println</a:t>
            </a:r>
            <a:r>
              <a:rPr lang="en-US" sz="1900" dirty="0">
                <a:latin typeface="Times New Roman" pitchFamily="18" charset="0"/>
              </a:rPr>
              <a:t>(b + " * " + c + " = " + a);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2400" b="0" dirty="0">
                <a:latin typeface="Arial Black" pitchFamily="34" charset="0"/>
              </a:rPr>
              <a:t>a = b / c;</a:t>
            </a:r>
            <a:r>
              <a:rPr lang="en-US" sz="1900" dirty="0">
                <a:latin typeface="Times New Roman" pitchFamily="18" charset="0"/>
              </a:rPr>
              <a:t>	</a:t>
            </a:r>
            <a:r>
              <a:rPr lang="en-US" sz="1900" dirty="0" smtClean="0">
                <a:solidFill>
                  <a:srgbClr val="FF0000"/>
                </a:solidFill>
                <a:latin typeface="Times New Roman" pitchFamily="18" charset="0"/>
              </a:rPr>
              <a:t>// </a:t>
            </a:r>
            <a:r>
              <a:rPr lang="en-US" sz="1900" dirty="0">
                <a:solidFill>
                  <a:srgbClr val="FF0000"/>
                </a:solidFill>
                <a:latin typeface="Times New Roman" pitchFamily="18" charset="0"/>
              </a:rPr>
              <a:t>Integer </a:t>
            </a:r>
            <a:r>
              <a:rPr lang="en-US" sz="1900" dirty="0" smtClean="0">
                <a:solidFill>
                  <a:srgbClr val="FF0000"/>
                </a:solidFill>
                <a:latin typeface="Times New Roman" pitchFamily="18" charset="0"/>
              </a:rPr>
              <a:t>Quotient Division</a:t>
            </a:r>
            <a:endParaRPr lang="en-US" sz="1900" dirty="0">
              <a:solidFill>
                <a:srgbClr val="FF0000"/>
              </a:solidFill>
              <a:latin typeface="Times New Roman" pitchFamily="18" charset="0"/>
            </a:endParaRP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System.out.println</a:t>
            </a:r>
            <a:r>
              <a:rPr lang="en-US" sz="1900" dirty="0">
                <a:latin typeface="Times New Roman" pitchFamily="18" charset="0"/>
              </a:rPr>
              <a:t>(b + " / " + c + " = " + a</a:t>
            </a:r>
            <a:r>
              <a:rPr lang="en-US" sz="1900" dirty="0" smtClean="0">
                <a:latin typeface="Times New Roman" pitchFamily="18" charset="0"/>
              </a:rPr>
              <a:t>);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 smtClean="0">
                <a:latin typeface="Times New Roman" pitchFamily="18" charset="0"/>
              </a:rPr>
              <a:t>		</a:t>
            </a:r>
            <a:r>
              <a:rPr lang="en-US" sz="2400" b="0" dirty="0" smtClean="0">
                <a:latin typeface="Arial Black" pitchFamily="34" charset="0"/>
              </a:rPr>
              <a:t>a = b % c;</a:t>
            </a:r>
            <a:r>
              <a:rPr lang="en-US" sz="1900" dirty="0">
                <a:latin typeface="Times New Roman" pitchFamily="18" charset="0"/>
              </a:rPr>
              <a:t>	</a:t>
            </a:r>
            <a:r>
              <a:rPr lang="en-US" sz="1900" dirty="0" smtClean="0">
                <a:solidFill>
                  <a:srgbClr val="FF0000"/>
                </a:solidFill>
                <a:latin typeface="Times New Roman" pitchFamily="18" charset="0"/>
              </a:rPr>
              <a:t>// Integer Remainder Division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System.out.println</a:t>
            </a:r>
            <a:r>
              <a:rPr lang="en-US" sz="1900" dirty="0">
                <a:latin typeface="Times New Roman" pitchFamily="18" charset="0"/>
              </a:rPr>
              <a:t>(b + " % " + c + " = " + a); 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	}	</a:t>
            </a:r>
          </a:p>
          <a:p>
            <a:pPr eaLnBrk="1" hangingPunct="1">
              <a:tabLst>
                <a:tab pos="466725" algn="l"/>
                <a:tab pos="914400" algn="l"/>
                <a:tab pos="1379538" algn="l"/>
                <a:tab pos="5775325" algn="l"/>
              </a:tabLst>
            </a:pPr>
            <a:r>
              <a:rPr lang="en-US" sz="1900" dirty="0">
                <a:latin typeface="Times New Roman" pitchFamily="18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67400" y="648831"/>
            <a:ext cx="3276600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25 + 10 = 35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25 – 10 = 15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25 * 10 = 250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25 / 10 = 2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25 % 10 = 5</a:t>
            </a:r>
          </a:p>
        </p:txBody>
      </p:sp>
    </p:spTree>
    <p:extLst>
      <p:ext uri="{BB962C8B-B14F-4D97-AF65-F5344CB8AC3E}">
        <p14:creationId xmlns:p14="http://schemas.microsoft.com/office/powerpoint/2010/main" val="4201490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752599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Integer Quotient Division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Examples</a:t>
            </a:r>
            <a:endParaRPr lang="en-US" b="1" u="sng" dirty="0" smtClean="0">
              <a:solidFill>
                <a:schemeClr val="tx1"/>
              </a:solidFill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1497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endParaRPr lang="es-E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418925"/>
              </p:ext>
            </p:extLst>
          </p:nvPr>
        </p:nvGraphicFramePr>
        <p:xfrm>
          <a:off x="152400" y="1752600"/>
          <a:ext cx="8839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572000"/>
              </a:tblGrid>
              <a:tr h="370840">
                <a:tc>
                  <a:txBody>
                    <a:bodyPr/>
                    <a:lstStyle/>
                    <a:p>
                      <a:pPr marL="60325" indent="0"/>
                      <a:endParaRPr lang="en-US" sz="2800" b="1" kern="1200" dirty="0" smtClean="0"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1   =  12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2   =  6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3   =  4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4   =  3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5   =  2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6   =  2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7   =  1</a:t>
                      </a:r>
                    </a:p>
                    <a:p>
                      <a:pPr marL="60325" indent="0"/>
                      <a:endParaRPr lang="en-US" sz="28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0325" indent="0"/>
                      <a:endParaRPr lang="en-US" sz="2800" b="1" kern="1200" dirty="0" smtClean="0"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8   =  1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9   =  1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10  =  1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11  =  1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12  =  1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13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/  0  </a:t>
                      </a:r>
                      <a:r>
                        <a:rPr lang="en-US" sz="2800" b="1" kern="1200" baseline="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=  </a:t>
                      </a:r>
                      <a:r>
                        <a:rPr lang="en-US" sz="2800" b="0" i="1" kern="1200" dirty="0" smtClean="0"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+mn-ea"/>
                          <a:cs typeface="Arial" pitchFamily="34" charset="0"/>
                        </a:rPr>
                        <a:t>undefined</a:t>
                      </a:r>
                      <a:endParaRPr lang="en-US" sz="2800" b="0" kern="1200" dirty="0" smtClean="0"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+mn-ea"/>
                        <a:cs typeface="Arial" pitchFamily="34" charset="0"/>
                      </a:endParaRPr>
                    </a:p>
                    <a:p>
                      <a:pPr marL="60325" indent="0"/>
                      <a:endParaRPr lang="en-US" sz="28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0732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752599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Integer Remainder Division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Examples</a:t>
            </a:r>
            <a:endParaRPr lang="en-US" b="1" u="sng" dirty="0" smtClean="0">
              <a:solidFill>
                <a:schemeClr val="tx1"/>
              </a:solidFill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1497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endParaRPr lang="es-E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224579"/>
              </p:ext>
            </p:extLst>
          </p:nvPr>
        </p:nvGraphicFramePr>
        <p:xfrm>
          <a:off x="152400" y="1752600"/>
          <a:ext cx="8839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572000"/>
              </a:tblGrid>
              <a:tr h="370840">
                <a:tc>
                  <a:txBody>
                    <a:bodyPr/>
                    <a:lstStyle/>
                    <a:p>
                      <a:pPr marL="60325" indent="0"/>
                      <a:endParaRPr lang="en-US" sz="2800" b="1" kern="1200" dirty="0" smtClean="0"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1 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2 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3 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4 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5   =  2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6 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7   =  5</a:t>
                      </a:r>
                    </a:p>
                    <a:p>
                      <a:pPr marL="60325" indent="0"/>
                      <a:endParaRPr lang="en-US" sz="28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0325" indent="0"/>
                      <a:endParaRPr lang="en-US" sz="2800" b="1" kern="1200" dirty="0" smtClean="0"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8   =  4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9   =  3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10  =  2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11  =  1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12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13  =  12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0  </a:t>
                      </a:r>
                      <a:r>
                        <a:rPr lang="en-US" sz="2800" b="1" kern="1200" baseline="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=  </a:t>
                      </a:r>
                      <a:r>
                        <a:rPr lang="en-US" sz="2800" b="0" i="1" kern="1200" dirty="0" smtClean="0"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+mn-ea"/>
                          <a:cs typeface="Arial" pitchFamily="34" charset="0"/>
                        </a:rPr>
                        <a:t>undefined</a:t>
                      </a:r>
                      <a:endParaRPr lang="en-US" sz="2800" b="0" kern="1200" dirty="0" smtClean="0"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+mn-ea"/>
                        <a:cs typeface="Arial" pitchFamily="34" charset="0"/>
                      </a:endParaRPr>
                    </a:p>
                    <a:p>
                      <a:pPr marL="60325" indent="0"/>
                      <a:endParaRPr lang="en-US" sz="28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3779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752599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What do the </a:t>
            </a:r>
            <a:r>
              <a:rPr lang="en-US" b="1" dirty="0" smtClean="0">
                <a:solidFill>
                  <a:srgbClr val="00B050"/>
                </a:solidFill>
              </a:rPr>
              <a:t>green </a:t>
            </a:r>
            <a:r>
              <a:rPr lang="en-US" b="1" dirty="0" smtClean="0">
                <a:solidFill>
                  <a:schemeClr val="tx1"/>
                </a:solidFill>
              </a:rPr>
              <a:t>numbers 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have in common?</a:t>
            </a:r>
            <a:endParaRPr lang="en-US" b="1" u="sng" dirty="0" smtClean="0">
              <a:solidFill>
                <a:schemeClr val="tx1"/>
              </a:solidFill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1497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endParaRPr lang="es-E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441631"/>
              </p:ext>
            </p:extLst>
          </p:nvPr>
        </p:nvGraphicFramePr>
        <p:xfrm>
          <a:off x="152400" y="1752600"/>
          <a:ext cx="8839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572000"/>
              </a:tblGrid>
              <a:tr h="370840">
                <a:tc>
                  <a:txBody>
                    <a:bodyPr/>
                    <a:lstStyle/>
                    <a:p>
                      <a:pPr marL="60325" indent="0"/>
                      <a:endParaRPr lang="en-US" sz="2800" b="1" kern="1200" dirty="0" smtClean="0"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</a:t>
                      </a:r>
                      <a:r>
                        <a:rPr lang="en-US" sz="2800" b="1" kern="1200" dirty="0" smtClean="0">
                          <a:solidFill>
                            <a:srgbClr val="00B05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</a:t>
                      </a:r>
                      <a:r>
                        <a:rPr lang="en-US" sz="2800" b="1" kern="1200" dirty="0" smtClean="0">
                          <a:solidFill>
                            <a:srgbClr val="00B05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2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</a:t>
                      </a:r>
                      <a:r>
                        <a:rPr lang="en-US" sz="2800" b="1" kern="1200" dirty="0" smtClean="0">
                          <a:solidFill>
                            <a:srgbClr val="00B05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3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</a:t>
                      </a:r>
                      <a:r>
                        <a:rPr lang="en-US" sz="2800" b="1" kern="1200" dirty="0" smtClean="0">
                          <a:solidFill>
                            <a:srgbClr val="00B05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4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5   =  2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</a:t>
                      </a:r>
                      <a:r>
                        <a:rPr lang="en-US" sz="2800" b="1" kern="1200" dirty="0" smtClean="0">
                          <a:solidFill>
                            <a:srgbClr val="00B05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6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7   =  5</a:t>
                      </a:r>
                    </a:p>
                    <a:p>
                      <a:pPr marL="60325" indent="0"/>
                      <a:endParaRPr lang="en-US" sz="28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0325" indent="0"/>
                      <a:endParaRPr lang="en-US" sz="2800" b="1" kern="1200" dirty="0" smtClean="0"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8   =  4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9   =  3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10  =  2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11  =  1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</a:t>
                      </a:r>
                      <a:r>
                        <a:rPr lang="en-US" sz="2800" b="1" kern="1200" dirty="0" smtClean="0">
                          <a:solidFill>
                            <a:srgbClr val="00B050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=  0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13  =  12</a:t>
                      </a:r>
                    </a:p>
                    <a:p>
                      <a:pPr marL="60325" indent="0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12  %  0  </a:t>
                      </a:r>
                      <a:r>
                        <a:rPr lang="en-US" sz="2800" b="1" kern="1200" baseline="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=  </a:t>
                      </a:r>
                      <a:r>
                        <a:rPr lang="en-US" sz="2800" b="0" i="1" kern="1200" dirty="0" smtClean="0"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+mn-ea"/>
                          <a:cs typeface="Arial" pitchFamily="34" charset="0"/>
                        </a:rPr>
                        <a:t>undefined</a:t>
                      </a:r>
                      <a:endParaRPr lang="en-US" sz="2800" b="0" kern="1200" dirty="0" smtClean="0"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+mn-ea"/>
                        <a:cs typeface="Arial" pitchFamily="34" charset="0"/>
                      </a:endParaRPr>
                    </a:p>
                    <a:p>
                      <a:pPr marL="60325" indent="0"/>
                      <a:endParaRPr lang="en-US" sz="28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" name="WordArt 6"/>
          <p:cNvSpPr>
            <a:spLocks noChangeArrowheads="1" noChangeShapeType="1" noTextEdit="1"/>
          </p:cNvSpPr>
          <p:nvPr/>
        </p:nvSpPr>
        <p:spPr bwMode="auto">
          <a:xfrm>
            <a:off x="762000" y="5867399"/>
            <a:ext cx="7620000" cy="82296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They are all factors of 12.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34452157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>
            <a:grpSpLocks/>
          </p:cNvGrpSpPr>
          <p:nvPr/>
        </p:nvGrpSpPr>
        <p:grpSpPr bwMode="auto">
          <a:xfrm flipV="1">
            <a:off x="1219200" y="5029200"/>
            <a:ext cx="7034213" cy="990600"/>
            <a:chOff x="768" y="1440"/>
            <a:chExt cx="4431" cy="384"/>
          </a:xfrm>
        </p:grpSpPr>
        <p:sp>
          <p:nvSpPr>
            <p:cNvPr id="13329" name="Line 17"/>
            <p:cNvSpPr>
              <a:spLocks noChangeShapeType="1"/>
            </p:cNvSpPr>
            <p:nvPr/>
          </p:nvSpPr>
          <p:spPr bwMode="auto">
            <a:xfrm>
              <a:off x="768" y="144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Line 18"/>
            <p:cNvSpPr>
              <a:spLocks noChangeShapeType="1"/>
            </p:cNvSpPr>
            <p:nvPr/>
          </p:nvSpPr>
          <p:spPr bwMode="auto">
            <a:xfrm>
              <a:off x="1900" y="144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Line 19"/>
            <p:cNvSpPr>
              <a:spLocks noChangeShapeType="1"/>
            </p:cNvSpPr>
            <p:nvPr/>
          </p:nvSpPr>
          <p:spPr bwMode="auto">
            <a:xfrm>
              <a:off x="3155" y="144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2" name="Line 20"/>
            <p:cNvSpPr>
              <a:spLocks noChangeShapeType="1"/>
            </p:cNvSpPr>
            <p:nvPr/>
          </p:nvSpPr>
          <p:spPr bwMode="auto">
            <a:xfrm>
              <a:off x="4243" y="144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Line 21"/>
            <p:cNvSpPr>
              <a:spLocks noChangeShapeType="1"/>
            </p:cNvSpPr>
            <p:nvPr/>
          </p:nvSpPr>
          <p:spPr bwMode="auto">
            <a:xfrm>
              <a:off x="5199" y="144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219200" y="1981200"/>
            <a:ext cx="7034213" cy="914400"/>
            <a:chOff x="768" y="1440"/>
            <a:chExt cx="4431" cy="384"/>
          </a:xfrm>
        </p:grpSpPr>
        <p:sp>
          <p:nvSpPr>
            <p:cNvPr id="13324" name="Line 11"/>
            <p:cNvSpPr>
              <a:spLocks noChangeShapeType="1"/>
            </p:cNvSpPr>
            <p:nvPr/>
          </p:nvSpPr>
          <p:spPr bwMode="auto">
            <a:xfrm>
              <a:off x="768" y="144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12"/>
            <p:cNvSpPr>
              <a:spLocks noChangeShapeType="1"/>
            </p:cNvSpPr>
            <p:nvPr/>
          </p:nvSpPr>
          <p:spPr bwMode="auto">
            <a:xfrm>
              <a:off x="1900" y="144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13"/>
            <p:cNvSpPr>
              <a:spLocks noChangeShapeType="1"/>
            </p:cNvSpPr>
            <p:nvPr/>
          </p:nvSpPr>
          <p:spPr bwMode="auto">
            <a:xfrm>
              <a:off x="3155" y="144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14"/>
            <p:cNvSpPr>
              <a:spLocks noChangeShapeType="1"/>
            </p:cNvSpPr>
            <p:nvPr/>
          </p:nvSpPr>
          <p:spPr bwMode="auto">
            <a:xfrm>
              <a:off x="4243" y="144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15"/>
            <p:cNvSpPr>
              <a:spLocks noChangeShapeType="1"/>
            </p:cNvSpPr>
            <p:nvPr/>
          </p:nvSpPr>
          <p:spPr bwMode="auto">
            <a:xfrm>
              <a:off x="5199" y="1440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295400"/>
          </a:xfrm>
        </p:spPr>
        <p:txBody>
          <a:bodyPr/>
          <a:lstStyle/>
          <a:p>
            <a:r>
              <a:rPr lang="en-US" b="1" smtClean="0">
                <a:solidFill>
                  <a:schemeClr val="tx1"/>
                </a:solidFill>
              </a:rPr>
              <a:t>Flashback To </a:t>
            </a:r>
            <a:br>
              <a:rPr lang="en-US" b="1" smtClean="0">
                <a:solidFill>
                  <a:schemeClr val="tx1"/>
                </a:solidFill>
              </a:rPr>
            </a:br>
            <a:r>
              <a:rPr lang="en-US" b="1" smtClean="0">
                <a:solidFill>
                  <a:schemeClr val="tx1"/>
                </a:solidFill>
              </a:rPr>
              <a:t>Elementary School Long Division</a:t>
            </a:r>
            <a:endParaRPr lang="en-US" b="1" u="sng" smtClean="0">
              <a:solidFill>
                <a:schemeClr val="tx1"/>
              </a:solidFill>
            </a:endParaRPr>
          </a:p>
        </p:txBody>
      </p:sp>
      <p:sp>
        <p:nvSpPr>
          <p:cNvPr id="13317" name="Text Box 3"/>
          <p:cNvSpPr txBox="1">
            <a:spLocks noChangeArrowheads="1"/>
          </p:cNvSpPr>
          <p:nvPr/>
        </p:nvSpPr>
        <p:spPr bwMode="auto">
          <a:xfrm>
            <a:off x="0" y="2913063"/>
            <a:ext cx="1524000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</a:t>
            </a:r>
            <a:r>
              <a:rPr lang="en-US" sz="3200" u="sng">
                <a:latin typeface="Courier New" pitchFamily="49" charset="0"/>
              </a:rPr>
              <a:t>  4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3)12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 </a:t>
            </a:r>
            <a:r>
              <a:rPr lang="en-US" sz="3200" u="sng">
                <a:latin typeface="Courier New" pitchFamily="49" charset="0"/>
              </a:rPr>
              <a:t>12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  0</a:t>
            </a: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533400" y="1709738"/>
            <a:ext cx="8077200" cy="5238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/>
              <a:t>Using </a:t>
            </a:r>
            <a:r>
              <a:rPr lang="en-US" sz="2800">
                <a:latin typeface="Arial Black" pitchFamily="34" charset="0"/>
              </a:rPr>
              <a:t>/</a:t>
            </a:r>
            <a:r>
              <a:rPr lang="en-US" sz="2800"/>
              <a:t> gives you the integer quotient.</a:t>
            </a:r>
          </a:p>
        </p:txBody>
      </p:sp>
      <p:sp>
        <p:nvSpPr>
          <p:cNvPr id="13319" name="Text Box 5"/>
          <p:cNvSpPr txBox="1">
            <a:spLocks noChangeArrowheads="1"/>
          </p:cNvSpPr>
          <p:nvPr/>
        </p:nvSpPr>
        <p:spPr bwMode="auto">
          <a:xfrm>
            <a:off x="533400" y="5638800"/>
            <a:ext cx="8077200" cy="5238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/>
              <a:t>Using </a:t>
            </a:r>
            <a:r>
              <a:rPr lang="en-US" sz="2800">
                <a:latin typeface="Arial Black" pitchFamily="34" charset="0"/>
              </a:rPr>
              <a:t>%</a:t>
            </a:r>
            <a:r>
              <a:rPr lang="en-US" sz="2800"/>
              <a:t> gives you the integer remainder.</a:t>
            </a:r>
          </a:p>
        </p:txBody>
      </p:sp>
      <p:sp>
        <p:nvSpPr>
          <p:cNvPr id="13320" name="Text Box 6"/>
          <p:cNvSpPr txBox="1">
            <a:spLocks noChangeArrowheads="1"/>
          </p:cNvSpPr>
          <p:nvPr/>
        </p:nvSpPr>
        <p:spPr bwMode="auto">
          <a:xfrm>
            <a:off x="1827213" y="2913063"/>
            <a:ext cx="15240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</a:t>
            </a:r>
            <a:r>
              <a:rPr lang="en-US" sz="3200" u="sng">
                <a:latin typeface="Courier New" pitchFamily="49" charset="0"/>
              </a:rPr>
              <a:t>  2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5)13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 </a:t>
            </a:r>
            <a:r>
              <a:rPr lang="en-US" sz="3200" u="sng">
                <a:latin typeface="Courier New" pitchFamily="49" charset="0"/>
              </a:rPr>
              <a:t>10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  3</a:t>
            </a:r>
          </a:p>
        </p:txBody>
      </p:sp>
      <p:sp>
        <p:nvSpPr>
          <p:cNvPr id="13321" name="Text Box 7"/>
          <p:cNvSpPr txBox="1">
            <a:spLocks noChangeArrowheads="1"/>
          </p:cNvSpPr>
          <p:nvPr/>
        </p:nvSpPr>
        <p:spPr bwMode="auto">
          <a:xfrm>
            <a:off x="3810000" y="2913063"/>
            <a:ext cx="1524000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</a:t>
            </a:r>
            <a:r>
              <a:rPr lang="en-US" sz="3200" u="sng">
                <a:latin typeface="Courier New" pitchFamily="49" charset="0"/>
              </a:rPr>
              <a:t>  0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15)12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 </a:t>
            </a:r>
            <a:r>
              <a:rPr lang="en-US" sz="3200" u="sng">
                <a:latin typeface="Courier New" pitchFamily="49" charset="0"/>
              </a:rPr>
              <a:t> 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 12</a:t>
            </a:r>
          </a:p>
        </p:txBody>
      </p:sp>
      <p:sp>
        <p:nvSpPr>
          <p:cNvPr id="13322" name="Text Box 8"/>
          <p:cNvSpPr txBox="1">
            <a:spLocks noChangeArrowheads="1"/>
          </p:cNvSpPr>
          <p:nvPr/>
        </p:nvSpPr>
        <p:spPr bwMode="auto">
          <a:xfrm>
            <a:off x="5791200" y="2913063"/>
            <a:ext cx="1524000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</a:t>
            </a:r>
            <a:r>
              <a:rPr lang="en-US" sz="3200" u="sng">
                <a:latin typeface="Courier New" pitchFamily="49" charset="0"/>
              </a:rPr>
              <a:t> 0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12)0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 </a:t>
            </a:r>
            <a:r>
              <a:rPr lang="en-US" sz="3200" u="sng">
                <a:latin typeface="Courier New" pitchFamily="49" charset="0"/>
              </a:rPr>
              <a:t>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 0</a:t>
            </a:r>
          </a:p>
        </p:txBody>
      </p:sp>
      <p:sp>
        <p:nvSpPr>
          <p:cNvPr id="13323" name="Text Box 9"/>
          <p:cNvSpPr txBox="1">
            <a:spLocks noChangeArrowheads="1"/>
          </p:cNvSpPr>
          <p:nvPr/>
        </p:nvSpPr>
        <p:spPr bwMode="auto">
          <a:xfrm>
            <a:off x="7312025" y="2913063"/>
            <a:ext cx="1524000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</a:t>
            </a:r>
            <a:r>
              <a:rPr lang="en-US" sz="3200" u="sng">
                <a:latin typeface="Courier New" pitchFamily="49" charset="0"/>
              </a:rPr>
              <a:t>???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0)12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</a:t>
            </a:r>
            <a:r>
              <a:rPr lang="en-US" sz="3200" u="sng">
                <a:latin typeface="Courier New" pitchFamily="49" charset="0"/>
              </a:rPr>
              <a:t>???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3200">
                <a:latin typeface="Courier New" pitchFamily="49" charset="0"/>
              </a:rPr>
              <a:t>  ???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Data Types</a:t>
            </a:r>
          </a:p>
        </p:txBody>
      </p:sp>
      <p:sp>
        <p:nvSpPr>
          <p:cNvPr id="14339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3.4</a:t>
            </a:r>
          </a:p>
        </p:txBody>
      </p:sp>
      <p:sp>
        <p:nvSpPr>
          <p:cNvPr id="14340" name="WordArt 2"/>
          <p:cNvSpPr>
            <a:spLocks noChangeArrowheads="1" noChangeShapeType="1" noTextEdit="1"/>
          </p:cNvSpPr>
          <p:nvPr/>
        </p:nvSpPr>
        <p:spPr bwMode="auto">
          <a:xfrm>
            <a:off x="457200" y="16002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Real Number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// Java0306.java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// This program demonstrates the double data type which is used for real numbers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// It also demonstrates the four real number operations.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endParaRPr lang="en-US" sz="1900" dirty="0">
              <a:latin typeface="Times New Roman" pitchFamily="18" charset="0"/>
            </a:endParaRP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public class Java0306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	public static void main (String </a:t>
            </a:r>
            <a:r>
              <a:rPr lang="en-US" sz="1900" dirty="0" err="1">
                <a:latin typeface="Times New Roman" pitchFamily="18" charset="0"/>
              </a:rPr>
              <a:t>args</a:t>
            </a:r>
            <a:r>
              <a:rPr lang="en-US" sz="1900" dirty="0">
                <a:latin typeface="Times New Roman" pitchFamily="18" charset="0"/>
              </a:rPr>
              <a:t>[])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		double d1 = 0;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		double d2 = 10.0;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		double d3 = 3.33333333;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      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sz="2400" b="0" dirty="0">
                <a:latin typeface="Arial Black" pitchFamily="34" charset="0"/>
              </a:rPr>
              <a:t>d1 = d2 + d3; </a:t>
            </a:r>
            <a:r>
              <a:rPr lang="en-US" dirty="0">
                <a:latin typeface="Times New Roman" pitchFamily="18" charset="0"/>
              </a:rPr>
              <a:t>			</a:t>
            </a:r>
            <a:r>
              <a:rPr lang="en-US" dirty="0" smtClean="0">
                <a:latin typeface="Times New Roman" pitchFamily="18" charset="0"/>
              </a:rPr>
              <a:t>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</a:rPr>
              <a:t>Addition                                    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System.out.println</a:t>
            </a:r>
            <a:r>
              <a:rPr lang="en-US" sz="1900" dirty="0">
                <a:latin typeface="Times New Roman" pitchFamily="18" charset="0"/>
              </a:rPr>
              <a:t>(d2 + " + " + d3 + " = " + d1);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sz="2400" b="0" dirty="0">
                <a:latin typeface="Arial Black" pitchFamily="34" charset="0"/>
              </a:rPr>
              <a:t>d1 = d2 </a:t>
            </a:r>
            <a:r>
              <a:rPr lang="en-US" sz="2400" b="0" dirty="0" smtClean="0">
                <a:latin typeface="Arial Black" pitchFamily="34" charset="0"/>
              </a:rPr>
              <a:t>– d3; </a:t>
            </a:r>
            <a:r>
              <a:rPr lang="en-US" dirty="0">
                <a:latin typeface="Times New Roman" pitchFamily="18" charset="0"/>
              </a:rPr>
              <a:t>			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</a:rPr>
              <a:t>  //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</a:rPr>
              <a:t>Subtraction                                   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System.out.println</a:t>
            </a:r>
            <a:r>
              <a:rPr lang="en-US" sz="1900" dirty="0">
                <a:latin typeface="Times New Roman" pitchFamily="18" charset="0"/>
              </a:rPr>
              <a:t>(d2 + " - " + d3 + " = " + d1);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sz="2400" b="0" dirty="0">
                <a:latin typeface="Arial Black" pitchFamily="34" charset="0"/>
              </a:rPr>
              <a:t>d1 = d2 * d3; </a:t>
            </a:r>
            <a:r>
              <a:rPr lang="en-US" dirty="0">
                <a:latin typeface="Times New Roman" pitchFamily="18" charset="0"/>
              </a:rPr>
              <a:t>			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</a:rPr>
              <a:t>  //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</a:rPr>
              <a:t>Multiplication                                  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System.out.println</a:t>
            </a:r>
            <a:r>
              <a:rPr lang="en-US" sz="1900" dirty="0">
                <a:latin typeface="Times New Roman" pitchFamily="18" charset="0"/>
              </a:rPr>
              <a:t>(d2 + " * " + d3 + " = " + d1);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sz="2400" b="0" dirty="0">
                <a:latin typeface="Arial Black" pitchFamily="34" charset="0"/>
              </a:rPr>
              <a:t>d1 = d2 / d3; </a:t>
            </a: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smtClean="0">
                <a:latin typeface="Times New Roman" pitchFamily="18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</a:rPr>
              <a:t>  //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</a:rPr>
              <a:t>Real Number Quotient Division  </a:t>
            </a:r>
            <a:r>
              <a:rPr lang="en-US" dirty="0">
                <a:latin typeface="Times New Roman" pitchFamily="18" charset="0"/>
              </a:rPr>
              <a:t>                  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sz="1900" dirty="0" err="1">
                <a:latin typeface="Times New Roman" pitchFamily="18" charset="0"/>
              </a:rPr>
              <a:t>System.out.println</a:t>
            </a:r>
            <a:r>
              <a:rPr lang="en-US" sz="1900" dirty="0">
                <a:latin typeface="Times New Roman" pitchFamily="18" charset="0"/>
              </a:rPr>
              <a:t>(d2 + " / " + d3 + " = " + d1);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350838" algn="l"/>
                <a:tab pos="685800" algn="l"/>
                <a:tab pos="1379538" algn="l"/>
                <a:tab pos="1827213" algn="l"/>
                <a:tab pos="2293938" algn="l"/>
              </a:tabLst>
            </a:pPr>
            <a:r>
              <a:rPr lang="en-US" sz="1900" dirty="0">
                <a:latin typeface="Times New Roman" pitchFamily="18" charset="0"/>
              </a:rPr>
              <a:t>}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0" y="5903893"/>
            <a:ext cx="9144000" cy="954107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Arial" pitchFamily="34" charset="0"/>
                <a:cs typeface="Arial" pitchFamily="34" charset="0"/>
              </a:rPr>
              <a:t>NOTE: Calculations performed with </a:t>
            </a:r>
            <a:r>
              <a:rPr lang="en-US" sz="2800" b="0" dirty="0" smtClean="0">
                <a:latin typeface="Arial Black" pitchFamily="34" charset="0"/>
                <a:cs typeface="Arial" pitchFamily="34" charset="0"/>
              </a:rPr>
              <a:t>double </a:t>
            </a:r>
          </a:p>
          <a:p>
            <a:pPr algn="ctr" eaLnBrk="1" hangingPunct="1"/>
            <a:r>
              <a:rPr lang="en-US" sz="2800" dirty="0" smtClean="0">
                <a:latin typeface="Arial" pitchFamily="34" charset="0"/>
                <a:cs typeface="Arial" pitchFamily="34" charset="0"/>
              </a:rPr>
              <a:t>variables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are accurate to 15 decimal places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0"/>
            <a:ext cx="7620000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10.0 + 3.33333333 = 13.33333333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10.0 – 3.33333333 = 6.66666667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10.0 * 3.33333333 = 33.3333333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10.0 / 3.33333333 = 3.0000000030000002</a:t>
            </a:r>
          </a:p>
        </p:txBody>
      </p:sp>
    </p:spTree>
    <p:extLst>
      <p:ext uri="{BB962C8B-B14F-4D97-AF65-F5344CB8AC3E}">
        <p14:creationId xmlns:p14="http://schemas.microsoft.com/office/powerpoint/2010/main" val="37330788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Java Real Number</a:t>
            </a:r>
            <a:br>
              <a:rPr lang="en-US" sz="4800" dirty="0" smtClean="0">
                <a:latin typeface="Arial Black" pitchFamily="34" charset="0"/>
              </a:rPr>
            </a:br>
            <a:r>
              <a:rPr lang="en-US" sz="4800" dirty="0" smtClean="0">
                <a:latin typeface="Arial Black" pitchFamily="34" charset="0"/>
              </a:rPr>
              <a:t>Data Types/Operations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457200" y="3375025"/>
            <a:ext cx="8229600" cy="317009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tabLst>
                <a:tab pos="457200" algn="l"/>
                <a:tab pos="914400" algn="l"/>
                <a:tab pos="1371600" algn="l"/>
                <a:tab pos="1768475" algn="l"/>
                <a:tab pos="2286000" algn="l"/>
                <a:tab pos="2682875" algn="l"/>
                <a:tab pos="3200400" algn="l"/>
                <a:tab pos="3597275" algn="l"/>
                <a:tab pos="412115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 lang="en-US" sz="1600" dirty="0"/>
              <a:t>	</a:t>
            </a:r>
          </a:p>
          <a:p>
            <a:pPr>
              <a:tabLst>
                <a:tab pos="457200" algn="l"/>
                <a:tab pos="914400" algn="l"/>
                <a:tab pos="1371600" algn="l"/>
                <a:tab pos="1768475" algn="l"/>
                <a:tab pos="2286000" algn="l"/>
                <a:tab pos="2682875" algn="l"/>
                <a:tab pos="3200400" algn="l"/>
                <a:tab pos="3597275" algn="l"/>
                <a:tab pos="4121150" algn="l"/>
                <a:tab pos="4572000" algn="l"/>
                <a:tab pos="5029200" algn="l"/>
                <a:tab pos="5486400" algn="l"/>
                <a:tab pos="5888038" algn="l"/>
                <a:tab pos="6119813" algn="l"/>
              </a:tabLst>
            </a:pPr>
            <a:r>
              <a:rPr lang="en-US" sz="2400" dirty="0"/>
              <a:t>Addition:						</a:t>
            </a:r>
            <a:r>
              <a:rPr lang="en-US" sz="2400" dirty="0" smtClean="0"/>
              <a:t>	6.75  +  2.5</a:t>
            </a:r>
            <a:r>
              <a:rPr lang="en-US" sz="2400" dirty="0"/>
              <a:t>	</a:t>
            </a:r>
            <a:r>
              <a:rPr lang="en-US" sz="2400" dirty="0" smtClean="0"/>
              <a:t>=	  9.25</a:t>
            </a:r>
          </a:p>
          <a:p>
            <a:pPr>
              <a:tabLst>
                <a:tab pos="457200" algn="l"/>
                <a:tab pos="914400" algn="l"/>
                <a:tab pos="1371600" algn="l"/>
                <a:tab pos="1768475" algn="l"/>
                <a:tab pos="2286000" algn="l"/>
                <a:tab pos="2682875" algn="l"/>
                <a:tab pos="3200400" algn="l"/>
                <a:tab pos="3597275" algn="l"/>
                <a:tab pos="4121150" algn="l"/>
                <a:tab pos="4572000" algn="l"/>
                <a:tab pos="5029200" algn="l"/>
                <a:tab pos="5486400" algn="l"/>
                <a:tab pos="5888038" algn="l"/>
                <a:tab pos="6119813" algn="l"/>
              </a:tabLst>
            </a:pPr>
            <a:endParaRPr lang="en-US" sz="2400" dirty="0"/>
          </a:p>
          <a:p>
            <a:pPr>
              <a:tabLst>
                <a:tab pos="457200" algn="l"/>
                <a:tab pos="914400" algn="l"/>
                <a:tab pos="1371600" algn="l"/>
                <a:tab pos="1768475" algn="l"/>
                <a:tab pos="2286000" algn="l"/>
                <a:tab pos="2682875" algn="l"/>
                <a:tab pos="3200400" algn="l"/>
                <a:tab pos="3597275" algn="l"/>
                <a:tab pos="4121150" algn="l"/>
                <a:tab pos="4572000" algn="l"/>
                <a:tab pos="5029200" algn="l"/>
                <a:tab pos="5486400" algn="l"/>
                <a:tab pos="5888038" algn="l"/>
                <a:tab pos="6119813" algn="l"/>
              </a:tabLst>
            </a:pPr>
            <a:r>
              <a:rPr lang="en-US" sz="2400" dirty="0"/>
              <a:t>Subtraction:					6.75 </a:t>
            </a:r>
            <a:r>
              <a:rPr lang="en-US" sz="2400" dirty="0" smtClean="0"/>
              <a:t> –  2.5</a:t>
            </a:r>
            <a:r>
              <a:rPr lang="en-US" sz="2400" dirty="0"/>
              <a:t>	</a:t>
            </a:r>
            <a:r>
              <a:rPr lang="en-US" sz="2400" dirty="0" smtClean="0"/>
              <a:t>=</a:t>
            </a:r>
            <a:r>
              <a:rPr lang="en-US" sz="2400" dirty="0"/>
              <a:t>	  4.25</a:t>
            </a:r>
          </a:p>
          <a:p>
            <a:pPr>
              <a:tabLst>
                <a:tab pos="457200" algn="l"/>
                <a:tab pos="914400" algn="l"/>
                <a:tab pos="1371600" algn="l"/>
                <a:tab pos="1768475" algn="l"/>
                <a:tab pos="2286000" algn="l"/>
                <a:tab pos="2682875" algn="l"/>
                <a:tab pos="3200400" algn="l"/>
                <a:tab pos="3597275" algn="l"/>
                <a:tab pos="4121150" algn="l"/>
                <a:tab pos="4572000" algn="l"/>
                <a:tab pos="5029200" algn="l"/>
                <a:tab pos="5486400" algn="l"/>
                <a:tab pos="5888038" algn="l"/>
                <a:tab pos="6119813" algn="l"/>
              </a:tabLst>
            </a:pPr>
            <a:endParaRPr lang="en-US" sz="2400" dirty="0" smtClean="0"/>
          </a:p>
          <a:p>
            <a:pPr>
              <a:tabLst>
                <a:tab pos="457200" algn="l"/>
                <a:tab pos="914400" algn="l"/>
                <a:tab pos="1371600" algn="l"/>
                <a:tab pos="1768475" algn="l"/>
                <a:tab pos="2286000" algn="l"/>
                <a:tab pos="2682875" algn="l"/>
                <a:tab pos="3200400" algn="l"/>
                <a:tab pos="3597275" algn="l"/>
                <a:tab pos="4121150" algn="l"/>
                <a:tab pos="4572000" algn="l"/>
                <a:tab pos="5029200" algn="l"/>
                <a:tab pos="5486400" algn="l"/>
                <a:tab pos="5888038" algn="l"/>
                <a:tab pos="6119813" algn="l"/>
              </a:tabLst>
            </a:pPr>
            <a:r>
              <a:rPr lang="en-US" sz="2400" dirty="0" smtClean="0"/>
              <a:t>Multiplication</a:t>
            </a:r>
            <a:r>
              <a:rPr lang="en-US" sz="2400" dirty="0"/>
              <a:t>:					</a:t>
            </a:r>
            <a:r>
              <a:rPr lang="en-US" sz="2400" dirty="0" smtClean="0"/>
              <a:t>6.75  </a:t>
            </a:r>
            <a:r>
              <a:rPr lang="en-US" sz="2400" dirty="0"/>
              <a:t>* </a:t>
            </a:r>
            <a:r>
              <a:rPr lang="en-US" sz="2400" dirty="0" smtClean="0"/>
              <a:t> 2.5</a:t>
            </a:r>
            <a:r>
              <a:rPr lang="en-US" sz="2400" dirty="0"/>
              <a:t>	</a:t>
            </a:r>
            <a:r>
              <a:rPr lang="en-US" sz="2400" dirty="0" smtClean="0"/>
              <a:t>=</a:t>
            </a:r>
            <a:r>
              <a:rPr lang="en-US" sz="2400" dirty="0"/>
              <a:t>	  16.875</a:t>
            </a:r>
          </a:p>
          <a:p>
            <a:pPr>
              <a:tabLst>
                <a:tab pos="457200" algn="l"/>
                <a:tab pos="914400" algn="l"/>
                <a:tab pos="1371600" algn="l"/>
                <a:tab pos="1768475" algn="l"/>
                <a:tab pos="2286000" algn="l"/>
                <a:tab pos="2682875" algn="l"/>
                <a:tab pos="3200400" algn="l"/>
                <a:tab pos="3597275" algn="l"/>
                <a:tab pos="4121150" algn="l"/>
                <a:tab pos="4572000" algn="l"/>
                <a:tab pos="5029200" algn="l"/>
                <a:tab pos="5486400" algn="l"/>
                <a:tab pos="5888038" algn="l"/>
                <a:tab pos="6119813" algn="l"/>
              </a:tabLst>
            </a:pPr>
            <a:endParaRPr lang="en-US" sz="2400" dirty="0" smtClean="0"/>
          </a:p>
          <a:p>
            <a:pPr>
              <a:tabLst>
                <a:tab pos="457200" algn="l"/>
                <a:tab pos="914400" algn="l"/>
                <a:tab pos="1371600" algn="l"/>
                <a:tab pos="1768475" algn="l"/>
                <a:tab pos="2286000" algn="l"/>
                <a:tab pos="2682875" algn="l"/>
                <a:tab pos="3200400" algn="l"/>
                <a:tab pos="3597275" algn="l"/>
                <a:tab pos="4121150" algn="l"/>
                <a:tab pos="4572000" algn="l"/>
                <a:tab pos="5029200" algn="l"/>
                <a:tab pos="5486400" algn="l"/>
                <a:tab pos="5888038" algn="l"/>
                <a:tab pos="6119813" algn="l"/>
              </a:tabLst>
            </a:pPr>
            <a:r>
              <a:rPr lang="en-US" sz="2400" dirty="0" smtClean="0"/>
              <a:t>Real </a:t>
            </a:r>
            <a:r>
              <a:rPr lang="en-US" sz="2400" dirty="0"/>
              <a:t># Quotient Division:	6.75 </a:t>
            </a:r>
            <a:r>
              <a:rPr lang="en-US" sz="2400" dirty="0" smtClean="0"/>
              <a:t> /  2.5</a:t>
            </a:r>
            <a:r>
              <a:rPr lang="en-US" sz="2400" dirty="0"/>
              <a:t>	</a:t>
            </a:r>
            <a:r>
              <a:rPr lang="en-US" sz="2400" dirty="0" smtClean="0"/>
              <a:t>=</a:t>
            </a:r>
            <a:r>
              <a:rPr lang="en-US" sz="2400" dirty="0"/>
              <a:t>	  </a:t>
            </a:r>
            <a:r>
              <a:rPr lang="en-US" sz="2400" dirty="0" smtClean="0"/>
              <a:t>2.7</a:t>
            </a:r>
          </a:p>
          <a:p>
            <a:pPr>
              <a:tabLst>
                <a:tab pos="457200" algn="l"/>
                <a:tab pos="914400" algn="l"/>
                <a:tab pos="1371600" algn="l"/>
                <a:tab pos="1768475" algn="l"/>
                <a:tab pos="2286000" algn="l"/>
                <a:tab pos="2682875" algn="l"/>
                <a:tab pos="3200400" algn="l"/>
                <a:tab pos="3597275" algn="l"/>
                <a:tab pos="412115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endParaRPr lang="en-US" sz="1600" dirty="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667000" y="1693863"/>
            <a:ext cx="3505200" cy="143033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float		4 bytes</a:t>
            </a:r>
          </a:p>
          <a:p>
            <a:pPr algn="just" eaLnBrk="1" hangingPunct="1"/>
            <a:endParaRPr lang="en-US" sz="2800"/>
          </a:p>
          <a:p>
            <a:pPr algn="just" eaLnBrk="1" hangingPunct="1"/>
            <a:r>
              <a:rPr lang="en-US" sz="2800"/>
              <a:t>double	8 bytes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/>
          <a:lstStyle/>
          <a:p>
            <a:pPr eaLnBrk="1" hangingPunct="1"/>
            <a:r>
              <a:rPr lang="en-US" sz="4700" dirty="0" smtClean="0">
                <a:latin typeface="Arial Black" pitchFamily="34" charset="0"/>
              </a:rPr>
              <a:t>What About</a:t>
            </a:r>
            <a:br>
              <a:rPr lang="en-US" sz="4700" dirty="0" smtClean="0">
                <a:latin typeface="Arial Black" pitchFamily="34" charset="0"/>
              </a:rPr>
            </a:br>
            <a:r>
              <a:rPr lang="en-US" sz="4700" dirty="0" smtClean="0">
                <a:latin typeface="Arial Black" pitchFamily="34" charset="0"/>
              </a:rPr>
              <a:t>Real # Remainder Division?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04800" y="1752600"/>
            <a:ext cx="8534400" cy="2677656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Java textbooks usually </a:t>
            </a:r>
            <a:r>
              <a:rPr lang="en-US" sz="2400" dirty="0" smtClean="0"/>
              <a:t>state </a:t>
            </a:r>
            <a:r>
              <a:rPr lang="en-US" sz="2400" dirty="0"/>
              <a:t>that remainder or modulus division does not exist for real numbers.  Real numbers do not have remainder division in any practical sense.  </a:t>
            </a:r>
            <a:r>
              <a:rPr lang="en-US" sz="2400" dirty="0" smtClean="0"/>
              <a:t>There also is the issue that Java is based on C++, which does not allow remainder division with real number data types.  Even though the following examples do not work in C++, they actually </a:t>
            </a:r>
            <a:r>
              <a:rPr lang="en-US" sz="2400" u="sng" dirty="0" smtClean="0"/>
              <a:t>do</a:t>
            </a:r>
            <a:r>
              <a:rPr lang="en-US" sz="2400" dirty="0" smtClean="0"/>
              <a:t> work in Java.</a:t>
            </a:r>
            <a:endParaRPr lang="en-US" sz="2400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667000" y="4752558"/>
            <a:ext cx="3810000" cy="181588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2115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tabLst>
                <a:tab pos="2225675" algn="l"/>
              </a:tabLst>
            </a:pPr>
            <a:r>
              <a:rPr lang="en-US" sz="2800" dirty="0" smtClean="0"/>
              <a:t>10.0 </a:t>
            </a:r>
            <a:r>
              <a:rPr lang="en-US" sz="2800" dirty="0"/>
              <a:t>% </a:t>
            </a:r>
            <a:r>
              <a:rPr lang="en-US" sz="2800" dirty="0" smtClean="0"/>
              <a:t>5.0    =</a:t>
            </a:r>
            <a:r>
              <a:rPr lang="en-US" sz="2800" dirty="0"/>
              <a:t> </a:t>
            </a:r>
            <a:r>
              <a:rPr lang="en-US" sz="2800" dirty="0" smtClean="0"/>
              <a:t>   0.0</a:t>
            </a:r>
            <a:endParaRPr lang="en-US" sz="2800" dirty="0"/>
          </a:p>
          <a:p>
            <a:pPr>
              <a:tabLst>
                <a:tab pos="2225675" algn="l"/>
              </a:tabLst>
            </a:pPr>
            <a:r>
              <a:rPr lang="en-US" sz="2800" dirty="0" smtClean="0"/>
              <a:t>10.0 </a:t>
            </a:r>
            <a:r>
              <a:rPr lang="en-US" sz="2800" dirty="0"/>
              <a:t>% </a:t>
            </a:r>
            <a:r>
              <a:rPr lang="en-US" sz="2800" dirty="0" smtClean="0"/>
              <a:t>3.0    =    1.0</a:t>
            </a:r>
            <a:endParaRPr lang="en-US" sz="2800" dirty="0"/>
          </a:p>
          <a:p>
            <a:pPr>
              <a:tabLst>
                <a:tab pos="2225675" algn="l"/>
              </a:tabLst>
            </a:pPr>
            <a:r>
              <a:rPr lang="en-US" sz="2800" dirty="0" smtClean="0"/>
              <a:t>3.0 </a:t>
            </a:r>
            <a:r>
              <a:rPr lang="en-US" sz="2800" dirty="0"/>
              <a:t>% </a:t>
            </a:r>
            <a:r>
              <a:rPr lang="en-US" sz="2800" dirty="0" smtClean="0"/>
              <a:t>10.0    =</a:t>
            </a:r>
            <a:r>
              <a:rPr lang="en-US" sz="2800" dirty="0"/>
              <a:t> </a:t>
            </a:r>
            <a:r>
              <a:rPr lang="en-US" sz="2800" dirty="0" smtClean="0"/>
              <a:t>   3.0</a:t>
            </a:r>
            <a:endParaRPr lang="en-US" sz="2800" dirty="0"/>
          </a:p>
          <a:p>
            <a:pPr>
              <a:tabLst>
                <a:tab pos="2225675" algn="l"/>
              </a:tabLst>
            </a:pPr>
            <a:r>
              <a:rPr lang="en-US" sz="2800" dirty="0" smtClean="0"/>
              <a:t>6.75 </a:t>
            </a:r>
            <a:r>
              <a:rPr lang="en-US" sz="2800" dirty="0"/>
              <a:t>% </a:t>
            </a:r>
            <a:r>
              <a:rPr lang="en-US" sz="2800" dirty="0" smtClean="0"/>
              <a:t>2.5    =</a:t>
            </a:r>
            <a:r>
              <a:rPr lang="en-US" sz="2800" dirty="0"/>
              <a:t> </a:t>
            </a:r>
            <a:r>
              <a:rPr lang="en-US" sz="2800" dirty="0" smtClean="0"/>
              <a:t>   1.75</a:t>
            </a:r>
            <a:endParaRPr lang="en-US" sz="2800" dirty="0"/>
          </a:p>
        </p:txBody>
      </p:sp>
      <p:pic>
        <p:nvPicPr>
          <p:cNvPr id="3074" name="Picture 2" descr="C:\Users\JohnSchram\AppData\Local\Microsoft\Windows\Temporary Internet Files\Content.IE5\0GLVTQPI\MC900441523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950" y="4968240"/>
            <a:ext cx="187325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JohnSchram\AppData\Local\Microsoft\Windows\Temporary Internet Files\Content.IE5\2FHIY7Z7\MC900434403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4660265"/>
            <a:ext cx="1362075" cy="190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048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3.5</a:t>
            </a:r>
          </a:p>
        </p:txBody>
      </p:sp>
      <p:sp>
        <p:nvSpPr>
          <p:cNvPr id="17411" name="WordArt 2"/>
          <p:cNvSpPr>
            <a:spLocks noChangeArrowheads="1" noChangeShapeType="1" noTextEdit="1"/>
          </p:cNvSpPr>
          <p:nvPr/>
        </p:nvSpPr>
        <p:spPr bwMode="auto">
          <a:xfrm>
            <a:off x="2362200" y="1752600"/>
            <a:ext cx="4343400" cy="21336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7699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Numerical</a:t>
            </a:r>
          </a:p>
        </p:txBody>
      </p:sp>
      <p:sp>
        <p:nvSpPr>
          <p:cNvPr id="17412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Representation Limits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27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</a:rPr>
              <a:t>// Java0307.java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This program demonstrates memory overflow problems.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Saving memory is important, but too little memory can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also cause problems.</a:t>
            </a:r>
          </a:p>
          <a:p>
            <a:pPr eaLnBrk="1" hangingPunct="1"/>
            <a:endParaRPr lang="en-US" sz="300" dirty="0">
              <a:latin typeface="Times New Roman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en-US" sz="2200" dirty="0">
                <a:latin typeface="Times New Roman" pitchFamily="18" charset="0"/>
              </a:rPr>
              <a:t>public class Java0307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public static void main (String </a:t>
            </a:r>
            <a:r>
              <a:rPr lang="en-US" sz="2200" dirty="0" err="1">
                <a:latin typeface="Times New Roman" pitchFamily="18" charset="0"/>
              </a:rPr>
              <a:t>args</a:t>
            </a:r>
            <a:r>
              <a:rPr lang="en-US" sz="22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 = 1000;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: " + 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5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endParaRPr lang="en-US" sz="800" dirty="0">
              <a:latin typeface="Times New Roman" pitchFamily="18" charset="0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 = 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 * 1000;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: " + 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5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 = 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 * 1000;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: " + 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5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 = 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 * 1000;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: " + </a:t>
            </a:r>
            <a:r>
              <a:rPr lang="en-US" sz="2200" dirty="0" err="1">
                <a:latin typeface="Times New Roman" pitchFamily="18" charset="0"/>
              </a:rPr>
              <a:t>intNum</a:t>
            </a:r>
            <a:r>
              <a:rPr lang="en-US" sz="22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}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0"/>
            <a:ext cx="5257800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intNum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 1000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intNum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 1000000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intNum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 1000000000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intNum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 -727379968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228600" y="1646238"/>
            <a:ext cx="8610600" cy="4801314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1600" dirty="0">
              <a:latin typeface="Courier New" pitchFamily="49" charset="0"/>
            </a:endParaRPr>
          </a:p>
          <a:p>
            <a:pPr algn="ctr" eaLnBrk="1" hangingPunct="1"/>
            <a:endParaRPr lang="en-US" sz="1600" dirty="0">
              <a:latin typeface="Courier New" pitchFamily="49" charset="0"/>
            </a:endParaRPr>
          </a:p>
          <a:p>
            <a:pPr algn="ctr" eaLnBrk="1" hangingPunct="1"/>
            <a:r>
              <a:rPr lang="en-US" sz="2800" dirty="0">
                <a:latin typeface="Courier New" pitchFamily="49" charset="0"/>
              </a:rPr>
              <a:t>	            </a:t>
            </a:r>
            <a:endParaRPr lang="en-US" sz="2800" dirty="0"/>
          </a:p>
          <a:p>
            <a:pPr algn="ctr" eaLnBrk="1" hangingPunct="1"/>
            <a:endParaRPr lang="en-US" sz="2800" dirty="0"/>
          </a:p>
          <a:p>
            <a:pPr algn="ctr" eaLnBrk="1" hangingPunct="1"/>
            <a:endParaRPr lang="en-US" sz="2800" dirty="0"/>
          </a:p>
          <a:p>
            <a:pPr algn="ctr" eaLnBrk="1" hangingPunct="1"/>
            <a:r>
              <a:rPr lang="en-US" sz="2800" dirty="0" smtClean="0"/>
              <a:t>+ 0.1 mile =</a:t>
            </a:r>
          </a:p>
          <a:p>
            <a:pPr algn="ctr" eaLnBrk="1" hangingPunct="1"/>
            <a:endParaRPr lang="en-US" sz="2800" dirty="0"/>
          </a:p>
          <a:p>
            <a:pPr algn="ctr" eaLnBrk="1" hangingPunct="1"/>
            <a:endParaRPr lang="en-US" sz="2800" dirty="0" smtClean="0"/>
          </a:p>
          <a:p>
            <a:pPr algn="ctr" eaLnBrk="1" hangingPunct="1"/>
            <a:endParaRPr lang="en-US" sz="3200" dirty="0"/>
          </a:p>
          <a:p>
            <a:pPr algn="ctr" eaLnBrk="1" hangingPunct="1"/>
            <a:r>
              <a:rPr lang="en-US" sz="2800" dirty="0" smtClean="0"/>
              <a:t>When many cars reach 100,000 miles </a:t>
            </a:r>
          </a:p>
          <a:p>
            <a:pPr algn="ctr" eaLnBrk="1" hangingPunct="1"/>
            <a:r>
              <a:rPr lang="en-US" sz="2800" dirty="0" smtClean="0"/>
              <a:t>their odometers cease to be accurate.</a:t>
            </a:r>
            <a:endParaRPr lang="en-US" sz="1600" dirty="0">
              <a:latin typeface="Courier New" pitchFamily="49" charset="0"/>
            </a:endParaRPr>
          </a:p>
          <a:p>
            <a:pPr algn="ctr" eaLnBrk="1" hangingPunct="1"/>
            <a:endParaRPr lang="en-US" dirty="0"/>
          </a:p>
        </p:txBody>
      </p: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4800" dirty="0">
                <a:solidFill>
                  <a:schemeClr val="tx2"/>
                </a:solidFill>
                <a:latin typeface="Arial Black" pitchFamily="34" charset="0"/>
              </a:rPr>
              <a:t>The Odometer Analogy</a:t>
            </a:r>
            <a:br>
              <a:rPr lang="en-US" sz="4800" dirty="0">
                <a:solidFill>
                  <a:schemeClr val="tx2"/>
                </a:solidFill>
                <a:latin typeface="Arial Black" pitchFamily="34" charset="0"/>
              </a:rPr>
            </a:br>
            <a:r>
              <a:rPr lang="en-US" sz="4800" dirty="0" smtClean="0">
                <a:solidFill>
                  <a:schemeClr val="tx2"/>
                </a:solidFill>
                <a:latin typeface="Arial Black" pitchFamily="34" charset="0"/>
              </a:rPr>
              <a:t>in Decimal</a:t>
            </a:r>
            <a:endParaRPr lang="en-US" sz="4800" dirty="0">
              <a:solidFill>
                <a:schemeClr val="tx2"/>
              </a:solidFill>
              <a:latin typeface="Arial Black" pitchFamily="34" charset="0"/>
            </a:endParaRPr>
          </a:p>
        </p:txBody>
      </p:sp>
      <p:pic>
        <p:nvPicPr>
          <p:cNvPr id="4099" name="Picture 3" descr="C:\Users\JohnSchram\AppData\Local\Microsoft\Windows\Temporary Internet Files\Content.IE5\0GLVTQPI\MC90043999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60627"/>
            <a:ext cx="2194560" cy="130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JohnSchram\AppData\Local\Microsoft\Windows\Temporary Internet Files\Content.IE5\2FHIY7Z7\MC900439793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440" y="2453640"/>
            <a:ext cx="2194560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73942"/>
              </p:ext>
            </p:extLst>
          </p:nvPr>
        </p:nvGraphicFramePr>
        <p:xfrm>
          <a:off x="2667000" y="2491077"/>
          <a:ext cx="3703320" cy="5181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7220"/>
                <a:gridCol w="617220"/>
                <a:gridCol w="617220"/>
                <a:gridCol w="617220"/>
                <a:gridCol w="617220"/>
                <a:gridCol w="61722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2800" b="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123056"/>
              </p:ext>
            </p:extLst>
          </p:nvPr>
        </p:nvGraphicFramePr>
        <p:xfrm>
          <a:off x="2667000" y="4282440"/>
          <a:ext cx="3703320" cy="5181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7220"/>
                <a:gridCol w="617220"/>
                <a:gridCol w="617220"/>
                <a:gridCol w="617220"/>
                <a:gridCol w="617220"/>
                <a:gridCol w="61722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2800" b="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192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228600" y="1646238"/>
            <a:ext cx="8610600" cy="5091113"/>
            <a:chOff x="144" y="1037"/>
            <a:chExt cx="5424" cy="3207"/>
          </a:xfrm>
        </p:grpSpPr>
        <p:sp>
          <p:nvSpPr>
            <p:cNvPr id="19460" name="Text Box 3"/>
            <p:cNvSpPr txBox="1">
              <a:spLocks noChangeArrowheads="1"/>
            </p:cNvSpPr>
            <p:nvPr/>
          </p:nvSpPr>
          <p:spPr bwMode="auto">
            <a:xfrm>
              <a:off x="144" y="1037"/>
              <a:ext cx="5424" cy="3207"/>
            </a:xfrm>
            <a:prstGeom prst="rect">
              <a:avLst/>
            </a:prstGeom>
            <a:solidFill>
              <a:srgbClr val="00FFCC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endParaRPr lang="en-US" sz="1600" dirty="0">
                <a:latin typeface="Courier New" pitchFamily="49" charset="0"/>
              </a:endParaRPr>
            </a:p>
            <a:p>
              <a:pPr algn="ctr" eaLnBrk="1" hangingPunct="1"/>
              <a:r>
                <a:rPr lang="en-US" sz="2800" dirty="0" smtClean="0"/>
                <a:t>The largest possible </a:t>
              </a:r>
              <a:r>
                <a:rPr lang="en-US" sz="2800" b="0" dirty="0" smtClean="0">
                  <a:latin typeface="Arial Black" panose="020B0A04020102020204" pitchFamily="34" charset="0"/>
                </a:rPr>
                <a:t>short</a:t>
              </a:r>
              <a:r>
                <a:rPr lang="en-US" sz="2800" dirty="0" smtClean="0"/>
                <a:t> integer value is 32,767 which in binary looks like this:</a:t>
              </a:r>
              <a:endParaRPr lang="en-US" sz="1600" dirty="0">
                <a:latin typeface="Courier New" pitchFamily="49" charset="0"/>
              </a:endParaRPr>
            </a:p>
            <a:p>
              <a:pPr algn="ctr" eaLnBrk="1" hangingPunct="1"/>
              <a:r>
                <a:rPr lang="en-US" sz="2800" dirty="0">
                  <a:latin typeface="Courier New" pitchFamily="49" charset="0"/>
                </a:rPr>
                <a:t>	         </a:t>
              </a:r>
              <a:r>
                <a:rPr lang="en-US" sz="2800" dirty="0" smtClean="0">
                  <a:latin typeface="Courier New" pitchFamily="49" charset="0"/>
                </a:rPr>
                <a:t> </a:t>
              </a:r>
              <a:endParaRPr lang="en-US" sz="2800" dirty="0"/>
            </a:p>
            <a:p>
              <a:pPr algn="ctr" eaLnBrk="1" hangingPunct="1"/>
              <a:endParaRPr lang="en-US" sz="2800" dirty="0"/>
            </a:p>
            <a:p>
              <a:pPr algn="ctr" eaLnBrk="1" hangingPunct="1"/>
              <a:endParaRPr lang="en-US" sz="2800" dirty="0"/>
            </a:p>
            <a:p>
              <a:pPr algn="ctr" eaLnBrk="1" hangingPunct="1">
                <a:lnSpc>
                  <a:spcPct val="130000"/>
                </a:lnSpc>
              </a:pPr>
              <a:r>
                <a:rPr lang="en-US" sz="2800" dirty="0" smtClean="0"/>
                <a:t>If we add 1 we get this result:</a:t>
              </a:r>
              <a:endParaRPr lang="en-US" sz="2800" dirty="0"/>
            </a:p>
            <a:p>
              <a:pPr algn="ctr" eaLnBrk="1" hangingPunct="1">
                <a:lnSpc>
                  <a:spcPct val="90000"/>
                </a:lnSpc>
              </a:pPr>
              <a:endParaRPr lang="en-US" sz="2800" dirty="0"/>
            </a:p>
            <a:p>
              <a:pPr eaLnBrk="1" hangingPunct="1"/>
              <a:r>
                <a:rPr lang="en-US" sz="2800" dirty="0"/>
                <a:t>                             	+ 1 =</a:t>
              </a:r>
              <a:endParaRPr lang="en-US" sz="1600" dirty="0">
                <a:latin typeface="Courier New" pitchFamily="49" charset="0"/>
              </a:endParaRPr>
            </a:p>
            <a:p>
              <a:pPr algn="ctr" eaLnBrk="1" hangingPunct="1">
                <a:lnSpc>
                  <a:spcPct val="70000"/>
                </a:lnSpc>
              </a:pPr>
              <a:endParaRPr lang="en-US" sz="1600" dirty="0">
                <a:latin typeface="Courier New" pitchFamily="49" charset="0"/>
              </a:endParaRPr>
            </a:p>
            <a:p>
              <a:pPr algn="ctr" eaLnBrk="1" hangingPunct="1"/>
              <a:endParaRPr lang="en-US" sz="2400" dirty="0">
                <a:latin typeface="Courier New" pitchFamily="49" charset="0"/>
              </a:endParaRPr>
            </a:p>
            <a:p>
              <a:pPr algn="ctr" eaLnBrk="1" hangingPunct="1"/>
              <a:r>
                <a:rPr lang="en-US" sz="2800" dirty="0"/>
                <a:t>32767 + 1 = </a:t>
              </a:r>
              <a:r>
                <a:rPr lang="en-US" sz="2800" dirty="0" smtClean="0"/>
                <a:t>32768</a:t>
              </a:r>
              <a:endParaRPr lang="en-US" sz="1600" dirty="0">
                <a:latin typeface="Courier New" pitchFamily="49" charset="0"/>
              </a:endParaRPr>
            </a:p>
            <a:p>
              <a:pPr algn="ctr" eaLnBrk="1" hangingPunct="1"/>
              <a:endParaRPr lang="en-US" sz="1600" dirty="0"/>
            </a:p>
          </p:txBody>
        </p:sp>
        <p:sp>
          <p:nvSpPr>
            <p:cNvPr id="19462" name="Rectangle 5"/>
            <p:cNvSpPr>
              <a:spLocks noChangeArrowheads="1"/>
            </p:cNvSpPr>
            <p:nvPr/>
          </p:nvSpPr>
          <p:spPr bwMode="auto">
            <a:xfrm>
              <a:off x="336" y="2016"/>
              <a:ext cx="4896" cy="384"/>
            </a:xfrm>
            <a:prstGeom prst="rect">
              <a:avLst/>
            </a:prstGeom>
            <a:solidFill>
              <a:srgbClr val="FF99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Courier New" pitchFamily="49" charset="0"/>
                </a:rPr>
                <a:t>0 1 1 1 1 1 1 1 1 1 1 1 1 1 1 1</a:t>
              </a:r>
            </a:p>
          </p:txBody>
        </p:sp>
        <p:sp>
          <p:nvSpPr>
            <p:cNvPr id="19463" name="Rectangle 6"/>
            <p:cNvSpPr>
              <a:spLocks noChangeArrowheads="1"/>
            </p:cNvSpPr>
            <p:nvPr/>
          </p:nvSpPr>
          <p:spPr bwMode="auto">
            <a:xfrm>
              <a:off x="336" y="3168"/>
              <a:ext cx="4896" cy="384"/>
            </a:xfrm>
            <a:prstGeom prst="rect">
              <a:avLst/>
            </a:prstGeom>
            <a:solidFill>
              <a:srgbClr val="FF99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Courier New" pitchFamily="49" charset="0"/>
                </a:rPr>
                <a:t>1 0 0 0 0 0 0 0 0 0 0 0 0 0 0 0</a:t>
              </a:r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4800" dirty="0">
                <a:solidFill>
                  <a:schemeClr val="tx2"/>
                </a:solidFill>
                <a:latin typeface="Arial Black" pitchFamily="34" charset="0"/>
              </a:rPr>
              <a:t>The Odometer Analogy</a:t>
            </a:r>
            <a:br>
              <a:rPr lang="en-US" sz="4800" dirty="0">
                <a:solidFill>
                  <a:schemeClr val="tx2"/>
                </a:solidFill>
                <a:latin typeface="Arial Black" pitchFamily="34" charset="0"/>
              </a:rPr>
            </a:br>
            <a:r>
              <a:rPr lang="en-US" sz="4800" dirty="0" smtClean="0">
                <a:solidFill>
                  <a:schemeClr val="tx2"/>
                </a:solidFill>
                <a:latin typeface="Arial Black" pitchFamily="34" charset="0"/>
              </a:rPr>
              <a:t>with a short integer</a:t>
            </a:r>
            <a:endParaRPr lang="en-US" sz="4800" dirty="0">
              <a:solidFill>
                <a:schemeClr val="tx2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7672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228600" y="1690688"/>
            <a:ext cx="8610600" cy="4999037"/>
            <a:chOff x="144" y="1065"/>
            <a:chExt cx="5424" cy="3149"/>
          </a:xfrm>
        </p:grpSpPr>
        <p:sp>
          <p:nvSpPr>
            <p:cNvPr id="20484" name="Text Box 3"/>
            <p:cNvSpPr txBox="1">
              <a:spLocks noChangeArrowheads="1"/>
            </p:cNvSpPr>
            <p:nvPr/>
          </p:nvSpPr>
          <p:spPr bwMode="auto">
            <a:xfrm>
              <a:off x="144" y="1065"/>
              <a:ext cx="5424" cy="3149"/>
            </a:xfrm>
            <a:prstGeom prst="rect">
              <a:avLst/>
            </a:prstGeom>
            <a:solidFill>
              <a:srgbClr val="00FFCC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endParaRPr lang="en-US" sz="2400" dirty="0"/>
            </a:p>
            <a:p>
              <a:pPr algn="ctr" eaLnBrk="1" hangingPunct="1"/>
              <a:r>
                <a:rPr lang="en-US" sz="2800" dirty="0"/>
                <a:t>The first bit in a number is the </a:t>
              </a:r>
              <a:r>
                <a:rPr lang="en-US" sz="2800" i="1" dirty="0">
                  <a:latin typeface="Arial" panose="020B0604020202020204" pitchFamily="34" charset="0"/>
                  <a:cs typeface="Arial" panose="020B0604020202020204" pitchFamily="34" charset="0"/>
                </a:rPr>
                <a:t>sign bit</a:t>
              </a:r>
            </a:p>
            <a:p>
              <a:pPr algn="ctr" eaLnBrk="1" hangingPunct="1"/>
              <a:r>
                <a:rPr lang="en-US" sz="2800" dirty="0"/>
                <a:t>It determines if a number is positive or negative</a:t>
              </a:r>
            </a:p>
            <a:p>
              <a:pPr algn="ctr" eaLnBrk="1" hangingPunct="1">
                <a:lnSpc>
                  <a:spcPct val="50000"/>
                </a:lnSpc>
              </a:pPr>
              <a:endParaRPr lang="en-US" sz="2800" dirty="0"/>
            </a:p>
            <a:p>
              <a:pPr algn="ctr" eaLnBrk="1" hangingPunct="1"/>
              <a:r>
                <a:rPr lang="en-US" sz="2800" dirty="0"/>
                <a:t>0 = Positive     1 = Negative</a:t>
              </a:r>
            </a:p>
            <a:p>
              <a:pPr algn="ctr" eaLnBrk="1" hangingPunct="1"/>
              <a:endParaRPr lang="en-US" sz="2800" dirty="0">
                <a:latin typeface="Courier New" pitchFamily="49" charset="0"/>
              </a:endParaRPr>
            </a:p>
            <a:p>
              <a:pPr algn="ctr" eaLnBrk="1" hangingPunct="1"/>
              <a:r>
                <a:rPr lang="en-US" sz="2800" dirty="0">
                  <a:latin typeface="Courier New" pitchFamily="49" charset="0"/>
                </a:rPr>
                <a:t>               </a:t>
              </a:r>
              <a:endParaRPr lang="en-US" sz="2800" dirty="0"/>
            </a:p>
            <a:p>
              <a:pPr algn="ctr" eaLnBrk="1" hangingPunct="1"/>
              <a:endParaRPr lang="en-US" sz="2800" dirty="0"/>
            </a:p>
            <a:p>
              <a:pPr algn="ctr" eaLnBrk="1" hangingPunct="1"/>
              <a:r>
                <a:rPr lang="en-US" sz="2800" dirty="0"/>
                <a:t>32767 + 1 = -32768</a:t>
              </a:r>
              <a:endParaRPr lang="en-US" sz="2800" dirty="0">
                <a:latin typeface="Courier New" pitchFamily="49" charset="0"/>
              </a:endParaRPr>
            </a:p>
            <a:p>
              <a:pPr algn="ctr" eaLnBrk="1" hangingPunct="1"/>
              <a:endParaRPr lang="en-US" sz="2800" dirty="0">
                <a:latin typeface="Courier New" pitchFamily="49" charset="0"/>
              </a:endParaRPr>
            </a:p>
            <a:p>
              <a:pPr algn="ctr" eaLnBrk="1" hangingPunct="1"/>
              <a:endParaRPr lang="en-US" sz="2800" dirty="0">
                <a:latin typeface="Courier New" pitchFamily="49" charset="0"/>
              </a:endParaRPr>
            </a:p>
            <a:p>
              <a:pPr algn="ctr" eaLnBrk="1" hangingPunct="1"/>
              <a:endParaRPr lang="en-US" sz="2800" dirty="0">
                <a:latin typeface="Courier New" pitchFamily="49" charset="0"/>
              </a:endParaRPr>
            </a:p>
          </p:txBody>
        </p:sp>
        <p:sp>
          <p:nvSpPr>
            <p:cNvPr id="20485" name="Rectangle 4"/>
            <p:cNvSpPr>
              <a:spLocks noChangeArrowheads="1"/>
            </p:cNvSpPr>
            <p:nvPr/>
          </p:nvSpPr>
          <p:spPr bwMode="auto">
            <a:xfrm>
              <a:off x="336" y="2496"/>
              <a:ext cx="4944" cy="384"/>
            </a:xfrm>
            <a:prstGeom prst="rect">
              <a:avLst/>
            </a:prstGeom>
            <a:solidFill>
              <a:srgbClr val="FF99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Courier New" pitchFamily="49" charset="0"/>
                </a:rPr>
                <a:t>0 1 1 1 1 1 1 1 1 1 1 1 1 1 1 1</a:t>
              </a:r>
            </a:p>
          </p:txBody>
        </p:sp>
        <p:sp>
          <p:nvSpPr>
            <p:cNvPr id="20486" name="Rectangle 5"/>
            <p:cNvSpPr>
              <a:spLocks noChangeArrowheads="1"/>
            </p:cNvSpPr>
            <p:nvPr/>
          </p:nvSpPr>
          <p:spPr bwMode="auto">
            <a:xfrm>
              <a:off x="336" y="3504"/>
              <a:ext cx="4944" cy="384"/>
            </a:xfrm>
            <a:prstGeom prst="rect">
              <a:avLst/>
            </a:prstGeom>
            <a:solidFill>
              <a:srgbClr val="FF99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Courier New" pitchFamily="49" charset="0"/>
                </a:rPr>
                <a:t>1 0 0 0 0 0 0 0 0 0 0 0 0 0 0 0</a:t>
              </a:r>
            </a:p>
          </p:txBody>
        </p:sp>
      </p:grpSp>
      <p:sp>
        <p:nvSpPr>
          <p:cNvPr id="20483" name="Rectangle 6"/>
          <p:cNvSpPr>
            <a:spLocks noChangeArrowheads="1"/>
          </p:cNvSpPr>
          <p:nvPr/>
        </p:nvSpPr>
        <p:spPr bwMode="auto">
          <a:xfrm>
            <a:off x="0" y="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4800">
                <a:solidFill>
                  <a:schemeClr val="tx2"/>
                </a:solidFill>
                <a:latin typeface="Arial Black" pitchFamily="34" charset="0"/>
              </a:rPr>
              <a:t>How Positive Numbers Give Negative Results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60438"/>
          </a:xfrm>
        </p:spPr>
        <p:txBody>
          <a:bodyPr/>
          <a:lstStyle/>
          <a:p>
            <a:pPr eaLnBrk="1" hangingPunct="1"/>
            <a:r>
              <a:rPr lang="en-US" smtClean="0">
                <a:latin typeface="Arial Black" pitchFamily="34" charset="0"/>
              </a:rPr>
              <a:t>Memory Overflow Problems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28600" y="990600"/>
            <a:ext cx="8686800" cy="57054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600" dirty="0"/>
              <a:t>Memory overflow is a situation where the </a:t>
            </a:r>
            <a:endParaRPr lang="en-US" sz="2600" dirty="0" smtClean="0"/>
          </a:p>
          <a:p>
            <a:pPr eaLnBrk="1" hangingPunct="1"/>
            <a:r>
              <a:rPr lang="en-US" sz="2600" dirty="0" smtClean="0"/>
              <a:t>assigned </a:t>
            </a:r>
            <a:r>
              <a:rPr lang="en-US" sz="2600" dirty="0"/>
              <a:t>value of a variable exceeds the </a:t>
            </a:r>
            <a:endParaRPr lang="en-US" sz="2600" dirty="0" smtClean="0"/>
          </a:p>
          <a:p>
            <a:pPr eaLnBrk="1" hangingPunct="1"/>
            <a:r>
              <a:rPr lang="en-US" sz="2600" dirty="0" smtClean="0"/>
              <a:t>allocated </a:t>
            </a:r>
            <a:r>
              <a:rPr lang="en-US" sz="2600" dirty="0"/>
              <a:t>storage space.  </a:t>
            </a:r>
          </a:p>
          <a:p>
            <a:pPr eaLnBrk="1" hangingPunct="1"/>
            <a:endParaRPr lang="en-US" sz="2600" dirty="0"/>
          </a:p>
          <a:p>
            <a:pPr eaLnBrk="1" hangingPunct="1"/>
            <a:r>
              <a:rPr lang="en-US" sz="2600" dirty="0"/>
              <a:t>The resulting value that is stored will be </a:t>
            </a:r>
            <a:endParaRPr lang="en-US" sz="2600" dirty="0" smtClean="0"/>
          </a:p>
          <a:p>
            <a:pPr eaLnBrk="1" hangingPunct="1"/>
            <a:r>
              <a:rPr lang="en-US" sz="2600" dirty="0" smtClean="0"/>
              <a:t>inaccurate </a:t>
            </a:r>
            <a:r>
              <a:rPr lang="en-US" sz="2600" dirty="0"/>
              <a:t>and can change from positive </a:t>
            </a:r>
            <a:endParaRPr lang="en-US" sz="2600" dirty="0" smtClean="0"/>
          </a:p>
          <a:p>
            <a:pPr eaLnBrk="1" hangingPunct="1"/>
            <a:r>
              <a:rPr lang="en-US" sz="2600" dirty="0" smtClean="0"/>
              <a:t>to </a:t>
            </a:r>
            <a:r>
              <a:rPr lang="en-US" sz="2600" dirty="0"/>
              <a:t>negative or negative to positive.</a:t>
            </a:r>
          </a:p>
          <a:p>
            <a:pPr eaLnBrk="1" hangingPunct="1"/>
            <a:endParaRPr lang="en-US" sz="2600" dirty="0"/>
          </a:p>
          <a:p>
            <a:pPr eaLnBrk="1" hangingPunct="1"/>
            <a:r>
              <a:rPr lang="en-US" sz="2600" dirty="0"/>
              <a:t>Avoid memory overflow problems by using a data type that can handle the size of the assigned values.</a:t>
            </a:r>
          </a:p>
          <a:p>
            <a:pPr eaLnBrk="1" hangingPunct="1"/>
            <a:endParaRPr lang="en-US" sz="2600" dirty="0"/>
          </a:p>
          <a:p>
            <a:pPr eaLnBrk="1" hangingPunct="1"/>
            <a:r>
              <a:rPr lang="en-US" sz="2600" dirty="0"/>
              <a:t>It is important to save computer memory.  </a:t>
            </a:r>
            <a:endParaRPr lang="en-US" sz="2600" dirty="0" smtClean="0"/>
          </a:p>
          <a:p>
            <a:pPr eaLnBrk="1" hangingPunct="1"/>
            <a:r>
              <a:rPr lang="en-US" sz="2600" dirty="0" smtClean="0"/>
              <a:t>However</a:t>
            </a:r>
            <a:r>
              <a:rPr lang="en-US" sz="2600" dirty="0"/>
              <a:t>, do not be so stingy with memory </a:t>
            </a:r>
            <a:endParaRPr lang="en-US" sz="2600" dirty="0" smtClean="0"/>
          </a:p>
          <a:p>
            <a:pPr eaLnBrk="1" hangingPunct="1"/>
            <a:r>
              <a:rPr lang="en-US" sz="2600" dirty="0" smtClean="0"/>
              <a:t>that </a:t>
            </a:r>
            <a:r>
              <a:rPr lang="en-US" sz="2600" dirty="0"/>
              <a:t>overflow problems occur.</a:t>
            </a:r>
          </a:p>
        </p:txBody>
      </p:sp>
      <p:pic>
        <p:nvPicPr>
          <p:cNvPr id="6147" name="Picture 3" descr="C:\Users\JohnSchram\AppData\Local\Microsoft\Windows\Temporary Internet Files\Content.IE5\0GLVTQPI\MC900318226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262063"/>
            <a:ext cx="1874288" cy="270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:\Users\JohnSchram\AppData\Local\Microsoft\Windows\Temporary Internet Files\Content.IE5\YGQBG32U\MM900234753[1]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563" y="5181600"/>
            <a:ext cx="1498387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75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</a:rPr>
              <a:t>// Java0308.java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This program shows that there is a memory storage limitation to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how many digits are stored beyond the decimal point.</a:t>
            </a: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public class Java0308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public static void main (String </a:t>
            </a:r>
            <a:r>
              <a:rPr lang="en-US" sz="2400" dirty="0" err="1">
                <a:latin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pt-BR" sz="2400" dirty="0">
                <a:latin typeface="Times New Roman" pitchFamily="18" charset="0"/>
              </a:rPr>
              <a:t>double num1 = 1.012345;</a:t>
            </a:r>
          </a:p>
          <a:p>
            <a:pPr eaLnBrk="1" hangingPunct="1"/>
            <a:r>
              <a:rPr lang="pt-BR" sz="2400" dirty="0">
                <a:latin typeface="Times New Roman" pitchFamily="18" charset="0"/>
              </a:rPr>
              <a:t>		double num2 = 1.0123456789;</a:t>
            </a:r>
          </a:p>
          <a:p>
            <a:pPr eaLnBrk="1" hangingPunct="1"/>
            <a:r>
              <a:rPr lang="pt-BR" sz="2400" dirty="0">
                <a:latin typeface="Times New Roman" pitchFamily="18" charset="0"/>
              </a:rPr>
              <a:t>		double num3 = 1.01234567890123456789;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</a:rPr>
              <a:t>	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("num1: " + num1);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("num2: " + num2);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("num3: " + num3);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</a:rPr>
              <a:t>	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("\n\n");			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}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-13395"/>
            <a:ext cx="6172200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num1: 1.012345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num2: 1.0123456789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num3: 1.0123456789012346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00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</a:rPr>
              <a:t>// Java0309.java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This program demonstrates another error.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The program output displays a number that is mathematically incorrect.</a:t>
            </a:r>
          </a:p>
          <a:p>
            <a:pPr eaLnBrk="1" hangingPunct="1">
              <a:lnSpc>
                <a:spcPct val="120000"/>
              </a:lnSpc>
            </a:pPr>
            <a:endParaRPr lang="en-US" sz="22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public class Java0309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public static void main (String </a:t>
            </a:r>
            <a:r>
              <a:rPr lang="en-US" sz="2400" dirty="0" err="1">
                <a:latin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double num1 = 10.0;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double num2 = 3.0;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double num3 = num1 / num2;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</a:rPr>
              <a:t>	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("num1: " + num1);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("num2: " + num2);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("num3: " + num3);</a:t>
            </a:r>
          </a:p>
          <a:p>
            <a:pPr eaLnBrk="1" hangingPunct="1">
              <a:lnSpc>
                <a:spcPct val="70000"/>
              </a:lnSpc>
            </a:pPr>
            <a:r>
              <a:rPr lang="en-US" sz="2400" dirty="0">
                <a:latin typeface="Times New Roman" pitchFamily="18" charset="0"/>
              </a:rPr>
              <a:t>	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("\n\n");			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}</a:t>
            </a:r>
          </a:p>
        </p:txBody>
      </p:sp>
      <p:pic>
        <p:nvPicPr>
          <p:cNvPr id="562181" name="Picture 5" descr="j0282748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8288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2183" name="Picture 7" descr="j0282747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8288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2184" name="WordArt 8"/>
          <p:cNvSpPr>
            <a:spLocks noChangeArrowheads="1" noChangeShapeType="1" noTextEdit="1"/>
          </p:cNvSpPr>
          <p:nvPr/>
        </p:nvSpPr>
        <p:spPr bwMode="auto">
          <a:xfrm>
            <a:off x="6248400" y="3276600"/>
            <a:ext cx="2590800" cy="2084388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616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Rounding Errors</a:t>
            </a:r>
          </a:p>
          <a:p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are common with</a:t>
            </a:r>
          </a:p>
          <a:p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long decimal #s.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600" y="0"/>
            <a:ext cx="5867400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num1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 10.0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num2: 3.0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num3: 3.333333333335</a:t>
            </a:r>
          </a:p>
        </p:txBody>
      </p:sp>
      <p:sp>
        <p:nvSpPr>
          <p:cNvPr id="562180" name="Oval 4"/>
          <p:cNvSpPr>
            <a:spLocks noChangeArrowheads="1"/>
          </p:cNvSpPr>
          <p:nvPr/>
        </p:nvSpPr>
        <p:spPr bwMode="auto">
          <a:xfrm>
            <a:off x="7991856" y="996696"/>
            <a:ext cx="301752" cy="50292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62182" name="Picture 6" descr="j0303364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100" y="165705"/>
            <a:ext cx="6477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6218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56218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56218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6218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56218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84" grpId="0" animBg="1"/>
      <p:bldP spid="10" grpId="0" animBg="1"/>
      <p:bldP spid="56218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WordArt 2"/>
          <p:cNvSpPr>
            <a:spLocks noChangeArrowheads="1" noChangeShapeType="1" noTextEdit="1"/>
          </p:cNvSpPr>
          <p:nvPr/>
        </p:nvSpPr>
        <p:spPr bwMode="auto">
          <a:xfrm>
            <a:off x="381000" y="4724400"/>
            <a:ext cx="8382000" cy="1981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Notations</a:t>
            </a:r>
          </a:p>
        </p:txBody>
      </p:sp>
      <p:sp>
        <p:nvSpPr>
          <p:cNvPr id="24579" name="WordArt 2"/>
          <p:cNvSpPr>
            <a:spLocks noChangeArrowheads="1" noChangeShapeType="1" noTextEdit="1"/>
          </p:cNvSpPr>
          <p:nvPr/>
        </p:nvSpPr>
        <p:spPr bwMode="auto">
          <a:xfrm>
            <a:off x="381000" y="3048000"/>
            <a:ext cx="8382000" cy="1981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Shortcut</a:t>
            </a:r>
          </a:p>
        </p:txBody>
      </p:sp>
      <p:sp>
        <p:nvSpPr>
          <p:cNvPr id="24580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3.6</a:t>
            </a:r>
          </a:p>
        </p:txBody>
      </p:sp>
      <p:sp>
        <p:nvSpPr>
          <p:cNvPr id="24581" name="WordArt 2"/>
          <p:cNvSpPr>
            <a:spLocks noChangeArrowheads="1" noChangeShapeType="1" noTextEdit="1"/>
          </p:cNvSpPr>
          <p:nvPr/>
        </p:nvSpPr>
        <p:spPr bwMode="auto">
          <a:xfrm>
            <a:off x="381000" y="1371600"/>
            <a:ext cx="8382000" cy="1981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Arithmetic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00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100" dirty="0">
                <a:latin typeface="Times New Roman" pitchFamily="18" charset="0"/>
              </a:rPr>
              <a:t>// Java0310.java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// This program shows "unary" arithmetic shortcut notation in Java.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// Note that  "postfix" x++ &amp; "prefix"  ++x don't always have the same result.</a:t>
            </a:r>
          </a:p>
          <a:p>
            <a:pPr eaLnBrk="1" hangingPunct="1">
              <a:lnSpc>
                <a:spcPct val="70000"/>
              </a:lnSpc>
            </a:pPr>
            <a:endParaRPr lang="en-US" sz="2100" dirty="0">
              <a:latin typeface="Times New Roman" pitchFamily="18" charset="0"/>
            </a:endParaRP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public class Java0310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public static void main (String </a:t>
            </a:r>
            <a:r>
              <a:rPr lang="en-US" sz="2100" dirty="0" err="1">
                <a:latin typeface="Times New Roman" pitchFamily="18" charset="0"/>
              </a:rPr>
              <a:t>args</a:t>
            </a:r>
            <a:r>
              <a:rPr lang="en-US" sz="21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int</a:t>
            </a:r>
            <a:r>
              <a:rPr lang="en-US" sz="2100" dirty="0">
                <a:latin typeface="Times New Roman" pitchFamily="18" charset="0"/>
              </a:rPr>
              <a:t> 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 = 10;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 equals " + 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++;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 equals " + 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++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 equals " + 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); 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 equals " + 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++);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 equals " + 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 equals " + ++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 equals " + </a:t>
            </a:r>
            <a:r>
              <a:rPr lang="en-US" sz="2100" dirty="0" err="1">
                <a:latin typeface="Times New Roman" pitchFamily="18" charset="0"/>
              </a:rPr>
              <a:t>num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}  </a:t>
            </a:r>
          </a:p>
          <a:p>
            <a:pPr eaLnBrk="1" hangingPunct="1">
              <a:lnSpc>
                <a:spcPct val="120000"/>
              </a:lnSpc>
            </a:pPr>
            <a:r>
              <a:rPr lang="en-US" sz="2100" dirty="0">
                <a:latin typeface="Times New Roman" pitchFamily="18" charset="0"/>
              </a:rPr>
              <a:t>}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0" y="-13395"/>
            <a:ext cx="4191000" cy="2554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equals  10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equals  11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equals  12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equals  13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equals  14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Java Unary Operators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609600" y="1485900"/>
            <a:ext cx="8001000" cy="44005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2400"/>
          </a:p>
          <a:p>
            <a:pPr eaLnBrk="1" hangingPunct="1"/>
            <a:r>
              <a:rPr lang="en-US" sz="3200"/>
              <a:t>k++;		is the same as:	k = k + 1;</a:t>
            </a:r>
          </a:p>
          <a:p>
            <a:pPr eaLnBrk="1" hangingPunct="1"/>
            <a:endParaRPr lang="en-US" sz="3200"/>
          </a:p>
          <a:p>
            <a:pPr algn="just" eaLnBrk="1" hangingPunct="1"/>
            <a:r>
              <a:rPr lang="en-US" sz="3200"/>
              <a:t>++k;		is the same as:	k = k + 1;</a:t>
            </a:r>
          </a:p>
          <a:p>
            <a:pPr algn="just" eaLnBrk="1" hangingPunct="1"/>
            <a:endParaRPr lang="en-US" sz="3200"/>
          </a:p>
          <a:p>
            <a:pPr algn="just" eaLnBrk="1" hangingPunct="1"/>
            <a:r>
              <a:rPr lang="en-US" sz="3200"/>
              <a:t>k--;		is the same as:	k = k - 1;</a:t>
            </a:r>
          </a:p>
          <a:p>
            <a:pPr algn="just" eaLnBrk="1" hangingPunct="1"/>
            <a:endParaRPr lang="en-US" sz="3200"/>
          </a:p>
          <a:p>
            <a:pPr algn="just" eaLnBrk="1" hangingPunct="1"/>
            <a:r>
              <a:rPr lang="en-US" sz="3200"/>
              <a:t>--k;		is the same as:	k = k - 1;</a:t>
            </a:r>
          </a:p>
          <a:p>
            <a:pPr algn="just" eaLnBrk="1" hangingPunct="1"/>
            <a:endParaRPr lang="en-US" sz="32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Proper Usage of Shortcuts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2209800" y="1143000"/>
            <a:ext cx="4724400" cy="542475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sz="3200" u="sng" dirty="0">
                <a:latin typeface="Arial Rounded MT Bold" panose="020F0704030504030204" pitchFamily="34" charset="0"/>
              </a:rPr>
              <a:t>Proper Usage:</a:t>
            </a:r>
          </a:p>
          <a:p>
            <a:pPr algn="just" eaLnBrk="1" hangingPunct="1"/>
            <a:endParaRPr lang="en-US" sz="1400" dirty="0">
              <a:latin typeface="Arial Black" pitchFamily="34" charset="0"/>
            </a:endParaRPr>
          </a:p>
          <a:p>
            <a:pPr algn="just" eaLnBrk="1" hangingPunct="1"/>
            <a:r>
              <a:rPr lang="en-US" sz="2800" dirty="0"/>
              <a:t>k++;</a:t>
            </a:r>
          </a:p>
          <a:p>
            <a:pPr algn="just" eaLnBrk="1" hangingPunct="1"/>
            <a:r>
              <a:rPr lang="en-US" sz="2800" dirty="0" err="1"/>
              <a:t>System.out.println</a:t>
            </a:r>
            <a:r>
              <a:rPr lang="en-US" sz="2800" dirty="0"/>
              <a:t>(k);</a:t>
            </a:r>
          </a:p>
          <a:p>
            <a:pPr algn="just" eaLnBrk="1" hangingPunct="1"/>
            <a:endParaRPr lang="en-US" sz="1400" dirty="0"/>
          </a:p>
          <a:p>
            <a:pPr algn="just" eaLnBrk="1" hangingPunct="1"/>
            <a:r>
              <a:rPr lang="en-US" sz="2800" dirty="0"/>
              <a:t>--k;</a:t>
            </a:r>
          </a:p>
          <a:p>
            <a:pPr algn="just" eaLnBrk="1" hangingPunct="1"/>
            <a:r>
              <a:rPr lang="en-US" sz="2800" dirty="0" err="1"/>
              <a:t>System.out.println</a:t>
            </a:r>
            <a:r>
              <a:rPr lang="en-US" sz="2800" dirty="0"/>
              <a:t>(k);</a:t>
            </a:r>
          </a:p>
          <a:p>
            <a:pPr algn="just" eaLnBrk="1" hangingPunct="1"/>
            <a:endParaRPr lang="en-US" sz="3600" dirty="0">
              <a:latin typeface="Courier New" pitchFamily="49" charset="0"/>
            </a:endParaRPr>
          </a:p>
          <a:p>
            <a:pPr algn="just" eaLnBrk="1" hangingPunct="1"/>
            <a:r>
              <a:rPr lang="en-US" sz="3200" u="sng" dirty="0">
                <a:latin typeface="Arial Rounded MT Bold" panose="020F0704030504030204" pitchFamily="34" charset="0"/>
              </a:rPr>
              <a:t>Problematic Usage:</a:t>
            </a:r>
          </a:p>
          <a:p>
            <a:pPr algn="just" eaLnBrk="1" hangingPunct="1"/>
            <a:endParaRPr lang="en-US" sz="1400" i="1" dirty="0">
              <a:latin typeface="Arial Black" pitchFamily="34" charset="0"/>
            </a:endParaRPr>
          </a:p>
          <a:p>
            <a:pPr algn="just" eaLnBrk="1" hangingPunct="1"/>
            <a:r>
              <a:rPr lang="en-US" sz="2800" dirty="0" err="1"/>
              <a:t>System.out.println</a:t>
            </a:r>
            <a:r>
              <a:rPr lang="en-US" sz="2800" dirty="0"/>
              <a:t>(k++);</a:t>
            </a:r>
          </a:p>
          <a:p>
            <a:pPr algn="just" eaLnBrk="1" hangingPunct="1"/>
            <a:endParaRPr lang="en-US" sz="1400" dirty="0"/>
          </a:p>
          <a:p>
            <a:pPr algn="just" eaLnBrk="1" hangingPunct="1"/>
            <a:r>
              <a:rPr lang="en-US" sz="2800" dirty="0" err="1"/>
              <a:t>System.out.println</a:t>
            </a:r>
            <a:r>
              <a:rPr lang="en-US" sz="2800" dirty="0"/>
              <a:t>(--k);</a:t>
            </a:r>
          </a:p>
          <a:p>
            <a:pPr algn="just" eaLnBrk="1" hangingPunct="1">
              <a:lnSpc>
                <a:spcPct val="40000"/>
              </a:lnSpc>
            </a:pPr>
            <a:endParaRPr 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Java0311.java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shows arithmetic assignment operations in Java.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x+=10; is the same as x = x + 10;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Java0311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 (String </a:t>
            </a:r>
            <a:r>
              <a:rPr lang="en-US" sz="2000" dirty="0" err="1">
                <a:latin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 x = 10;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("x equals " + x);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		x += 10;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("x equals " + x);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		x -= 10;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("x equals " + x);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		x *= 10;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("x equals " + x);</a:t>
            </a:r>
          </a:p>
          <a:p>
            <a:pPr eaLnBrk="1" hangingPunct="1"/>
            <a:r>
              <a:rPr lang="en-US" sz="2000" dirty="0">
                <a:latin typeface="Arial Black" panose="020B0A04020102020204" pitchFamily="34" charset="0"/>
              </a:rPr>
              <a:t> 		x /= 10;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("x equals " + x);</a:t>
            </a:r>
          </a:p>
          <a:p>
            <a:pPr eaLnBrk="1" hangingPunct="1"/>
            <a:r>
              <a:rPr lang="en-US" sz="2000" dirty="0">
                <a:latin typeface="Arial Black" panose="020B0A04020102020204" pitchFamily="34" charset="0"/>
              </a:rPr>
              <a:t>		x %= 10;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("x equals " + x);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} 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0" y="1067812"/>
            <a:ext cx="3505200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 equals 10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 equals 20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 equals 10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 equals 100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 equals 10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 equals 0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Binary Operator Shortcuts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457200" y="1279525"/>
            <a:ext cx="8305800" cy="51212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>
                <a:latin typeface="Arial Black" pitchFamily="34" charset="0"/>
              </a:rPr>
              <a:t>No Shortcut Notation	Shortcut Notation</a:t>
            </a:r>
          </a:p>
          <a:p>
            <a:pPr algn="just" eaLnBrk="1" hangingPunct="1"/>
            <a:endParaRPr lang="en-US" sz="2800">
              <a:latin typeface="Arial Black" pitchFamily="34" charset="0"/>
            </a:endParaRPr>
          </a:p>
          <a:p>
            <a:pPr algn="just" eaLnBrk="1" hangingPunct="1"/>
            <a:r>
              <a:rPr lang="en-US" sz="2800"/>
              <a:t>k = k + 5;				k += 5;</a:t>
            </a:r>
          </a:p>
          <a:p>
            <a:pPr algn="just" eaLnBrk="1" hangingPunct="1"/>
            <a:endParaRPr lang="en-US" sz="2800"/>
          </a:p>
          <a:p>
            <a:pPr algn="just" eaLnBrk="1" hangingPunct="1"/>
            <a:r>
              <a:rPr lang="en-US" sz="2800"/>
              <a:t>k = k - 5;				k -= 5;</a:t>
            </a:r>
          </a:p>
          <a:p>
            <a:pPr algn="just" eaLnBrk="1" hangingPunct="1"/>
            <a:endParaRPr lang="en-US" sz="2800"/>
          </a:p>
          <a:p>
            <a:pPr algn="just" eaLnBrk="1" hangingPunct="1"/>
            <a:r>
              <a:rPr lang="en-US" sz="2800"/>
              <a:t>k = k * 5;				k *= 5;</a:t>
            </a:r>
          </a:p>
          <a:p>
            <a:pPr algn="just" eaLnBrk="1" hangingPunct="1"/>
            <a:endParaRPr lang="en-US" sz="2800"/>
          </a:p>
          <a:p>
            <a:pPr algn="just" eaLnBrk="1" hangingPunct="1"/>
            <a:r>
              <a:rPr lang="en-US" sz="2800"/>
              <a:t>k = k / 5;				k /= 5;</a:t>
            </a:r>
          </a:p>
          <a:p>
            <a:pPr algn="just" eaLnBrk="1" hangingPunct="1"/>
            <a:endParaRPr lang="en-US" sz="2800"/>
          </a:p>
          <a:p>
            <a:pPr algn="just" eaLnBrk="1" hangingPunct="1"/>
            <a:r>
              <a:rPr lang="en-US" sz="2800"/>
              <a:t>k = k % 5;				k %= 5;</a:t>
            </a:r>
          </a:p>
          <a:p>
            <a:pPr eaLnBrk="1" hangingPunct="1"/>
            <a:r>
              <a:rPr lang="en-US"/>
              <a:t>	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</a:rPr>
              <a:t>// Java0312.java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This program demonstrates very bad programming style by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combining various shortcuts in one statement.  It is difficult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to determine what actually is happening.</a:t>
            </a:r>
          </a:p>
          <a:p>
            <a:pPr eaLnBrk="1" hangingPunct="1"/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2400" dirty="0">
                <a:latin typeface="Times New Roman" pitchFamily="18" charset="0"/>
              </a:rPr>
              <a:t>public class Java0312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public static void main (String </a:t>
            </a:r>
            <a:r>
              <a:rPr lang="en-US" sz="2400" dirty="0" err="1">
                <a:latin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</a:rPr>
              <a:t> x = 10;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("Before: " + x);</a:t>
            </a:r>
          </a:p>
          <a:p>
            <a:pPr eaLnBrk="1" hangingPunct="1"/>
            <a:r>
              <a:rPr lang="en-US" sz="3600" b="0" dirty="0">
                <a:latin typeface="Arial Black" pitchFamily="34" charset="0"/>
              </a:rPr>
              <a:t>		x += ++x + x++;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("After:  " + x);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000" dirty="0" smtClean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</p:txBody>
      </p:sp>
      <p:pic>
        <p:nvPicPr>
          <p:cNvPr id="6" name="Picture 5" descr="j0282748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2860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j0282747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22860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5715000" y="3962400"/>
            <a:ext cx="3429000" cy="289560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cs typeface="Arial" charset="0"/>
              </a:rPr>
              <a:t>Do not waste any time trying to figure out why the answer is 32. </a:t>
            </a:r>
          </a:p>
          <a:p>
            <a:pPr eaLnBrk="1" hangingPunct="1"/>
            <a:endParaRPr lang="en-US" sz="1400">
              <a:cs typeface="Arial" charset="0"/>
            </a:endParaRPr>
          </a:p>
          <a:p>
            <a:pPr eaLnBrk="1" hangingPunct="1"/>
            <a:r>
              <a:rPr lang="en-US" sz="2400">
                <a:cs typeface="Arial" charset="0"/>
              </a:rPr>
              <a:t>The point being made here is this code is </a:t>
            </a:r>
            <a:r>
              <a:rPr lang="en-US" sz="2400" b="0" u="sng">
                <a:latin typeface="Arial Black" pitchFamily="34" charset="0"/>
                <a:cs typeface="Arial" charset="0"/>
              </a:rPr>
              <a:t>very confusing</a:t>
            </a:r>
            <a:r>
              <a:rPr lang="en-US" sz="2400">
                <a:cs typeface="Arial" charset="0"/>
              </a:rPr>
              <a:t> and should be </a:t>
            </a:r>
            <a:r>
              <a:rPr lang="en-US" sz="2400" b="0" u="sng">
                <a:latin typeface="Arial Black" pitchFamily="34" charset="0"/>
                <a:cs typeface="Arial" charset="0"/>
              </a:rPr>
              <a:t>avoided</a:t>
            </a:r>
            <a:r>
              <a:rPr lang="en-US" sz="2400">
                <a:cs typeface="Arial" charset="0"/>
              </a:rPr>
              <a:t>.</a:t>
            </a:r>
            <a:endParaRPr lang="en-US" sz="1600"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24400" y="457200"/>
            <a:ext cx="44196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Before: 10</a:t>
            </a:r>
          </a:p>
          <a:p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After:  </a:t>
            </a:r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</p:txBody>
      </p:sp>
      <p:pic>
        <p:nvPicPr>
          <p:cNvPr id="7" name="Picture 6" descr="j0303364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772418"/>
            <a:ext cx="6477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 Shortcut Warning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609600" y="1752600"/>
            <a:ext cx="7924800" cy="2677656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endParaRPr lang="en-US" dirty="0"/>
          </a:p>
          <a:p>
            <a:pPr algn="ctr" eaLnBrk="1" hangingPunct="1"/>
            <a:r>
              <a:rPr lang="en-US" sz="3200" dirty="0"/>
              <a:t>Do not combine shortcuts</a:t>
            </a:r>
          </a:p>
          <a:p>
            <a:pPr algn="ctr" eaLnBrk="1" hangingPunct="1"/>
            <a:r>
              <a:rPr lang="en-US" sz="3200" dirty="0"/>
              <a:t>in one program statement!!!</a:t>
            </a:r>
          </a:p>
          <a:p>
            <a:pPr algn="ctr" eaLnBrk="1" hangingPunct="1"/>
            <a:endParaRPr lang="en-US" sz="3200" dirty="0"/>
          </a:p>
          <a:p>
            <a:pPr algn="ctr" eaLnBrk="1" hangingPunct="1"/>
            <a:r>
              <a:rPr lang="en-US" sz="3600" dirty="0" smtClean="0">
                <a:latin typeface="Courier New" pitchFamily="49" charset="0"/>
              </a:rPr>
              <a:t>++</a:t>
            </a:r>
            <a:r>
              <a:rPr lang="en-US" sz="3600" dirty="0" err="1" smtClean="0">
                <a:latin typeface="Courier New" pitchFamily="49" charset="0"/>
              </a:rPr>
              <a:t>num</a:t>
            </a:r>
            <a:r>
              <a:rPr lang="en-US" sz="3600" dirty="0" smtClean="0">
                <a:latin typeface="Courier New" pitchFamily="49" charset="0"/>
              </a:rPr>
              <a:t>  </a:t>
            </a:r>
            <a:r>
              <a:rPr lang="en-US" sz="3600" dirty="0">
                <a:latin typeface="Courier New" pitchFamily="49" charset="0"/>
              </a:rPr>
              <a:t>+=  ++</a:t>
            </a:r>
            <a:r>
              <a:rPr lang="en-US" sz="3600" dirty="0" err="1">
                <a:latin typeface="Courier New" pitchFamily="49" charset="0"/>
              </a:rPr>
              <a:t>num</a:t>
            </a:r>
            <a:r>
              <a:rPr lang="en-US" sz="3600" dirty="0">
                <a:latin typeface="Courier New" pitchFamily="49" charset="0"/>
              </a:rPr>
              <a:t>  +  </a:t>
            </a:r>
            <a:r>
              <a:rPr lang="en-US" sz="3600" dirty="0" err="1">
                <a:latin typeface="Courier New" pitchFamily="49" charset="0"/>
              </a:rPr>
              <a:t>num</a:t>
            </a:r>
            <a:r>
              <a:rPr lang="en-US" sz="3600" dirty="0">
                <a:latin typeface="Courier New" pitchFamily="49" charset="0"/>
              </a:rPr>
              <a:t>++;</a:t>
            </a:r>
          </a:p>
          <a:p>
            <a:pPr algn="ctr" eaLnBrk="1" hangingPunct="1"/>
            <a:r>
              <a:rPr lang="en-US" dirty="0"/>
              <a:t>	</a:t>
            </a:r>
          </a:p>
        </p:txBody>
      </p:sp>
      <p:pic>
        <p:nvPicPr>
          <p:cNvPr id="31748" name="Picture 4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7620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6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1" name="Picture 7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2" name="Picture 8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7620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3" name="Picture 9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WordArt 2"/>
          <p:cNvSpPr>
            <a:spLocks noChangeArrowheads="1" noChangeShapeType="1" noTextEdit="1"/>
          </p:cNvSpPr>
          <p:nvPr/>
        </p:nvSpPr>
        <p:spPr bwMode="auto">
          <a:xfrm>
            <a:off x="381000" y="4724400"/>
            <a:ext cx="8382000" cy="1981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Data Types</a:t>
            </a:r>
          </a:p>
        </p:txBody>
      </p:sp>
      <p:sp>
        <p:nvSpPr>
          <p:cNvPr id="32771" name="WordArt 2"/>
          <p:cNvSpPr>
            <a:spLocks noChangeArrowheads="1" noChangeShapeType="1" noTextEdit="1"/>
          </p:cNvSpPr>
          <p:nvPr/>
        </p:nvSpPr>
        <p:spPr bwMode="auto">
          <a:xfrm>
            <a:off x="381000" y="3048000"/>
            <a:ext cx="8382000" cy="1981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&amp; String</a:t>
            </a:r>
          </a:p>
        </p:txBody>
      </p:sp>
      <p:sp>
        <p:nvSpPr>
          <p:cNvPr id="32772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3.7</a:t>
            </a:r>
          </a:p>
        </p:txBody>
      </p:sp>
      <p:sp>
        <p:nvSpPr>
          <p:cNvPr id="32773" name="WordArt 2"/>
          <p:cNvSpPr>
            <a:spLocks noChangeArrowheads="1" noChangeShapeType="1" noTextEdit="1"/>
          </p:cNvSpPr>
          <p:nvPr/>
        </p:nvSpPr>
        <p:spPr bwMode="auto">
          <a:xfrm>
            <a:off x="381000" y="1371600"/>
            <a:ext cx="8382000" cy="1981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char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Java0313.java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demonstrates the &lt;char&gt; data types.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It also demonstrates how assignment can be "chained" with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multiple variables in one statement.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Java0313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{</a:t>
            </a:r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 (String </a:t>
            </a:r>
            <a:r>
              <a:rPr lang="en-US" sz="2000" dirty="0" err="1">
                <a:latin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char c1 = 'A';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char c2 = 'B';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char c3 = 'C';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("The three characters are: " + c1 + c2 + c3);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c1 = c2 = c3 = 'Q';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("The three characters are: " + c1 + c2 + c3);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667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Java0313.java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demonstrates the &lt;char&gt; data types.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It also demonstrates how assignment can be "chained" with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multiple variables in one statement.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Java0313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{</a:t>
            </a:r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 (String </a:t>
            </a:r>
            <a:r>
              <a:rPr lang="en-US" sz="2000" dirty="0" err="1">
                <a:latin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b="0" dirty="0">
                <a:latin typeface="Arial Black" pitchFamily="34" charset="0"/>
              </a:rPr>
              <a:t>		char c1 = 'A';</a:t>
            </a:r>
          </a:p>
          <a:p>
            <a:pPr eaLnBrk="1" hangingPunct="1"/>
            <a:r>
              <a:rPr lang="en-US" sz="2000" b="0" dirty="0">
                <a:latin typeface="Arial Black" pitchFamily="34" charset="0"/>
              </a:rPr>
              <a:t>		char c2 = 'B';</a:t>
            </a:r>
          </a:p>
          <a:p>
            <a:pPr eaLnBrk="1" hangingPunct="1"/>
            <a:r>
              <a:rPr lang="en-US" sz="2000" b="0" dirty="0">
                <a:latin typeface="Arial Black" pitchFamily="34" charset="0"/>
              </a:rPr>
              <a:t>		char c3 = 'C';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("The three characters are: " + c1 + c2 + c3);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c1 = c2 = c3 = 'Q';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("The three characters are: " + c1 + c2 + c3);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511012" name="Group 36"/>
          <p:cNvGraphicFramePr>
            <a:graphicFrameLocks noGrp="1"/>
          </p:cNvGraphicFramePr>
          <p:nvPr/>
        </p:nvGraphicFramePr>
        <p:xfrm>
          <a:off x="5029200" y="1295400"/>
          <a:ext cx="3200400" cy="103663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4003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Java0313.java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demonstrates the &lt;char&gt; data types.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It also demonstrates how assignment can be "chained" with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multiple variables in one statement.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Java0313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{</a:t>
            </a:r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 (String </a:t>
            </a:r>
            <a:r>
              <a:rPr lang="en-US" sz="2000" dirty="0" err="1">
                <a:latin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char c1 = 'A';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char c2 = 'B';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char c3 = 'C';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("The three characters are: " + c1 + c2 + c3);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>
                <a:latin typeface="Arial Black" pitchFamily="34" charset="0"/>
              </a:rPr>
              <a:t>c1 = c2 = c3 = 'Q';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("The three characters are: " + c1 + c2 + c3);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511012" name="Group 36"/>
          <p:cNvGraphicFramePr>
            <a:graphicFrameLocks noGrp="1"/>
          </p:cNvGraphicFramePr>
          <p:nvPr/>
        </p:nvGraphicFramePr>
        <p:xfrm>
          <a:off x="5029200" y="1295400"/>
          <a:ext cx="3200400" cy="103663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1033" name="Group 57"/>
          <p:cNvGraphicFramePr>
            <a:graphicFrameLocks noGrp="1"/>
          </p:cNvGraphicFramePr>
          <p:nvPr/>
        </p:nvGraphicFramePr>
        <p:xfrm>
          <a:off x="5029200" y="2546350"/>
          <a:ext cx="3200400" cy="103663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26655" name="WordArt 6"/>
          <p:cNvSpPr>
            <a:spLocks noChangeArrowheads="1" noChangeShapeType="1" noTextEdit="1"/>
          </p:cNvSpPr>
          <p:nvPr/>
        </p:nvSpPr>
        <p:spPr bwMode="auto">
          <a:xfrm>
            <a:off x="990600" y="5105400"/>
            <a:ext cx="7848600" cy="1447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792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This is a special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shortcut</a:t>
            </a: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called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“CHAINING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.”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pic>
        <p:nvPicPr>
          <p:cNvPr id="5122" name="Picture 2" descr="C:\Users\JohnSchram\AppData\Local\Microsoft\Windows\Temporary Internet Files\Content.IE5\0GLVTQPI\MP900401438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109128" y="2453473"/>
            <a:ext cx="1097280" cy="137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357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</a:rPr>
              <a:t>Java0313.java</a:t>
            </a:r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demonstrates the &lt;char&gt; data types.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It also demonstrates how assignment can be "chained" with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multiple variables in one statement.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</a:t>
            </a:r>
            <a:r>
              <a:rPr lang="en-US" sz="2000" dirty="0" smtClean="0">
                <a:latin typeface="Times New Roman" pitchFamily="18" charset="0"/>
              </a:rPr>
              <a:t>Java0313</a:t>
            </a:r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 (String </a:t>
            </a:r>
            <a:r>
              <a:rPr lang="en-US" sz="2000" dirty="0" err="1">
                <a:latin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char c1 = 'A';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char c2 = 'B';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char c3 = 'C';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("The three characters are: " + c1 + c2 + c3);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c1 = c2 = c3 = 'Q';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("The three characters are: " + c1 + c2 + c3);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511012" name="Group 36"/>
          <p:cNvGraphicFramePr>
            <a:graphicFrameLocks noGrp="1"/>
          </p:cNvGraphicFramePr>
          <p:nvPr/>
        </p:nvGraphicFramePr>
        <p:xfrm>
          <a:off x="5029200" y="1295400"/>
          <a:ext cx="3200400" cy="103663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1033" name="Group 57"/>
          <p:cNvGraphicFramePr>
            <a:graphicFrameLocks noGrp="1"/>
          </p:cNvGraphicFramePr>
          <p:nvPr/>
        </p:nvGraphicFramePr>
        <p:xfrm>
          <a:off x="5029200" y="2546350"/>
          <a:ext cx="3200400" cy="1036638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5657671"/>
            <a:ext cx="91440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The three characters are: ABC</a:t>
            </a:r>
          </a:p>
          <a:p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The three characters are: QQQ</a:t>
            </a:r>
          </a:p>
        </p:txBody>
      </p:sp>
    </p:spTree>
    <p:extLst>
      <p:ext uri="{BB962C8B-B14F-4D97-AF65-F5344CB8AC3E}">
        <p14:creationId xmlns:p14="http://schemas.microsoft.com/office/powerpoint/2010/main" val="2644282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2054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2054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2054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2054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2054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2054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2054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2054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52054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Java0314.java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demonstrates the &lt;String&gt; data type.</a:t>
            </a:r>
          </a:p>
          <a:p>
            <a:pPr eaLnBrk="1" hangingPunct="1">
              <a:lnSpc>
                <a:spcPct val="8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</a:t>
            </a:r>
            <a:r>
              <a:rPr lang="en-US" sz="2000" dirty="0" smtClean="0">
                <a:latin typeface="Times New Roman" pitchFamily="18" charset="0"/>
              </a:rPr>
              <a:t>Java0314</a:t>
            </a:r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 (String </a:t>
            </a:r>
            <a:r>
              <a:rPr lang="en-US" sz="2000" dirty="0" err="1">
                <a:latin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String </a:t>
            </a:r>
            <a:r>
              <a:rPr lang="en-US" sz="2000" dirty="0" err="1">
                <a:latin typeface="Times New Roman" pitchFamily="18" charset="0"/>
              </a:rPr>
              <a:t>firstName</a:t>
            </a:r>
            <a:r>
              <a:rPr lang="en-US" sz="2000" dirty="0">
                <a:latin typeface="Times New Roman" pitchFamily="18" charset="0"/>
              </a:rPr>
              <a:t> = "Kathy" 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String </a:t>
            </a:r>
            <a:r>
              <a:rPr lang="en-US" sz="2000" dirty="0" err="1">
                <a:latin typeface="Times New Roman" pitchFamily="18" charset="0"/>
              </a:rPr>
              <a:t>lastName</a:t>
            </a:r>
            <a:r>
              <a:rPr lang="en-US" sz="2000" dirty="0">
                <a:latin typeface="Times New Roman" pitchFamily="18" charset="0"/>
              </a:rPr>
              <a:t> = "Smith";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</a:t>
            </a:r>
            <a:r>
              <a:rPr lang="en-US" sz="2000" dirty="0" err="1">
                <a:latin typeface="Times New Roman" pitchFamily="18" charset="0"/>
              </a:rPr>
              <a:t>firstName</a:t>
            </a:r>
            <a:r>
              <a:rPr lang="en-US" sz="2000" dirty="0">
                <a:latin typeface="Times New Roman" pitchFamily="18" charset="0"/>
              </a:rPr>
              <a:t>:    	" + </a:t>
            </a:r>
            <a:r>
              <a:rPr lang="en-US" sz="2000" dirty="0" err="1">
                <a:latin typeface="Times New Roman" pitchFamily="18" charset="0"/>
              </a:rPr>
              <a:t>firstName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</a:t>
            </a:r>
            <a:r>
              <a:rPr lang="en-US" sz="2000" dirty="0" err="1">
                <a:latin typeface="Times New Roman" pitchFamily="18" charset="0"/>
              </a:rPr>
              <a:t>lastName</a:t>
            </a:r>
            <a:r>
              <a:rPr lang="en-US" sz="2000" dirty="0">
                <a:latin typeface="Times New Roman" pitchFamily="18" charset="0"/>
              </a:rPr>
              <a:t>:      	" + </a:t>
            </a:r>
            <a:r>
              <a:rPr lang="en-US" sz="2000" dirty="0" err="1">
                <a:latin typeface="Times New Roman" pitchFamily="18" charset="0"/>
              </a:rPr>
              <a:t>lastName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("Complete Name: 	" + </a:t>
            </a:r>
            <a:r>
              <a:rPr lang="en-US" sz="2000" dirty="0" err="1">
                <a:latin typeface="Times New Roman" pitchFamily="18" charset="0"/>
              </a:rPr>
              <a:t>firstName</a:t>
            </a:r>
            <a:r>
              <a:rPr lang="en-US" sz="2000" dirty="0">
                <a:latin typeface="Times New Roman" pitchFamily="18" charset="0"/>
              </a:rPr>
              <a:t> + " " + </a:t>
            </a:r>
            <a:r>
              <a:rPr lang="en-US" sz="2000" dirty="0" err="1">
                <a:latin typeface="Times New Roman" pitchFamily="18" charset="0"/>
              </a:rPr>
              <a:t>lastName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/>
          </a:p>
          <a:p>
            <a:pPr eaLnBrk="1" hangingPunct="1">
              <a:lnSpc>
                <a:spcPct val="120000"/>
              </a:lnSpc>
            </a:pPr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</p:txBody>
      </p:sp>
      <p:graphicFrame>
        <p:nvGraphicFramePr>
          <p:cNvPr id="573445" name="Group 5"/>
          <p:cNvGraphicFramePr>
            <a:graphicFrameLocks noGrp="1"/>
          </p:cNvGraphicFramePr>
          <p:nvPr/>
        </p:nvGraphicFramePr>
        <p:xfrm>
          <a:off x="4800600" y="1143000"/>
          <a:ext cx="4191000" cy="1036638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firstName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lastName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Kathy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Smith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4724400"/>
            <a:ext cx="7162800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      Kathy</a:t>
            </a:r>
          </a:p>
          <a:p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       Smith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Complete Name:  Kathy Smith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734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String Concatenation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04800" y="990600"/>
            <a:ext cx="8610600" cy="551973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i="1" dirty="0">
                <a:cs typeface="Arial" charset="0"/>
              </a:rPr>
              <a:t>Concatenation</a:t>
            </a:r>
            <a:r>
              <a:rPr lang="en-US" sz="2800" dirty="0"/>
              <a:t> is the appending (or joining) of 2 or more strings.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600" dirty="0">
                <a:latin typeface="Courier New" pitchFamily="49" charset="0"/>
              </a:rPr>
              <a:t>"Hello" + "World"  =  "</a:t>
            </a:r>
            <a:r>
              <a:rPr lang="en-US" sz="2600" dirty="0" err="1">
                <a:latin typeface="Courier New" pitchFamily="49" charset="0"/>
              </a:rPr>
              <a:t>HelloWorld</a:t>
            </a:r>
            <a:r>
              <a:rPr lang="en-US" sz="2600" dirty="0">
                <a:latin typeface="Courier New" pitchFamily="49" charset="0"/>
              </a:rPr>
              <a:t>"</a:t>
            </a:r>
          </a:p>
          <a:p>
            <a:pPr eaLnBrk="1" hangingPunct="1"/>
            <a:endParaRPr lang="en-US" sz="2600" dirty="0">
              <a:latin typeface="Courier New" pitchFamily="49" charset="0"/>
            </a:endParaRPr>
          </a:p>
          <a:p>
            <a:pPr eaLnBrk="1" hangingPunct="1"/>
            <a:r>
              <a:rPr lang="en-US" sz="2600" dirty="0">
                <a:latin typeface="Courier New" pitchFamily="49" charset="0"/>
              </a:rPr>
              <a:t>"Hello" + " " + "World"  =  "Hello World"</a:t>
            </a:r>
          </a:p>
          <a:p>
            <a:pPr eaLnBrk="1" hangingPunct="1"/>
            <a:endParaRPr lang="en-US" sz="2600" dirty="0">
              <a:latin typeface="Courier New" pitchFamily="49" charset="0"/>
            </a:endParaRPr>
          </a:p>
          <a:p>
            <a:pPr eaLnBrk="1" hangingPunct="1"/>
            <a:r>
              <a:rPr lang="en-US" sz="2600" dirty="0">
                <a:latin typeface="Courier New" pitchFamily="49" charset="0"/>
              </a:rPr>
              <a:t>"100" + "200"  =  "100200"</a:t>
            </a:r>
          </a:p>
          <a:p>
            <a:pPr eaLnBrk="1" hangingPunct="1"/>
            <a:endParaRPr lang="en-US" sz="2600" dirty="0">
              <a:latin typeface="Courier New" pitchFamily="49" charset="0"/>
            </a:endParaRPr>
          </a:p>
          <a:p>
            <a:pPr eaLnBrk="1" hangingPunct="1"/>
            <a:r>
              <a:rPr lang="en-US" sz="2800" dirty="0"/>
              <a:t>The plus operator ( + ) is used both for arithmetic addition and string concatenation.  The same operator performs 2 totally different operations. This is called </a:t>
            </a:r>
            <a:r>
              <a:rPr lang="en-US" sz="2800" i="1" dirty="0">
                <a:cs typeface="Arial" charset="0"/>
              </a:rPr>
              <a:t>overloading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30448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5400" smtClean="0">
                <a:latin typeface="Arial Black" pitchFamily="34" charset="0"/>
              </a:rPr>
              <a:t>Don't Get Confused!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219200"/>
          <a:ext cx="4800600" cy="51212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28800"/>
                <a:gridCol w="2971800"/>
              </a:tblGrid>
              <a:tr h="10974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400" dirty="0" smtClean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marT="45726" marB="45726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400" dirty="0" smtClean="0">
                          <a:solidFill>
                            <a:schemeClr val="tx1"/>
                          </a:solidFill>
                        </a:rPr>
                        <a:t>Data Type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marT="45726" marB="45726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</a:tr>
              <a:tr h="10059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 smtClean="0"/>
                        <a:t>7</a:t>
                      </a:r>
                      <a:endParaRPr lang="en-US" sz="4000" dirty="0"/>
                    </a:p>
                  </a:txBody>
                  <a:tcPr marT="45726" marB="45726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 smtClean="0"/>
                        <a:t>int</a:t>
                      </a:r>
                      <a:endParaRPr lang="en-US" sz="4000" dirty="0"/>
                    </a:p>
                  </a:txBody>
                  <a:tcPr marT="45726" marB="45726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</a:tr>
              <a:tr h="10059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 smtClean="0"/>
                        <a:t>7.0</a:t>
                      </a:r>
                      <a:endParaRPr lang="en-US" sz="4000" dirty="0"/>
                    </a:p>
                  </a:txBody>
                  <a:tcPr marT="45726" marB="45726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 smtClean="0"/>
                        <a:t>double</a:t>
                      </a:r>
                      <a:endParaRPr lang="en-US" sz="4000" dirty="0"/>
                    </a:p>
                  </a:txBody>
                  <a:tcPr marT="45726" marB="45726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</a:tr>
              <a:tr h="10059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 smtClean="0"/>
                        <a:t>'7'</a:t>
                      </a:r>
                      <a:endParaRPr lang="en-US" sz="4000" dirty="0"/>
                    </a:p>
                  </a:txBody>
                  <a:tcPr marT="45726" marB="45726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 smtClean="0"/>
                        <a:t>char</a:t>
                      </a:r>
                      <a:endParaRPr lang="en-US" sz="4000" dirty="0"/>
                    </a:p>
                  </a:txBody>
                  <a:tcPr marT="45726" marB="45726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</a:tr>
              <a:tr h="10059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 smtClean="0"/>
                        <a:t>"7"</a:t>
                      </a:r>
                      <a:endParaRPr lang="en-US" sz="4000" dirty="0"/>
                    </a:p>
                  </a:txBody>
                  <a:tcPr marT="45726" marB="45726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 smtClean="0"/>
                        <a:t>String</a:t>
                      </a:r>
                      <a:endParaRPr lang="en-US" sz="4000" dirty="0"/>
                    </a:p>
                  </a:txBody>
                  <a:tcPr marT="45726" marB="45726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5" name="WordArt 6"/>
          <p:cNvSpPr>
            <a:spLocks noChangeArrowheads="1" noChangeShapeType="1" noTextEdit="1"/>
          </p:cNvSpPr>
          <p:nvPr/>
        </p:nvSpPr>
        <p:spPr bwMode="auto">
          <a:xfrm>
            <a:off x="76200" y="1270000"/>
            <a:ext cx="1752600" cy="5029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792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These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all </a:t>
            </a:r>
            <a:endParaRPr lang="en-US" sz="3600" kern="10" dirty="0" smtClean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may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look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same…</a:t>
            </a:r>
          </a:p>
        </p:txBody>
      </p:sp>
      <p:sp>
        <p:nvSpPr>
          <p:cNvPr id="7" name="WordArt 6"/>
          <p:cNvSpPr>
            <a:spLocks noChangeArrowheads="1" noChangeShapeType="1" noTextEdit="1"/>
          </p:cNvSpPr>
          <p:nvPr/>
        </p:nvSpPr>
        <p:spPr bwMode="auto">
          <a:xfrm>
            <a:off x="6934200" y="1270000"/>
            <a:ext cx="2133600" cy="5029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792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but the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computer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treats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them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differently.</a:t>
            </a:r>
          </a:p>
        </p:txBody>
      </p:sp>
    </p:spTree>
    <p:extLst>
      <p:ext uri="{BB962C8B-B14F-4D97-AF65-F5344CB8AC3E}">
        <p14:creationId xmlns:p14="http://schemas.microsoft.com/office/powerpoint/2010/main" val="25624333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Data Type</a:t>
            </a:r>
          </a:p>
        </p:txBody>
      </p:sp>
      <p:sp>
        <p:nvSpPr>
          <p:cNvPr id="37891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3.8</a:t>
            </a:r>
          </a:p>
        </p:txBody>
      </p:sp>
      <p:sp>
        <p:nvSpPr>
          <p:cNvPr id="37892" name="WordArt 2"/>
          <p:cNvSpPr>
            <a:spLocks noChangeArrowheads="1" noChangeShapeType="1" noTextEdit="1"/>
          </p:cNvSpPr>
          <p:nvPr/>
        </p:nvSpPr>
        <p:spPr bwMode="auto">
          <a:xfrm>
            <a:off x="457200" y="16002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</a:t>
            </a:r>
            <a:r>
              <a:rPr lang="en-US" sz="3600" kern="10" dirty="0" err="1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boolean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373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</a:rPr>
              <a:t>// </a:t>
            </a:r>
            <a:r>
              <a:rPr lang="en-US" sz="2800" dirty="0" smtClean="0">
                <a:latin typeface="Times New Roman" pitchFamily="18" charset="0"/>
              </a:rPr>
              <a:t>Java0315.java</a:t>
            </a:r>
            <a:endParaRPr lang="en-US" sz="2800" dirty="0">
              <a:latin typeface="Times New Roman" pitchFamily="18" charset="0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// This program demonstrates the &lt;</a:t>
            </a:r>
            <a:r>
              <a:rPr lang="en-US" sz="2800" dirty="0" err="1">
                <a:latin typeface="Times New Roman" pitchFamily="18" charset="0"/>
              </a:rPr>
              <a:t>boolean</a:t>
            </a:r>
            <a:r>
              <a:rPr lang="en-US" sz="2800" dirty="0">
                <a:latin typeface="Times New Roman" pitchFamily="18" charset="0"/>
              </a:rPr>
              <a:t>&gt; data type.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// The </a:t>
            </a:r>
            <a:r>
              <a:rPr lang="en-US" sz="2800" dirty="0" err="1">
                <a:latin typeface="Times New Roman" pitchFamily="18" charset="0"/>
              </a:rPr>
              <a:t>boolean</a:t>
            </a:r>
            <a:r>
              <a:rPr lang="en-US" sz="2800" dirty="0">
                <a:latin typeface="Times New Roman" pitchFamily="18" charset="0"/>
              </a:rPr>
              <a:t> type can only have two values: true or false.</a:t>
            </a:r>
          </a:p>
          <a:p>
            <a:pPr eaLnBrk="1" hangingPunct="1">
              <a:lnSpc>
                <a:spcPct val="70000"/>
              </a:lnSpc>
            </a:pPr>
            <a:endParaRPr lang="en-US" sz="2800" dirty="0">
              <a:latin typeface="Times New Roman" pitchFamily="18" charset="0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public class </a:t>
            </a:r>
            <a:r>
              <a:rPr lang="en-US" sz="2800" dirty="0" smtClean="0">
                <a:latin typeface="Times New Roman" pitchFamily="18" charset="0"/>
              </a:rPr>
              <a:t>Java0315</a:t>
            </a:r>
            <a:endParaRPr lang="en-US" sz="2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Times New Roman" pitchFamily="18" charset="0"/>
              </a:rPr>
              <a:t>	public static void main (String </a:t>
            </a:r>
            <a:r>
              <a:rPr lang="en-US" sz="2800" dirty="0" err="1">
                <a:latin typeface="Times New Roman" pitchFamily="18" charset="0"/>
              </a:rPr>
              <a:t>args</a:t>
            </a:r>
            <a:r>
              <a:rPr lang="en-US" sz="28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Arial Black" pitchFamily="34" charset="0"/>
              </a:rPr>
              <a:t>		</a:t>
            </a:r>
            <a:r>
              <a:rPr lang="en-US" sz="2800" dirty="0" err="1">
                <a:latin typeface="Arial Black" pitchFamily="34" charset="0"/>
              </a:rPr>
              <a:t>boolean</a:t>
            </a:r>
            <a:r>
              <a:rPr lang="en-US" sz="2800" dirty="0">
                <a:latin typeface="Arial Black" pitchFamily="34" charset="0"/>
              </a:rPr>
              <a:t> value = true;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		</a:t>
            </a:r>
            <a:r>
              <a:rPr lang="en-US" sz="2800" dirty="0" err="1">
                <a:latin typeface="Times New Roman" pitchFamily="18" charset="0"/>
              </a:rPr>
              <a:t>System.out.println</a:t>
            </a:r>
            <a:r>
              <a:rPr lang="en-US" sz="2800" dirty="0">
                <a:latin typeface="Times New Roman" pitchFamily="18" charset="0"/>
              </a:rPr>
              <a:t>("value: " + value);</a:t>
            </a:r>
          </a:p>
          <a:p>
            <a:pPr eaLnBrk="1" hangingPunct="1"/>
            <a:r>
              <a:rPr lang="en-US" sz="2800" dirty="0">
                <a:latin typeface="Arial Black" pitchFamily="34" charset="0"/>
              </a:rPr>
              <a:t>		value = false;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		</a:t>
            </a:r>
            <a:r>
              <a:rPr lang="en-US" sz="2800" dirty="0" err="1">
                <a:latin typeface="Times New Roman" pitchFamily="18" charset="0"/>
              </a:rPr>
              <a:t>System.out.println</a:t>
            </a:r>
            <a:r>
              <a:rPr lang="en-US" sz="2800" dirty="0">
                <a:latin typeface="Times New Roman" pitchFamily="18" charset="0"/>
              </a:rPr>
              <a:t>("value: " + value);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</a:rPr>
              <a:t>		</a:t>
            </a:r>
            <a:r>
              <a:rPr lang="en-US" sz="2800" dirty="0" err="1">
                <a:latin typeface="Times New Roman" pitchFamily="18" charset="0"/>
              </a:rPr>
              <a:t>System.out.println</a:t>
            </a:r>
            <a:r>
              <a:rPr lang="en-US" sz="28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   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} </a:t>
            </a:r>
          </a:p>
          <a:p>
            <a:pPr eaLnBrk="1" hangingPunct="1"/>
            <a:endParaRPr lang="en-US" sz="3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</p:txBody>
      </p:sp>
      <p:graphicFrame>
        <p:nvGraphicFramePr>
          <p:cNvPr id="515099" name="Group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252221"/>
              </p:ext>
            </p:extLst>
          </p:nvPr>
        </p:nvGraphicFramePr>
        <p:xfrm>
          <a:off x="1371600" y="5486400"/>
          <a:ext cx="1676400" cy="1036638"/>
        </p:xfrm>
        <a:graphic>
          <a:graphicData uri="http://schemas.openxmlformats.org/drawingml/2006/table">
            <a:tbl>
              <a:tblPr/>
              <a:tblGrid>
                <a:gridCol w="16764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5109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890101"/>
              </p:ext>
            </p:extLst>
          </p:nvPr>
        </p:nvGraphicFramePr>
        <p:xfrm>
          <a:off x="3733800" y="5486400"/>
          <a:ext cx="1676400" cy="1036638"/>
        </p:xfrm>
        <a:graphic>
          <a:graphicData uri="http://schemas.openxmlformats.org/drawingml/2006/table">
            <a:tbl>
              <a:tblPr/>
              <a:tblGrid>
                <a:gridCol w="16764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0" y="5522893"/>
            <a:ext cx="3048000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value: true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value: false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8159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1509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51510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24000"/>
          </a:xfrm>
        </p:spPr>
        <p:txBody>
          <a:bodyPr/>
          <a:lstStyle/>
          <a:p>
            <a:pPr eaLnBrk="1" hangingPunct="1"/>
            <a:r>
              <a:rPr lang="en-US" sz="5400" dirty="0" smtClean="0">
                <a:latin typeface="Arial Black" pitchFamily="34" charset="0"/>
              </a:rPr>
              <a:t>AP</a:t>
            </a:r>
            <a:r>
              <a:rPr lang="en-US" sz="5400" baseline="30000" dirty="0" smtClean="0">
                <a:latin typeface="Arial Black" pitchFamily="34" charset="0"/>
              </a:rPr>
              <a:t>®</a:t>
            </a:r>
            <a:r>
              <a:rPr lang="en-US" sz="5400" dirty="0" smtClean="0">
                <a:latin typeface="Arial Black" pitchFamily="34" charset="0"/>
              </a:rPr>
              <a:t> Exam Alert</a:t>
            </a: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990600" y="1747838"/>
            <a:ext cx="7162800" cy="344094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40000"/>
              </a:lnSpc>
            </a:pPr>
            <a:endParaRPr lang="en-US" sz="3200" dirty="0"/>
          </a:p>
          <a:p>
            <a:pPr eaLnBrk="1" hangingPunct="1"/>
            <a:r>
              <a:rPr lang="en-US" sz="3200" dirty="0"/>
              <a:t>The </a:t>
            </a:r>
            <a:r>
              <a:rPr lang="en-US" sz="3200" dirty="0" err="1">
                <a:latin typeface="Arial Black" pitchFamily="34" charset="0"/>
              </a:rPr>
              <a:t>int</a:t>
            </a:r>
            <a:r>
              <a:rPr lang="en-US" sz="3200" dirty="0"/>
              <a:t>, </a:t>
            </a:r>
            <a:r>
              <a:rPr lang="en-US" sz="3200" dirty="0">
                <a:latin typeface="Arial Black" pitchFamily="34" charset="0"/>
              </a:rPr>
              <a:t>double</a:t>
            </a:r>
            <a:r>
              <a:rPr lang="en-US" sz="3200" dirty="0"/>
              <a:t>, </a:t>
            </a:r>
            <a:r>
              <a:rPr lang="en-US" sz="3200" dirty="0" err="1">
                <a:latin typeface="Arial Black" pitchFamily="34" charset="0"/>
              </a:rPr>
              <a:t>boolean</a:t>
            </a:r>
            <a:r>
              <a:rPr lang="en-US" sz="3200" dirty="0"/>
              <a:t> and </a:t>
            </a:r>
            <a:r>
              <a:rPr lang="en-US" sz="3200" dirty="0">
                <a:latin typeface="Arial Black" pitchFamily="34" charset="0"/>
              </a:rPr>
              <a:t>String</a:t>
            </a:r>
            <a:r>
              <a:rPr lang="en-US" sz="3200" dirty="0"/>
              <a:t> data types </a:t>
            </a:r>
            <a:r>
              <a:rPr lang="en-US" sz="3200" u="sng" dirty="0"/>
              <a:t>will</a:t>
            </a:r>
            <a:r>
              <a:rPr lang="en-US" sz="3200" dirty="0"/>
              <a:t> be tested.</a:t>
            </a:r>
          </a:p>
          <a:p>
            <a:pPr eaLnBrk="1" hangingPunct="1"/>
            <a:endParaRPr lang="en-US" sz="3200" dirty="0"/>
          </a:p>
          <a:p>
            <a:pPr eaLnBrk="1" hangingPunct="1"/>
            <a:r>
              <a:rPr lang="en-US" sz="3200" dirty="0"/>
              <a:t>The </a:t>
            </a:r>
            <a:r>
              <a:rPr lang="en-US" sz="3200" dirty="0">
                <a:latin typeface="Arial Black" pitchFamily="34" charset="0"/>
              </a:rPr>
              <a:t>byte</a:t>
            </a:r>
            <a:r>
              <a:rPr lang="en-US" sz="3200" dirty="0"/>
              <a:t>, </a:t>
            </a:r>
            <a:r>
              <a:rPr lang="en-US" sz="3200" dirty="0">
                <a:latin typeface="Arial Black" pitchFamily="34" charset="0"/>
              </a:rPr>
              <a:t>short</a:t>
            </a:r>
            <a:r>
              <a:rPr lang="en-US" sz="3200" dirty="0"/>
              <a:t>, </a:t>
            </a:r>
            <a:r>
              <a:rPr lang="en-US" sz="3200" dirty="0">
                <a:latin typeface="Arial Black" pitchFamily="34" charset="0"/>
              </a:rPr>
              <a:t>long</a:t>
            </a:r>
            <a:r>
              <a:rPr lang="en-US" sz="3200" dirty="0"/>
              <a:t>, </a:t>
            </a:r>
            <a:r>
              <a:rPr lang="en-US" sz="3200" dirty="0">
                <a:latin typeface="Arial Black" pitchFamily="34" charset="0"/>
              </a:rPr>
              <a:t>float</a:t>
            </a:r>
            <a:r>
              <a:rPr lang="en-US" sz="3200" dirty="0"/>
              <a:t> and </a:t>
            </a:r>
            <a:r>
              <a:rPr lang="en-US" sz="3200" dirty="0">
                <a:latin typeface="Arial Black" pitchFamily="34" charset="0"/>
              </a:rPr>
              <a:t>char</a:t>
            </a:r>
            <a:r>
              <a:rPr lang="en-US" sz="3200" dirty="0"/>
              <a:t> data types </a:t>
            </a:r>
            <a:endParaRPr lang="en-US" sz="3200" dirty="0" smtClean="0"/>
          </a:p>
          <a:p>
            <a:pPr eaLnBrk="1" hangingPunct="1"/>
            <a:r>
              <a:rPr lang="en-US" sz="3200" dirty="0" smtClean="0"/>
              <a:t>will NOT </a:t>
            </a:r>
            <a:r>
              <a:rPr lang="en-US" sz="3200" dirty="0"/>
              <a:t>be tested.</a:t>
            </a:r>
          </a:p>
          <a:p>
            <a:pPr eaLnBrk="1" hangingPunct="1">
              <a:lnSpc>
                <a:spcPct val="40000"/>
              </a:lnSpc>
            </a:pPr>
            <a:r>
              <a:rPr lang="en-US" sz="3200" dirty="0"/>
              <a:t>	</a:t>
            </a:r>
          </a:p>
        </p:txBody>
      </p:sp>
      <p:pic>
        <p:nvPicPr>
          <p:cNvPr id="58372" name="Picture 4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7620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5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4" name="Picture 6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5" name="Picture 7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6" name="Picture 8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7620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7" name="Picture 9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MMAG00293_0000[1]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962400"/>
            <a:ext cx="229076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3637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Constants</a:t>
            </a:r>
          </a:p>
        </p:txBody>
      </p:sp>
      <p:sp>
        <p:nvSpPr>
          <p:cNvPr id="39939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3.9</a:t>
            </a:r>
          </a:p>
        </p:txBody>
      </p:sp>
      <p:sp>
        <p:nvSpPr>
          <p:cNvPr id="39940" name="WordArt 2"/>
          <p:cNvSpPr>
            <a:spLocks noChangeArrowheads="1" noChangeShapeType="1" noTextEdit="1"/>
          </p:cNvSpPr>
          <p:nvPr/>
        </p:nvSpPr>
        <p:spPr bwMode="auto">
          <a:xfrm>
            <a:off x="457200" y="16002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Declaring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16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100" dirty="0">
                <a:latin typeface="Times New Roman" pitchFamily="18" charset="0"/>
              </a:rPr>
              <a:t>// Java0316.java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// This program demonstrates how to create "constant" identifier values with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// the &lt;final&gt; keyword. Removing the comments from the three assignment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// statements will result in compile errors.</a:t>
            </a:r>
          </a:p>
          <a:p>
            <a:pPr eaLnBrk="1" hangingPunct="1">
              <a:lnSpc>
                <a:spcPct val="90000"/>
              </a:lnSpc>
            </a:pPr>
            <a:endParaRPr lang="en-US" sz="2100" dirty="0">
              <a:latin typeface="Times New Roman" pitchFamily="18" charset="0"/>
            </a:endParaRP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public class Java0316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{	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public static void main (String </a:t>
            </a:r>
            <a:r>
              <a:rPr lang="en-US" sz="2100" dirty="0" err="1">
                <a:latin typeface="Times New Roman" pitchFamily="18" charset="0"/>
              </a:rPr>
              <a:t>args</a:t>
            </a:r>
            <a:r>
              <a:rPr lang="en-US" sz="21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>
                <a:latin typeface="Arial Black" pitchFamily="34" charset="0"/>
              </a:rPr>
              <a:t>final</a:t>
            </a:r>
            <a:r>
              <a:rPr lang="en-US" sz="2100" dirty="0">
                <a:latin typeface="Times New Roman" pitchFamily="18" charset="0"/>
              </a:rPr>
              <a:t>  </a:t>
            </a:r>
            <a:r>
              <a:rPr lang="en-US" sz="2100" dirty="0" err="1">
                <a:latin typeface="Times New Roman" pitchFamily="18" charset="0"/>
              </a:rPr>
              <a:t>int</a:t>
            </a:r>
            <a:r>
              <a:rPr lang="en-US" sz="2100" dirty="0">
                <a:latin typeface="Times New Roman" pitchFamily="18" charset="0"/>
              </a:rPr>
              <a:t> </a:t>
            </a:r>
            <a:r>
              <a:rPr lang="en-US" sz="2100" dirty="0" err="1">
                <a:latin typeface="Times New Roman" pitchFamily="18" charset="0"/>
              </a:rPr>
              <a:t>intConst</a:t>
            </a:r>
            <a:r>
              <a:rPr lang="en-US" sz="2100" dirty="0">
                <a:latin typeface="Times New Roman" pitchFamily="18" charset="0"/>
              </a:rPr>
              <a:t> = 100;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>
                <a:latin typeface="Arial Black" pitchFamily="34" charset="0"/>
              </a:rPr>
              <a:t>final</a:t>
            </a:r>
            <a:r>
              <a:rPr lang="en-US" sz="2100" dirty="0">
                <a:latin typeface="Times New Roman" pitchFamily="18" charset="0"/>
              </a:rPr>
              <a:t>  double </a:t>
            </a:r>
            <a:r>
              <a:rPr lang="en-US" sz="2100" dirty="0" err="1">
                <a:latin typeface="Times New Roman" pitchFamily="18" charset="0"/>
              </a:rPr>
              <a:t>doubleConst</a:t>
            </a:r>
            <a:r>
              <a:rPr lang="en-US" sz="2100" dirty="0">
                <a:latin typeface="Times New Roman" pitchFamily="18" charset="0"/>
              </a:rPr>
              <a:t> = 3.14159;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>
                <a:latin typeface="Arial Black" pitchFamily="34" charset="0"/>
              </a:rPr>
              <a:t>final</a:t>
            </a:r>
            <a:r>
              <a:rPr lang="en-US" sz="2100" dirty="0">
                <a:latin typeface="Times New Roman" pitchFamily="18" charset="0"/>
              </a:rPr>
              <a:t>  char </a:t>
            </a:r>
            <a:r>
              <a:rPr lang="en-US" sz="2100" dirty="0" err="1">
                <a:latin typeface="Times New Roman" pitchFamily="18" charset="0"/>
              </a:rPr>
              <a:t>charConst</a:t>
            </a:r>
            <a:r>
              <a:rPr lang="en-US" sz="2100" dirty="0">
                <a:latin typeface="Times New Roman" pitchFamily="18" charset="0"/>
              </a:rPr>
              <a:t> = 'Q';</a:t>
            </a:r>
          </a:p>
          <a:p>
            <a:pPr eaLnBrk="1" hangingPunct="1"/>
            <a:r>
              <a:rPr lang="en-US" sz="2100" dirty="0">
                <a:solidFill>
                  <a:srgbClr val="FF0000"/>
                </a:solidFill>
                <a:latin typeface="Arial Black" pitchFamily="34" charset="0"/>
              </a:rPr>
              <a:t>//		</a:t>
            </a:r>
            <a:r>
              <a:rPr lang="en-US" sz="2100" dirty="0" err="1">
                <a:solidFill>
                  <a:srgbClr val="FF0000"/>
                </a:solidFill>
                <a:latin typeface="Arial Black" pitchFamily="34" charset="0"/>
              </a:rPr>
              <a:t>intConst</a:t>
            </a:r>
            <a:r>
              <a:rPr lang="en-US" sz="2100" dirty="0">
                <a:solidFill>
                  <a:srgbClr val="FF0000"/>
                </a:solidFill>
                <a:latin typeface="Arial Black" pitchFamily="34" charset="0"/>
              </a:rPr>
              <a:t>++;</a:t>
            </a:r>
          </a:p>
          <a:p>
            <a:pPr eaLnBrk="1" hangingPunct="1"/>
            <a:r>
              <a:rPr lang="en-US" sz="2100" dirty="0">
                <a:solidFill>
                  <a:srgbClr val="FF0000"/>
                </a:solidFill>
                <a:latin typeface="Arial Black" pitchFamily="34" charset="0"/>
              </a:rPr>
              <a:t>//		</a:t>
            </a:r>
            <a:r>
              <a:rPr lang="en-US" sz="2100" dirty="0" err="1">
                <a:solidFill>
                  <a:srgbClr val="FF0000"/>
                </a:solidFill>
                <a:latin typeface="Arial Black" pitchFamily="34" charset="0"/>
              </a:rPr>
              <a:t>doubleConst</a:t>
            </a:r>
            <a:r>
              <a:rPr lang="en-US" sz="2100" dirty="0">
                <a:solidFill>
                  <a:srgbClr val="FF0000"/>
                </a:solidFill>
                <a:latin typeface="Arial Black" pitchFamily="34" charset="0"/>
              </a:rPr>
              <a:t> = 1234.4321;</a:t>
            </a:r>
          </a:p>
          <a:p>
            <a:pPr eaLnBrk="1" hangingPunct="1"/>
            <a:r>
              <a:rPr lang="en-US" sz="2100" dirty="0">
                <a:solidFill>
                  <a:srgbClr val="FF0000"/>
                </a:solidFill>
                <a:latin typeface="Arial Black" pitchFamily="34" charset="0"/>
              </a:rPr>
              <a:t>//		</a:t>
            </a:r>
            <a:r>
              <a:rPr lang="en-US" sz="2100" dirty="0" err="1">
                <a:solidFill>
                  <a:srgbClr val="FF0000"/>
                </a:solidFill>
                <a:latin typeface="Arial Black" pitchFamily="34" charset="0"/>
              </a:rPr>
              <a:t>charConst</a:t>
            </a:r>
            <a:r>
              <a:rPr lang="en-US" sz="2100" dirty="0">
                <a:solidFill>
                  <a:srgbClr val="FF0000"/>
                </a:solidFill>
                <a:latin typeface="Arial Black" pitchFamily="34" charset="0"/>
              </a:rPr>
              <a:t> = 'A';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intConst</a:t>
            </a:r>
            <a:r>
              <a:rPr lang="en-US" sz="2100" dirty="0">
                <a:latin typeface="Times New Roman" pitchFamily="18" charset="0"/>
              </a:rPr>
              <a:t>:         " + </a:t>
            </a:r>
            <a:r>
              <a:rPr lang="en-US" sz="2100" dirty="0" err="1">
                <a:latin typeface="Times New Roman" pitchFamily="18" charset="0"/>
              </a:rPr>
              <a:t>intConst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doubleConst</a:t>
            </a:r>
            <a:r>
              <a:rPr lang="en-US" sz="2100" dirty="0">
                <a:latin typeface="Times New Roman" pitchFamily="18" charset="0"/>
              </a:rPr>
              <a:t>:  " + </a:t>
            </a:r>
            <a:r>
              <a:rPr lang="en-US" sz="2100" dirty="0" err="1">
                <a:latin typeface="Times New Roman" pitchFamily="18" charset="0"/>
              </a:rPr>
              <a:t>doubleConst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charConst</a:t>
            </a:r>
            <a:r>
              <a:rPr lang="en-US" sz="2100" dirty="0">
                <a:latin typeface="Times New Roman" pitchFamily="18" charset="0"/>
              </a:rPr>
              <a:t>:      " + </a:t>
            </a:r>
            <a:r>
              <a:rPr lang="en-US" sz="2100" dirty="0" err="1">
                <a:latin typeface="Times New Roman" pitchFamily="18" charset="0"/>
              </a:rPr>
              <a:t>charConst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}	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3852" y="0"/>
            <a:ext cx="4990148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intConst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    100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doubleConst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 3.14159</a:t>
            </a:r>
          </a:p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charConst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   Q</a:t>
            </a:r>
          </a:p>
        </p:txBody>
      </p:sp>
      <p:graphicFrame>
        <p:nvGraphicFramePr>
          <p:cNvPr id="1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382046"/>
              </p:ext>
            </p:extLst>
          </p:nvPr>
        </p:nvGraphicFramePr>
        <p:xfrm>
          <a:off x="6019800" y="2971800"/>
          <a:ext cx="2816352" cy="914456"/>
        </p:xfrm>
        <a:graphic>
          <a:graphicData uri="http://schemas.openxmlformats.org/drawingml/2006/table">
            <a:tbl>
              <a:tblPr/>
              <a:tblGrid>
                <a:gridCol w="2816352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</a:t>
                      </a:r>
                      <a:r>
                        <a:rPr kumimoji="0" lang="es-E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intConst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100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12" name="Lock"/>
          <p:cNvSpPr>
            <a:spLocks noEditPoints="1" noChangeArrowheads="1"/>
          </p:cNvSpPr>
          <p:nvPr/>
        </p:nvSpPr>
        <p:spPr bwMode="auto">
          <a:xfrm>
            <a:off x="8092440" y="3048000"/>
            <a:ext cx="594360" cy="73152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9606 h 21600"/>
              <a:gd name="T4" fmla="*/ 10800 w 21600"/>
              <a:gd name="T5" fmla="*/ 21600 h 21600"/>
              <a:gd name="T6" fmla="*/ 0 w 21600"/>
              <a:gd name="T7" fmla="*/ 9606 h 21600"/>
              <a:gd name="T8" fmla="*/ 744 w 21600"/>
              <a:gd name="T9" fmla="*/ 9904 h 21600"/>
              <a:gd name="T10" fmla="*/ 21134 w 21600"/>
              <a:gd name="T11" fmla="*/ 153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C0C0C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034572"/>
              </p:ext>
            </p:extLst>
          </p:nvPr>
        </p:nvGraphicFramePr>
        <p:xfrm>
          <a:off x="6019800" y="3962400"/>
          <a:ext cx="2819400" cy="914456"/>
        </p:xfrm>
        <a:graphic>
          <a:graphicData uri="http://schemas.openxmlformats.org/drawingml/2006/table">
            <a:tbl>
              <a:tblPr/>
              <a:tblGrid>
                <a:gridCol w="28194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doubleConst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3.14159	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14" name="Lock"/>
          <p:cNvSpPr>
            <a:spLocks noEditPoints="1" noChangeArrowheads="1"/>
          </p:cNvSpPr>
          <p:nvPr/>
        </p:nvSpPr>
        <p:spPr bwMode="auto">
          <a:xfrm>
            <a:off x="8129588" y="4038600"/>
            <a:ext cx="594360" cy="73152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9606 h 21600"/>
              <a:gd name="T4" fmla="*/ 10800 w 21600"/>
              <a:gd name="T5" fmla="*/ 21600 h 21600"/>
              <a:gd name="T6" fmla="*/ 0 w 21600"/>
              <a:gd name="T7" fmla="*/ 9606 h 21600"/>
              <a:gd name="T8" fmla="*/ 744 w 21600"/>
              <a:gd name="T9" fmla="*/ 9904 h 21600"/>
              <a:gd name="T10" fmla="*/ 21134 w 21600"/>
              <a:gd name="T11" fmla="*/ 153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C0C0C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778787"/>
              </p:ext>
            </p:extLst>
          </p:nvPr>
        </p:nvGraphicFramePr>
        <p:xfrm>
          <a:off x="6019800" y="5867400"/>
          <a:ext cx="2816352" cy="914456"/>
        </p:xfrm>
        <a:graphic>
          <a:graphicData uri="http://schemas.openxmlformats.org/drawingml/2006/table">
            <a:tbl>
              <a:tblPr/>
              <a:tblGrid>
                <a:gridCol w="2816352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</a:t>
                      </a:r>
                      <a:r>
                        <a:rPr kumimoji="0" lang="es-E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charConst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Q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16" name="Lock"/>
          <p:cNvSpPr>
            <a:spLocks noEditPoints="1" noChangeArrowheads="1"/>
          </p:cNvSpPr>
          <p:nvPr/>
        </p:nvSpPr>
        <p:spPr bwMode="auto">
          <a:xfrm>
            <a:off x="8129588" y="5943600"/>
            <a:ext cx="594360" cy="73152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9606 h 21600"/>
              <a:gd name="T4" fmla="*/ 10800 w 21600"/>
              <a:gd name="T5" fmla="*/ 21600 h 21600"/>
              <a:gd name="T6" fmla="*/ 0 w 21600"/>
              <a:gd name="T7" fmla="*/ 9606 h 21600"/>
              <a:gd name="T8" fmla="*/ 744 w 21600"/>
              <a:gd name="T9" fmla="*/ 9904 h 21600"/>
              <a:gd name="T10" fmla="*/ 21134 w 21600"/>
              <a:gd name="T11" fmla="*/ 153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C0C0C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WordArt 6"/>
          <p:cNvSpPr>
            <a:spLocks noChangeArrowheads="1" noChangeShapeType="1" noTextEdit="1"/>
          </p:cNvSpPr>
          <p:nvPr/>
        </p:nvSpPr>
        <p:spPr bwMode="auto">
          <a:xfrm>
            <a:off x="4153852" y="1447800"/>
            <a:ext cx="4837748" cy="685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1800"/>
              </a:avLst>
            </a:prstTxWarp>
          </a:bodyPr>
          <a:lstStyle/>
          <a:p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Output with comment symbols in place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6" grpId="0" animBg="1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16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100" dirty="0">
                <a:latin typeface="Times New Roman" pitchFamily="18" charset="0"/>
              </a:rPr>
              <a:t>// Java0316.java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// This program demonstrates how to create "constant" identifier values with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// the &lt;final&gt; keyword. Removing the comments from the three assignment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// statements will result in compile errors.</a:t>
            </a:r>
          </a:p>
          <a:p>
            <a:pPr eaLnBrk="1" hangingPunct="1">
              <a:lnSpc>
                <a:spcPct val="90000"/>
              </a:lnSpc>
            </a:pPr>
            <a:endParaRPr lang="en-US" sz="2100" dirty="0">
              <a:latin typeface="Times New Roman" pitchFamily="18" charset="0"/>
            </a:endParaRP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public class Java0316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{	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public static void main (String </a:t>
            </a:r>
            <a:r>
              <a:rPr lang="en-US" sz="2100" dirty="0" err="1">
                <a:latin typeface="Times New Roman" pitchFamily="18" charset="0"/>
              </a:rPr>
              <a:t>args</a:t>
            </a:r>
            <a:r>
              <a:rPr lang="en-US" sz="21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>
                <a:latin typeface="Arial Black" pitchFamily="34" charset="0"/>
              </a:rPr>
              <a:t>final</a:t>
            </a:r>
            <a:r>
              <a:rPr lang="en-US" sz="2100" dirty="0">
                <a:latin typeface="Times New Roman" pitchFamily="18" charset="0"/>
              </a:rPr>
              <a:t>  </a:t>
            </a:r>
            <a:r>
              <a:rPr lang="en-US" sz="2100" dirty="0" err="1">
                <a:latin typeface="Times New Roman" pitchFamily="18" charset="0"/>
              </a:rPr>
              <a:t>int</a:t>
            </a:r>
            <a:r>
              <a:rPr lang="en-US" sz="2100" dirty="0">
                <a:latin typeface="Times New Roman" pitchFamily="18" charset="0"/>
              </a:rPr>
              <a:t> </a:t>
            </a:r>
            <a:r>
              <a:rPr lang="en-US" sz="2100" dirty="0" err="1">
                <a:latin typeface="Times New Roman" pitchFamily="18" charset="0"/>
              </a:rPr>
              <a:t>intConst</a:t>
            </a:r>
            <a:r>
              <a:rPr lang="en-US" sz="2100" dirty="0">
                <a:latin typeface="Times New Roman" pitchFamily="18" charset="0"/>
              </a:rPr>
              <a:t> = 100;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>
                <a:latin typeface="Arial Black" pitchFamily="34" charset="0"/>
              </a:rPr>
              <a:t>final</a:t>
            </a:r>
            <a:r>
              <a:rPr lang="en-US" sz="2100" dirty="0">
                <a:latin typeface="Times New Roman" pitchFamily="18" charset="0"/>
              </a:rPr>
              <a:t>  double </a:t>
            </a:r>
            <a:r>
              <a:rPr lang="en-US" sz="2100" dirty="0" err="1">
                <a:latin typeface="Times New Roman" pitchFamily="18" charset="0"/>
              </a:rPr>
              <a:t>doubleConst</a:t>
            </a:r>
            <a:r>
              <a:rPr lang="en-US" sz="2100" dirty="0">
                <a:latin typeface="Times New Roman" pitchFamily="18" charset="0"/>
              </a:rPr>
              <a:t> = 3.14159;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>
                <a:latin typeface="Arial Black" pitchFamily="34" charset="0"/>
              </a:rPr>
              <a:t>final</a:t>
            </a:r>
            <a:r>
              <a:rPr lang="en-US" sz="2100" dirty="0">
                <a:latin typeface="Times New Roman" pitchFamily="18" charset="0"/>
              </a:rPr>
              <a:t>  char </a:t>
            </a:r>
            <a:r>
              <a:rPr lang="en-US" sz="2100" dirty="0" err="1">
                <a:latin typeface="Times New Roman" pitchFamily="18" charset="0"/>
              </a:rPr>
              <a:t>charConst</a:t>
            </a:r>
            <a:r>
              <a:rPr lang="en-US" sz="2100" dirty="0">
                <a:latin typeface="Times New Roman" pitchFamily="18" charset="0"/>
              </a:rPr>
              <a:t> = 'Q';</a:t>
            </a:r>
          </a:p>
          <a:p>
            <a:pPr eaLnBrk="1" hangingPunct="1"/>
            <a:r>
              <a:rPr lang="en-US" sz="2100" dirty="0">
                <a:latin typeface="Arial Black" pitchFamily="34" charset="0"/>
              </a:rPr>
              <a:t>		</a:t>
            </a:r>
            <a:r>
              <a:rPr lang="en-US" sz="2100" dirty="0" err="1">
                <a:latin typeface="Arial Black" pitchFamily="34" charset="0"/>
              </a:rPr>
              <a:t>intConst</a:t>
            </a:r>
            <a:r>
              <a:rPr lang="en-US" sz="2100" dirty="0">
                <a:latin typeface="Arial Black" pitchFamily="34" charset="0"/>
              </a:rPr>
              <a:t>++;</a:t>
            </a:r>
          </a:p>
          <a:p>
            <a:pPr eaLnBrk="1" hangingPunct="1"/>
            <a:r>
              <a:rPr lang="en-US" sz="2100" dirty="0">
                <a:latin typeface="Arial Black" pitchFamily="34" charset="0"/>
              </a:rPr>
              <a:t>		</a:t>
            </a:r>
            <a:r>
              <a:rPr lang="en-US" sz="2100" dirty="0" err="1">
                <a:latin typeface="Arial Black" pitchFamily="34" charset="0"/>
              </a:rPr>
              <a:t>doubleConst</a:t>
            </a:r>
            <a:r>
              <a:rPr lang="en-US" sz="2100" dirty="0">
                <a:latin typeface="Arial Black" pitchFamily="34" charset="0"/>
              </a:rPr>
              <a:t> = 1234.4321;</a:t>
            </a:r>
          </a:p>
          <a:p>
            <a:pPr eaLnBrk="1" hangingPunct="1"/>
            <a:r>
              <a:rPr lang="en-US" sz="2100" dirty="0">
                <a:latin typeface="Arial Black" pitchFamily="34" charset="0"/>
              </a:rPr>
              <a:t>		</a:t>
            </a:r>
            <a:r>
              <a:rPr lang="en-US" sz="2100" dirty="0" err="1">
                <a:latin typeface="Arial Black" pitchFamily="34" charset="0"/>
              </a:rPr>
              <a:t>charConst</a:t>
            </a:r>
            <a:r>
              <a:rPr lang="en-US" sz="2100" dirty="0">
                <a:latin typeface="Arial Black" pitchFamily="34" charset="0"/>
              </a:rPr>
              <a:t> = 'A';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intConst</a:t>
            </a:r>
            <a:r>
              <a:rPr lang="en-US" sz="2100" dirty="0">
                <a:latin typeface="Times New Roman" pitchFamily="18" charset="0"/>
              </a:rPr>
              <a:t>:         " + </a:t>
            </a:r>
            <a:r>
              <a:rPr lang="en-US" sz="2100" dirty="0" err="1">
                <a:latin typeface="Times New Roman" pitchFamily="18" charset="0"/>
              </a:rPr>
              <a:t>intConst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doubleConst</a:t>
            </a:r>
            <a:r>
              <a:rPr lang="en-US" sz="2100" dirty="0">
                <a:latin typeface="Times New Roman" pitchFamily="18" charset="0"/>
              </a:rPr>
              <a:t>:  " + </a:t>
            </a:r>
            <a:r>
              <a:rPr lang="en-US" sz="2100" dirty="0" err="1">
                <a:latin typeface="Times New Roman" pitchFamily="18" charset="0"/>
              </a:rPr>
              <a:t>doubleConst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("</a:t>
            </a:r>
            <a:r>
              <a:rPr lang="en-US" sz="2100" dirty="0" err="1">
                <a:latin typeface="Times New Roman" pitchFamily="18" charset="0"/>
              </a:rPr>
              <a:t>charConst</a:t>
            </a:r>
            <a:r>
              <a:rPr lang="en-US" sz="2100" dirty="0">
                <a:latin typeface="Times New Roman" pitchFamily="18" charset="0"/>
              </a:rPr>
              <a:t>:      " + </a:t>
            </a:r>
            <a:r>
              <a:rPr lang="en-US" sz="2100" dirty="0" err="1">
                <a:latin typeface="Times New Roman" pitchFamily="18" charset="0"/>
              </a:rPr>
              <a:t>charConst</a:t>
            </a:r>
            <a:r>
              <a:rPr lang="en-US" sz="21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	</a:t>
            </a:r>
            <a:r>
              <a:rPr lang="en-US" sz="2100" dirty="0" err="1">
                <a:latin typeface="Times New Roman" pitchFamily="18" charset="0"/>
              </a:rPr>
              <a:t>System.out.println</a:t>
            </a:r>
            <a:r>
              <a:rPr lang="en-US" sz="21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	}	</a:t>
            </a:r>
          </a:p>
          <a:p>
            <a:pPr eaLnBrk="1" hangingPunct="1"/>
            <a:r>
              <a:rPr lang="en-US" sz="2100" dirty="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239036"/>
              </p:ext>
            </p:extLst>
          </p:nvPr>
        </p:nvGraphicFramePr>
        <p:xfrm>
          <a:off x="6019800" y="2971800"/>
          <a:ext cx="2816352" cy="914456"/>
        </p:xfrm>
        <a:graphic>
          <a:graphicData uri="http://schemas.openxmlformats.org/drawingml/2006/table">
            <a:tbl>
              <a:tblPr/>
              <a:tblGrid>
                <a:gridCol w="2816352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</a:t>
                      </a:r>
                      <a:r>
                        <a:rPr kumimoji="0" lang="es-E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intConst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100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6" name="Lock"/>
          <p:cNvSpPr>
            <a:spLocks noEditPoints="1" noChangeArrowheads="1"/>
          </p:cNvSpPr>
          <p:nvPr/>
        </p:nvSpPr>
        <p:spPr bwMode="auto">
          <a:xfrm>
            <a:off x="8092440" y="3048000"/>
            <a:ext cx="594360" cy="73152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9606 h 21600"/>
              <a:gd name="T4" fmla="*/ 10800 w 21600"/>
              <a:gd name="T5" fmla="*/ 21600 h 21600"/>
              <a:gd name="T6" fmla="*/ 0 w 21600"/>
              <a:gd name="T7" fmla="*/ 9606 h 21600"/>
              <a:gd name="T8" fmla="*/ 744 w 21600"/>
              <a:gd name="T9" fmla="*/ 9904 h 21600"/>
              <a:gd name="T10" fmla="*/ 21134 w 21600"/>
              <a:gd name="T11" fmla="*/ 153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C0C0C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659128"/>
              </p:ext>
            </p:extLst>
          </p:nvPr>
        </p:nvGraphicFramePr>
        <p:xfrm>
          <a:off x="6019800" y="3962400"/>
          <a:ext cx="2819400" cy="914456"/>
        </p:xfrm>
        <a:graphic>
          <a:graphicData uri="http://schemas.openxmlformats.org/drawingml/2006/table">
            <a:tbl>
              <a:tblPr/>
              <a:tblGrid>
                <a:gridCol w="28194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doubleConst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3.14159	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8" name="Lock"/>
          <p:cNvSpPr>
            <a:spLocks noEditPoints="1" noChangeArrowheads="1"/>
          </p:cNvSpPr>
          <p:nvPr/>
        </p:nvSpPr>
        <p:spPr bwMode="auto">
          <a:xfrm>
            <a:off x="8129588" y="4038600"/>
            <a:ext cx="594360" cy="73152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9606 h 21600"/>
              <a:gd name="T4" fmla="*/ 10800 w 21600"/>
              <a:gd name="T5" fmla="*/ 21600 h 21600"/>
              <a:gd name="T6" fmla="*/ 0 w 21600"/>
              <a:gd name="T7" fmla="*/ 9606 h 21600"/>
              <a:gd name="T8" fmla="*/ 744 w 21600"/>
              <a:gd name="T9" fmla="*/ 9904 h 21600"/>
              <a:gd name="T10" fmla="*/ 21134 w 21600"/>
              <a:gd name="T11" fmla="*/ 153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C0C0C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207154"/>
              </p:ext>
            </p:extLst>
          </p:nvPr>
        </p:nvGraphicFramePr>
        <p:xfrm>
          <a:off x="6019800" y="5867400"/>
          <a:ext cx="2816352" cy="914456"/>
        </p:xfrm>
        <a:graphic>
          <a:graphicData uri="http://schemas.openxmlformats.org/drawingml/2006/table">
            <a:tbl>
              <a:tblPr/>
              <a:tblGrid>
                <a:gridCol w="2816352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</a:t>
                      </a:r>
                      <a:r>
                        <a:rPr kumimoji="0" lang="es-E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charConst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Q</a:t>
                      </a:r>
                      <a:endParaRPr kumimoji="0" lang="es-E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sp>
        <p:nvSpPr>
          <p:cNvPr id="10" name="Lock"/>
          <p:cNvSpPr>
            <a:spLocks noEditPoints="1" noChangeArrowheads="1"/>
          </p:cNvSpPr>
          <p:nvPr/>
        </p:nvSpPr>
        <p:spPr bwMode="auto">
          <a:xfrm>
            <a:off x="8129588" y="5943600"/>
            <a:ext cx="594360" cy="73152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9606 h 21600"/>
              <a:gd name="T4" fmla="*/ 10800 w 21600"/>
              <a:gd name="T5" fmla="*/ 21600 h 21600"/>
              <a:gd name="T6" fmla="*/ 0 w 21600"/>
              <a:gd name="T7" fmla="*/ 9606 h 21600"/>
              <a:gd name="T8" fmla="*/ 744 w 21600"/>
              <a:gd name="T9" fmla="*/ 9904 h 21600"/>
              <a:gd name="T10" fmla="*/ 21134 w 21600"/>
              <a:gd name="T11" fmla="*/ 153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C0C0C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C:\Users\leonschram\Desktop\Java0316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" t="6176"/>
          <a:stretch/>
        </p:blipFill>
        <p:spPr bwMode="auto">
          <a:xfrm>
            <a:off x="1737360" y="0"/>
            <a:ext cx="7406640" cy="28739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WordArt 6"/>
          <p:cNvSpPr>
            <a:spLocks noChangeArrowheads="1" noChangeShapeType="1" noTextEdit="1"/>
          </p:cNvSpPr>
          <p:nvPr/>
        </p:nvSpPr>
        <p:spPr bwMode="auto">
          <a:xfrm>
            <a:off x="3429000" y="2133600"/>
            <a:ext cx="5294948" cy="685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1800"/>
              </a:avLst>
            </a:prstTxWarp>
          </a:bodyPr>
          <a:lstStyle/>
          <a:p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Output with comment symbols removed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875359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Your Programs</a:t>
            </a:r>
          </a:p>
        </p:txBody>
      </p:sp>
      <p:sp>
        <p:nvSpPr>
          <p:cNvPr id="41987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3.10</a:t>
            </a:r>
          </a:p>
        </p:txBody>
      </p:sp>
      <p:sp>
        <p:nvSpPr>
          <p:cNvPr id="41988" name="WordArt 2"/>
          <p:cNvSpPr>
            <a:spLocks noChangeArrowheads="1" noChangeShapeType="1" noTextEdit="1"/>
          </p:cNvSpPr>
          <p:nvPr/>
        </p:nvSpPr>
        <p:spPr bwMode="auto">
          <a:xfrm>
            <a:off x="457200" y="16002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Documenting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// Java0317.java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// This is an example of a poorly written program with single-letter variables.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// Do you have any idea what this program does?</a:t>
            </a:r>
          </a:p>
          <a:p>
            <a:pPr eaLnBrk="1" hangingPunct="1">
              <a:lnSpc>
                <a:spcPct val="94000"/>
              </a:lnSpc>
            </a:pPr>
            <a:endParaRPr lang="en-US" dirty="0" smtClean="0">
              <a:latin typeface="Times New Roman" pitchFamily="18" charset="0"/>
            </a:endParaRP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public class Java0317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{</a:t>
            </a: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public static void main (String </a:t>
            </a:r>
            <a:r>
              <a:rPr lang="en-US" dirty="0" err="1">
                <a:latin typeface="Times New Roman" pitchFamily="18" charset="0"/>
              </a:rPr>
              <a:t>args</a:t>
            </a:r>
            <a:r>
              <a:rPr lang="en-US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double a;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double b;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double c;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double d;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double e;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a = 35;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b = 8.75;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c = a * b;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d = c * 0.29;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e = c - d;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("a = " + a);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("b = " + b);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("c = " + c);	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("d = " + d);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("e = " + e);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}</a:t>
            </a:r>
          </a:p>
        </p:txBody>
      </p:sp>
      <p:pic>
        <p:nvPicPr>
          <p:cNvPr id="36869" name="Picture 5" descr="C:\Users\JohnSchram\AppData\Local\Microsoft\Windows\Temporary Internet Files\Content.IE5\2FHIY7Z7\MC900441523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4019744"/>
            <a:ext cx="2876550" cy="245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029200" y="1103055"/>
            <a:ext cx="3770948" cy="2554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 = 35.0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b = 8.75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 = 306.25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d = 88.8125</a:t>
            </a: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e = 217.4375</a:t>
            </a:r>
          </a:p>
        </p:txBody>
      </p:sp>
    </p:spTree>
    <p:extLst>
      <p:ext uri="{BB962C8B-B14F-4D97-AF65-F5344CB8AC3E}">
        <p14:creationId xmlns:p14="http://schemas.microsoft.com/office/powerpoint/2010/main" val="11796144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748213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// Java0318.java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// This program does exactly the same thing as the previous program.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// By using self-commenting variables, the program is much easier to read and understand.</a:t>
            </a:r>
          </a:p>
          <a:p>
            <a:pPr eaLnBrk="1" hangingPunct="1">
              <a:lnSpc>
                <a:spcPct val="94000"/>
              </a:lnSpc>
            </a:pPr>
            <a:endParaRPr lang="en-US" dirty="0" smtClean="0">
              <a:latin typeface="Times New Roman" pitchFamily="18" charset="0"/>
            </a:endParaRP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public class Java0318</a:t>
            </a:r>
          </a:p>
          <a:p>
            <a:pPr eaLnBrk="1" hangingPunct="1">
              <a:lnSpc>
                <a:spcPct val="94000"/>
              </a:lnSpc>
            </a:pPr>
            <a:r>
              <a:rPr lang="en-US" dirty="0" smtClean="0">
                <a:latin typeface="Times New Roman" pitchFamily="18" charset="0"/>
              </a:rPr>
              <a:t>{</a:t>
            </a: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public static void main (String </a:t>
            </a:r>
            <a:r>
              <a:rPr lang="en-US" dirty="0" err="1">
                <a:latin typeface="Times New Roman" pitchFamily="18" charset="0"/>
              </a:rPr>
              <a:t>args</a:t>
            </a:r>
            <a:r>
              <a:rPr lang="en-US" dirty="0">
                <a:latin typeface="Times New Roman" pitchFamily="18" charset="0"/>
              </a:rPr>
              <a:t>[])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double </a:t>
            </a:r>
            <a:r>
              <a:rPr lang="en-US" dirty="0" err="1">
                <a:latin typeface="Times New Roman" pitchFamily="18" charset="0"/>
              </a:rPr>
              <a:t>hoursWorked</a:t>
            </a:r>
            <a:r>
              <a:rPr lang="en-US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double </a:t>
            </a:r>
            <a:r>
              <a:rPr lang="en-US" dirty="0" err="1">
                <a:latin typeface="Times New Roman" pitchFamily="18" charset="0"/>
              </a:rPr>
              <a:t>hourlyRate</a:t>
            </a:r>
            <a:r>
              <a:rPr lang="en-US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double </a:t>
            </a:r>
            <a:r>
              <a:rPr lang="en-US" dirty="0" err="1">
                <a:latin typeface="Times New Roman" pitchFamily="18" charset="0"/>
              </a:rPr>
              <a:t>grossPay</a:t>
            </a:r>
            <a:r>
              <a:rPr lang="en-US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double deductions;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double </a:t>
            </a:r>
            <a:r>
              <a:rPr lang="en-US" dirty="0" err="1">
                <a:latin typeface="Times New Roman" pitchFamily="18" charset="0"/>
              </a:rPr>
              <a:t>netPay</a:t>
            </a:r>
            <a:r>
              <a:rPr lang="en-US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hoursWorked</a:t>
            </a:r>
            <a:r>
              <a:rPr lang="en-US" dirty="0">
                <a:latin typeface="Times New Roman" pitchFamily="18" charset="0"/>
              </a:rPr>
              <a:t> = 35;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hourlyRate</a:t>
            </a:r>
            <a:r>
              <a:rPr lang="en-US" dirty="0">
                <a:latin typeface="Times New Roman" pitchFamily="18" charset="0"/>
              </a:rPr>
              <a:t> = 8.75;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grossPay</a:t>
            </a:r>
            <a:r>
              <a:rPr lang="en-US" dirty="0">
                <a:latin typeface="Times New Roman" pitchFamily="18" charset="0"/>
              </a:rPr>
              <a:t> = </a:t>
            </a:r>
            <a:r>
              <a:rPr lang="en-US" dirty="0" err="1">
                <a:latin typeface="Times New Roman" pitchFamily="18" charset="0"/>
              </a:rPr>
              <a:t>hoursWorked</a:t>
            </a:r>
            <a:r>
              <a:rPr lang="en-US" dirty="0">
                <a:latin typeface="Times New Roman" pitchFamily="18" charset="0"/>
              </a:rPr>
              <a:t> * </a:t>
            </a:r>
            <a:r>
              <a:rPr lang="en-US" dirty="0" err="1">
                <a:latin typeface="Times New Roman" pitchFamily="18" charset="0"/>
              </a:rPr>
              <a:t>hourlyRate</a:t>
            </a:r>
            <a:r>
              <a:rPr lang="en-US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deductions = </a:t>
            </a:r>
            <a:r>
              <a:rPr lang="en-US" dirty="0" err="1">
                <a:latin typeface="Times New Roman" pitchFamily="18" charset="0"/>
              </a:rPr>
              <a:t>grossPay</a:t>
            </a:r>
            <a:r>
              <a:rPr lang="en-US" dirty="0">
                <a:latin typeface="Times New Roman" pitchFamily="18" charset="0"/>
              </a:rPr>
              <a:t> * 0.29;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netPay</a:t>
            </a:r>
            <a:r>
              <a:rPr lang="en-US" dirty="0">
                <a:latin typeface="Times New Roman" pitchFamily="18" charset="0"/>
              </a:rPr>
              <a:t> = </a:t>
            </a:r>
            <a:r>
              <a:rPr lang="en-US" dirty="0" err="1">
                <a:latin typeface="Times New Roman" pitchFamily="18" charset="0"/>
              </a:rPr>
              <a:t>grossPay</a:t>
            </a:r>
            <a:r>
              <a:rPr lang="en-US" dirty="0">
                <a:latin typeface="Times New Roman" pitchFamily="18" charset="0"/>
              </a:rPr>
              <a:t> - deductions;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("Hours Worked: 	" + </a:t>
            </a:r>
            <a:r>
              <a:rPr lang="en-US" dirty="0" err="1">
                <a:latin typeface="Times New Roman" pitchFamily="18" charset="0"/>
              </a:rPr>
              <a:t>hoursWorked</a:t>
            </a:r>
            <a:r>
              <a:rPr lang="en-US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("Hourly Rate:    	" + </a:t>
            </a:r>
            <a:r>
              <a:rPr lang="en-US" dirty="0" err="1">
                <a:latin typeface="Times New Roman" pitchFamily="18" charset="0"/>
              </a:rPr>
              <a:t>hourlyRate</a:t>
            </a:r>
            <a:r>
              <a:rPr lang="en-US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("Gross Pay:      	" + </a:t>
            </a:r>
            <a:r>
              <a:rPr lang="en-US" dirty="0" err="1">
                <a:latin typeface="Times New Roman" pitchFamily="18" charset="0"/>
              </a:rPr>
              <a:t>grossPay</a:t>
            </a:r>
            <a:r>
              <a:rPr lang="en-US" dirty="0">
                <a:latin typeface="Times New Roman" pitchFamily="18" charset="0"/>
              </a:rPr>
              <a:t>);	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("Deductions:     	" + deductions);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("Net Pay:        	" + </a:t>
            </a:r>
            <a:r>
              <a:rPr lang="en-US" dirty="0" err="1">
                <a:latin typeface="Times New Roman" pitchFamily="18" charset="0"/>
              </a:rPr>
              <a:t>netPay</a:t>
            </a:r>
            <a:r>
              <a:rPr lang="en-US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	</a:t>
            </a:r>
            <a:r>
              <a:rPr lang="en-US" dirty="0" err="1">
                <a:latin typeface="Times New Roman" pitchFamily="18" charset="0"/>
              </a:rPr>
              <a:t>System.out.println</a:t>
            </a:r>
            <a:r>
              <a:rPr lang="en-US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4000"/>
              </a:lnSpc>
            </a:pPr>
            <a:r>
              <a:rPr lang="en-US" dirty="0">
                <a:latin typeface="Times New Roman" pitchFamily="18" charset="0"/>
              </a:rPr>
              <a:t>}</a:t>
            </a:r>
          </a:p>
        </p:txBody>
      </p:sp>
      <p:pic>
        <p:nvPicPr>
          <p:cNvPr id="2052" name="Picture 4" descr="C:\Users\JohnSchram\AppData\Local\Microsoft\Windows\Temporary Internet Files\Content.IE5\YGQBG32U\MC900098039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328769"/>
            <a:ext cx="1564538" cy="1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544252" y="1143000"/>
            <a:ext cx="5599748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Hours Worked:   35.0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Hourly Rate:    8.75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Gross Pay:      306.25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Deductions:     88.8125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Net Pay:        217.4375</a:t>
            </a:r>
          </a:p>
        </p:txBody>
      </p:sp>
    </p:spTree>
    <p:extLst>
      <p:ext uri="{BB962C8B-B14F-4D97-AF65-F5344CB8AC3E}">
        <p14:creationId xmlns:p14="http://schemas.microsoft.com/office/powerpoint/2010/main" val="38217795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280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Java0319.java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This program adds a multi-line comment at the beginning to help explain the program.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Several single-line comments are also added to provide more detail for each variable.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/********************************************************************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                                                                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   Payroll Program                                              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   Written by Leon Schram </a:t>
            </a:r>
            <a:r>
              <a:rPr lang="en-US" sz="16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09-09-09                            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                                                                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   This program takes the hours worked and hourly rate of       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   an employee and computes the gross pay earned.               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   Federal deductions are computed as 29% of gross pay.         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   Finally the take-home pay or net pay is computed by          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   subtraction deductions from gross pay.                       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                                                                **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********************************************************************/</a:t>
            </a: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public class </a:t>
            </a:r>
            <a:r>
              <a:rPr lang="en-US" sz="1600" dirty="0" smtClean="0">
                <a:latin typeface="Courier New" pitchFamily="49" charset="0"/>
              </a:rPr>
              <a:t>Java0319</a:t>
            </a:r>
            <a:endParaRPr lang="en-US" sz="1600" dirty="0"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{	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	public static void main (String </a:t>
            </a:r>
            <a:r>
              <a:rPr lang="en-US" sz="1600" dirty="0" err="1">
                <a:latin typeface="Courier New" pitchFamily="49" charset="0"/>
              </a:rPr>
              <a:t>args</a:t>
            </a:r>
            <a:r>
              <a:rPr lang="en-US" sz="1600" dirty="0">
                <a:latin typeface="Courier New" pitchFamily="49" charset="0"/>
              </a:rPr>
              <a:t>[])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		double </a:t>
            </a:r>
            <a:r>
              <a:rPr lang="en-US" sz="1600" dirty="0" err="1">
                <a:latin typeface="Courier New" pitchFamily="49" charset="0"/>
              </a:rPr>
              <a:t>hoursWorked</a:t>
            </a:r>
            <a:r>
              <a:rPr lang="en-US" sz="1600" dirty="0">
                <a:latin typeface="Courier New" pitchFamily="49" charset="0"/>
              </a:rPr>
              <a:t>;	</a:t>
            </a:r>
            <a:r>
              <a:rPr lang="en-US" sz="1600" dirty="0" smtClean="0">
                <a:latin typeface="Courier New" pitchFamily="49" charset="0"/>
              </a:rPr>
              <a:t>  </a:t>
            </a:r>
            <a:r>
              <a:rPr lang="en-US" sz="1600" dirty="0" smtClean="0">
                <a:solidFill>
                  <a:srgbClr val="FF0000"/>
                </a:solidFill>
                <a:latin typeface="Courier New" pitchFamily="49" charset="0"/>
              </a:rPr>
              <a:t>//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hours worked per week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		double </a:t>
            </a:r>
            <a:r>
              <a:rPr lang="en-US" sz="1600" dirty="0" err="1">
                <a:latin typeface="Courier New" pitchFamily="49" charset="0"/>
              </a:rPr>
              <a:t>hourlyRate</a:t>
            </a:r>
            <a:r>
              <a:rPr lang="en-US" sz="1600" dirty="0">
                <a:latin typeface="Courier New" pitchFamily="49" charset="0"/>
              </a:rPr>
              <a:t>;	</a:t>
            </a:r>
            <a:r>
              <a:rPr lang="en-US" sz="1600" dirty="0" smtClean="0">
                <a:latin typeface="Courier New" pitchFamily="49" charset="0"/>
              </a:rPr>
              <a:t>  </a:t>
            </a:r>
            <a:r>
              <a:rPr lang="en-US" sz="1600" dirty="0" smtClean="0">
                <a:solidFill>
                  <a:srgbClr val="FF0000"/>
                </a:solidFill>
                <a:latin typeface="Courier New" pitchFamily="49" charset="0"/>
              </a:rPr>
              <a:t>// </a:t>
            </a:r>
            <a:r>
              <a:rPr lang="en-US" sz="1600" dirty="0" err="1">
                <a:solidFill>
                  <a:srgbClr val="FF0000"/>
                </a:solidFill>
                <a:latin typeface="Courier New" pitchFamily="49" charset="0"/>
              </a:rPr>
              <a:t>payrate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 earned per hour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		double </a:t>
            </a:r>
            <a:r>
              <a:rPr lang="en-US" sz="1600" dirty="0" err="1">
                <a:latin typeface="Courier New" pitchFamily="49" charset="0"/>
              </a:rPr>
              <a:t>grossPay</a:t>
            </a:r>
            <a:r>
              <a:rPr lang="en-US" sz="1600" dirty="0">
                <a:latin typeface="Courier New" pitchFamily="49" charset="0"/>
              </a:rPr>
              <a:t>;	</a:t>
            </a:r>
            <a:r>
              <a:rPr lang="en-US" sz="1600" dirty="0" smtClean="0">
                <a:latin typeface="Courier New" pitchFamily="49" charset="0"/>
              </a:rPr>
              <a:t>  </a:t>
            </a:r>
            <a:r>
              <a:rPr lang="en-US" sz="1600" dirty="0" smtClean="0">
                <a:solidFill>
                  <a:srgbClr val="FF0000"/>
                </a:solidFill>
                <a:latin typeface="Courier New" pitchFamily="49" charset="0"/>
              </a:rPr>
              <a:t>//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total earnings in a week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		double deductions;	</a:t>
            </a:r>
            <a:r>
              <a:rPr lang="en-US" sz="1600" dirty="0" smtClean="0">
                <a:latin typeface="Courier New" pitchFamily="49" charset="0"/>
              </a:rPr>
              <a:t>  </a:t>
            </a:r>
            <a:r>
              <a:rPr lang="en-US" sz="1600" dirty="0" smtClean="0">
                <a:solidFill>
                  <a:srgbClr val="FF0000"/>
                </a:solidFill>
                <a:latin typeface="Courier New" pitchFamily="49" charset="0"/>
              </a:rPr>
              <a:t>//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total federal tax deductions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		double </a:t>
            </a:r>
            <a:r>
              <a:rPr lang="en-US" sz="1600" dirty="0" err="1">
                <a:latin typeface="Courier New" pitchFamily="49" charset="0"/>
              </a:rPr>
              <a:t>netPay</a:t>
            </a:r>
            <a:r>
              <a:rPr lang="en-US" sz="1600" dirty="0">
                <a:latin typeface="Courier New" pitchFamily="49" charset="0"/>
              </a:rPr>
              <a:t>;		</a:t>
            </a:r>
            <a:r>
              <a:rPr lang="en-US" sz="1600" dirty="0" smtClean="0">
                <a:latin typeface="Courier New" pitchFamily="49" charset="0"/>
              </a:rPr>
              <a:t>  </a:t>
            </a:r>
            <a:r>
              <a:rPr lang="en-US" sz="1600" dirty="0" smtClean="0">
                <a:solidFill>
                  <a:srgbClr val="FF0000"/>
                </a:solidFill>
                <a:latin typeface="Courier New" pitchFamily="49" charset="0"/>
              </a:rPr>
              <a:t>//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employee take-home pay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</a:rPr>
              <a:t>hoursWorked</a:t>
            </a:r>
            <a:r>
              <a:rPr lang="en-US" sz="1600" dirty="0">
                <a:latin typeface="Courier New" pitchFamily="49" charset="0"/>
              </a:rPr>
              <a:t> = 35;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</a:rPr>
              <a:t>hourlyRate</a:t>
            </a:r>
            <a:r>
              <a:rPr lang="en-US" sz="1600" dirty="0">
                <a:latin typeface="Courier New" pitchFamily="49" charset="0"/>
              </a:rPr>
              <a:t> = 8.75;</a:t>
            </a:r>
          </a:p>
          <a:p>
            <a:pPr eaLnBrk="1" hangingPunct="1">
              <a:lnSpc>
                <a:spcPct val="110000"/>
              </a:lnSpc>
            </a:pPr>
            <a:r>
              <a:rPr lang="en-US" sz="1600" dirty="0">
                <a:latin typeface="Courier New" pitchFamily="49" charset="0"/>
              </a:rPr>
              <a:t>		</a:t>
            </a:r>
          </a:p>
          <a:p>
            <a:pPr algn="ctr" eaLnBrk="1" hangingPunct="1">
              <a:lnSpc>
                <a:spcPct val="90000"/>
              </a:lnSpc>
            </a:pPr>
            <a:r>
              <a:rPr lang="en-US" i="1" dirty="0" smtClean="0">
                <a:solidFill>
                  <a:srgbClr val="006000"/>
                </a:solidFill>
              </a:rPr>
              <a:t>The </a:t>
            </a:r>
            <a:r>
              <a:rPr lang="en-US" i="1" dirty="0">
                <a:solidFill>
                  <a:srgbClr val="006000"/>
                </a:solidFill>
              </a:rPr>
              <a:t>rest of the program is identical to the previous one and is not shown here.</a:t>
            </a:r>
          </a:p>
        </p:txBody>
      </p:sp>
    </p:spTree>
    <p:extLst>
      <p:ext uri="{BB962C8B-B14F-4D97-AF65-F5344CB8AC3E}">
        <p14:creationId xmlns:p14="http://schemas.microsoft.com/office/powerpoint/2010/main" val="2548727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Precedence</a:t>
            </a:r>
          </a:p>
        </p:txBody>
      </p:sp>
      <p:sp>
        <p:nvSpPr>
          <p:cNvPr id="47107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3.11</a:t>
            </a:r>
          </a:p>
        </p:txBody>
      </p:sp>
      <p:sp>
        <p:nvSpPr>
          <p:cNvPr id="47108" name="WordArt 2"/>
          <p:cNvSpPr>
            <a:spLocks noChangeArrowheads="1" noChangeShapeType="1" noTextEdit="1"/>
          </p:cNvSpPr>
          <p:nvPr/>
        </p:nvSpPr>
        <p:spPr bwMode="auto">
          <a:xfrm>
            <a:off x="457200" y="16002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Mathematical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r>
              <a:rPr lang="en-US" sz="4800" smtClean="0">
                <a:latin typeface="Arial Black" pitchFamily="34" charset="0"/>
              </a:rPr>
              <a:t>Hidden Math Operations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609600" y="990600"/>
            <a:ext cx="8001000" cy="56642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>
                <a:latin typeface="Arial Black" pitchFamily="34" charset="0"/>
              </a:rPr>
              <a:t>Mathematics		Java  Source Code	</a:t>
            </a:r>
          </a:p>
          <a:p>
            <a:pPr algn="just" eaLnBrk="1" hangingPunct="1">
              <a:lnSpc>
                <a:spcPct val="80000"/>
              </a:lnSpc>
            </a:pPr>
            <a:endParaRPr lang="en-US" sz="2800">
              <a:latin typeface="Arial Black" pitchFamily="34" charset="0"/>
            </a:endParaRPr>
          </a:p>
          <a:p>
            <a:pPr algn="just" eaLnBrk="1" hangingPunct="1"/>
            <a:r>
              <a:rPr lang="en-US" sz="2400">
                <a:latin typeface="Courier New" pitchFamily="49" charset="0"/>
              </a:rPr>
              <a:t>5XY				5*X*Y</a:t>
            </a:r>
          </a:p>
          <a:p>
            <a:pPr algn="just" eaLnBrk="1" hangingPunct="1">
              <a:lnSpc>
                <a:spcPct val="80000"/>
              </a:lnSpc>
            </a:pPr>
            <a:endParaRPr lang="en-US" sz="2400">
              <a:latin typeface="Courier New" pitchFamily="49" charset="0"/>
            </a:endParaRPr>
          </a:p>
          <a:p>
            <a:pPr algn="just" eaLnBrk="1" hangingPunct="1"/>
            <a:r>
              <a:rPr lang="en-US" sz="2400">
                <a:latin typeface="Courier New" pitchFamily="49" charset="0"/>
              </a:rPr>
              <a:t>4X + 3Y			4*X + 3*Y</a:t>
            </a:r>
          </a:p>
          <a:p>
            <a:pPr algn="just" eaLnBrk="1" hangingPunct="1">
              <a:lnSpc>
                <a:spcPct val="80000"/>
              </a:lnSpc>
            </a:pPr>
            <a:endParaRPr lang="en-US" sz="2400">
              <a:latin typeface="Courier New" pitchFamily="49" charset="0"/>
            </a:endParaRPr>
          </a:p>
          <a:p>
            <a:pPr algn="just" eaLnBrk="1" hangingPunct="1"/>
            <a:r>
              <a:rPr lang="en-US" sz="2400">
                <a:latin typeface="Courier New" pitchFamily="49" charset="0"/>
              </a:rPr>
              <a:t>6(A - B)			6*(A - B)</a:t>
            </a:r>
          </a:p>
          <a:p>
            <a:pPr algn="just" eaLnBrk="1" hangingPunct="1">
              <a:lnSpc>
                <a:spcPct val="80000"/>
              </a:lnSpc>
            </a:pPr>
            <a:endParaRPr lang="en-US" sz="2400">
              <a:latin typeface="Courier New" pitchFamily="49" charset="0"/>
            </a:endParaRPr>
          </a:p>
          <a:p>
            <a:pPr algn="just" eaLnBrk="1" hangingPunct="1"/>
            <a:r>
              <a:rPr lang="en-US" sz="2400" u="sng">
                <a:latin typeface="Courier New" pitchFamily="49" charset="0"/>
              </a:rPr>
              <a:t>5</a:t>
            </a:r>
            <a:r>
              <a:rPr lang="en-US" sz="2400">
                <a:latin typeface="Courier New" pitchFamily="49" charset="0"/>
              </a:rPr>
              <a:t>				5.0/7.0</a:t>
            </a:r>
          </a:p>
          <a:p>
            <a:pPr algn="just" eaLnBrk="1" hangingPunct="1"/>
            <a:r>
              <a:rPr lang="en-US" sz="2400">
                <a:latin typeface="Courier New" pitchFamily="49" charset="0"/>
              </a:rPr>
              <a:t>7</a:t>
            </a:r>
          </a:p>
          <a:p>
            <a:pPr algn="just" eaLnBrk="1" hangingPunct="1">
              <a:lnSpc>
                <a:spcPct val="80000"/>
              </a:lnSpc>
            </a:pPr>
            <a:endParaRPr lang="en-US" sz="2400">
              <a:latin typeface="Courier New" pitchFamily="49" charset="0"/>
            </a:endParaRPr>
          </a:p>
          <a:p>
            <a:pPr algn="just" eaLnBrk="1" hangingPunct="1"/>
            <a:r>
              <a:rPr lang="en-US" sz="2400" u="sng">
                <a:latin typeface="Courier New" pitchFamily="49" charset="0"/>
              </a:rPr>
              <a:t>A + B</a:t>
            </a:r>
            <a:r>
              <a:rPr lang="en-US" sz="2400">
                <a:latin typeface="Courier New" pitchFamily="49" charset="0"/>
              </a:rPr>
              <a:t>				(A + B)/(A - B)</a:t>
            </a:r>
          </a:p>
          <a:p>
            <a:pPr algn="just" eaLnBrk="1" hangingPunct="1"/>
            <a:r>
              <a:rPr lang="en-US" sz="2400">
                <a:latin typeface="Courier New" pitchFamily="49" charset="0"/>
              </a:rPr>
              <a:t>A - B</a:t>
            </a:r>
          </a:p>
          <a:p>
            <a:pPr algn="just" eaLnBrk="1" hangingPunct="1">
              <a:lnSpc>
                <a:spcPct val="80000"/>
              </a:lnSpc>
            </a:pPr>
            <a:endParaRPr lang="en-US" sz="2400">
              <a:latin typeface="Courier New" pitchFamily="49" charset="0"/>
            </a:endParaRPr>
          </a:p>
          <a:p>
            <a:pPr algn="just" eaLnBrk="1" hangingPunct="1"/>
            <a:r>
              <a:rPr lang="en-US" sz="2400" u="sng">
                <a:latin typeface="Courier New" pitchFamily="49" charset="0"/>
              </a:rPr>
              <a:t>AB</a:t>
            </a:r>
            <a:r>
              <a:rPr lang="en-US" sz="2400">
                <a:latin typeface="Courier New" pitchFamily="49" charset="0"/>
              </a:rPr>
              <a:t>				(A * B)/(X * Y)</a:t>
            </a:r>
          </a:p>
          <a:p>
            <a:pPr algn="just" eaLnBrk="1" hangingPunct="1"/>
            <a:r>
              <a:rPr lang="en-US" sz="2400">
                <a:latin typeface="Courier New" pitchFamily="49" charset="0"/>
              </a:rPr>
              <a:t>XY</a:t>
            </a:r>
            <a:r>
              <a:rPr lang="en-US" sz="240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410204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/>
          <a:lstStyle/>
          <a:p>
            <a:r>
              <a:rPr lang="en-US" sz="4800" smtClean="0">
                <a:latin typeface="Arial Black" pitchFamily="34" charset="0"/>
              </a:rPr>
              <a:t>Mathematical Precedence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981200" y="1524000"/>
            <a:ext cx="5334000" cy="28321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Parentheses</a:t>
            </a:r>
          </a:p>
          <a:p>
            <a:pPr eaLnBrk="1" hangingPunct="1">
              <a:spcBef>
                <a:spcPct val="50000"/>
              </a:spcBef>
            </a:pPr>
            <a:r>
              <a:rPr lang="en-US" sz="3200"/>
              <a:t>Exponents</a:t>
            </a:r>
          </a:p>
          <a:p>
            <a:pPr eaLnBrk="1" hangingPunct="1">
              <a:spcBef>
                <a:spcPct val="50000"/>
              </a:spcBef>
            </a:pPr>
            <a:r>
              <a:rPr lang="en-US" sz="3200"/>
              <a:t>Multiplication &amp; Division</a:t>
            </a:r>
          </a:p>
          <a:p>
            <a:pPr eaLnBrk="1" hangingPunct="1">
              <a:spcBef>
                <a:spcPct val="50000"/>
              </a:spcBef>
            </a:pPr>
            <a:r>
              <a:rPr lang="en-US" sz="3200"/>
              <a:t>Addition &amp; Subtraction</a:t>
            </a:r>
          </a:p>
        </p:txBody>
      </p:sp>
      <p:sp>
        <p:nvSpPr>
          <p:cNvPr id="43012" name="WordArt 4"/>
          <p:cNvSpPr>
            <a:spLocks noChangeArrowheads="1" noChangeShapeType="1" noTextEdit="1"/>
          </p:cNvSpPr>
          <p:nvPr/>
        </p:nvSpPr>
        <p:spPr bwMode="auto">
          <a:xfrm rot="5400000">
            <a:off x="-1790700" y="3467100"/>
            <a:ext cx="5105400" cy="914400"/>
          </a:xfrm>
          <a:prstGeom prst="rect">
            <a:avLst/>
          </a:prstGeom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fontAlgn="auto"/>
            <a:r>
              <a:rPr lang="en-US" sz="3600" kern="1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rgbClr val="800000"/>
                </a:solidFill>
                <a:effectLst>
                  <a:outerShdw dist="35921" dir="2700000" algn="ctr" rotWithShape="0">
                    <a:srgbClr val="B2B2B2">
                      <a:alpha val="79999"/>
                    </a:srgbClr>
                  </a:outerShdw>
                </a:effectLst>
                <a:latin typeface="Arial Black"/>
              </a:rPr>
              <a:t>PEMDAS</a:t>
            </a:r>
          </a:p>
        </p:txBody>
      </p:sp>
      <p:sp>
        <p:nvSpPr>
          <p:cNvPr id="43013" name="WordArt 5"/>
          <p:cNvSpPr>
            <a:spLocks noChangeArrowheads="1" noChangeShapeType="1" noTextEdit="1"/>
          </p:cNvSpPr>
          <p:nvPr/>
        </p:nvSpPr>
        <p:spPr bwMode="auto">
          <a:xfrm>
            <a:off x="1828800" y="4419600"/>
            <a:ext cx="7010400" cy="2057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Please Excuse My Dear Aunt Sally.</a:t>
            </a:r>
          </a:p>
          <a:p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Painted Elephants March Down Alley Sidewalks.</a:t>
            </a:r>
          </a:p>
        </p:txBody>
      </p:sp>
      <p:pic>
        <p:nvPicPr>
          <p:cNvPr id="43014" name="Picture 2" descr="C:\Users\johnschram\AppData\Local\Microsoft\Windows\Temporary Internet Files\Content.IE5\0T87347Y\MC90033268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875" y="1924050"/>
            <a:ext cx="14065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84768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 smtClean="0">
                <a:latin typeface="Times New Roman" pitchFamily="18" charset="0"/>
              </a:rPr>
              <a:t>// Java0320.java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// This program demonstrates mathematical precedence in Java operations.</a:t>
            </a:r>
          </a:p>
          <a:p>
            <a:pPr eaLnBrk="1" hangingPunct="1"/>
            <a:endParaRPr lang="en-US" sz="1200" dirty="0" smtClean="0">
              <a:latin typeface="Times New Roman" pitchFamily="18" charset="0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public class Java0320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public static void main (String </a:t>
            </a:r>
            <a:r>
              <a:rPr lang="en-US" dirty="0" err="1" smtClean="0">
                <a:latin typeface="Times New Roman" pitchFamily="18" charset="0"/>
              </a:rPr>
              <a:t>args</a:t>
            </a:r>
            <a:r>
              <a:rPr lang="en-US" dirty="0" smtClean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	double a, b, c, result;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	a = 1000;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	b = 100;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	c = 2.5;</a:t>
            </a:r>
          </a:p>
          <a:p>
            <a:pPr eaLnBrk="1" hangingPunct="1"/>
            <a:endParaRPr lang="en-US" sz="1200" dirty="0" smtClean="0">
              <a:latin typeface="Times New Roman" pitchFamily="18" charset="0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("a = " + a + "  b = " + b + "  c = " + c);</a:t>
            </a:r>
          </a:p>
          <a:p>
            <a:pPr eaLnBrk="1" hangingPunct="1"/>
            <a:r>
              <a:rPr lang="en-US" sz="2000" b="0" dirty="0" smtClean="0">
                <a:latin typeface="Arial Black" pitchFamily="34" charset="0"/>
              </a:rPr>
              <a:t>		result = a + b * c;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("\</a:t>
            </a:r>
            <a:r>
              <a:rPr lang="en-US" dirty="0" err="1" smtClean="0">
                <a:latin typeface="Times New Roman" pitchFamily="18" charset="0"/>
              </a:rPr>
              <a:t>na</a:t>
            </a:r>
            <a:r>
              <a:rPr lang="en-US" dirty="0" smtClean="0">
                <a:latin typeface="Times New Roman" pitchFamily="18" charset="0"/>
              </a:rPr>
              <a:t> + b * c   = " + result);</a:t>
            </a:r>
          </a:p>
          <a:p>
            <a:pPr eaLnBrk="1" hangingPunct="1"/>
            <a:r>
              <a:rPr lang="en-US" sz="2000" b="0" dirty="0" smtClean="0">
                <a:latin typeface="Arial Black" pitchFamily="34" charset="0"/>
              </a:rPr>
              <a:t>		result = (a + b) * c;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("\n(a + b) * c = " + result);</a:t>
            </a:r>
          </a:p>
          <a:p>
            <a:pPr eaLnBrk="1" hangingPunct="1"/>
            <a:r>
              <a:rPr lang="en-US" sz="2000" b="0" dirty="0" smtClean="0">
                <a:latin typeface="Arial Black" pitchFamily="34" charset="0"/>
              </a:rPr>
              <a:t>		result = a / b * c;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("\</a:t>
            </a:r>
            <a:r>
              <a:rPr lang="en-US" dirty="0" err="1" smtClean="0">
                <a:latin typeface="Times New Roman" pitchFamily="18" charset="0"/>
              </a:rPr>
              <a:t>na</a:t>
            </a:r>
            <a:r>
              <a:rPr lang="en-US" dirty="0" smtClean="0">
                <a:latin typeface="Times New Roman" pitchFamily="18" charset="0"/>
              </a:rPr>
              <a:t> / b * c   = " + result);</a:t>
            </a:r>
          </a:p>
          <a:p>
            <a:pPr eaLnBrk="1" hangingPunct="1"/>
            <a:r>
              <a:rPr lang="en-US" sz="2000" b="0" dirty="0" smtClean="0">
                <a:latin typeface="Arial Black" pitchFamily="34" charset="0"/>
              </a:rPr>
              <a:t>		result = a / (b * c);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 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("\</a:t>
            </a:r>
            <a:r>
              <a:rPr lang="en-US" dirty="0" err="1" smtClean="0">
                <a:latin typeface="Times New Roman" pitchFamily="18" charset="0"/>
              </a:rPr>
              <a:t>na</a:t>
            </a:r>
            <a:r>
              <a:rPr lang="en-US" dirty="0" smtClean="0">
                <a:latin typeface="Times New Roman" pitchFamily="18" charset="0"/>
              </a:rPr>
              <a:t> / (b * c) = " + result);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</a:rPr>
              <a:t> 		</a:t>
            </a:r>
            <a:r>
              <a:rPr lang="en-US" dirty="0" err="1" smtClean="0">
                <a:latin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0000"/>
              </a:lnSpc>
            </a:pPr>
            <a:r>
              <a:rPr lang="en-US" dirty="0" smtClean="0">
                <a:latin typeface="Times New Roman" pitchFamily="18" charset="0"/>
              </a:rPr>
              <a:t>   	}</a:t>
            </a:r>
          </a:p>
          <a:p>
            <a:pPr eaLnBrk="1" hangingPunct="1">
              <a:lnSpc>
                <a:spcPct val="80000"/>
              </a:lnSpc>
            </a:pPr>
            <a:r>
              <a:rPr lang="en-US" dirty="0" smtClean="0">
                <a:latin typeface="Times New Roman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6600" y="0"/>
            <a:ext cx="5867400" cy="3416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= 1000.0  b = 100.0  c = 2.5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+ b * c 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1250.0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(a + b) * c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2750.0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/ b * c 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25.0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/ (b * c)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4.0</a:t>
            </a:r>
          </a:p>
        </p:txBody>
      </p:sp>
    </p:spTree>
    <p:extLst>
      <p:ext uri="{BB962C8B-B14F-4D97-AF65-F5344CB8AC3E}">
        <p14:creationId xmlns:p14="http://schemas.microsoft.com/office/powerpoint/2010/main" val="1827809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3.12</a:t>
            </a:r>
          </a:p>
        </p:txBody>
      </p:sp>
      <p:sp>
        <p:nvSpPr>
          <p:cNvPr id="51203" name="WordArt 2"/>
          <p:cNvSpPr>
            <a:spLocks noChangeArrowheads="1" noChangeShapeType="1" noTextEdit="1"/>
          </p:cNvSpPr>
          <p:nvPr/>
        </p:nvSpPr>
        <p:spPr bwMode="auto">
          <a:xfrm>
            <a:off x="2362200" y="1752600"/>
            <a:ext cx="4343400" cy="21336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7699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Type</a:t>
            </a:r>
          </a:p>
        </p:txBody>
      </p:sp>
      <p:sp>
        <p:nvSpPr>
          <p:cNvPr id="51204" name="WordArt 2"/>
          <p:cNvSpPr>
            <a:spLocks noChangeArrowheads="1" noChangeShapeType="1" noTextEdit="1"/>
          </p:cNvSpPr>
          <p:nvPr/>
        </p:nvSpPr>
        <p:spPr bwMode="auto">
          <a:xfrm>
            <a:off x="457200" y="3962400"/>
            <a:ext cx="8382000" cy="2590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Casting</a:t>
            </a:r>
          </a:p>
        </p:txBody>
      </p:sp>
    </p:spTree>
    <p:extLst>
      <p:ext uri="{BB962C8B-B14F-4D97-AF65-F5344CB8AC3E}">
        <p14:creationId xmlns:p14="http://schemas.microsoft.com/office/powerpoint/2010/main" val="5814989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9727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</a:t>
            </a:r>
            <a:r>
              <a:rPr lang="en-US" sz="2200" dirty="0" smtClean="0">
                <a:latin typeface="Times New Roman" pitchFamily="18" charset="0"/>
              </a:rPr>
              <a:t>Java0321.java</a:t>
            </a: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This program demonstrates that the intended computation may not be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performed by Java.  The expression on the right side of the assignment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operator is performed without knowledge of the type on the left side</a:t>
            </a:r>
            <a:r>
              <a:rPr lang="en-US" sz="2200" dirty="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110000"/>
              </a:lnSpc>
            </a:pPr>
            <a:endParaRPr lang="en-US" sz="28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public class </a:t>
            </a:r>
            <a:r>
              <a:rPr lang="en-US" sz="2200" dirty="0" smtClean="0">
                <a:latin typeface="Times New Roman" pitchFamily="18" charset="0"/>
              </a:rPr>
              <a:t>Java0321</a:t>
            </a:r>
            <a:endParaRPr lang="en-US" sz="2200" dirty="0">
              <a:latin typeface="Times New Roman" pitchFamily="18" charset="0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public static void main (String </a:t>
            </a:r>
            <a:r>
              <a:rPr lang="en-US" sz="2200" dirty="0" err="1">
                <a:latin typeface="Times New Roman" pitchFamily="18" charset="0"/>
              </a:rPr>
              <a:t>args</a:t>
            </a:r>
            <a:r>
              <a:rPr lang="en-US" sz="22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nr1 = 1000;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nr2 = 3000;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nr3 = 6000;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0" dirty="0">
                <a:latin typeface="Arial Black" pitchFamily="34" charset="0"/>
              </a:rPr>
              <a:t>		double mean;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0" dirty="0">
                <a:latin typeface="Arial Black" pitchFamily="34" charset="0"/>
              </a:rPr>
              <a:t>		mean = (nr1 + nr2 + nr3) / 3;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("The mean equals:  " + mean);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 smtClean="0">
                <a:latin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120825"/>
            <a:ext cx="91440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The mean equals:  3333.0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5715000" y="228600"/>
            <a:ext cx="3330665" cy="5250180"/>
            <a:chOff x="5715000" y="228600"/>
            <a:chExt cx="3330665" cy="5250180"/>
          </a:xfrm>
        </p:grpSpPr>
        <p:pic>
          <p:nvPicPr>
            <p:cNvPr id="20" name="Picture 13" descr="C:\Users\JohnSchram\AppData\Local\Microsoft\Windows\Temporary Internet Files\Content.IE5\HBCMQ2SU\MC900434389[1].wm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228600"/>
              <a:ext cx="3330665" cy="5250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5824728" y="594360"/>
              <a:ext cx="27432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Why is</a:t>
              </a:r>
            </a:p>
            <a:p>
              <a:pPr algn="ctr"/>
              <a:r>
                <a:rPr lang="en-US" sz="2800" dirty="0" smtClean="0"/>
                <a:t>the answer an</a:t>
              </a:r>
            </a:p>
            <a:p>
              <a:pPr algn="ctr"/>
              <a:r>
                <a:rPr lang="en-US" sz="2800" dirty="0" smtClean="0"/>
                <a:t>integer?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46676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9727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</a:t>
            </a:r>
            <a:r>
              <a:rPr lang="en-US" sz="2200" dirty="0" smtClean="0">
                <a:latin typeface="Times New Roman" pitchFamily="18" charset="0"/>
              </a:rPr>
              <a:t>Java0321.java</a:t>
            </a: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This program demonstrates that the intended computation may not be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performed by Java.  The expression on the right side of the assignment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operator is performed without knowledge of the type on the left side</a:t>
            </a:r>
            <a:r>
              <a:rPr lang="en-US" sz="2200" dirty="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110000"/>
              </a:lnSpc>
            </a:pPr>
            <a:endParaRPr lang="en-US" sz="28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public class </a:t>
            </a:r>
            <a:r>
              <a:rPr lang="en-US" sz="2200" dirty="0" smtClean="0">
                <a:latin typeface="Times New Roman" pitchFamily="18" charset="0"/>
              </a:rPr>
              <a:t>Java0321</a:t>
            </a:r>
            <a:endParaRPr lang="en-US" sz="2200" dirty="0">
              <a:latin typeface="Times New Roman" pitchFamily="18" charset="0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public static void main (String </a:t>
            </a:r>
            <a:r>
              <a:rPr lang="en-US" sz="2200" dirty="0" err="1">
                <a:latin typeface="Times New Roman" pitchFamily="18" charset="0"/>
              </a:rPr>
              <a:t>args</a:t>
            </a:r>
            <a:r>
              <a:rPr lang="en-US" sz="22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nr1 = 1000;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nr2 = 3000;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nr3 = 6000;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0" dirty="0">
                <a:latin typeface="Arial Black" pitchFamily="34" charset="0"/>
              </a:rPr>
              <a:t>		double mean;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0" dirty="0">
                <a:latin typeface="Arial Black" pitchFamily="34" charset="0"/>
              </a:rPr>
              <a:t>		mean = </a:t>
            </a:r>
            <a:r>
              <a:rPr lang="en-US" sz="2400" b="0" dirty="0">
                <a:solidFill>
                  <a:srgbClr val="00B050"/>
                </a:solidFill>
                <a:latin typeface="Arial Black" pitchFamily="34" charset="0"/>
              </a:rPr>
              <a:t>(nr1 + nr2 + nr3) </a:t>
            </a:r>
            <a:r>
              <a:rPr lang="en-US" sz="2400" b="0" dirty="0">
                <a:latin typeface="Arial Black" pitchFamily="34" charset="0"/>
              </a:rPr>
              <a:t>/ 3;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("The mean equals:  " + mean);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 smtClean="0">
                <a:latin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953000" y="3617893"/>
            <a:ext cx="4191000" cy="954107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 smtClean="0">
                <a:cs typeface="Arial" charset="0"/>
              </a:rPr>
              <a:t>The sum of 3 integers is an integer.</a:t>
            </a:r>
            <a:endParaRPr lang="en-US" dirty="0"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120825"/>
            <a:ext cx="91440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The mean equals:  3333.0</a:t>
            </a:r>
          </a:p>
        </p:txBody>
      </p:sp>
    </p:spTree>
    <p:extLst>
      <p:ext uri="{BB962C8B-B14F-4D97-AF65-F5344CB8AC3E}">
        <p14:creationId xmlns:p14="http://schemas.microsoft.com/office/powerpoint/2010/main" val="10688698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9727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</a:t>
            </a:r>
            <a:r>
              <a:rPr lang="en-US" sz="2200" dirty="0" smtClean="0">
                <a:latin typeface="Times New Roman" pitchFamily="18" charset="0"/>
              </a:rPr>
              <a:t>Java0321.java</a:t>
            </a: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This program demonstrates that the intended computation may not be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performed by Java.  The expression on the right side of the assignment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operator is performed without knowledge of the type on the left side</a:t>
            </a:r>
            <a:r>
              <a:rPr lang="en-US" sz="2200" dirty="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110000"/>
              </a:lnSpc>
            </a:pPr>
            <a:endParaRPr lang="en-US" sz="28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public class </a:t>
            </a:r>
            <a:r>
              <a:rPr lang="en-US" sz="2200" dirty="0" smtClean="0">
                <a:latin typeface="Times New Roman" pitchFamily="18" charset="0"/>
              </a:rPr>
              <a:t>Java0321</a:t>
            </a:r>
            <a:endParaRPr lang="en-US" sz="2200" dirty="0">
              <a:latin typeface="Times New Roman" pitchFamily="18" charset="0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public static void main (String </a:t>
            </a:r>
            <a:r>
              <a:rPr lang="en-US" sz="2200" dirty="0" err="1">
                <a:latin typeface="Times New Roman" pitchFamily="18" charset="0"/>
              </a:rPr>
              <a:t>args</a:t>
            </a:r>
            <a:r>
              <a:rPr lang="en-US" sz="22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nr1 = 1000;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nr2 = 3000;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nr3 = 6000;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0" dirty="0">
                <a:latin typeface="Arial Black" pitchFamily="34" charset="0"/>
              </a:rPr>
              <a:t>		double mean;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0" dirty="0">
                <a:latin typeface="Arial Black" pitchFamily="34" charset="0"/>
              </a:rPr>
              <a:t>		mean = </a:t>
            </a:r>
            <a:r>
              <a:rPr lang="en-US" sz="2400" b="0" dirty="0">
                <a:solidFill>
                  <a:srgbClr val="00B050"/>
                </a:solidFill>
                <a:latin typeface="Arial Black" pitchFamily="34" charset="0"/>
              </a:rPr>
              <a:t>(nr1 + nr2 + nr3) / 3</a:t>
            </a:r>
            <a:r>
              <a:rPr lang="en-US" sz="2400" b="0" dirty="0">
                <a:latin typeface="Arial Black" pitchFamily="34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("The mean equals:  " + mean);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 smtClean="0">
                <a:latin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343400" y="3352800"/>
            <a:ext cx="4800600" cy="1384995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 smtClean="0">
                <a:cs typeface="Arial" charset="0"/>
              </a:rPr>
              <a:t>When an integer is divided by another integer, you get </a:t>
            </a:r>
            <a:r>
              <a:rPr lang="en-US" sz="2800" i="1" dirty="0" smtClean="0">
                <a:cs typeface="Arial" charset="0"/>
              </a:rPr>
              <a:t>integer quotient division</a:t>
            </a:r>
            <a:r>
              <a:rPr lang="en-US" sz="2800" dirty="0" smtClean="0">
                <a:cs typeface="Arial" charset="0"/>
              </a:rPr>
              <a:t>.</a:t>
            </a:r>
            <a:endParaRPr lang="en-US" dirty="0"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120825"/>
            <a:ext cx="91440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The mean equals:  3333.0</a:t>
            </a:r>
          </a:p>
        </p:txBody>
      </p:sp>
    </p:spTree>
    <p:extLst>
      <p:ext uri="{BB962C8B-B14F-4D97-AF65-F5344CB8AC3E}">
        <p14:creationId xmlns:p14="http://schemas.microsoft.com/office/powerpoint/2010/main" val="29177695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6498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</a:t>
            </a:r>
            <a:r>
              <a:rPr lang="en-US" sz="2200" dirty="0" smtClean="0">
                <a:latin typeface="Times New Roman" pitchFamily="18" charset="0"/>
              </a:rPr>
              <a:t>Java0321.java</a:t>
            </a:r>
            <a:endParaRPr lang="en-US" sz="22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This program demonstrates that the intended computation may not be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performed by Java.  The expression on the right side of the assignment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// operator is performed without knowledge of the type on the left side</a:t>
            </a:r>
            <a:r>
              <a:rPr lang="en-US" sz="2200" dirty="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110000"/>
              </a:lnSpc>
            </a:pPr>
            <a:endParaRPr lang="en-US" sz="28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public class </a:t>
            </a:r>
            <a:r>
              <a:rPr lang="en-US" sz="2200" dirty="0" smtClean="0">
                <a:latin typeface="Times New Roman" pitchFamily="18" charset="0"/>
              </a:rPr>
              <a:t>Java0321</a:t>
            </a:r>
            <a:endParaRPr lang="en-US" sz="2200" dirty="0">
              <a:latin typeface="Times New Roman" pitchFamily="18" charset="0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public static void main (String </a:t>
            </a:r>
            <a:r>
              <a:rPr lang="en-US" sz="2200" dirty="0" err="1">
                <a:latin typeface="Times New Roman" pitchFamily="18" charset="0"/>
              </a:rPr>
              <a:t>args</a:t>
            </a:r>
            <a:r>
              <a:rPr lang="en-US" sz="22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nr1 = 1000;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nr2 = 3000;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</a:rPr>
              <a:t> nr3 = 6000;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0" dirty="0">
                <a:latin typeface="Arial Black" pitchFamily="34" charset="0"/>
              </a:rPr>
              <a:t>		</a:t>
            </a:r>
            <a:r>
              <a:rPr lang="en-US" sz="2400" b="0" dirty="0">
                <a:solidFill>
                  <a:srgbClr val="00B050"/>
                </a:solidFill>
                <a:latin typeface="Arial Black" pitchFamily="34" charset="0"/>
              </a:rPr>
              <a:t>double mean;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0" dirty="0">
                <a:solidFill>
                  <a:srgbClr val="00B050"/>
                </a:solidFill>
                <a:latin typeface="Arial Black" pitchFamily="34" charset="0"/>
              </a:rPr>
              <a:t>		mean </a:t>
            </a:r>
            <a:r>
              <a:rPr lang="en-US" sz="2400" b="0" dirty="0">
                <a:latin typeface="Arial Black" pitchFamily="34" charset="0"/>
              </a:rPr>
              <a:t>= (nr1 + nr2 + nr3) / 3;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("The mean equals:  " + mean);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110000"/>
              </a:lnSpc>
            </a:pPr>
            <a:r>
              <a:rPr lang="en-US" sz="2200" dirty="0" smtClean="0">
                <a:latin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505200" y="3124200"/>
            <a:ext cx="5638800" cy="1677895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</a:pPr>
            <a:r>
              <a:rPr lang="en-US" sz="2800" dirty="0" smtClean="0">
                <a:cs typeface="Arial" charset="0"/>
              </a:rPr>
              <a:t>The fact that </a:t>
            </a:r>
            <a:r>
              <a:rPr lang="en-US" sz="2800" b="0" dirty="0" smtClean="0">
                <a:latin typeface="Arial Black" pitchFamily="34" charset="0"/>
                <a:cs typeface="Arial" charset="0"/>
              </a:rPr>
              <a:t>mean</a:t>
            </a:r>
            <a:r>
              <a:rPr lang="en-US" sz="2800" dirty="0" smtClean="0">
                <a:cs typeface="Arial" charset="0"/>
              </a:rPr>
              <a:t> is a </a:t>
            </a:r>
            <a:r>
              <a:rPr lang="en-US" sz="2800" b="0" dirty="0" smtClean="0">
                <a:latin typeface="Arial Black" pitchFamily="34" charset="0"/>
                <a:cs typeface="Arial" charset="0"/>
              </a:rPr>
              <a:t>double</a:t>
            </a:r>
            <a:r>
              <a:rPr lang="en-US" sz="2800" dirty="0" smtClean="0">
                <a:cs typeface="Arial" charset="0"/>
              </a:rPr>
              <a:t> has </a:t>
            </a:r>
            <a:r>
              <a:rPr lang="en-US" sz="2800" u="sng" dirty="0" smtClean="0">
                <a:cs typeface="Arial" charset="0"/>
              </a:rPr>
              <a:t>absolutely NO effect </a:t>
            </a:r>
            <a:r>
              <a:rPr lang="en-US" sz="2800" dirty="0" smtClean="0">
                <a:cs typeface="Arial" charset="0"/>
              </a:rPr>
              <a:t>on the calculations which take place on the other side of the </a:t>
            </a:r>
            <a:r>
              <a:rPr lang="en-US" sz="2800" b="0" dirty="0" smtClean="0">
                <a:latin typeface="Arial Black" pitchFamily="34" charset="0"/>
                <a:cs typeface="Arial" charset="0"/>
              </a:rPr>
              <a:t>=</a:t>
            </a:r>
            <a:r>
              <a:rPr lang="en-US" sz="2800" dirty="0" smtClean="0">
                <a:cs typeface="Arial" charset="0"/>
              </a:rPr>
              <a:t> sign.</a:t>
            </a:r>
            <a:endParaRPr lang="en-US" dirty="0"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120825"/>
            <a:ext cx="91440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The mean equals:  3333.0</a:t>
            </a:r>
          </a:p>
        </p:txBody>
      </p:sp>
    </p:spTree>
    <p:extLst>
      <p:ext uri="{BB962C8B-B14F-4D97-AF65-F5344CB8AC3E}">
        <p14:creationId xmlns:p14="http://schemas.microsoft.com/office/powerpoint/2010/main" val="13629067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11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sz="2400" dirty="0">
                <a:latin typeface="Times New Roman" pitchFamily="18" charset="0"/>
              </a:rPr>
              <a:t>// </a:t>
            </a:r>
            <a:r>
              <a:rPr lang="en-US" sz="2400" dirty="0" smtClean="0">
                <a:latin typeface="Times New Roman" pitchFamily="18" charset="0"/>
              </a:rPr>
              <a:t>Java0322.java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sz="2400" dirty="0">
                <a:latin typeface="Times New Roman" pitchFamily="18" charset="0"/>
              </a:rPr>
              <a:t>// This program corrects the logic error of </a:t>
            </a:r>
            <a:r>
              <a:rPr lang="en-US" sz="2400" dirty="0" smtClean="0">
                <a:latin typeface="Times New Roman" pitchFamily="18" charset="0"/>
              </a:rPr>
              <a:t>Java0321.java</a:t>
            </a:r>
            <a:r>
              <a:rPr lang="en-US" sz="2400" dirty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dirty="0">
                <a:latin typeface="Times New Roman" pitchFamily="18" charset="0"/>
              </a:rPr>
              <a:t>// Type casting is used to "force" real number </a:t>
            </a:r>
            <a:r>
              <a:rPr lang="en-US" sz="2400" dirty="0" smtClean="0">
                <a:latin typeface="Times New Roman" pitchFamily="18" charset="0"/>
              </a:rPr>
              <a:t>quotient division.</a:t>
            </a: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 </a:t>
            </a: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7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public </a:t>
            </a:r>
            <a:r>
              <a:rPr lang="en-US" sz="2400" dirty="0">
                <a:latin typeface="Times New Roman" pitchFamily="18" charset="0"/>
              </a:rPr>
              <a:t>class </a:t>
            </a:r>
            <a:r>
              <a:rPr lang="en-US" sz="2400" dirty="0" smtClean="0">
                <a:latin typeface="Times New Roman" pitchFamily="18" charset="0"/>
              </a:rPr>
              <a:t>Java0322</a:t>
            </a: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public static void main (String </a:t>
            </a:r>
            <a:r>
              <a:rPr lang="en-US" sz="2400" dirty="0" err="1">
                <a:latin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</a:rPr>
              <a:t> nr1 = 1000;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</a:rPr>
              <a:t> nr2 = 3000;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</a:rPr>
              <a:t> nr3 = 6000;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double mean;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mean = </a:t>
            </a:r>
            <a:r>
              <a:rPr lang="en-US" sz="2400" b="0" dirty="0">
                <a:latin typeface="Arial Black" pitchFamily="34" charset="0"/>
              </a:rPr>
              <a:t>(double)</a:t>
            </a:r>
            <a:r>
              <a:rPr lang="en-US" sz="2400" dirty="0">
                <a:latin typeface="Times New Roman" pitchFamily="18" charset="0"/>
              </a:rPr>
              <a:t> (nr1 + nr2 + nr3) / 3;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("The mean equals:  " + mean);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120825"/>
            <a:ext cx="91440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The mean equals:  3333.3333333333335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</a:rPr>
              <a:t>Java0323.java</a:t>
            </a:r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demonstrates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"type casting" between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different data types.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</a:t>
            </a:r>
            <a:r>
              <a:rPr lang="en-US" sz="2000" dirty="0" smtClean="0">
                <a:latin typeface="Times New Roman" pitchFamily="18" charset="0"/>
              </a:rPr>
              <a:t>Java0323</a:t>
            </a:r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 (String </a:t>
            </a:r>
            <a:r>
              <a:rPr lang="en-US" sz="2000" dirty="0" err="1">
                <a:latin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intVal</a:t>
            </a:r>
            <a:r>
              <a:rPr lang="en-US" sz="2000" dirty="0">
                <a:latin typeface="Times New Roman" pitchFamily="18" charset="0"/>
              </a:rPr>
              <a:t>    = 65;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double </a:t>
            </a:r>
            <a:r>
              <a:rPr lang="en-US" sz="2000" dirty="0" err="1">
                <a:latin typeface="Times New Roman" pitchFamily="18" charset="0"/>
              </a:rPr>
              <a:t>dblVal</a:t>
            </a:r>
            <a:r>
              <a:rPr lang="en-US" sz="2000" dirty="0">
                <a:latin typeface="Times New Roman" pitchFamily="18" charset="0"/>
              </a:rPr>
              <a:t> = 70.1;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char </a:t>
            </a:r>
            <a:r>
              <a:rPr lang="en-US" sz="2000" dirty="0" err="1">
                <a:latin typeface="Times New Roman" pitchFamily="18" charset="0"/>
              </a:rPr>
              <a:t>chrVal</a:t>
            </a:r>
            <a:r>
              <a:rPr lang="en-US" sz="2000" dirty="0">
                <a:latin typeface="Times New Roman" pitchFamily="18" charset="0"/>
              </a:rPr>
              <a:t>  = 'B';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      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("(double) 	</a:t>
            </a:r>
            <a:r>
              <a:rPr lang="en-US" sz="2000" dirty="0" err="1">
                <a:latin typeface="Times New Roman" pitchFamily="18" charset="0"/>
              </a:rPr>
              <a:t>intVal</a:t>
            </a:r>
            <a:r>
              <a:rPr lang="en-US" sz="2000" dirty="0">
                <a:latin typeface="Times New Roman" pitchFamily="18" charset="0"/>
              </a:rPr>
              <a:t> 65 	becomes " + (double) </a:t>
            </a:r>
            <a:r>
              <a:rPr lang="en-US" sz="2000" dirty="0" err="1">
                <a:latin typeface="Times New Roman" pitchFamily="18" charset="0"/>
              </a:rPr>
              <a:t>intVal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("(char)   	</a:t>
            </a:r>
            <a:r>
              <a:rPr lang="en-US" sz="2000" dirty="0" err="1">
                <a:latin typeface="Times New Roman" pitchFamily="18" charset="0"/>
              </a:rPr>
              <a:t>intVal</a:t>
            </a:r>
            <a:r>
              <a:rPr lang="en-US" sz="2000" dirty="0">
                <a:latin typeface="Times New Roman" pitchFamily="18" charset="0"/>
              </a:rPr>
              <a:t> 65   	becomes " + (char) </a:t>
            </a:r>
            <a:r>
              <a:rPr lang="en-US" sz="2000" dirty="0" err="1">
                <a:latin typeface="Times New Roman" pitchFamily="18" charset="0"/>
              </a:rPr>
              <a:t>intVal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("(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)    	</a:t>
            </a:r>
            <a:r>
              <a:rPr lang="en-US" sz="2000" dirty="0" err="1">
                <a:latin typeface="Times New Roman" pitchFamily="18" charset="0"/>
              </a:rPr>
              <a:t>dblVal</a:t>
            </a:r>
            <a:r>
              <a:rPr lang="en-US" sz="2000" dirty="0">
                <a:latin typeface="Times New Roman" pitchFamily="18" charset="0"/>
              </a:rPr>
              <a:t> 70.1 	becomes " + (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) </a:t>
            </a:r>
            <a:r>
              <a:rPr lang="en-US" sz="2000" dirty="0" err="1">
                <a:latin typeface="Times New Roman" pitchFamily="18" charset="0"/>
              </a:rPr>
              <a:t>dblVal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("(char)   	</a:t>
            </a:r>
            <a:r>
              <a:rPr lang="en-US" sz="2000" dirty="0" err="1">
                <a:latin typeface="Times New Roman" pitchFamily="18" charset="0"/>
              </a:rPr>
              <a:t>dblVal</a:t>
            </a:r>
            <a:r>
              <a:rPr lang="en-US" sz="2000" dirty="0">
                <a:latin typeface="Times New Roman" pitchFamily="18" charset="0"/>
              </a:rPr>
              <a:t> 70.1 	becomes " + (char) </a:t>
            </a:r>
            <a:r>
              <a:rPr lang="en-US" sz="2000" dirty="0" err="1">
                <a:latin typeface="Times New Roman" pitchFamily="18" charset="0"/>
              </a:rPr>
              <a:t>dblVal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("(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)    	</a:t>
            </a:r>
            <a:r>
              <a:rPr lang="en-US" sz="2000" dirty="0" err="1">
                <a:latin typeface="Times New Roman" pitchFamily="18" charset="0"/>
              </a:rPr>
              <a:t>chrVal</a:t>
            </a:r>
            <a:r>
              <a:rPr lang="en-US" sz="2000" dirty="0">
                <a:latin typeface="Times New Roman" pitchFamily="18" charset="0"/>
              </a:rPr>
              <a:t> B  	becomes " + (</a:t>
            </a:r>
            <a:r>
              <a:rPr lang="en-US" sz="2000" dirty="0" err="1">
                <a:latin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</a:rPr>
              <a:t>) </a:t>
            </a:r>
            <a:r>
              <a:rPr lang="en-US" sz="2000" dirty="0" err="1">
                <a:latin typeface="Times New Roman" pitchFamily="18" charset="0"/>
              </a:rPr>
              <a:t>chrVal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("(double) 	</a:t>
            </a:r>
            <a:r>
              <a:rPr lang="en-US" sz="2000" dirty="0" err="1">
                <a:latin typeface="Times New Roman" pitchFamily="18" charset="0"/>
              </a:rPr>
              <a:t>chrVal</a:t>
            </a:r>
            <a:r>
              <a:rPr lang="en-US" sz="2000" dirty="0">
                <a:latin typeface="Times New Roman" pitchFamily="18" charset="0"/>
              </a:rPr>
              <a:t> B 	becomes " + (double) </a:t>
            </a:r>
            <a:r>
              <a:rPr lang="en-US" sz="2000" dirty="0" err="1">
                <a:latin typeface="Times New Roman" pitchFamily="18" charset="0"/>
              </a:rPr>
              <a:t>chrVal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}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3352800" y="0"/>
            <a:ext cx="579120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double) </a:t>
            </a:r>
            <a:r>
              <a:rPr lang="en-US" sz="2400" spc="-1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intVal</a:t>
            </a:r>
            <a:r>
              <a:rPr lang="en-US" sz="24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65   </a:t>
            </a:r>
            <a:r>
              <a:rPr lang="en-US" sz="24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becomes 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65.0</a:t>
            </a:r>
          </a:p>
          <a:p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char)   </a:t>
            </a:r>
            <a:r>
              <a:rPr lang="en-US" sz="2400" spc="-15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intVal</a:t>
            </a:r>
            <a:r>
              <a:rPr lang="en-US" sz="24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65   </a:t>
            </a:r>
            <a:r>
              <a:rPr lang="en-US" sz="24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becomes 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spc="-1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r>
              <a:rPr lang="en-US" sz="2400" spc="-1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dblVal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 70.1 </a:t>
            </a:r>
            <a:r>
              <a:rPr lang="en-US" sz="2400" spc="-1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becomes 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</a:p>
          <a:p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(char)   </a:t>
            </a:r>
            <a:r>
              <a:rPr lang="en-US" sz="2400" spc="-1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dblVal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 70.1  becomes F</a:t>
            </a:r>
          </a:p>
          <a:p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spc="-1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r>
              <a:rPr lang="en-US" sz="2400" spc="-1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chrVal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 B     becomes 66</a:t>
            </a:r>
          </a:p>
          <a:p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(double) </a:t>
            </a:r>
            <a:r>
              <a:rPr lang="en-US" sz="2400" spc="-1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chrVal</a:t>
            </a:r>
            <a:r>
              <a:rPr lang="en-US" sz="2400" spc="-150" dirty="0">
                <a:latin typeface="Courier New" panose="02070309020205020404" pitchFamily="49" charset="0"/>
                <a:cs typeface="Courier New" panose="02070309020205020404" pitchFamily="49" charset="0"/>
              </a:rPr>
              <a:t> B     becomes 66.0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  <a:tab pos="1827213" algn="l"/>
                <a:tab pos="2293938" algn="l"/>
                <a:tab pos="4232275" algn="l"/>
                <a:tab pos="5603875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Java0324.java</a:t>
            </a:r>
          </a:p>
          <a:p>
            <a:pPr eaLnBrk="1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Sequence of operations matters.</a:t>
            </a:r>
          </a:p>
          <a:p>
            <a:pPr eaLnBrk="1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Casting executes before multiplication</a:t>
            </a:r>
          </a:p>
          <a:p>
            <a:pPr eaLnBrk="1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unless parentheses are used.</a:t>
            </a:r>
          </a:p>
          <a:p>
            <a:pPr eaLnBrk="1" hangingPunct="1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Java0324</a:t>
            </a:r>
          </a:p>
          <a:p>
            <a:pPr eaLnBrk="1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 (String[]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/>
            <a:r>
              <a:rPr lang="en-US" sz="32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      </a:t>
            </a:r>
            <a:r>
              <a:rPr lang="en-US" sz="32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</a:t>
            </a:r>
            <a:r>
              <a:rPr lang="en-US" sz="3200" b="0" dirty="0" err="1" smtClean="0">
                <a:latin typeface="Arial Black" panose="020B0A04020102020204" pitchFamily="34" charset="0"/>
                <a:cs typeface="Times New Roman" panose="02020603050405020304" pitchFamily="18" charset="0"/>
              </a:rPr>
              <a:t>int</a:t>
            </a:r>
            <a:r>
              <a:rPr lang="en-US" sz="32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a = (</a:t>
            </a:r>
            <a:r>
              <a:rPr lang="en-US" sz="3200" b="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int</a:t>
            </a:r>
            <a:r>
              <a:rPr lang="en-US" sz="32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) 3.14159 * 10;</a:t>
            </a:r>
          </a:p>
          <a:p>
            <a:pPr eaLnBrk="1" hangingPunct="1"/>
            <a:r>
              <a:rPr lang="en-US" sz="32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      </a:t>
            </a:r>
            <a:r>
              <a:rPr lang="en-US" sz="32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</a:t>
            </a:r>
            <a:r>
              <a:rPr lang="en-US" sz="3200" b="0" dirty="0" err="1" smtClean="0">
                <a:latin typeface="Arial Black" panose="020B0A04020102020204" pitchFamily="34" charset="0"/>
                <a:cs typeface="Times New Roman" panose="02020603050405020304" pitchFamily="18" charset="0"/>
              </a:rPr>
              <a:t>int</a:t>
            </a:r>
            <a:r>
              <a:rPr lang="en-US" sz="32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b = (</a:t>
            </a:r>
            <a:r>
              <a:rPr lang="en-US" sz="3200" b="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int</a:t>
            </a:r>
            <a:r>
              <a:rPr lang="en-US" sz="32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) (3.14159 * 10);</a:t>
            </a:r>
          </a:p>
          <a:p>
            <a:pPr eaLnBrk="1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eaLnBrk="1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eaLnBrk="1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eaLnBrk="1" hangingPunct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06640" y="3810000"/>
            <a:ext cx="10668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endParaRPr lang="en-US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596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4522</TotalTime>
  <Words>2976</Words>
  <Application>Microsoft Macintosh PowerPoint</Application>
  <PresentationFormat>全屏显示(4:3)</PresentationFormat>
  <Paragraphs>1156</Paragraphs>
  <Slides>63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4" baseType="lpstr">
      <vt:lpstr>Default Design</vt:lpstr>
      <vt:lpstr>PowerPoint 演示文稿</vt:lpstr>
      <vt:lpstr>Java Keywords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Java Integer Data Types</vt:lpstr>
      <vt:lpstr>PowerPoint 演示文稿</vt:lpstr>
      <vt:lpstr>Integer Quotient Division Examples</vt:lpstr>
      <vt:lpstr>Integer Remainder Division Examples</vt:lpstr>
      <vt:lpstr>What do the green numbers  have in common?</vt:lpstr>
      <vt:lpstr>Flashback To  Elementary School Long Division</vt:lpstr>
      <vt:lpstr>PowerPoint 演示文稿</vt:lpstr>
      <vt:lpstr>PowerPoint 演示文稿</vt:lpstr>
      <vt:lpstr>Java Real Number Data Types/Operations</vt:lpstr>
      <vt:lpstr>What About Real # Remainder Division?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Memory Overflow Problems</vt:lpstr>
      <vt:lpstr>PowerPoint 演示文稿</vt:lpstr>
      <vt:lpstr>PowerPoint 演示文稿</vt:lpstr>
      <vt:lpstr>PowerPoint 演示文稿</vt:lpstr>
      <vt:lpstr>PowerPoint 演示文稿</vt:lpstr>
      <vt:lpstr>Java Unary Operators</vt:lpstr>
      <vt:lpstr>Proper Usage of Shortcuts</vt:lpstr>
      <vt:lpstr>PowerPoint 演示文稿</vt:lpstr>
      <vt:lpstr>Binary Operator Shortcuts</vt:lpstr>
      <vt:lpstr>PowerPoint 演示文稿</vt:lpstr>
      <vt:lpstr> Shortcut Warning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String Concatenation</vt:lpstr>
      <vt:lpstr>Don't Get Confused!</vt:lpstr>
      <vt:lpstr>PowerPoint 演示文稿</vt:lpstr>
      <vt:lpstr>PowerPoint 演示文稿</vt:lpstr>
      <vt:lpstr>AP® Exam Alert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Hidden Math Operations</vt:lpstr>
      <vt:lpstr>Mathematical Precedence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Leon Schram</Manager>
  <Company>BHS-RISD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Java Slides</dc:title>
  <dc:subject>APCS1</dc:subject>
  <dc:creator>John Schram</dc:creator>
  <cp:lastModifiedBy>BHSFIC ddd</cp:lastModifiedBy>
  <cp:revision>519</cp:revision>
  <dcterms:created xsi:type="dcterms:W3CDTF">2003-07-04T03:08:29Z</dcterms:created>
  <dcterms:modified xsi:type="dcterms:W3CDTF">2016-03-18T01:00:46Z</dcterms:modified>
</cp:coreProperties>
</file>