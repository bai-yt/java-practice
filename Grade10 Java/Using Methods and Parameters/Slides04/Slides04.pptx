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470" r:id="rId2"/>
    <p:sldId id="471" r:id="rId3"/>
    <p:sldId id="466" r:id="rId4"/>
    <p:sldId id="465" r:id="rId5"/>
    <p:sldId id="462" r:id="rId6"/>
    <p:sldId id="467" r:id="rId7"/>
    <p:sldId id="472" r:id="rId8"/>
    <p:sldId id="473" r:id="rId9"/>
    <p:sldId id="474" r:id="rId10"/>
    <p:sldId id="475" r:id="rId11"/>
    <p:sldId id="476" r:id="rId12"/>
    <p:sldId id="468" r:id="rId13"/>
    <p:sldId id="542" r:id="rId14"/>
    <p:sldId id="479" r:id="rId15"/>
    <p:sldId id="543" r:id="rId16"/>
    <p:sldId id="432" r:id="rId17"/>
    <p:sldId id="544" r:id="rId18"/>
    <p:sldId id="477" r:id="rId19"/>
    <p:sldId id="433" r:id="rId20"/>
    <p:sldId id="545" r:id="rId21"/>
    <p:sldId id="435" r:id="rId22"/>
    <p:sldId id="512" r:id="rId23"/>
    <p:sldId id="437" r:id="rId24"/>
    <p:sldId id="481" r:id="rId25"/>
    <p:sldId id="469" r:id="rId26"/>
    <p:sldId id="442" r:id="rId27"/>
    <p:sldId id="457" r:id="rId28"/>
    <p:sldId id="458" r:id="rId29"/>
    <p:sldId id="459" r:id="rId30"/>
    <p:sldId id="536" r:id="rId31"/>
    <p:sldId id="482" r:id="rId32"/>
    <p:sldId id="451" r:id="rId33"/>
    <p:sldId id="443" r:id="rId34"/>
    <p:sldId id="463" r:id="rId35"/>
    <p:sldId id="546" r:id="rId36"/>
    <p:sldId id="528" r:id="rId37"/>
    <p:sldId id="529" r:id="rId38"/>
    <p:sldId id="547" r:id="rId39"/>
    <p:sldId id="452" r:id="rId40"/>
    <p:sldId id="444" r:id="rId41"/>
    <p:sldId id="453" r:id="rId42"/>
    <p:sldId id="445" r:id="rId43"/>
    <p:sldId id="454" r:id="rId44"/>
    <p:sldId id="446" r:id="rId45"/>
    <p:sldId id="464" r:id="rId46"/>
    <p:sldId id="548" r:id="rId47"/>
    <p:sldId id="448" r:id="rId48"/>
    <p:sldId id="533" r:id="rId49"/>
    <p:sldId id="456" r:id="rId50"/>
    <p:sldId id="449" r:id="rId51"/>
    <p:sldId id="534" r:id="rId52"/>
    <p:sldId id="455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CC"/>
    <a:srgbClr val="FF99CC"/>
    <a:srgbClr val="0000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-19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interSettings" Target="printerSettings/printerSettings1.bin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58AB0-A13E-4784-9655-3268B1AF71CE}" type="datetimeFigureOut">
              <a:rPr lang="en-US" smtClean="0"/>
              <a:t>3/18/16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1D170-EE5A-4F54-8729-924281BAA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8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61D170-EE5A-4F54-8729-924281BAAA0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0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A1046-BD19-4E0F-8261-31293F55C6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8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9ED71-2EBE-4724-A3C5-CB4226FF6A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E6200-0D46-46F4-897D-AD3AE56547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7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4529C-0D1C-4384-9304-3AF5AC2124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9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0C0F9-2B22-49BD-951B-1D11627B5D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09D8B-BCF3-4CE9-A303-F02D5097A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A15EA-821D-4AD8-83B9-9A7D26FF29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5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1ABEA-FC8F-4AA1-BA1C-7D010D0D0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4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52615-AA41-408B-BC68-848C0DA2B3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68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22691-4126-45FF-B6DC-4AC68EF123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3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55195-E72F-4AB5-B2E3-228E11F4A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76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81E6F-AA77-4E0E-A11B-C685B4584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3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F7ECE8E5-227D-4243-A548-89AC62E9D0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4" Type="http://schemas.openxmlformats.org/officeDocument/2006/relationships/image" Target="../media/image3.gif"/><Relationship Id="rId5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4" Type="http://schemas.openxmlformats.org/officeDocument/2006/relationships/image" Target="../media/image9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4" Type="http://schemas.openxmlformats.org/officeDocument/2006/relationships/image" Target="../media/image12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gif"/><Relationship Id="rId3" Type="http://schemas.openxmlformats.org/officeDocument/2006/relationships/image" Target="../media/image17.g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4.1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076" name="WordArt 2"/>
          <p:cNvSpPr>
            <a:spLocks noChangeArrowheads="1" noChangeShapeType="1" noTextEdit="1"/>
          </p:cNvSpPr>
          <p:nvPr/>
        </p:nvSpPr>
        <p:spPr bwMode="auto">
          <a:xfrm>
            <a:off x="457200" y="1752600"/>
            <a:ext cx="8382000" cy="3810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41637439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304800" y="2057400"/>
            <a:ext cx="8534400" cy="462896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en-US" sz="2800" dirty="0" smtClean="0">
                <a:latin typeface="Arial" charset="0"/>
                <a:sym typeface="Symbol" pitchFamily="18" charset="2"/>
              </a:rPr>
              <a:t>Object Oriented Programming one of the main reasons we now teach 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Java</a:t>
            </a:r>
            <a:r>
              <a:rPr lang="en-US" sz="32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instead of 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C++</a:t>
            </a:r>
            <a:r>
              <a:rPr lang="en-US" sz="2800" dirty="0" smtClean="0">
                <a:latin typeface="+mn-lt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sz="2400" dirty="0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C++ 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was designed to be backwardly compatible with the original (non-OOP) 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C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 programming language.  Therefore in 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C++</a:t>
            </a:r>
            <a:r>
              <a:rPr lang="en-US" sz="2800" dirty="0" smtClean="0">
                <a:latin typeface="+mj-lt"/>
                <a:sym typeface="Symbol" pitchFamily="18" charset="2"/>
              </a:rPr>
              <a:t>,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 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OOP is </a:t>
            </a:r>
            <a:r>
              <a:rPr lang="en-US" sz="2800" u="sng" dirty="0" smtClean="0">
                <a:latin typeface="Arial" charset="0"/>
                <a:sym typeface="Symbol" pitchFamily="18" charset="2"/>
              </a:rPr>
              <a:t>optional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sz="2400" dirty="0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sz="2800" dirty="0" smtClean="0">
                <a:latin typeface="Arial" charset="0"/>
                <a:sym typeface="Symbol" pitchFamily="18" charset="2"/>
              </a:rPr>
              <a:t>In 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Java</a:t>
            </a:r>
            <a:r>
              <a:rPr lang="en-US" sz="32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OOP is </a:t>
            </a:r>
            <a:r>
              <a:rPr lang="en-US" sz="2800" u="sng" dirty="0" smtClean="0">
                <a:latin typeface="Arial" charset="0"/>
                <a:sym typeface="Symbol" pitchFamily="18" charset="2"/>
              </a:rPr>
              <a:t>required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.  The College Board wants students to learn OOP so </a:t>
            </a:r>
            <a:r>
              <a:rPr lang="en-US" sz="3200" dirty="0" smtClean="0">
                <a:latin typeface="Arial Rounded MT Bold" pitchFamily="34" charset="0"/>
                <a:sym typeface="Symbol" pitchFamily="18" charset="2"/>
              </a:rPr>
              <a:t>Java</a:t>
            </a:r>
            <a:r>
              <a:rPr lang="en-US" sz="32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800" dirty="0" smtClean="0">
                <a:latin typeface="Arial" charset="0"/>
                <a:sym typeface="Symbol" pitchFamily="18" charset="2"/>
              </a:rPr>
              <a:t>it is.</a:t>
            </a:r>
          </a:p>
        </p:txBody>
      </p:sp>
      <p:sp>
        <p:nvSpPr>
          <p:cNvPr id="5123" name="WordArt 4"/>
          <p:cNvSpPr>
            <a:spLocks noChangeArrowheads="1" noChangeShapeType="1" noTextEdit="1"/>
          </p:cNvSpPr>
          <p:nvPr/>
        </p:nvSpPr>
        <p:spPr bwMode="auto">
          <a:xfrm>
            <a:off x="304800" y="228600"/>
            <a:ext cx="8534400" cy="15716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2412"/>
              </a:avLst>
            </a:prstTxWarp>
          </a:bodyPr>
          <a:lstStyle/>
          <a:p>
            <a:pPr algn="ctr"/>
            <a:r>
              <a:rPr lang="en-US" sz="9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Java vs. C++</a:t>
            </a:r>
          </a:p>
        </p:txBody>
      </p:sp>
    </p:spTree>
    <p:extLst>
      <p:ext uri="{BB962C8B-B14F-4D97-AF65-F5344CB8AC3E}">
        <p14:creationId xmlns:p14="http://schemas.microsoft.com/office/powerpoint/2010/main" val="26737883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Program Design</a:t>
            </a: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4.2</a:t>
            </a:r>
          </a:p>
        </p:txBody>
      </p:sp>
      <p:sp>
        <p:nvSpPr>
          <p:cNvPr id="3076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 Brief History of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2057400"/>
          </a:xfrm>
        </p:spPr>
        <p:txBody>
          <a:bodyPr/>
          <a:lstStyle/>
          <a:p>
            <a:pPr eaLnBrk="1" hangingPunct="1"/>
            <a:r>
              <a:rPr lang="en-US" sz="5400" smtClean="0">
                <a:latin typeface="Arial Black" pitchFamily="34" charset="0"/>
              </a:rPr>
              <a:t>The 4 Stages of </a:t>
            </a:r>
            <a:br>
              <a:rPr lang="en-US" sz="5400" smtClean="0">
                <a:latin typeface="Arial Black" pitchFamily="34" charset="0"/>
              </a:rPr>
            </a:br>
            <a:r>
              <a:rPr lang="en-US" sz="5400" smtClean="0">
                <a:latin typeface="Arial Black" pitchFamily="34" charset="0"/>
              </a:rPr>
              <a:t>Program Design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04800" y="2127250"/>
            <a:ext cx="8534400" cy="45116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>
                <a:sym typeface="Symbol" pitchFamily="18" charset="2"/>
              </a:rPr>
              <a:t>	Cryptic Programming Stage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>
                <a:sym typeface="Symbol" pitchFamily="18" charset="2"/>
              </a:rPr>
              <a:t>	Unstructured,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>
                <a:sym typeface="Symbol" pitchFamily="18" charset="2"/>
              </a:rPr>
              <a:t>	Spaghetti-Programming Stage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>
                <a:sym typeface="Symbol" pitchFamily="18" charset="2"/>
              </a:rPr>
              <a:t>	Structured Programming Stage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>
                <a:sym typeface="Symbol" pitchFamily="18" charset="2"/>
              </a:rPr>
              <a:t>	Object Oriented Programming Stage</a:t>
            </a:r>
          </a:p>
          <a:p>
            <a:pPr eaLnBrk="1" hangingPunct="1">
              <a:lnSpc>
                <a:spcPct val="110000"/>
              </a:lnSpc>
            </a:pPr>
            <a:endParaRPr lang="en-US">
              <a:sym typeface="Symbol" pitchFamily="18" charset="2"/>
            </a:endParaRPr>
          </a:p>
        </p:txBody>
      </p:sp>
      <p:pic>
        <p:nvPicPr>
          <p:cNvPr id="4100" name="Picture 4" descr="j0254443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2209800"/>
            <a:ext cx="11334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 descr="MCBL00098_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419600"/>
            <a:ext cx="1479550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 descr="j0323756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562600"/>
            <a:ext cx="9207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 descr="j023365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13" y="2667000"/>
            <a:ext cx="1169987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590800" y="20574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30480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981200" y="40386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590800" y="50292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2057400" y="1600200"/>
            <a:ext cx="0" cy="1447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>
            <a:off x="6324600" y="2590800"/>
            <a:ext cx="4572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676400" y="10668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981200" y="60198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2209800" y="4572000"/>
            <a:ext cx="0" cy="1447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>
            <a:off x="2971800" y="2590800"/>
            <a:ext cx="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>
            <a:off x="5105400" y="4572000"/>
            <a:ext cx="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 rot="-5400000">
            <a:off x="5181600" y="44958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 flipH="1">
            <a:off x="1295400" y="3810000"/>
            <a:ext cx="5486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sz="4300" smtClean="0">
                <a:latin typeface="Arial Black" pitchFamily="34" charset="0"/>
              </a:rPr>
              <a:t>Avoid Spaghetti Programming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 rot="-5400000">
            <a:off x="-838200" y="4495800"/>
            <a:ext cx="3733800" cy="533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914400" indent="-9144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Program Statement</a:t>
            </a:r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>
            <a:off x="1295400" y="5334000"/>
            <a:ext cx="1295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38" name="Picture 18" descr="MCFD00969_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839788"/>
            <a:ext cx="2514600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First Exposure</a:t>
            </a:r>
          </a:p>
        </p:txBody>
      </p:sp>
      <p:sp>
        <p:nvSpPr>
          <p:cNvPr id="6147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4.3</a:t>
            </a:r>
          </a:p>
        </p:txBody>
      </p:sp>
      <p:sp>
        <p:nvSpPr>
          <p:cNvPr id="6148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OOP, A Gentle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304800" y="2057400"/>
            <a:ext cx="8534400" cy="471205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Arial" charset="0"/>
                <a:sym typeface="Symbol" pitchFamily="18" charset="2"/>
              </a:rPr>
              <a:t>Object Oriented Programming (OOP) is a style of programming that incorporates these 3 features:</a:t>
            </a:r>
            <a:endParaRPr lang="en-US" sz="1600" dirty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1400" dirty="0">
              <a:latin typeface="Arial" charset="0"/>
              <a:sym typeface="Symbol" pitchFamily="18" charset="2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en-US" sz="3600" i="1" dirty="0">
                <a:latin typeface="Arial" charset="0"/>
                <a:cs typeface="Arial" charset="0"/>
                <a:sym typeface="Symbol" pitchFamily="18" charset="2"/>
              </a:rPr>
              <a:t>Encapsulation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3600" i="1" dirty="0" smtClean="0">
                <a:latin typeface="Arial" charset="0"/>
                <a:cs typeface="Arial" charset="0"/>
                <a:sym typeface="Symbol" pitchFamily="18" charset="2"/>
              </a:rPr>
              <a:t>Class Interaction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3600" i="1" dirty="0" smtClean="0">
                <a:latin typeface="Arial" charset="0"/>
                <a:cs typeface="Arial" charset="0"/>
                <a:sym typeface="Symbol" pitchFamily="18" charset="2"/>
              </a:rPr>
              <a:t>Polymorphism</a:t>
            </a:r>
            <a:endParaRPr lang="en-US" sz="3600" i="1" dirty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50000"/>
              </a:lnSpc>
            </a:pPr>
            <a:endParaRPr lang="en-US" sz="2400" b="0" dirty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Arial" charset="0"/>
                <a:sym typeface="Symbol" pitchFamily="18" charset="2"/>
              </a:rPr>
              <a:t>Object Oriented Programming simulates real life by using a program style that treats a program as a group of objects. </a:t>
            </a:r>
          </a:p>
        </p:txBody>
      </p:sp>
      <p:sp>
        <p:nvSpPr>
          <p:cNvPr id="4099" name="WordArt 4"/>
          <p:cNvSpPr>
            <a:spLocks noChangeArrowheads="1" noChangeShapeType="1" noTextEdit="1"/>
          </p:cNvSpPr>
          <p:nvPr/>
        </p:nvSpPr>
        <p:spPr bwMode="auto">
          <a:xfrm>
            <a:off x="1600200" y="104775"/>
            <a:ext cx="5943600" cy="18002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2412"/>
              </a:avLst>
            </a:prstTxWarp>
          </a:bodyPr>
          <a:lstStyle/>
          <a:p>
            <a:pPr algn="ctr"/>
            <a:r>
              <a:rPr lang="en-US" sz="9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OOP</a:t>
            </a:r>
          </a:p>
        </p:txBody>
      </p:sp>
    </p:spTree>
    <p:extLst>
      <p:ext uri="{BB962C8B-B14F-4D97-AF65-F5344CB8AC3E}">
        <p14:creationId xmlns:p14="http://schemas.microsoft.com/office/powerpoint/2010/main" val="363685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3962400" cy="2209800"/>
          </a:xfrm>
        </p:spPr>
        <p:txBody>
          <a:bodyPr/>
          <a:lstStyle/>
          <a:p>
            <a:pPr eaLnBrk="1" hangingPunct="1"/>
            <a:r>
              <a:rPr lang="en-US" sz="5400" smtClean="0">
                <a:latin typeface="Arial Black" pitchFamily="34" charset="0"/>
              </a:rPr>
              <a:t>OOP Example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28600" y="2492375"/>
            <a:ext cx="7086600" cy="103981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tabLst>
                <a:tab pos="633413" algn="l"/>
              </a:tabLst>
              <a:defRPr/>
            </a:pPr>
            <a:r>
              <a:rPr lang="en-US" sz="2800" dirty="0">
                <a:latin typeface="Arial" charset="0"/>
                <a:sym typeface="Symbol" pitchFamily="18" charset="2"/>
              </a:rPr>
              <a:t>A car could be an </a:t>
            </a:r>
            <a:r>
              <a:rPr lang="en-US" sz="2800" i="1" dirty="0">
                <a:latin typeface="+mn-lt"/>
                <a:sym typeface="Symbol" pitchFamily="18" charset="2"/>
              </a:rPr>
              <a:t>object</a:t>
            </a:r>
            <a:r>
              <a:rPr lang="en-US" sz="2800" dirty="0">
                <a:latin typeface="Arial" charset="0"/>
                <a:sym typeface="Symbol" pitchFamily="18" charset="2"/>
              </a:rPr>
              <a:t> in Java.</a:t>
            </a:r>
          </a:p>
          <a:p>
            <a:pPr>
              <a:lnSpc>
                <a:spcPct val="110000"/>
              </a:lnSpc>
              <a:tabLst>
                <a:tab pos="633413" algn="l"/>
              </a:tabLst>
              <a:defRPr/>
            </a:pPr>
            <a:r>
              <a:rPr lang="en-US" sz="2800" dirty="0">
                <a:latin typeface="+mn-lt"/>
                <a:sym typeface="Symbol" pitchFamily="18" charset="2"/>
              </a:rPr>
              <a:t>Objects have </a:t>
            </a:r>
            <a:r>
              <a:rPr lang="en-US" sz="2800" i="1" dirty="0">
                <a:latin typeface="+mn-lt"/>
                <a:sym typeface="Symbol" pitchFamily="18" charset="2"/>
              </a:rPr>
              <a:t>attributes</a:t>
            </a:r>
            <a:r>
              <a:rPr lang="en-US" sz="2800" dirty="0">
                <a:latin typeface="+mn-lt"/>
                <a:sym typeface="Symbol" pitchFamily="18" charset="2"/>
              </a:rPr>
              <a:t> and </a:t>
            </a:r>
            <a:r>
              <a:rPr lang="en-US" sz="2800" i="1" dirty="0">
                <a:latin typeface="+mn-lt"/>
                <a:sym typeface="Symbol" pitchFamily="18" charset="2"/>
              </a:rPr>
              <a:t>methods.</a:t>
            </a:r>
            <a:endParaRPr lang="en-US" sz="2800" dirty="0">
              <a:latin typeface="+mn-lt"/>
              <a:sym typeface="Symbol" pitchFamily="18" charset="2"/>
            </a:endParaRPr>
          </a:p>
        </p:txBody>
      </p:sp>
      <p:pic>
        <p:nvPicPr>
          <p:cNvPr id="6148" name="Picture 9" descr="j031188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14300"/>
            <a:ext cx="48006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1703" name="Group 55"/>
          <p:cNvGraphicFramePr>
            <a:graphicFrameLocks noGrp="1"/>
          </p:cNvGraphicFramePr>
          <p:nvPr/>
        </p:nvGraphicFramePr>
        <p:xfrm>
          <a:off x="457200" y="3886200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Car Attributes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Car Methods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Make &amp; Model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of Doors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Reverse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of Seats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6169" name="WordArt 56"/>
          <p:cNvSpPr>
            <a:spLocks noChangeArrowheads="1" noChangeShapeType="1" noTextEdit="1"/>
          </p:cNvSpPr>
          <p:nvPr/>
        </p:nvSpPr>
        <p:spPr bwMode="auto">
          <a:xfrm>
            <a:off x="533400" y="4724400"/>
            <a:ext cx="1181100" cy="12858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Nouns</a:t>
            </a:r>
          </a:p>
        </p:txBody>
      </p:sp>
      <p:sp>
        <p:nvSpPr>
          <p:cNvPr id="6170" name="WordArt 57"/>
          <p:cNvSpPr>
            <a:spLocks noChangeArrowheads="1" noChangeShapeType="1" noTextEdit="1"/>
          </p:cNvSpPr>
          <p:nvPr/>
        </p:nvSpPr>
        <p:spPr bwMode="auto">
          <a:xfrm>
            <a:off x="4667250" y="4724400"/>
            <a:ext cx="1085850" cy="12858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Verbs</a:t>
            </a:r>
          </a:p>
        </p:txBody>
      </p:sp>
    </p:spTree>
    <p:extLst>
      <p:ext uri="{BB962C8B-B14F-4D97-AF65-F5344CB8AC3E}">
        <p14:creationId xmlns:p14="http://schemas.microsoft.com/office/powerpoint/2010/main" val="2635569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31" descr="pills"/>
          <p:cNvSpPr>
            <a:spLocks noChangeArrowheads="1"/>
          </p:cNvSpPr>
          <p:nvPr/>
        </p:nvSpPr>
        <p:spPr bwMode="auto">
          <a:xfrm>
            <a:off x="609600" y="1524000"/>
            <a:ext cx="8001000" cy="3200400"/>
          </a:xfrm>
          <a:prstGeom prst="ellipse">
            <a:avLst/>
          </a:prstGeom>
          <a:blipFill dpi="0" rotWithShape="0">
            <a:blip r:embed="rId2"/>
            <a:srcRect/>
            <a:stretch>
              <a:fillRect/>
            </a:stretch>
          </a:blipFill>
          <a:ln w="1143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447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Encapsulation</a:t>
            </a:r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685800" y="5070475"/>
            <a:ext cx="7924800" cy="147796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Encapsulation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means packaging or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encapsulating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all of the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attributes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and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methods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of an object in the same container.</a:t>
            </a:r>
          </a:p>
        </p:txBody>
      </p:sp>
      <p:pic>
        <p:nvPicPr>
          <p:cNvPr id="7173" name="Picture 5" descr="j028105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192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8" descr="j028106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0"/>
            <a:ext cx="204787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2706" name="Group 34"/>
          <p:cNvGraphicFramePr>
            <a:graphicFrameLocks noGrp="1"/>
          </p:cNvGraphicFramePr>
          <p:nvPr/>
        </p:nvGraphicFramePr>
        <p:xfrm>
          <a:off x="1828800" y="2133600"/>
          <a:ext cx="5486400" cy="1981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Car Attributes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Car Methods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Make &amp; Model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of Doors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Reverse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of Seats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3288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Polymorphism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534400" cy="20431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tabLst>
                <a:tab pos="633413" algn="l"/>
              </a:tabLst>
              <a:defRPr/>
            </a:pPr>
            <a:r>
              <a:rPr lang="en-US" sz="2800" dirty="0">
                <a:latin typeface="+mn-lt"/>
                <a:sym typeface="Symbol" pitchFamily="18" charset="2"/>
              </a:rPr>
              <a:t>If we review our Algebra we should remember:</a:t>
            </a:r>
          </a:p>
          <a:p>
            <a:pPr algn="ctr">
              <a:tabLst>
                <a:tab pos="633413" algn="l"/>
              </a:tabLst>
              <a:defRPr/>
            </a:pPr>
            <a:r>
              <a:rPr lang="en-US" sz="2800" dirty="0">
                <a:latin typeface="+mn-lt"/>
                <a:sym typeface="Symbol" pitchFamily="18" charset="2"/>
              </a:rPr>
              <a:t>A </a:t>
            </a:r>
            <a:r>
              <a:rPr lang="en-US" sz="2800" i="1" dirty="0">
                <a:latin typeface="+mn-lt"/>
                <a:sym typeface="Symbol" pitchFamily="18" charset="2"/>
              </a:rPr>
              <a:t>monomial</a:t>
            </a:r>
            <a:r>
              <a:rPr lang="en-US" sz="2800" dirty="0">
                <a:latin typeface="+mn-lt"/>
                <a:sym typeface="Symbol" pitchFamily="18" charset="2"/>
              </a:rPr>
              <a:t> is a single term like:  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3x</a:t>
            </a:r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tabLst>
                <a:tab pos="633413" algn="l"/>
              </a:tabLst>
              <a:defRPr/>
            </a:pPr>
            <a:r>
              <a:rPr lang="en-US" sz="2800" dirty="0">
                <a:latin typeface="+mn-lt"/>
                <a:sym typeface="Symbol" pitchFamily="18" charset="2"/>
              </a:rPr>
              <a:t>A </a:t>
            </a:r>
            <a:r>
              <a:rPr lang="en-US" sz="2800" i="1" dirty="0">
                <a:latin typeface="+mn-lt"/>
                <a:sym typeface="Symbol" pitchFamily="18" charset="2"/>
              </a:rPr>
              <a:t>binomial</a:t>
            </a:r>
            <a:r>
              <a:rPr lang="en-US" sz="2800" dirty="0">
                <a:latin typeface="+mn-lt"/>
                <a:sym typeface="Symbol" pitchFamily="18" charset="2"/>
              </a:rPr>
              <a:t> is 2 terms like:  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3x + 7</a:t>
            </a:r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tabLst>
                <a:tab pos="633413" algn="l"/>
              </a:tabLst>
              <a:defRPr/>
            </a:pPr>
            <a:r>
              <a:rPr lang="en-US" sz="2800" dirty="0">
                <a:latin typeface="+mn-lt"/>
                <a:sym typeface="Symbol" pitchFamily="18" charset="2"/>
              </a:rPr>
              <a:t>A </a:t>
            </a:r>
            <a:r>
              <a:rPr lang="en-US" sz="2800" i="1" dirty="0">
                <a:latin typeface="+mn-lt"/>
                <a:sym typeface="Symbol" pitchFamily="18" charset="2"/>
              </a:rPr>
              <a:t>polynomial</a:t>
            </a:r>
            <a:r>
              <a:rPr lang="en-US" sz="2800" dirty="0">
                <a:latin typeface="+mn-lt"/>
                <a:sym typeface="Symbol" pitchFamily="18" charset="2"/>
              </a:rPr>
              <a:t> is many terms like:  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+ 3x + 7</a:t>
            </a:r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2" name="Text Box 9"/>
          <p:cNvSpPr txBox="1">
            <a:spLocks noChangeArrowheads="1"/>
          </p:cNvSpPr>
          <p:nvPr/>
        </p:nvSpPr>
        <p:spPr bwMode="auto">
          <a:xfrm>
            <a:off x="762000" y="3429000"/>
            <a:ext cx="7391400" cy="31829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633413" algn="l"/>
              </a:tabLst>
              <a:defRPr/>
            </a:pPr>
            <a:r>
              <a:rPr lang="en-US" sz="2800" dirty="0">
                <a:latin typeface="+mn-lt"/>
                <a:sym typeface="Symbol" pitchFamily="18" charset="2"/>
              </a:rPr>
              <a:t>The prefix</a:t>
            </a:r>
            <a:r>
              <a:rPr lang="en-US" sz="2800" i="1" dirty="0">
                <a:latin typeface="+mn-lt"/>
                <a:sym typeface="Symbol" pitchFamily="18" charset="2"/>
              </a:rPr>
              <a:t> Poly </a:t>
            </a:r>
            <a:r>
              <a:rPr lang="en-US" sz="2800" dirty="0">
                <a:latin typeface="+mn-lt"/>
                <a:sym typeface="Symbol" pitchFamily="18" charset="2"/>
              </a:rPr>
              <a:t>means</a:t>
            </a:r>
            <a:r>
              <a:rPr lang="en-US" sz="2800" i="1" dirty="0">
                <a:latin typeface="+mn-lt"/>
                <a:sym typeface="Symbol" pitchFamily="18" charset="2"/>
              </a:rPr>
              <a:t> many</a:t>
            </a:r>
            <a:r>
              <a:rPr lang="en-US" sz="2800" dirty="0">
                <a:latin typeface="+mn-lt"/>
                <a:sym typeface="Symbol" pitchFamily="18" charset="2"/>
              </a:rPr>
              <a:t>.</a:t>
            </a:r>
          </a:p>
          <a:p>
            <a:pPr>
              <a:lnSpc>
                <a:spcPct val="110000"/>
              </a:lnSpc>
              <a:tabLst>
                <a:tab pos="633413" algn="l"/>
              </a:tabLst>
              <a:defRPr/>
            </a:pPr>
            <a:r>
              <a:rPr lang="en-US" sz="2800" i="1" dirty="0">
                <a:latin typeface="+mn-lt"/>
                <a:sym typeface="Symbol" pitchFamily="18" charset="2"/>
              </a:rPr>
              <a:t>Polymorphism </a:t>
            </a:r>
            <a:r>
              <a:rPr lang="en-US" sz="2800" dirty="0">
                <a:latin typeface="+mn-lt"/>
                <a:sym typeface="Symbol" pitchFamily="18" charset="2"/>
              </a:rPr>
              <a:t>means</a:t>
            </a:r>
            <a:r>
              <a:rPr lang="en-US" sz="2800" i="1" dirty="0">
                <a:latin typeface="+mn-lt"/>
                <a:sym typeface="Symbol" pitchFamily="18" charset="2"/>
              </a:rPr>
              <a:t> many forms</a:t>
            </a:r>
            <a:r>
              <a:rPr lang="en-US" sz="2800" dirty="0">
                <a:latin typeface="+mn-lt"/>
                <a:sym typeface="Symbol" pitchFamily="18" charset="2"/>
              </a:rPr>
              <a:t>.</a:t>
            </a:r>
          </a:p>
          <a:p>
            <a:pPr>
              <a:lnSpc>
                <a:spcPct val="50000"/>
              </a:lnSpc>
              <a:tabLst>
                <a:tab pos="633413" algn="l"/>
              </a:tabLst>
              <a:defRPr/>
            </a:pPr>
            <a:endParaRPr lang="en-US" sz="2800" dirty="0">
              <a:latin typeface="+mn-lt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 i="1" dirty="0">
                <a:latin typeface="+mn-lt"/>
                <a:sym typeface="Symbol" pitchFamily="18" charset="2"/>
              </a:rPr>
              <a:t>Polymorphism</a:t>
            </a:r>
            <a:r>
              <a:rPr lang="en-US" sz="2800" dirty="0">
                <a:latin typeface="+mn-lt"/>
                <a:sym typeface="Symbol" pitchFamily="18" charset="2"/>
              </a:rPr>
              <a:t> </a:t>
            </a:r>
            <a:r>
              <a:rPr lang="en-US" sz="2800" dirty="0" smtClean="0">
                <a:sym typeface="Symbol" pitchFamily="18" charset="2"/>
              </a:rPr>
              <a:t>is an advanced concept in computer science which will be discussed next semester.  To attempt to explain it now will only cause confusion.</a:t>
            </a:r>
            <a:endParaRPr lang="en-US" sz="28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55565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sz="4800" b="1" dirty="0" smtClean="0">
                <a:latin typeface="Arial" pitchFamily="34" charset="0"/>
                <a:cs typeface="Arial" pitchFamily="34" charset="0"/>
              </a:rPr>
              <a:t>Class Interaction - Inheritance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28600" y="2209800"/>
            <a:ext cx="8686800" cy="43273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400" dirty="0" smtClean="0">
                <a:latin typeface="Arial Narrow" pitchFamily="34" charset="0"/>
                <a:cs typeface="Arial" pitchFamily="34" charset="0"/>
                <a:sym typeface="Symbol" pitchFamily="18" charset="2"/>
              </a:rPr>
              <a:t>There are different types of Class Interaction.  One type is 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I</a:t>
            </a:r>
            <a:r>
              <a:rPr lang="en-US" sz="2400" dirty="0" smtClean="0">
                <a:latin typeface="Arial Narrow" pitchFamily="34" charset="0"/>
                <a:cs typeface="Arial" pitchFamily="34" charset="0"/>
                <a:sym typeface="Symbol" pitchFamily="18" charset="2"/>
              </a:rPr>
              <a:t>nheritance.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>
                <a:latin typeface="Arial Narrow" pitchFamily="34" charset="0"/>
                <a:cs typeface="Arial" pitchFamily="34" charset="0"/>
                <a:sym typeface="Symbol" pitchFamily="18" charset="2"/>
              </a:rPr>
              <a:t>Suppose 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you wish to create </a:t>
            </a:r>
            <a:r>
              <a:rPr lang="en-US" sz="2400" i="1" dirty="0">
                <a:latin typeface="Arial Narrow" pitchFamily="34" charset="0"/>
                <a:cs typeface="Arial" pitchFamily="34" charset="0"/>
                <a:sym typeface="Symbol" pitchFamily="18" charset="2"/>
              </a:rPr>
              <a:t>Truck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 objects, </a:t>
            </a:r>
            <a:r>
              <a:rPr lang="en-US" sz="2400" i="1" dirty="0">
                <a:latin typeface="Arial Narrow" pitchFamily="34" charset="0"/>
                <a:cs typeface="Arial" pitchFamily="34" charset="0"/>
                <a:sym typeface="Symbol" pitchFamily="18" charset="2"/>
              </a:rPr>
              <a:t>Limo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 objects</a:t>
            </a:r>
            <a:r>
              <a:rPr lang="en-US" sz="2400" i="1" dirty="0">
                <a:latin typeface="Arial Narrow" pitchFamily="34" charset="0"/>
                <a:cs typeface="Arial" pitchFamily="34" charset="0"/>
                <a:sym typeface="Symbol" pitchFamily="18" charset="2"/>
              </a:rPr>
              <a:t> and Racecar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latin typeface="Arial Narrow" pitchFamily="34" charset="0"/>
                <a:cs typeface="Arial" pitchFamily="34" charset="0"/>
                <a:sym typeface="Symbol" pitchFamily="18" charset="2"/>
              </a:rPr>
              <a:t>objects.  Instead 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of starting each from scratch we can use the existing </a:t>
            </a:r>
            <a:r>
              <a:rPr lang="en-US" sz="2400" i="1" dirty="0">
                <a:latin typeface="Arial Narrow" pitchFamily="34" charset="0"/>
                <a:cs typeface="Arial" pitchFamily="34" charset="0"/>
                <a:sym typeface="Symbol" pitchFamily="18" charset="2"/>
              </a:rPr>
              <a:t>Car</a:t>
            </a:r>
            <a:r>
              <a:rPr lang="en-US" sz="2400" dirty="0">
                <a:latin typeface="Arial Narrow" pitchFamily="34" charset="0"/>
                <a:cs typeface="Arial" pitchFamily="34" charset="0"/>
                <a:sym typeface="Symbol" pitchFamily="18" charset="2"/>
              </a:rPr>
              <a:t> in the following manner:</a:t>
            </a:r>
          </a:p>
          <a:p>
            <a:pPr eaLnBrk="1" hangingPunct="1">
              <a:lnSpc>
                <a:spcPct val="150000"/>
              </a:lnSpc>
            </a:pPr>
            <a:endParaRPr lang="en-US" sz="2800" dirty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800" dirty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800" dirty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3200" dirty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 i="1" dirty="0">
                <a:latin typeface="Arial" charset="0"/>
                <a:cs typeface="Arial" charset="0"/>
                <a:sym typeface="Symbol" pitchFamily="18" charset="2"/>
              </a:rPr>
              <a:t>Inheritance</a:t>
            </a:r>
            <a:r>
              <a:rPr lang="en-US" sz="2800" dirty="0">
                <a:latin typeface="Arial" charset="0"/>
                <a:cs typeface="Arial" charset="0"/>
                <a:sym typeface="Symbol" pitchFamily="18" charset="2"/>
              </a:rPr>
              <a:t> will be discussed 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later this semester.</a:t>
            </a:r>
            <a:endParaRPr lang="en-US" sz="2800" dirty="0">
              <a:latin typeface="Arial" charset="0"/>
              <a:cs typeface="Arial" charset="0"/>
              <a:sym typeface="Symbol" pitchFamily="18" charset="2"/>
            </a:endParaRPr>
          </a:p>
        </p:txBody>
      </p:sp>
      <p:pic>
        <p:nvPicPr>
          <p:cNvPr id="9220" name="Picture 5" descr="j031199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990600"/>
            <a:ext cx="2362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6" descr="j031194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14400"/>
            <a:ext cx="3443288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8" descr="j031188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2359025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533400" y="3962400"/>
            <a:ext cx="8077200" cy="18954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600">
                <a:latin typeface="Arial" charset="0"/>
                <a:sym typeface="Symbol" pitchFamily="18" charset="2"/>
              </a:rPr>
              <a:t>A Truck is a Car with 4WD, big tires, and a bed.</a:t>
            </a:r>
          </a:p>
          <a:p>
            <a:pPr eaLnBrk="1" hangingPunct="1">
              <a:lnSpc>
                <a:spcPct val="110000"/>
              </a:lnSpc>
            </a:pPr>
            <a:r>
              <a:rPr lang="en-US" sz="2600">
                <a:latin typeface="Arial" charset="0"/>
                <a:sym typeface="Symbol" pitchFamily="18" charset="2"/>
              </a:rPr>
              <a:t>A Limo is a very long luxury Car with many seats.</a:t>
            </a:r>
          </a:p>
          <a:p>
            <a:pPr eaLnBrk="1" hangingPunct="1">
              <a:lnSpc>
                <a:spcPct val="110000"/>
              </a:lnSpc>
            </a:pPr>
            <a:r>
              <a:rPr lang="en-US" sz="2600">
                <a:latin typeface="Arial" charset="0"/>
                <a:sym typeface="Symbol" pitchFamily="18" charset="2"/>
              </a:rPr>
              <a:t>A Racecar is a Car with 1 seat, a very powerful engine, and a number painted on the side.</a:t>
            </a:r>
          </a:p>
        </p:txBody>
      </p:sp>
    </p:spTree>
    <p:extLst>
      <p:ext uri="{BB962C8B-B14F-4D97-AF65-F5344CB8AC3E}">
        <p14:creationId xmlns:p14="http://schemas.microsoft.com/office/powerpoint/2010/main" val="23249688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4.4</a:t>
            </a:r>
          </a:p>
        </p:txBody>
      </p:sp>
      <p:sp>
        <p:nvSpPr>
          <p:cNvPr id="12291" name="WordArt 2"/>
          <p:cNvSpPr>
            <a:spLocks noChangeArrowheads="1" noChangeShapeType="1" noTextEdit="1"/>
          </p:cNvSpPr>
          <p:nvPr/>
        </p:nvSpPr>
        <p:spPr bwMode="auto">
          <a:xfrm>
            <a:off x="1219200" y="1752600"/>
            <a:ext cx="6705600" cy="2514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6102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Using the</a:t>
            </a:r>
          </a:p>
        </p:txBody>
      </p:sp>
      <p:sp>
        <p:nvSpPr>
          <p:cNvPr id="12292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Math Class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11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Java0401.java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This program shows how to use the &lt;</a:t>
            </a:r>
            <a:r>
              <a:rPr lang="en-US" sz="2100" dirty="0" err="1">
                <a:latin typeface="Times New Roman" pitchFamily="18" charset="0"/>
              </a:rPr>
              <a:t>sqrt</a:t>
            </a:r>
            <a:r>
              <a:rPr lang="en-US" sz="2100" dirty="0">
                <a:latin typeface="Times New Roman" pitchFamily="18" charset="0"/>
              </a:rPr>
              <a:t>&gt; method of the &lt;Math&gt;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class.  The &lt;Math&gt; class is part of the </a:t>
            </a:r>
            <a:r>
              <a:rPr lang="en-US" sz="2100" dirty="0" err="1">
                <a:latin typeface="Times New Roman" pitchFamily="18" charset="0"/>
              </a:rPr>
              <a:t>java.lang</a:t>
            </a:r>
            <a:r>
              <a:rPr lang="en-US" sz="2100" dirty="0">
                <a:latin typeface="Times New Roman" pitchFamily="18" charset="0"/>
              </a:rPr>
              <a:t> package, which is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automatically loaded (imported) by the compiler.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&lt;</a:t>
            </a:r>
            <a:r>
              <a:rPr lang="en-US" sz="2100" dirty="0" err="1">
                <a:latin typeface="Times New Roman" pitchFamily="18" charset="0"/>
              </a:rPr>
              <a:t>Math.sqrt</a:t>
            </a:r>
            <a:r>
              <a:rPr lang="en-US" sz="2100" dirty="0">
                <a:latin typeface="Times New Roman" pitchFamily="18" charset="0"/>
              </a:rPr>
              <a:t>&gt; returns the square root of the argument</a:t>
            </a:r>
            <a:r>
              <a:rPr lang="en-US" sz="21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 smtClean="0">
                <a:latin typeface="Times New Roman" pitchFamily="18" charset="0"/>
              </a:rPr>
              <a:t>public </a:t>
            </a:r>
            <a:r>
              <a:rPr lang="en-US" sz="2100" dirty="0">
                <a:latin typeface="Times New Roman" pitchFamily="18" charset="0"/>
              </a:rPr>
              <a:t>class Java0401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public static void main (String </a:t>
            </a:r>
            <a:r>
              <a:rPr lang="en-US" sz="2100" dirty="0" err="1">
                <a:latin typeface="Times New Roman" pitchFamily="18" charset="0"/>
              </a:rPr>
              <a:t>args</a:t>
            </a:r>
            <a:r>
              <a:rPr lang="en-US" sz="21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int</a:t>
            </a:r>
            <a:r>
              <a:rPr lang="en-US" sz="2100" dirty="0">
                <a:latin typeface="Times New Roman" pitchFamily="18" charset="0"/>
              </a:rPr>
              <a:t> n1 = 625;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	double n2 = 6.25;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("Square root of " + n1 + ": " + </a:t>
            </a:r>
            <a:r>
              <a:rPr lang="en-US" sz="2400" b="0" dirty="0" err="1">
                <a:latin typeface="Arial Black" panose="020B0A04020102020204" pitchFamily="34" charset="0"/>
              </a:rPr>
              <a:t>Math.sqrt</a:t>
            </a:r>
            <a:r>
              <a:rPr lang="en-US" sz="2400" b="0" dirty="0">
                <a:latin typeface="Arial Black" panose="020B0A04020102020204" pitchFamily="34" charset="0"/>
              </a:rPr>
              <a:t>(n1)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("Square root of " + n2 + ": " + </a:t>
            </a:r>
            <a:r>
              <a:rPr lang="en-US" sz="2400" dirty="0" err="1">
                <a:latin typeface="Arial Black" panose="020B0A04020102020204" pitchFamily="34" charset="0"/>
              </a:rPr>
              <a:t>Math.sqrt</a:t>
            </a:r>
            <a:r>
              <a:rPr lang="en-US" sz="2400" dirty="0">
                <a:latin typeface="Arial Black" panose="020B0A04020102020204" pitchFamily="34" charset="0"/>
              </a:rPr>
              <a:t>(n2)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   	}</a:t>
            </a:r>
          </a:p>
          <a:p>
            <a:pPr eaLnBrk="1" hangingPunct="1">
              <a:lnSpc>
                <a:spcPct val="120000"/>
              </a:lnSpc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71800" y="2057400"/>
            <a:ext cx="617220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root of 625: 25.0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Square root of 6.25: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2.5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487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Java0401.java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This program shows how to use the &lt;</a:t>
            </a:r>
            <a:r>
              <a:rPr lang="en-US" sz="2100" dirty="0" err="1">
                <a:latin typeface="Times New Roman" pitchFamily="18" charset="0"/>
              </a:rPr>
              <a:t>sqrt</a:t>
            </a:r>
            <a:r>
              <a:rPr lang="en-US" sz="2100" dirty="0">
                <a:latin typeface="Times New Roman" pitchFamily="18" charset="0"/>
              </a:rPr>
              <a:t>&gt; method of the &lt;Math&gt;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class.  The &lt;Math&gt; class is part of the </a:t>
            </a:r>
            <a:r>
              <a:rPr lang="en-US" sz="2100" dirty="0" err="1">
                <a:latin typeface="Times New Roman" pitchFamily="18" charset="0"/>
              </a:rPr>
              <a:t>java.lang</a:t>
            </a:r>
            <a:r>
              <a:rPr lang="en-US" sz="2100" dirty="0">
                <a:latin typeface="Times New Roman" pitchFamily="18" charset="0"/>
              </a:rPr>
              <a:t> package, which is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automatically loaded (imported) by the compiler.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&lt;</a:t>
            </a:r>
            <a:r>
              <a:rPr lang="en-US" sz="2100" dirty="0" err="1">
                <a:latin typeface="Times New Roman" pitchFamily="18" charset="0"/>
              </a:rPr>
              <a:t>Math.sqrt</a:t>
            </a:r>
            <a:r>
              <a:rPr lang="en-US" sz="2100" dirty="0">
                <a:latin typeface="Times New Roman" pitchFamily="18" charset="0"/>
              </a:rPr>
              <a:t>&gt; returns the square root of the argument</a:t>
            </a:r>
            <a:r>
              <a:rPr lang="en-US" sz="2100" dirty="0" smtClean="0">
                <a:latin typeface="Times New Roman" pitchFamily="18" charset="0"/>
              </a:rPr>
              <a:t>.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3200" dirty="0" smtClean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 smtClean="0">
                <a:latin typeface="Times New Roman" pitchFamily="18" charset="0"/>
              </a:rPr>
              <a:t>public </a:t>
            </a:r>
            <a:r>
              <a:rPr lang="en-US" sz="2100" dirty="0">
                <a:latin typeface="Times New Roman" pitchFamily="18" charset="0"/>
              </a:rPr>
              <a:t>class Java0401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public static void main (String </a:t>
            </a:r>
            <a:r>
              <a:rPr lang="en-US" sz="2100" dirty="0" err="1">
                <a:latin typeface="Times New Roman" pitchFamily="18" charset="0"/>
              </a:rPr>
              <a:t>args</a:t>
            </a:r>
            <a:r>
              <a:rPr lang="en-US" sz="21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800" b="0" dirty="0">
                <a:latin typeface="Arial Black" panose="020B0A04020102020204" pitchFamily="34" charset="0"/>
              </a:rPr>
              <a:t>		</a:t>
            </a:r>
            <a:r>
              <a:rPr lang="en-US" sz="2800" b="0" dirty="0" err="1">
                <a:latin typeface="Arial Black" panose="020B0A04020102020204" pitchFamily="34" charset="0"/>
              </a:rPr>
              <a:t>int</a:t>
            </a:r>
            <a:r>
              <a:rPr lang="en-US" sz="2800" b="0" dirty="0">
                <a:latin typeface="Arial Black" panose="020B0A04020102020204" pitchFamily="34" charset="0"/>
              </a:rPr>
              <a:t> n1 = </a:t>
            </a:r>
            <a:r>
              <a:rPr lang="en-US" sz="2800" b="0" dirty="0" smtClean="0">
                <a:latin typeface="Arial Black" panose="020B0A04020102020204" pitchFamily="34" charset="0"/>
              </a:rPr>
              <a:t>-625</a:t>
            </a:r>
            <a:r>
              <a:rPr lang="en-US" sz="2800" b="0" dirty="0">
                <a:latin typeface="Arial Black" panose="020B0A04020102020204" pitchFamily="34" charset="0"/>
              </a:rPr>
              <a:t>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itchFamily="18" charset="0"/>
              </a:rPr>
              <a:t>	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	double n2 = 6.25;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("Square root of " + n1 + ":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(n1));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("Square root of " + n2 + ":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(n2));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   	}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 smtClean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1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100" dirty="0" smtClean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200" dirty="0">
              <a:latin typeface="Times New Roman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14400" y="5473005"/>
            <a:ext cx="8229600" cy="138499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b="0" dirty="0" smtClean="0">
                <a:latin typeface="Arial Black" pitchFamily="34" charset="0"/>
                <a:sym typeface="Symbol" pitchFamily="18" charset="2"/>
              </a:rPr>
              <a:t>Try This!</a:t>
            </a:r>
          </a:p>
          <a:p>
            <a:pPr eaLnBrk="1" hangingPunct="1">
              <a:defRPr/>
            </a:pPr>
            <a:r>
              <a:rPr lang="en-US" sz="2800" dirty="0" smtClean="0">
                <a:latin typeface="+mn-lt"/>
                <a:sym typeface="Symbol" pitchFamily="18" charset="2"/>
              </a:rPr>
              <a:t>Change the value of </a:t>
            </a:r>
            <a:r>
              <a:rPr lang="en-US" sz="2800" b="0" dirty="0" smtClean="0">
                <a:latin typeface="Arial Black" pitchFamily="34" charset="0"/>
                <a:sym typeface="Symbol" pitchFamily="18" charset="2"/>
              </a:rPr>
              <a:t>n1</a:t>
            </a:r>
            <a:r>
              <a:rPr lang="en-US" sz="2800" dirty="0" smtClean="0">
                <a:latin typeface="+mn-lt"/>
                <a:sym typeface="Symbol" pitchFamily="18" charset="2"/>
              </a:rPr>
              <a:t> from </a:t>
            </a:r>
            <a:r>
              <a:rPr lang="en-US" sz="2800" b="0" dirty="0" smtClean="0">
                <a:latin typeface="Arial Black" pitchFamily="34" charset="0"/>
                <a:sym typeface="Symbol" pitchFamily="18" charset="2"/>
              </a:rPr>
              <a:t>625</a:t>
            </a:r>
            <a:r>
              <a:rPr lang="en-US" sz="2800" dirty="0" smtClean="0">
                <a:latin typeface="+mn-lt"/>
                <a:sym typeface="Symbol" pitchFamily="18" charset="2"/>
              </a:rPr>
              <a:t> to </a:t>
            </a:r>
            <a:r>
              <a:rPr lang="en-US" sz="2800" b="0" dirty="0" smtClean="0">
                <a:latin typeface="Arial Black" pitchFamily="34" charset="0"/>
                <a:sym typeface="Symbol" pitchFamily="18" charset="2"/>
              </a:rPr>
              <a:t>-625</a:t>
            </a:r>
            <a:r>
              <a:rPr lang="en-US" sz="2800" dirty="0" smtClean="0">
                <a:latin typeface="+mn-lt"/>
                <a:sym typeface="Symbol" pitchFamily="18" charset="2"/>
              </a:rPr>
              <a:t>.</a:t>
            </a:r>
          </a:p>
          <a:p>
            <a:pPr eaLnBrk="1" hangingPunct="1">
              <a:defRPr/>
            </a:pPr>
            <a:r>
              <a:rPr lang="en-US" sz="2800" dirty="0" smtClean="0">
                <a:latin typeface="+mn-lt"/>
                <a:sym typeface="Symbol" pitchFamily="18" charset="2"/>
              </a:rPr>
              <a:t>Recompile and execute and see what happens.</a:t>
            </a:r>
          </a:p>
        </p:txBody>
      </p:sp>
    </p:spTree>
    <p:extLst>
      <p:ext uri="{BB962C8B-B14F-4D97-AF65-F5344CB8AC3E}">
        <p14:creationId xmlns:p14="http://schemas.microsoft.com/office/powerpoint/2010/main" val="1439997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Java0401.java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This program shows how to use the &lt;</a:t>
            </a:r>
            <a:r>
              <a:rPr lang="en-US" sz="2100" dirty="0" err="1">
                <a:latin typeface="Times New Roman" pitchFamily="18" charset="0"/>
              </a:rPr>
              <a:t>sqrt</a:t>
            </a:r>
            <a:r>
              <a:rPr lang="en-US" sz="2100" dirty="0">
                <a:latin typeface="Times New Roman" pitchFamily="18" charset="0"/>
              </a:rPr>
              <a:t>&gt; method of the &lt;Math&gt;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class.  The &lt;Math&gt; class is part of the </a:t>
            </a:r>
            <a:r>
              <a:rPr lang="en-US" sz="2100" dirty="0" err="1">
                <a:latin typeface="Times New Roman" pitchFamily="18" charset="0"/>
              </a:rPr>
              <a:t>java.lang</a:t>
            </a:r>
            <a:r>
              <a:rPr lang="en-US" sz="2100" dirty="0">
                <a:latin typeface="Times New Roman" pitchFamily="18" charset="0"/>
              </a:rPr>
              <a:t> package, which is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automatically loaded (imported) by the compiler.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// &lt;</a:t>
            </a:r>
            <a:r>
              <a:rPr lang="en-US" sz="2100" dirty="0" err="1">
                <a:latin typeface="Times New Roman" pitchFamily="18" charset="0"/>
              </a:rPr>
              <a:t>Math.sqrt</a:t>
            </a:r>
            <a:r>
              <a:rPr lang="en-US" sz="2100" dirty="0">
                <a:latin typeface="Times New Roman" pitchFamily="18" charset="0"/>
              </a:rPr>
              <a:t>&gt; returns the square root of the argument</a:t>
            </a:r>
            <a:r>
              <a:rPr lang="en-US" sz="2100" dirty="0" smtClean="0">
                <a:latin typeface="Times New Roman" pitchFamily="18" charset="0"/>
              </a:rPr>
              <a:t>.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3200" dirty="0" smtClean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 smtClean="0">
                <a:latin typeface="Times New Roman" pitchFamily="18" charset="0"/>
              </a:rPr>
              <a:t>public </a:t>
            </a:r>
            <a:r>
              <a:rPr lang="en-US" sz="2100" dirty="0">
                <a:latin typeface="Times New Roman" pitchFamily="18" charset="0"/>
              </a:rPr>
              <a:t>class Java0401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public static void main (String </a:t>
            </a:r>
            <a:r>
              <a:rPr lang="en-US" sz="2100" dirty="0" err="1">
                <a:latin typeface="Times New Roman" pitchFamily="18" charset="0"/>
              </a:rPr>
              <a:t>args</a:t>
            </a:r>
            <a:r>
              <a:rPr lang="en-US" sz="21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800" b="0" dirty="0">
                <a:latin typeface="Arial Black" panose="020B0A04020102020204" pitchFamily="34" charset="0"/>
              </a:rPr>
              <a:t>		</a:t>
            </a:r>
            <a:r>
              <a:rPr lang="en-US" sz="2800" b="0" dirty="0" err="1">
                <a:latin typeface="Arial Black" panose="020B0A04020102020204" pitchFamily="34" charset="0"/>
              </a:rPr>
              <a:t>int</a:t>
            </a:r>
            <a:r>
              <a:rPr lang="en-US" sz="2800" b="0" dirty="0">
                <a:latin typeface="Arial Black" panose="020B0A04020102020204" pitchFamily="34" charset="0"/>
              </a:rPr>
              <a:t> n1 = </a:t>
            </a:r>
            <a:r>
              <a:rPr lang="en-US" sz="2800" b="0" dirty="0" smtClean="0">
                <a:latin typeface="Arial Black" panose="020B0A04020102020204" pitchFamily="34" charset="0"/>
              </a:rPr>
              <a:t>-625</a:t>
            </a:r>
            <a:r>
              <a:rPr lang="en-US" sz="2800" b="0" dirty="0">
                <a:latin typeface="Arial Black" panose="020B0A04020102020204" pitchFamily="34" charset="0"/>
              </a:rPr>
              <a:t>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itchFamily="18" charset="0"/>
              </a:rPr>
              <a:t>	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	double n2 = 6.25;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("Square root of " + n1 + ":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(n1));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("Square root of " + n2 + ":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(n2));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>
                <a:latin typeface="Times New Roman" pitchFamily="18" charset="0"/>
              </a:rPr>
              <a:t>   	}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r>
              <a:rPr lang="en-US" sz="2100" dirty="0" smtClean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1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100" dirty="0" smtClean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690563" algn="l"/>
                <a:tab pos="1379538" algn="l"/>
                <a:tab pos="1827213" algn="l"/>
                <a:tab pos="2293938" algn="l"/>
              </a:tabLst>
            </a:pPr>
            <a:endParaRPr lang="en-US" sz="2200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5600" y="1709928"/>
            <a:ext cx="624840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root of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-625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Square root of 6.25: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2.5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71600" y="5288340"/>
            <a:ext cx="7772400" cy="156966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3200" b="0" dirty="0" smtClean="0">
                <a:latin typeface="Arial Black" pitchFamily="34" charset="0"/>
                <a:sym typeface="Symbol" pitchFamily="18" charset="2"/>
              </a:rPr>
              <a:t>NOTE:  </a:t>
            </a:r>
            <a:r>
              <a:rPr lang="en-US" sz="3200" b="0" dirty="0" err="1" smtClean="0">
                <a:latin typeface="Arial Black" pitchFamily="34" charset="0"/>
                <a:sym typeface="Symbol" pitchFamily="18" charset="2"/>
              </a:rPr>
              <a:t>NaN</a:t>
            </a:r>
            <a:r>
              <a:rPr lang="en-US" sz="3200" b="0" dirty="0" smtClean="0">
                <a:latin typeface="Arial Black" pitchFamily="34" charset="0"/>
                <a:sym typeface="Symbol" pitchFamily="18" charset="2"/>
              </a:rPr>
              <a:t> </a:t>
            </a:r>
            <a:r>
              <a:rPr lang="en-US" sz="3200" dirty="0" smtClean="0">
                <a:latin typeface="+mn-lt"/>
                <a:sym typeface="Symbol" pitchFamily="18" charset="2"/>
              </a:rPr>
              <a:t>means “</a:t>
            </a:r>
            <a:r>
              <a:rPr lang="en-US" sz="3200" b="0" dirty="0" smtClean="0">
                <a:latin typeface="Arial Black" pitchFamily="34" charset="0"/>
                <a:sym typeface="Symbol" pitchFamily="18" charset="2"/>
              </a:rPr>
              <a:t>N</a:t>
            </a:r>
            <a:r>
              <a:rPr lang="en-US" sz="3200" dirty="0" smtClean="0">
                <a:latin typeface="+mn-lt"/>
                <a:sym typeface="Symbol" pitchFamily="18" charset="2"/>
              </a:rPr>
              <a:t>o</a:t>
            </a:r>
            <a:r>
              <a:rPr lang="en-US" sz="3200" dirty="0" smtClean="0">
                <a:sym typeface="Symbol" pitchFamily="18" charset="2"/>
              </a:rPr>
              <a:t>t</a:t>
            </a:r>
            <a:r>
              <a:rPr lang="en-US" sz="3200" dirty="0" smtClean="0">
                <a:latin typeface="+mn-lt"/>
                <a:sym typeface="Symbol" pitchFamily="18" charset="2"/>
              </a:rPr>
              <a:t> </a:t>
            </a:r>
            <a:r>
              <a:rPr lang="en-US" sz="3200" b="0" dirty="0" smtClean="0">
                <a:latin typeface="Arial Black" pitchFamily="34" charset="0"/>
                <a:sym typeface="Symbol" pitchFamily="18" charset="2"/>
              </a:rPr>
              <a:t>A</a:t>
            </a:r>
            <a:r>
              <a:rPr lang="en-US" sz="3200" dirty="0" smtClean="0">
                <a:sym typeface="Symbol" pitchFamily="18" charset="2"/>
              </a:rPr>
              <a:t> </a:t>
            </a:r>
            <a:r>
              <a:rPr lang="en-US" sz="3200" b="0" dirty="0" smtClean="0">
                <a:latin typeface="Arial Black" pitchFamily="34" charset="0"/>
                <a:sym typeface="Symbol" pitchFamily="18" charset="2"/>
              </a:rPr>
              <a:t>N</a:t>
            </a:r>
            <a:r>
              <a:rPr lang="en-US" sz="3200" dirty="0" smtClean="0">
                <a:sym typeface="Symbol" pitchFamily="18" charset="2"/>
              </a:rPr>
              <a:t>umber”</a:t>
            </a:r>
            <a:r>
              <a:rPr lang="en-US" sz="3200" dirty="0" smtClean="0">
                <a:latin typeface="+mn-lt"/>
                <a:sym typeface="Symbol" pitchFamily="18" charset="2"/>
              </a:rPr>
              <a:t>.</a:t>
            </a:r>
          </a:p>
          <a:p>
            <a:pPr eaLnBrk="1" hangingPunct="1">
              <a:defRPr/>
            </a:pPr>
            <a:r>
              <a:rPr lang="en-US" sz="3200" dirty="0" smtClean="0">
                <a:latin typeface="+mn-lt"/>
                <a:sym typeface="Symbol" pitchFamily="18" charset="2"/>
              </a:rPr>
              <a:t>Remember the square root of a </a:t>
            </a:r>
          </a:p>
          <a:p>
            <a:pPr eaLnBrk="1" hangingPunct="1">
              <a:defRPr/>
            </a:pPr>
            <a:r>
              <a:rPr lang="en-US" sz="3200" dirty="0" smtClean="0">
                <a:latin typeface="+mn-lt"/>
                <a:sym typeface="Symbol" pitchFamily="18" charset="2"/>
              </a:rPr>
              <a:t>negative number is </a:t>
            </a:r>
            <a:r>
              <a:rPr lang="en-US" sz="3200" i="1" dirty="0" smtClean="0">
                <a:latin typeface="+mn-lt"/>
                <a:sym typeface="Symbol" pitchFamily="18" charset="2"/>
              </a:rPr>
              <a:t>not a real number</a:t>
            </a:r>
            <a:r>
              <a:rPr lang="en-US" sz="3200" dirty="0" smtClean="0">
                <a:latin typeface="+mn-lt"/>
                <a:sym typeface="Symbol" pitchFamily="18" charset="2"/>
              </a:rPr>
              <a:t>.</a:t>
            </a:r>
            <a:endParaRPr lang="en-US" sz="2800" dirty="0" smtClean="0">
              <a:latin typeface="+mn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27900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Class Method Syntax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33400" y="1371600"/>
            <a:ext cx="8153400" cy="489364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0" dirty="0" err="1">
                <a:latin typeface="Arial Black" panose="020B0A04020102020204" pitchFamily="34" charset="0"/>
                <a:sym typeface="Symbol" pitchFamily="18" charset="2"/>
              </a:rPr>
              <a:t>Math.sqrt</a:t>
            </a:r>
            <a:r>
              <a:rPr lang="en-US" sz="3600" b="0" dirty="0">
                <a:latin typeface="Arial Black" panose="020B0A04020102020204" pitchFamily="34" charset="0"/>
                <a:sym typeface="Symbol" pitchFamily="18" charset="2"/>
              </a:rPr>
              <a:t>(n1)</a:t>
            </a:r>
          </a:p>
          <a:p>
            <a:pPr eaLnBrk="1" hangingPunct="1"/>
            <a:endParaRPr lang="en-US" sz="2000" dirty="0">
              <a:latin typeface="Courier New" pitchFamily="49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sym typeface="Symbol" pitchFamily="18" charset="2"/>
              </a:rPr>
              <a:t>1.		</a:t>
            </a:r>
            <a:r>
              <a:rPr lang="en-US" sz="2800" b="0" dirty="0">
                <a:latin typeface="Arial Black" pitchFamily="34" charset="0"/>
                <a:sym typeface="Symbol" pitchFamily="18" charset="2"/>
              </a:rPr>
              <a:t>Math</a:t>
            </a:r>
            <a:r>
              <a:rPr lang="en-US" sz="2400" dirty="0">
                <a:sym typeface="Symbol" pitchFamily="18" charset="2"/>
              </a:rPr>
              <a:t> 	is the class identifier, </a:t>
            </a:r>
          </a:p>
          <a:p>
            <a:pPr eaLnBrk="1" hangingPunct="1"/>
            <a:r>
              <a:rPr lang="en-US" sz="2400" dirty="0">
                <a:sym typeface="Symbol" pitchFamily="18" charset="2"/>
              </a:rPr>
              <a:t>				which contains the methods you call.</a:t>
            </a:r>
          </a:p>
          <a:p>
            <a:pPr eaLnBrk="1" hangingPunct="1"/>
            <a:endParaRPr lang="en-US" sz="2400" dirty="0">
              <a:sym typeface="Symbol" pitchFamily="18" charset="2"/>
            </a:endParaRPr>
          </a:p>
          <a:p>
            <a:pPr eaLnBrk="1" hangingPunct="1"/>
            <a:r>
              <a:rPr lang="en-US" sz="2400" dirty="0">
                <a:sym typeface="Symbol" pitchFamily="18" charset="2"/>
              </a:rPr>
              <a:t>2.		</a:t>
            </a:r>
            <a:r>
              <a:rPr lang="en-US" sz="2800" dirty="0">
                <a:sym typeface="Symbol" pitchFamily="18" charset="2"/>
              </a:rPr>
              <a:t></a:t>
            </a:r>
            <a:r>
              <a:rPr lang="en-US" sz="2400" dirty="0">
                <a:sym typeface="Symbol" pitchFamily="18" charset="2"/>
              </a:rPr>
              <a:t>		separates the class identifier from the </a:t>
            </a:r>
          </a:p>
          <a:p>
            <a:pPr eaLnBrk="1" hangingPunct="1"/>
            <a:r>
              <a:rPr lang="en-US" sz="2400" dirty="0">
                <a:sym typeface="Symbol" pitchFamily="18" charset="2"/>
              </a:rPr>
              <a:t>				method identifier</a:t>
            </a:r>
          </a:p>
          <a:p>
            <a:pPr eaLnBrk="1" hangingPunct="1"/>
            <a:endParaRPr lang="en-US" sz="2400" dirty="0">
              <a:sym typeface="Symbol" pitchFamily="18" charset="2"/>
            </a:endParaRPr>
          </a:p>
          <a:p>
            <a:pPr eaLnBrk="1" hangingPunct="1"/>
            <a:r>
              <a:rPr lang="en-US" sz="2400" dirty="0">
                <a:sym typeface="Symbol" pitchFamily="18" charset="2"/>
              </a:rPr>
              <a:t>3.		</a:t>
            </a:r>
            <a:r>
              <a:rPr lang="en-US" sz="2800" b="0" dirty="0" err="1">
                <a:latin typeface="Arial Black" pitchFamily="34" charset="0"/>
                <a:sym typeface="Symbol" pitchFamily="18" charset="2"/>
              </a:rPr>
              <a:t>sqrt</a:t>
            </a:r>
            <a:r>
              <a:rPr lang="en-US" sz="2400" dirty="0">
                <a:sym typeface="Symbol" pitchFamily="18" charset="2"/>
              </a:rPr>
              <a:t>	is the method identifier</a:t>
            </a:r>
          </a:p>
          <a:p>
            <a:pPr eaLnBrk="1" hangingPunct="1"/>
            <a:endParaRPr lang="en-US" sz="2400" dirty="0">
              <a:sym typeface="Symbol" pitchFamily="18" charset="2"/>
            </a:endParaRPr>
          </a:p>
          <a:p>
            <a:pPr eaLnBrk="1" hangingPunct="1"/>
            <a:r>
              <a:rPr lang="en-US" sz="2400" dirty="0">
                <a:sym typeface="Symbol" pitchFamily="18" charset="2"/>
              </a:rPr>
              <a:t>4.		</a:t>
            </a:r>
            <a:r>
              <a:rPr lang="en-US" sz="2800" b="0" dirty="0">
                <a:latin typeface="Arial Black" pitchFamily="34" charset="0"/>
                <a:sym typeface="Symbol" pitchFamily="18" charset="2"/>
              </a:rPr>
              <a:t>(n1)</a:t>
            </a:r>
            <a:r>
              <a:rPr lang="en-US" sz="2400" dirty="0">
                <a:sym typeface="Symbol" pitchFamily="18" charset="2"/>
              </a:rPr>
              <a:t>	n1 is the argument or parameter passed</a:t>
            </a:r>
          </a:p>
          <a:p>
            <a:pPr eaLnBrk="1" hangingPunct="1"/>
            <a:r>
              <a:rPr lang="en-US" sz="2400" dirty="0">
                <a:sym typeface="Symbol" pitchFamily="18" charset="2"/>
              </a:rPr>
              <a:t>				to the method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Java0402.java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shows different arguments that can be used with the &lt;</a:t>
            </a:r>
            <a:r>
              <a:rPr lang="en-US" sz="2000" dirty="0" err="1">
                <a:latin typeface="Times New Roman" pitchFamily="18" charset="0"/>
              </a:rPr>
              <a:t>sqrt</a:t>
            </a:r>
            <a:r>
              <a:rPr lang="en-US" sz="2000" dirty="0">
                <a:latin typeface="Times New Roman" pitchFamily="18" charset="0"/>
              </a:rPr>
              <a:t>&gt;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method.  Note how a method call can be the argument of another method call.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Java0402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double n1, n2, n3, n4;</a:t>
            </a:r>
          </a:p>
          <a:p>
            <a:pPr eaLnBrk="1" hangingPunct="1"/>
            <a:endParaRPr lang="en-US" sz="2000" b="0" dirty="0" smtClean="0">
              <a:latin typeface="Arial Black" pitchFamily="34" charset="0"/>
            </a:endParaRP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n1 = </a:t>
            </a:r>
            <a:r>
              <a:rPr lang="en-US" sz="2000" b="0" dirty="0" err="1">
                <a:latin typeface="Arial Black" pitchFamily="34" charset="0"/>
              </a:rPr>
              <a:t>Math.sqrt</a:t>
            </a:r>
            <a:r>
              <a:rPr lang="en-US" sz="2000" b="0" dirty="0">
                <a:latin typeface="Arial Black" pitchFamily="34" charset="0"/>
              </a:rPr>
              <a:t>(1024);		</a:t>
            </a:r>
            <a:r>
              <a:rPr lang="en-US" sz="2000" b="0" dirty="0">
                <a:solidFill>
                  <a:srgbClr val="FF0000"/>
                </a:solidFill>
                <a:latin typeface="Arial Black" pitchFamily="34" charset="0"/>
              </a:rPr>
              <a:t>// constant argument</a:t>
            </a: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n2 = </a:t>
            </a:r>
            <a:r>
              <a:rPr lang="en-US" sz="2000" b="0" dirty="0" err="1">
                <a:latin typeface="Arial Black" pitchFamily="34" charset="0"/>
              </a:rPr>
              <a:t>Math.sqrt</a:t>
            </a:r>
            <a:r>
              <a:rPr lang="en-US" sz="2000" b="0" dirty="0">
                <a:latin typeface="Arial Black" pitchFamily="34" charset="0"/>
              </a:rPr>
              <a:t>(n1);			</a:t>
            </a:r>
            <a:r>
              <a:rPr lang="en-US" sz="2000" b="0" dirty="0">
                <a:solidFill>
                  <a:srgbClr val="FF0000"/>
                </a:solidFill>
                <a:latin typeface="Arial Black" pitchFamily="34" charset="0"/>
              </a:rPr>
              <a:t>// variable argument</a:t>
            </a: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n3 = </a:t>
            </a:r>
            <a:r>
              <a:rPr lang="en-US" sz="2000" b="0" dirty="0" err="1">
                <a:latin typeface="Arial Black" pitchFamily="34" charset="0"/>
              </a:rPr>
              <a:t>Math.sqrt</a:t>
            </a:r>
            <a:r>
              <a:rPr lang="en-US" sz="2000" b="0" dirty="0">
                <a:latin typeface="Arial Black" pitchFamily="34" charset="0"/>
              </a:rPr>
              <a:t>(n1 + n2);       	</a:t>
            </a:r>
            <a:r>
              <a:rPr lang="en-US" sz="2000" b="0" dirty="0">
                <a:solidFill>
                  <a:srgbClr val="FF0000"/>
                </a:solidFill>
                <a:latin typeface="Arial Black" pitchFamily="34" charset="0"/>
              </a:rPr>
              <a:t>// expression argument</a:t>
            </a: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n4 = </a:t>
            </a:r>
            <a:r>
              <a:rPr lang="en-US" sz="2000" b="0" dirty="0" err="1">
                <a:latin typeface="Arial Black" pitchFamily="34" charset="0"/>
              </a:rPr>
              <a:t>Math.sqrt</a:t>
            </a:r>
            <a:r>
              <a:rPr lang="en-US" sz="2000" b="0" dirty="0">
                <a:latin typeface="Arial Black" pitchFamily="34" charset="0"/>
              </a:rPr>
              <a:t>(</a:t>
            </a:r>
            <a:r>
              <a:rPr lang="en-US" sz="2000" b="0" dirty="0" err="1">
                <a:latin typeface="Arial Black" pitchFamily="34" charset="0"/>
              </a:rPr>
              <a:t>Math.sqrt</a:t>
            </a:r>
            <a:r>
              <a:rPr lang="en-US" sz="2000" b="0" dirty="0">
                <a:latin typeface="Arial Black" pitchFamily="34" charset="0"/>
              </a:rPr>
              <a:t>(256));  </a:t>
            </a:r>
            <a:r>
              <a:rPr lang="en-US" sz="2000" b="0" dirty="0">
                <a:solidFill>
                  <a:srgbClr val="FF0000"/>
                </a:solidFill>
                <a:latin typeface="Arial Black" pitchFamily="34" charset="0"/>
              </a:rPr>
              <a:t>	// method argument</a:t>
            </a:r>
          </a:p>
          <a:p>
            <a:pPr eaLnBrk="1" hangingPunct="1"/>
            <a:endParaRPr lang="en-US" sz="2000" dirty="0" smtClean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("n1: " + n1);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("n2: " + n2);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("n3: " + n3);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("n4: " + n4);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0" y="0"/>
            <a:ext cx="5486400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n1: 32.0</a:t>
            </a:r>
          </a:p>
          <a:p>
            <a:r>
              <a:rPr lang="pt-BR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n2: 5.656854249492381</a:t>
            </a:r>
          </a:p>
          <a:p>
            <a:r>
              <a:rPr lang="pt-BR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n3: 6.136518088418903</a:t>
            </a:r>
          </a:p>
          <a:p>
            <a:r>
              <a:rPr lang="pt-BR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n4: 4.0</a:t>
            </a:r>
          </a:p>
        </p:txBody>
      </p:sp>
    </p:spTree>
    <p:extLst>
      <p:ext uri="{BB962C8B-B14F-4D97-AF65-F5344CB8AC3E}">
        <p14:creationId xmlns:p14="http://schemas.microsoft.com/office/powerpoint/2010/main" val="40851475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478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Method 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Arguments or Parameters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04800" y="1595021"/>
            <a:ext cx="8686800" cy="512064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latin typeface="+mn-lt"/>
                <a:sym typeface="Symbol" pitchFamily="18" charset="2"/>
              </a:rPr>
              <a:t>information, which is passed to a method is called an</a:t>
            </a: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r>
              <a:rPr lang="en-US" sz="2400" i="1" dirty="0">
                <a:latin typeface="+mn-lt"/>
                <a:sym typeface="Symbol" pitchFamily="18" charset="2"/>
              </a:rPr>
              <a:t>argument</a:t>
            </a:r>
            <a:r>
              <a:rPr lang="en-US" sz="2400" dirty="0">
                <a:latin typeface="+mn-lt"/>
                <a:sym typeface="Symbol" pitchFamily="18" charset="2"/>
              </a:rPr>
              <a:t> or a </a:t>
            </a:r>
            <a:r>
              <a:rPr lang="en-US" sz="2400" i="1" dirty="0">
                <a:latin typeface="+mn-lt"/>
                <a:sym typeface="Symbol" pitchFamily="18" charset="2"/>
              </a:rPr>
              <a:t>parameter</a:t>
            </a:r>
            <a:r>
              <a:rPr lang="en-US" sz="2400" dirty="0">
                <a:latin typeface="+mn-lt"/>
                <a:sym typeface="Symbol" pitchFamily="18" charset="2"/>
              </a:rPr>
              <a:t>.</a:t>
            </a: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endParaRPr lang="en-US" sz="2000" dirty="0">
              <a:latin typeface="+mn-lt"/>
              <a:sym typeface="Symbol" pitchFamily="18" charset="2"/>
            </a:endParaRP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r>
              <a:rPr lang="en-US" sz="2400" dirty="0">
                <a:latin typeface="+mn-lt"/>
                <a:sym typeface="Symbol" pitchFamily="18" charset="2"/>
              </a:rPr>
              <a:t>Parameters are placed between parentheses immediately following the method identifier.</a:t>
            </a: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endParaRPr lang="en-US" sz="2000" dirty="0">
              <a:latin typeface="+mn-lt"/>
              <a:sym typeface="Symbol" pitchFamily="18" charset="2"/>
            </a:endParaRP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r>
              <a:rPr lang="en-US" sz="2400" dirty="0">
                <a:latin typeface="+mn-lt"/>
                <a:sym typeface="Symbol" pitchFamily="18" charset="2"/>
              </a:rPr>
              <a:t>Parameters can be </a:t>
            </a:r>
            <a:r>
              <a:rPr lang="en-US" sz="2400" i="1" dirty="0">
                <a:latin typeface="+mn-lt"/>
                <a:sym typeface="Symbol" pitchFamily="18" charset="2"/>
              </a:rPr>
              <a:t>constants</a:t>
            </a:r>
            <a:r>
              <a:rPr lang="en-US" sz="2400" dirty="0">
                <a:latin typeface="+mn-lt"/>
                <a:sym typeface="Symbol" pitchFamily="18" charset="2"/>
              </a:rPr>
              <a:t>, </a:t>
            </a:r>
            <a:r>
              <a:rPr lang="en-US" sz="2400" i="1" dirty="0">
                <a:latin typeface="+mn-lt"/>
                <a:sym typeface="Symbol" pitchFamily="18" charset="2"/>
              </a:rPr>
              <a:t>variables</a:t>
            </a:r>
            <a:r>
              <a:rPr lang="en-US" sz="2400" dirty="0">
                <a:latin typeface="+mn-lt"/>
                <a:sym typeface="Symbol" pitchFamily="18" charset="2"/>
              </a:rPr>
              <a:t>, </a:t>
            </a:r>
            <a:r>
              <a:rPr lang="en-US" sz="2400" i="1" dirty="0">
                <a:latin typeface="+mn-lt"/>
                <a:sym typeface="Symbol" pitchFamily="18" charset="2"/>
              </a:rPr>
              <a:t>expressions</a:t>
            </a:r>
            <a:r>
              <a:rPr lang="en-US" sz="2400" dirty="0">
                <a:latin typeface="+mn-lt"/>
                <a:sym typeface="Symbol" pitchFamily="18" charset="2"/>
              </a:rPr>
              <a:t> or they can be </a:t>
            </a:r>
            <a:r>
              <a:rPr lang="en-US" sz="2400" i="1" dirty="0">
                <a:latin typeface="+mn-lt"/>
                <a:sym typeface="Symbol" pitchFamily="18" charset="2"/>
              </a:rPr>
              <a:t>methods</a:t>
            </a:r>
            <a:r>
              <a:rPr lang="en-US" sz="2400" dirty="0">
                <a:latin typeface="+mn-lt"/>
                <a:sym typeface="Symbol" pitchFamily="18" charset="2"/>
              </a:rPr>
              <a:t>.  </a:t>
            </a: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endParaRPr lang="en-US" sz="2000" dirty="0">
              <a:latin typeface="+mn-lt"/>
              <a:sym typeface="Symbol" pitchFamily="18" charset="2"/>
            </a:endParaRPr>
          </a:p>
          <a:p>
            <a:pPr>
              <a:tabLst>
                <a:tab pos="457200" algn="l"/>
                <a:tab pos="796925" algn="l"/>
                <a:tab pos="1371600" algn="l"/>
                <a:tab pos="2065338" algn="l"/>
              </a:tabLst>
              <a:defRPr/>
            </a:pPr>
            <a:r>
              <a:rPr lang="en-US" sz="2400" dirty="0">
                <a:latin typeface="+mn-lt"/>
                <a:sym typeface="Symbol" pitchFamily="18" charset="2"/>
              </a:rPr>
              <a:t>The only requirement is that the correct data type value is passed to the method.  In other words, </a:t>
            </a:r>
            <a:r>
              <a:rPr lang="en-US" sz="2400" b="0" dirty="0" err="1">
                <a:latin typeface="Arial Black" pitchFamily="34" charset="0"/>
                <a:sym typeface="Symbol" pitchFamily="18" charset="2"/>
              </a:rPr>
              <a:t>Math.sqrt</a:t>
            </a:r>
            <a:r>
              <a:rPr lang="en-US" sz="2400" b="0" dirty="0">
                <a:latin typeface="Arial Black" pitchFamily="34" charset="0"/>
                <a:sym typeface="Symbol" pitchFamily="18" charset="2"/>
              </a:rPr>
              <a:t>(x</a:t>
            </a:r>
            <a:r>
              <a:rPr lang="en-US" sz="2400" dirty="0">
                <a:latin typeface="+mn-lt"/>
                <a:sym typeface="Symbol" pitchFamily="18" charset="2"/>
              </a:rPr>
              <a:t>) can compute the square root of </a:t>
            </a:r>
            <a:r>
              <a:rPr lang="en-US" sz="2400" b="0" dirty="0">
                <a:latin typeface="Arial Black" pitchFamily="34" charset="0"/>
                <a:sym typeface="Symbol" pitchFamily="18" charset="2"/>
              </a:rPr>
              <a:t>x</a:t>
            </a:r>
            <a:r>
              <a:rPr lang="en-US" sz="2400" dirty="0">
                <a:latin typeface="+mn-lt"/>
                <a:sym typeface="Symbol" pitchFamily="18" charset="2"/>
              </a:rPr>
              <a:t>, if </a:t>
            </a:r>
            <a:r>
              <a:rPr lang="en-US" sz="2400" b="0" dirty="0">
                <a:latin typeface="Arial Black" pitchFamily="34" charset="0"/>
                <a:sym typeface="Symbol" pitchFamily="18" charset="2"/>
              </a:rPr>
              <a:t>x</a:t>
            </a:r>
            <a:r>
              <a:rPr lang="en-US" sz="2400" dirty="0">
                <a:latin typeface="+mn-lt"/>
                <a:sym typeface="Symbol" pitchFamily="18" charset="2"/>
              </a:rPr>
              <a:t> </a:t>
            </a:r>
            <a:r>
              <a:rPr lang="en-US" sz="2400" dirty="0" smtClean="0">
                <a:sym typeface="Symbol" pitchFamily="18" charset="2"/>
              </a:rPr>
              <a:t>stores any non-negative number (</a:t>
            </a:r>
            <a:r>
              <a:rPr lang="en-US" sz="2400" b="0" dirty="0" err="1" smtClean="0">
                <a:latin typeface="Arial Black" pitchFamily="34" charset="0"/>
                <a:sym typeface="Symbol" pitchFamily="18" charset="2"/>
              </a:rPr>
              <a:t>int</a:t>
            </a:r>
            <a:r>
              <a:rPr lang="en-US" sz="2400" dirty="0" smtClean="0">
                <a:sym typeface="Symbol" pitchFamily="18" charset="2"/>
              </a:rPr>
              <a:t> or </a:t>
            </a:r>
            <a:r>
              <a:rPr lang="en-US" sz="2400" b="0" dirty="0" smtClean="0">
                <a:latin typeface="Arial Black" pitchFamily="34" charset="0"/>
                <a:sym typeface="Symbol" pitchFamily="18" charset="2"/>
              </a:rPr>
              <a:t>double</a:t>
            </a:r>
            <a:r>
              <a:rPr lang="en-US" sz="2400" dirty="0" smtClean="0">
                <a:sym typeface="Symbol" pitchFamily="18" charset="2"/>
              </a:rPr>
              <a:t>), </a:t>
            </a:r>
            <a:r>
              <a:rPr lang="en-US" sz="2400" dirty="0">
                <a:sym typeface="Symbol" pitchFamily="18" charset="2"/>
              </a:rPr>
              <a:t>but not if </a:t>
            </a:r>
            <a:r>
              <a:rPr lang="en-US" sz="2400" b="0" dirty="0">
                <a:latin typeface="Arial Black" pitchFamily="34" charset="0"/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smtClean="0">
                <a:sym typeface="Symbol" pitchFamily="18" charset="2"/>
              </a:rPr>
              <a:t>stores a </a:t>
            </a:r>
            <a:r>
              <a:rPr lang="en-US" sz="2400" b="0" dirty="0" smtClean="0">
                <a:latin typeface="Arial Black" pitchFamily="34" charset="0"/>
                <a:sym typeface="Symbol" pitchFamily="18" charset="2"/>
              </a:rPr>
              <a:t>String</a:t>
            </a:r>
            <a:r>
              <a:rPr lang="en-US" sz="2400" dirty="0" smtClean="0">
                <a:sym typeface="Symbol" pitchFamily="18" charset="2"/>
              </a:rPr>
              <a:t> value like </a:t>
            </a:r>
            <a:r>
              <a:rPr lang="en-US" sz="2400" b="0" dirty="0" smtClean="0">
                <a:latin typeface="Arial Black" pitchFamily="34" charset="0"/>
                <a:sym typeface="Symbol" pitchFamily="18" charset="2"/>
              </a:rPr>
              <a:t>"aardvark</a:t>
            </a:r>
            <a:r>
              <a:rPr lang="en-US" sz="2400" b="0" dirty="0">
                <a:latin typeface="Arial Black" pitchFamily="34" charset="0"/>
                <a:sym typeface="Symbol" pitchFamily="18" charset="2"/>
              </a:rPr>
              <a:t>"</a:t>
            </a:r>
            <a:r>
              <a:rPr lang="en-US" sz="2400" dirty="0">
                <a:sym typeface="Symbol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8330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// Java0403.java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// This program demonstrates the &lt;floor&gt; &lt;ceil&gt; and &lt;round&gt; methods.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// The &lt;floor&gt; method returns the truncation down to the next lower integer.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// The &lt;ceil&gt; method returns the next higher integer.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// The &lt;round&gt; method rounds the argument and returns the closest integer.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public class Java0403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public static void main (String </a:t>
            </a:r>
            <a:r>
              <a:rPr lang="en-US" dirty="0" err="1">
                <a:latin typeface="Times New Roman" pitchFamily="18" charset="0"/>
              </a:rPr>
              <a:t>args</a:t>
            </a:r>
            <a:r>
              <a:rPr lang="en-US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(5.001</a:t>
            </a:r>
            <a:r>
              <a:rPr lang="en-US" dirty="0" smtClean="0">
                <a:latin typeface="Times New Roman" pitchFamily="18" charset="0"/>
              </a:rPr>
              <a:t>)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(5.001));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(5.999</a:t>
            </a:r>
            <a:r>
              <a:rPr lang="en-US" dirty="0" smtClean="0">
                <a:latin typeface="Times New Roman" pitchFamily="18" charset="0"/>
              </a:rPr>
              <a:t>)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(5.999));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(5.5)  </a:t>
            </a:r>
            <a:r>
              <a:rPr lang="en-US" dirty="0" smtClean="0">
                <a:latin typeface="Times New Roman" pitchFamily="18" charset="0"/>
              </a:rPr>
              <a:t>	: " </a:t>
            </a:r>
            <a:r>
              <a:rPr lang="en-US" dirty="0">
                <a:latin typeface="Times New Roman" pitchFamily="18" charset="0"/>
              </a:rPr>
              <a:t>+ 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(5.5));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(5.499</a:t>
            </a:r>
            <a:r>
              <a:rPr lang="en-US" dirty="0" smtClean="0">
                <a:latin typeface="Times New Roman" pitchFamily="18" charset="0"/>
              </a:rPr>
              <a:t>)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Math.floor</a:t>
            </a:r>
            <a:r>
              <a:rPr lang="en-US" dirty="0">
                <a:latin typeface="Times New Roman" pitchFamily="18" charset="0"/>
              </a:rPr>
              <a:t>(5.499));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(5.001) </a:t>
            </a:r>
            <a:r>
              <a:rPr lang="en-US" dirty="0" smtClean="0">
                <a:latin typeface="Times New Roman" pitchFamily="18" charset="0"/>
              </a:rPr>
              <a:t>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(5.001));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(5.999) </a:t>
            </a:r>
            <a:r>
              <a:rPr lang="en-US" dirty="0" smtClean="0">
                <a:latin typeface="Times New Roman" pitchFamily="18" charset="0"/>
              </a:rPr>
              <a:t>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(5.999));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(5.5)   </a:t>
            </a:r>
            <a:r>
              <a:rPr lang="en-US" dirty="0" smtClean="0">
                <a:latin typeface="Times New Roman" pitchFamily="18" charset="0"/>
              </a:rPr>
              <a:t>	: " </a:t>
            </a:r>
            <a:r>
              <a:rPr lang="en-US" dirty="0">
                <a:latin typeface="Times New Roman" pitchFamily="18" charset="0"/>
              </a:rPr>
              <a:t>+ 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(5.5));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(5.499) </a:t>
            </a:r>
            <a:r>
              <a:rPr lang="en-US" dirty="0" smtClean="0">
                <a:latin typeface="Times New Roman" pitchFamily="18" charset="0"/>
              </a:rPr>
              <a:t>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Math.ceil</a:t>
            </a:r>
            <a:r>
              <a:rPr lang="en-US" dirty="0">
                <a:latin typeface="Times New Roman" pitchFamily="18" charset="0"/>
              </a:rPr>
              <a:t>(5.499));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(5.001</a:t>
            </a:r>
            <a:r>
              <a:rPr lang="en-US" dirty="0" smtClean="0">
                <a:latin typeface="Times New Roman" pitchFamily="18" charset="0"/>
              </a:rPr>
              <a:t>)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(5.001));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(5.999</a:t>
            </a:r>
            <a:r>
              <a:rPr lang="en-US" dirty="0" smtClean="0">
                <a:latin typeface="Times New Roman" pitchFamily="18" charset="0"/>
              </a:rPr>
              <a:t>)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(5.999));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(5.5)  </a:t>
            </a:r>
            <a:r>
              <a:rPr lang="en-US" dirty="0" smtClean="0">
                <a:latin typeface="Times New Roman" pitchFamily="18" charset="0"/>
              </a:rPr>
              <a:t>	: " </a:t>
            </a:r>
            <a:r>
              <a:rPr lang="en-US" dirty="0">
                <a:latin typeface="Times New Roman" pitchFamily="18" charset="0"/>
              </a:rPr>
              <a:t>+ 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(5.5));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(5.499</a:t>
            </a:r>
            <a:r>
              <a:rPr lang="en-US" dirty="0" smtClean="0">
                <a:latin typeface="Times New Roman" pitchFamily="18" charset="0"/>
              </a:rPr>
              <a:t>)	: </a:t>
            </a:r>
            <a:r>
              <a:rPr lang="en-US" dirty="0">
                <a:latin typeface="Times New Roman" pitchFamily="18" charset="0"/>
              </a:rPr>
              <a:t>" + </a:t>
            </a:r>
            <a:r>
              <a:rPr lang="en-US" dirty="0" err="1">
                <a:latin typeface="Times New Roman" pitchFamily="18" charset="0"/>
              </a:rPr>
              <a:t>Math.round</a:t>
            </a:r>
            <a:r>
              <a:rPr lang="en-US" dirty="0">
                <a:latin typeface="Times New Roman" pitchFamily="18" charset="0"/>
              </a:rPr>
              <a:t>(5.499));</a:t>
            </a:r>
          </a:p>
          <a:p>
            <a:pPr eaLnBrk="1" hangingPunct="1">
              <a:lnSpc>
                <a:spcPct val="94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80695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0"/>
            <a:ext cx="54864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JAVA0403.JAVA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Math.floor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(5.001): 5.0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Math.floor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(5.999): 5.0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Math.floor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(5.5)  : 5.0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Math.floor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(5.499): 5.0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Math.ceil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(5.001) : 6.0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Math.ceil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(5.999) : 6.0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Math.ceil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(5.5)   : 6.0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Math.ceil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(5.499) : 6.0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Math.round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(5.001): 5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Math.round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(5.999): 6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Math.round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(5.5)  : 6</a:t>
            </a:r>
          </a:p>
          <a:p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Math.round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(5.499): 5</a:t>
            </a:r>
          </a:p>
          <a:p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100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8752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err="1">
                <a:latin typeface="Times New Roman" pitchFamily="18" charset="0"/>
              </a:rPr>
              <a:t>Java0404.java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// This program demonstrates the &lt;max&gt; and &lt;min&gt; methods.</a:t>
            </a: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&lt;</a:t>
            </a:r>
            <a:r>
              <a:rPr lang="en-US" sz="2200" dirty="0" err="1" smtClean="0">
                <a:latin typeface="Times New Roman" pitchFamily="18" charset="0"/>
              </a:rPr>
              <a:t>Math.max</a:t>
            </a:r>
            <a:r>
              <a:rPr lang="en-US" sz="2200" dirty="0" smtClean="0">
                <a:latin typeface="Times New Roman" pitchFamily="18" charset="0"/>
              </a:rPr>
              <a:t>&gt; </a:t>
            </a:r>
            <a:r>
              <a:rPr lang="en-US" sz="2200" dirty="0">
                <a:latin typeface="Times New Roman" pitchFamily="18" charset="0"/>
              </a:rPr>
              <a:t>returns the largest value of the two arguments.</a:t>
            </a: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&lt;</a:t>
            </a:r>
            <a:r>
              <a:rPr lang="en-US" sz="2200" dirty="0" err="1" smtClean="0">
                <a:latin typeface="Times New Roman" pitchFamily="18" charset="0"/>
              </a:rPr>
              <a:t>Math.min</a:t>
            </a:r>
            <a:r>
              <a:rPr lang="en-US" sz="2200" dirty="0" smtClean="0">
                <a:latin typeface="Times New Roman" pitchFamily="18" charset="0"/>
              </a:rPr>
              <a:t>&gt; </a:t>
            </a:r>
            <a:r>
              <a:rPr lang="en-US" sz="2200" dirty="0">
                <a:latin typeface="Times New Roman" pitchFamily="18" charset="0"/>
              </a:rPr>
              <a:t>returns the smallest value of the two arguments.</a:t>
            </a:r>
          </a:p>
          <a:p>
            <a:pPr eaLnBrk="1" hangingPunct="1">
              <a:lnSpc>
                <a:spcPct val="106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public class </a:t>
            </a:r>
            <a:r>
              <a:rPr lang="en-US" sz="2200" dirty="0" err="1">
                <a:latin typeface="Times New Roman" pitchFamily="18" charset="0"/>
              </a:rPr>
              <a:t>Java0404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	public static void main (String </a:t>
            </a:r>
            <a:r>
              <a:rPr lang="en-US" sz="2200" dirty="0" err="1">
                <a:latin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Math.max</a:t>
            </a:r>
            <a:r>
              <a:rPr lang="en-US" sz="2200" dirty="0">
                <a:latin typeface="Times New Roman" pitchFamily="18" charset="0"/>
              </a:rPr>
              <a:t>(100,200</a:t>
            </a:r>
            <a:r>
              <a:rPr lang="en-US" sz="2200" dirty="0" smtClean="0">
                <a:latin typeface="Times New Roman" pitchFamily="18" charset="0"/>
              </a:rPr>
              <a:t>):	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</a:rPr>
              <a:t>Math.max</a:t>
            </a:r>
            <a:r>
              <a:rPr lang="en-US" sz="2200" dirty="0">
                <a:latin typeface="Times New Roman" pitchFamily="18" charset="0"/>
              </a:rPr>
              <a:t>(100,200));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Math.max</a:t>
            </a:r>
            <a:r>
              <a:rPr lang="en-US" sz="2200" dirty="0">
                <a:latin typeface="Times New Roman" pitchFamily="18" charset="0"/>
              </a:rPr>
              <a:t>(-10,-20): </a:t>
            </a:r>
            <a:r>
              <a:rPr lang="en-US" sz="2200" dirty="0" smtClean="0">
                <a:latin typeface="Times New Roman" pitchFamily="18" charset="0"/>
              </a:rPr>
              <a:t>	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</a:rPr>
              <a:t>Math.max</a:t>
            </a:r>
            <a:r>
              <a:rPr lang="en-US" sz="2200" dirty="0">
                <a:latin typeface="Times New Roman" pitchFamily="18" charset="0"/>
              </a:rPr>
              <a:t>(-10,-20));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Math.max</a:t>
            </a:r>
            <a:r>
              <a:rPr lang="en-US" sz="2200" dirty="0">
                <a:latin typeface="Times New Roman" pitchFamily="18" charset="0"/>
              </a:rPr>
              <a:t>(500,500</a:t>
            </a:r>
            <a:r>
              <a:rPr lang="en-US" sz="2200" dirty="0" smtClean="0">
                <a:latin typeface="Times New Roman" pitchFamily="18" charset="0"/>
              </a:rPr>
              <a:t>):	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</a:rPr>
              <a:t>Math.max</a:t>
            </a:r>
            <a:r>
              <a:rPr lang="en-US" sz="2200" dirty="0">
                <a:latin typeface="Times New Roman" pitchFamily="18" charset="0"/>
              </a:rPr>
              <a:t>(500,500));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Math.min</a:t>
            </a:r>
            <a:r>
              <a:rPr lang="en-US" sz="2200" dirty="0">
                <a:latin typeface="Times New Roman" pitchFamily="18" charset="0"/>
              </a:rPr>
              <a:t>(100,200): </a:t>
            </a:r>
            <a:r>
              <a:rPr lang="en-US" sz="2200" dirty="0" smtClean="0">
                <a:latin typeface="Times New Roman" pitchFamily="18" charset="0"/>
              </a:rPr>
              <a:t>	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</a:rPr>
              <a:t>Math.min</a:t>
            </a:r>
            <a:r>
              <a:rPr lang="en-US" sz="2200" dirty="0">
                <a:latin typeface="Times New Roman" pitchFamily="18" charset="0"/>
              </a:rPr>
              <a:t>(100,200));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Math.min</a:t>
            </a:r>
            <a:r>
              <a:rPr lang="en-US" sz="2200" dirty="0">
                <a:latin typeface="Times New Roman" pitchFamily="18" charset="0"/>
              </a:rPr>
              <a:t>(-10,-20): </a:t>
            </a:r>
            <a:r>
              <a:rPr lang="en-US" sz="2200" dirty="0" smtClean="0">
                <a:latin typeface="Times New Roman" pitchFamily="18" charset="0"/>
              </a:rPr>
              <a:t>	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</a:rPr>
              <a:t>Math.min</a:t>
            </a:r>
            <a:r>
              <a:rPr lang="en-US" sz="2200" dirty="0">
                <a:latin typeface="Times New Roman" pitchFamily="18" charset="0"/>
              </a:rPr>
              <a:t>(-10,-20));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Math.min</a:t>
            </a:r>
            <a:r>
              <a:rPr lang="en-US" sz="2200" dirty="0">
                <a:latin typeface="Times New Roman" pitchFamily="18" charset="0"/>
              </a:rPr>
              <a:t>(500,500): </a:t>
            </a:r>
            <a:r>
              <a:rPr lang="en-US" sz="2200" dirty="0" smtClean="0">
                <a:latin typeface="Times New Roman" pitchFamily="18" charset="0"/>
              </a:rPr>
              <a:t>	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</a:rPr>
              <a:t>Math.min</a:t>
            </a:r>
            <a:r>
              <a:rPr lang="en-US" sz="2200" dirty="0">
                <a:latin typeface="Times New Roman" pitchFamily="18" charset="0"/>
              </a:rPr>
              <a:t>(500,500));</a:t>
            </a:r>
          </a:p>
          <a:p>
            <a:pPr eaLnBrk="1" hangingPunct="1">
              <a:lnSpc>
                <a:spcPct val="106000"/>
              </a:lnSpc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943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06000"/>
              </a:lnSpc>
            </a:pPr>
            <a:r>
              <a:rPr lang="en-US" sz="22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0"/>
            <a:ext cx="5029200" cy="3108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(100,200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): 200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(-10,-20): -10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(500,500): 500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(100,200): 100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(-10,-20): -20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(500,500):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Java0405.java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This program demonstrates the &lt;abs&gt; and &lt;</a:t>
            </a:r>
            <a:r>
              <a:rPr lang="en-US" sz="2000" dirty="0" err="1">
                <a:latin typeface="Times New Roman" pitchFamily="18" charset="0"/>
              </a:rPr>
              <a:t>pow</a:t>
            </a:r>
            <a:r>
              <a:rPr lang="en-US" sz="2000" dirty="0">
                <a:latin typeface="Times New Roman" pitchFamily="18" charset="0"/>
              </a:rPr>
              <a:t>&gt; methods.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</a:rPr>
              <a:t>Math.abs</a:t>
            </a:r>
            <a:r>
              <a:rPr lang="en-US" sz="2000" dirty="0" smtClean="0">
                <a:latin typeface="Times New Roman" pitchFamily="18" charset="0"/>
              </a:rPr>
              <a:t>&gt; </a:t>
            </a:r>
            <a:r>
              <a:rPr lang="en-US" sz="2000" dirty="0">
                <a:latin typeface="Times New Roman" pitchFamily="18" charset="0"/>
              </a:rPr>
              <a:t>returns the absolute value of the argument.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</a:rPr>
              <a:t>Math.pow</a:t>
            </a:r>
            <a:r>
              <a:rPr lang="en-US" sz="2000" dirty="0" smtClean="0">
                <a:latin typeface="Times New Roman" pitchFamily="18" charset="0"/>
              </a:rPr>
              <a:t>&gt; </a:t>
            </a:r>
            <a:r>
              <a:rPr lang="en-US" sz="2000" dirty="0">
                <a:latin typeface="Times New Roman" pitchFamily="18" charset="0"/>
              </a:rPr>
              <a:t>returns the first argument raised to the power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of the second argument</a:t>
            </a:r>
            <a:r>
              <a:rPr lang="en-US" sz="2000" dirty="0" smtClean="0">
                <a:latin typeface="Times New Roman" pitchFamily="18" charset="0"/>
              </a:rPr>
              <a:t>.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public class Java0405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Math.abs</a:t>
            </a:r>
            <a:r>
              <a:rPr lang="en-US" sz="2000" dirty="0">
                <a:latin typeface="Times New Roman" pitchFamily="18" charset="0"/>
              </a:rPr>
              <a:t>(-25): " + </a:t>
            </a:r>
            <a:r>
              <a:rPr lang="en-US" sz="2000" dirty="0" err="1">
                <a:latin typeface="Times New Roman" pitchFamily="18" charset="0"/>
              </a:rPr>
              <a:t>Math.abs</a:t>
            </a:r>
            <a:r>
              <a:rPr lang="en-US" sz="2000" dirty="0">
                <a:latin typeface="Times New Roman" pitchFamily="18" charset="0"/>
              </a:rPr>
              <a:t>(-25));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Math.abs</a:t>
            </a:r>
            <a:r>
              <a:rPr lang="en-US" sz="2000" dirty="0">
                <a:latin typeface="Times New Roman" pitchFamily="18" charset="0"/>
              </a:rPr>
              <a:t>(100): " + </a:t>
            </a:r>
            <a:r>
              <a:rPr lang="en-US" sz="2000" dirty="0" err="1">
                <a:latin typeface="Times New Roman" pitchFamily="18" charset="0"/>
              </a:rPr>
              <a:t>Math.abs</a:t>
            </a:r>
            <a:r>
              <a:rPr lang="en-US" sz="2000" dirty="0">
                <a:latin typeface="Times New Roman" pitchFamily="18" charset="0"/>
              </a:rPr>
              <a:t>(100));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Math.abs</a:t>
            </a:r>
            <a:r>
              <a:rPr lang="en-US" sz="2000" dirty="0">
                <a:latin typeface="Times New Roman" pitchFamily="18" charset="0"/>
              </a:rPr>
              <a:t>(0)  </a:t>
            </a:r>
            <a:r>
              <a:rPr lang="en-US" sz="2000" dirty="0" smtClean="0">
                <a:latin typeface="Times New Roman" pitchFamily="18" charset="0"/>
              </a:rPr>
              <a:t>  : </a:t>
            </a:r>
            <a:r>
              <a:rPr lang="en-US" sz="2000" dirty="0">
                <a:latin typeface="Times New Roman" pitchFamily="18" charset="0"/>
              </a:rPr>
              <a:t>" + </a:t>
            </a:r>
            <a:r>
              <a:rPr lang="en-US" sz="2000" dirty="0" err="1">
                <a:latin typeface="Times New Roman" pitchFamily="18" charset="0"/>
              </a:rPr>
              <a:t>Math.abs</a:t>
            </a:r>
            <a:r>
              <a:rPr lang="en-US" sz="2000" dirty="0">
                <a:latin typeface="Times New Roman" pitchFamily="18" charset="0"/>
              </a:rPr>
              <a:t>(0));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Math.pow</a:t>
            </a:r>
            <a:r>
              <a:rPr lang="en-US" sz="2000" dirty="0">
                <a:latin typeface="Times New Roman" pitchFamily="18" charset="0"/>
              </a:rPr>
              <a:t>(3,4) : " + </a:t>
            </a:r>
            <a:r>
              <a:rPr lang="en-US" sz="2000" dirty="0" err="1">
                <a:latin typeface="Times New Roman" pitchFamily="18" charset="0"/>
              </a:rPr>
              <a:t>Math.pow</a:t>
            </a:r>
            <a:r>
              <a:rPr lang="en-US" sz="2000" dirty="0">
                <a:latin typeface="Times New Roman" pitchFamily="18" charset="0"/>
              </a:rPr>
              <a:t>(3,4));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Math.pow</a:t>
            </a:r>
            <a:r>
              <a:rPr lang="en-US" sz="2000" dirty="0">
                <a:latin typeface="Times New Roman" pitchFamily="18" charset="0"/>
              </a:rPr>
              <a:t>(-2,2): " + </a:t>
            </a:r>
            <a:r>
              <a:rPr lang="en-US" sz="2000" dirty="0" err="1">
                <a:latin typeface="Times New Roman" pitchFamily="18" charset="0"/>
              </a:rPr>
              <a:t>Math.pow</a:t>
            </a:r>
            <a:r>
              <a:rPr lang="en-US" sz="2000" dirty="0">
                <a:latin typeface="Times New Roman" pitchFamily="18" charset="0"/>
              </a:rPr>
              <a:t>(-2,2));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Math.pow</a:t>
            </a:r>
            <a:r>
              <a:rPr lang="en-US" sz="2000" dirty="0">
                <a:latin typeface="Times New Roman" pitchFamily="18" charset="0"/>
              </a:rPr>
              <a:t>(2,-2): " + </a:t>
            </a:r>
            <a:r>
              <a:rPr lang="en-US" sz="2000" dirty="0" err="1">
                <a:latin typeface="Times New Roman" pitchFamily="18" charset="0"/>
              </a:rPr>
              <a:t>Math.pow</a:t>
            </a:r>
            <a:r>
              <a:rPr lang="en-US" sz="2000" dirty="0">
                <a:latin typeface="Times New Roman" pitchFamily="18" charset="0"/>
              </a:rPr>
              <a:t>(2,-2));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347663" algn="l"/>
                <a:tab pos="682625" algn="l"/>
                <a:tab pos="1379538" algn="l"/>
                <a:tab pos="1827213" algn="l"/>
                <a:tab pos="2293938" algn="l"/>
              </a:tabLst>
            </a:pPr>
            <a:r>
              <a:rPr lang="en-US" sz="20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705600" y="3920222"/>
            <a:ext cx="2438400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sz="4000" dirty="0">
                <a:solidFill>
                  <a:srgbClr val="C00000"/>
                </a:solidFill>
              </a:rPr>
              <a:t>3</a:t>
            </a:r>
            <a:r>
              <a:rPr lang="en-US" sz="4000" baseline="30000" dirty="0">
                <a:solidFill>
                  <a:srgbClr val="C00000"/>
                </a:solidFill>
              </a:rPr>
              <a:t>4</a:t>
            </a:r>
            <a:r>
              <a:rPr lang="en-US" sz="4000" dirty="0">
                <a:solidFill>
                  <a:srgbClr val="C00000"/>
                </a:solidFill>
              </a:rPr>
              <a:t> = </a:t>
            </a:r>
            <a:r>
              <a:rPr lang="en-US" sz="4000" dirty="0" smtClean="0">
                <a:solidFill>
                  <a:srgbClr val="C00000"/>
                </a:solidFill>
              </a:rPr>
              <a:t>81</a:t>
            </a:r>
            <a:endParaRPr lang="en-US" sz="1400" dirty="0">
              <a:solidFill>
                <a:srgbClr val="C00000"/>
              </a:solidFill>
            </a:endParaRPr>
          </a:p>
          <a:p>
            <a:pPr algn="r" eaLnBrk="1" hangingPunct="1"/>
            <a:endParaRPr lang="en-US" sz="900" dirty="0" smtClean="0">
              <a:solidFill>
                <a:srgbClr val="C00000"/>
              </a:solidFill>
            </a:endParaRPr>
          </a:p>
          <a:p>
            <a:pPr algn="r" eaLnBrk="1" hangingPunct="1"/>
            <a:r>
              <a:rPr lang="en-US" sz="4000" dirty="0" smtClean="0">
                <a:solidFill>
                  <a:srgbClr val="C00000"/>
                </a:solidFill>
              </a:rPr>
              <a:t>(-</a:t>
            </a:r>
            <a:r>
              <a:rPr lang="en-US" sz="4000" dirty="0">
                <a:solidFill>
                  <a:srgbClr val="C00000"/>
                </a:solidFill>
              </a:rPr>
              <a:t>2)</a:t>
            </a:r>
            <a:r>
              <a:rPr lang="en-US" sz="4000" baseline="30000" dirty="0">
                <a:solidFill>
                  <a:srgbClr val="C00000"/>
                </a:solidFill>
              </a:rPr>
              <a:t>2</a:t>
            </a:r>
            <a:r>
              <a:rPr lang="en-US" sz="4000" dirty="0">
                <a:solidFill>
                  <a:srgbClr val="C00000"/>
                </a:solidFill>
              </a:rPr>
              <a:t> = 4     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4032250" y="5029200"/>
            <a:ext cx="4959350" cy="1676400"/>
            <a:chOff x="3803650" y="4800600"/>
            <a:chExt cx="4959350" cy="1676400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803650" y="4800600"/>
              <a:ext cx="4959350" cy="1676400"/>
              <a:chOff x="1219200" y="5105400"/>
              <a:chExt cx="4960121" cy="1676400"/>
            </a:xfrm>
          </p:grpSpPr>
          <p:sp>
            <p:nvSpPr>
              <p:cNvPr id="8" name="TextBox 10"/>
              <p:cNvSpPr txBox="1">
                <a:spLocks noChangeArrowheads="1"/>
              </p:cNvSpPr>
              <p:nvPr/>
            </p:nvSpPr>
            <p:spPr bwMode="auto">
              <a:xfrm>
                <a:off x="1219200" y="5105400"/>
                <a:ext cx="4960121" cy="1323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4000" dirty="0">
                    <a:solidFill>
                      <a:srgbClr val="C00000"/>
                    </a:solidFill>
                  </a:rPr>
                  <a:t>         </a:t>
                </a:r>
              </a:p>
              <a:p>
                <a:pPr eaLnBrk="1" hangingPunct="1"/>
                <a:r>
                  <a:rPr lang="en-US" sz="4000" dirty="0">
                    <a:solidFill>
                      <a:srgbClr val="C00000"/>
                    </a:solidFill>
                  </a:rPr>
                  <a:t>2</a:t>
                </a:r>
                <a:r>
                  <a:rPr lang="en-US" sz="4000" baseline="30000" dirty="0">
                    <a:solidFill>
                      <a:srgbClr val="C00000"/>
                    </a:solidFill>
                  </a:rPr>
                  <a:t>-2</a:t>
                </a:r>
                <a:r>
                  <a:rPr lang="en-US" sz="4000" dirty="0">
                    <a:solidFill>
                      <a:srgbClr val="C00000"/>
                    </a:solidFill>
                  </a:rPr>
                  <a:t> =       = ¼ = 0.25 </a:t>
                </a:r>
              </a:p>
            </p:txBody>
          </p:sp>
          <p:sp>
            <p:nvSpPr>
              <p:cNvPr id="9" name="TextBox 11"/>
              <p:cNvSpPr txBox="1">
                <a:spLocks noChangeArrowheads="1"/>
              </p:cNvSpPr>
              <p:nvPr/>
            </p:nvSpPr>
            <p:spPr bwMode="auto">
              <a:xfrm>
                <a:off x="2431278" y="5458361"/>
                <a:ext cx="921522" cy="1323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4000">
                    <a:solidFill>
                      <a:srgbClr val="C00000"/>
                    </a:solidFill>
                  </a:rPr>
                  <a:t> 1</a:t>
                </a:r>
                <a:r>
                  <a:rPr lang="en-US" sz="4000" u="sng">
                    <a:solidFill>
                      <a:srgbClr val="C00000"/>
                    </a:solidFill>
                  </a:rPr>
                  <a:t> </a:t>
                </a:r>
                <a:r>
                  <a:rPr lang="en-US" sz="4000">
                    <a:solidFill>
                      <a:srgbClr val="C00000"/>
                    </a:solidFill>
                  </a:rPr>
                  <a:t>         </a:t>
                </a:r>
              </a:p>
              <a:p>
                <a:pPr eaLnBrk="1" hangingPunct="1"/>
                <a:r>
                  <a:rPr lang="en-US" sz="2400">
                    <a:solidFill>
                      <a:srgbClr val="C00000"/>
                    </a:solidFill>
                  </a:rPr>
                  <a:t> </a:t>
                </a:r>
                <a:r>
                  <a:rPr lang="en-US" sz="4000">
                    <a:solidFill>
                      <a:srgbClr val="C00000"/>
                    </a:solidFill>
                  </a:rPr>
                  <a:t>2</a:t>
                </a:r>
                <a:r>
                  <a:rPr lang="en-US" sz="4000" baseline="30000">
                    <a:solidFill>
                      <a:srgbClr val="C00000"/>
                    </a:solidFill>
                  </a:rPr>
                  <a:t>2</a:t>
                </a:r>
                <a:r>
                  <a:rPr lang="en-US" sz="4000">
                    <a:solidFill>
                      <a:srgbClr val="C00000"/>
                    </a:solidFill>
                  </a:rPr>
                  <a:t> </a:t>
                </a:r>
              </a:p>
            </p:txBody>
          </p:sp>
        </p:grpSp>
        <p:cxnSp>
          <p:nvCxnSpPr>
            <p:cNvPr id="7" name="Straight Connector 2"/>
            <p:cNvCxnSpPr>
              <a:cxnSpLocks noChangeShapeType="1"/>
            </p:cNvCxnSpPr>
            <p:nvPr/>
          </p:nvCxnSpPr>
          <p:spPr bwMode="auto">
            <a:xfrm>
              <a:off x="5029200" y="5791200"/>
              <a:ext cx="731520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" name="TextBox 9"/>
          <p:cNvSpPr txBox="1"/>
          <p:nvPr/>
        </p:nvSpPr>
        <p:spPr>
          <a:xfrm>
            <a:off x="4572000" y="0"/>
            <a:ext cx="4572000" cy="3017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(-25): 25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(100): 100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(0)  : 0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(3,4) : 81.0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(-2,2): 4.0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(2,-2):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0.25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4912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err="1">
                <a:latin typeface="Times New Roman" pitchFamily="18" charset="0"/>
              </a:rPr>
              <a:t>Java0406.java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// This program demonstrates the &lt;PI&gt; and &lt;E&gt; fields of the 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</a:rPr>
              <a:t>&lt;Math&gt; </a:t>
            </a:r>
            <a:r>
              <a:rPr lang="en-US" sz="2400" dirty="0">
                <a:latin typeface="Times New Roman" pitchFamily="18" charset="0"/>
              </a:rPr>
              <a:t>class.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// Both &lt;PI&gt; and &lt;E&gt; are "final" attributes of the &lt;Math&gt; class.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// &lt;PI&gt; and &lt;E&gt; are not methods.  Note there are no parentheses.</a:t>
            </a:r>
          </a:p>
          <a:p>
            <a:pPr eaLnBrk="1" hangingPunct="1">
              <a:lnSpc>
                <a:spcPct val="18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public class </a:t>
            </a:r>
            <a:r>
              <a:rPr lang="en-US" sz="2400" dirty="0" err="1">
                <a:latin typeface="Times New Roman" pitchFamily="18" charset="0"/>
              </a:rPr>
              <a:t>Java0406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</a:t>
            </a:r>
            <a:r>
              <a:rPr lang="en-US" sz="2400" dirty="0" err="1">
                <a:latin typeface="Times New Roman" pitchFamily="18" charset="0"/>
              </a:rPr>
              <a:t>Math.PI</a:t>
            </a:r>
            <a:r>
              <a:rPr lang="en-US" sz="2400" dirty="0">
                <a:latin typeface="Times New Roman" pitchFamily="18" charset="0"/>
              </a:rPr>
              <a:t>: " + </a:t>
            </a:r>
            <a:r>
              <a:rPr lang="en-US" sz="2800" b="0" dirty="0" err="1">
                <a:latin typeface="Arial Black" panose="020B0A04020102020204" pitchFamily="34" charset="0"/>
              </a:rPr>
              <a:t>Math.PI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</a:t>
            </a:r>
            <a:r>
              <a:rPr lang="en-US" sz="2400" dirty="0" err="1">
                <a:latin typeface="Times New Roman" pitchFamily="18" charset="0"/>
              </a:rPr>
              <a:t>Math.E</a:t>
            </a:r>
            <a:r>
              <a:rPr lang="en-US" sz="2400" dirty="0">
                <a:latin typeface="Times New Roman" pitchFamily="18" charset="0"/>
              </a:rPr>
              <a:t> : " + </a:t>
            </a:r>
            <a:r>
              <a:rPr lang="en-US" sz="2800" b="0" dirty="0" err="1">
                <a:latin typeface="Arial Black" panose="020B0A04020102020204" pitchFamily="34" charset="0"/>
              </a:rPr>
              <a:t>Math.E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sz="2400" dirty="0"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8400" y="0"/>
            <a:ext cx="670560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3.141592653589793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2.718281828459045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971800" y="2413337"/>
            <a:ext cx="2786055" cy="1079926"/>
            <a:chOff x="2971800" y="2413337"/>
            <a:chExt cx="2786055" cy="1079926"/>
          </a:xfrm>
        </p:grpSpPr>
        <p:pic>
          <p:nvPicPr>
            <p:cNvPr id="1026" name="Picture 2" descr="C:\Users\JohnSchram\AppData\Local\Microsoft\Windows\Temporary Internet Files\Content.IE5\OE5MU63T\MC900105082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2523999"/>
              <a:ext cx="762610" cy="96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3684852" y="2413337"/>
              <a:ext cx="2073003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all" spc="0" dirty="0" smtClean="0">
                  <a:ln w="9000" cmpd="sng">
                    <a:solidFill>
                      <a:schemeClr val="accent4">
                        <a:shade val="50000"/>
                        <a:satMod val="12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4">
                          <a:shade val="20000"/>
                          <a:satMod val="245000"/>
                        </a:schemeClr>
                      </a:gs>
                      <a:gs pos="43000">
                        <a:schemeClr val="accent4">
                          <a:satMod val="255000"/>
                        </a:schemeClr>
                      </a:gs>
                      <a:gs pos="48000">
                        <a:schemeClr val="accent4">
                          <a:shade val="85000"/>
                          <a:satMod val="255000"/>
                        </a:schemeClr>
                      </a:gs>
                      <a:gs pos="100000">
                        <a:schemeClr val="accent4">
                          <a:shade val="20000"/>
                          <a:satMod val="245000"/>
                        </a:schemeClr>
                      </a:gs>
                    </a:gsLst>
                    <a:lin ang="5400000"/>
                  </a:gra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sz="2400" b="1" cap="all" spc="0" dirty="0" smtClean="0">
                  <a:ln w="9000" cmpd="sng">
                    <a:solidFill>
                      <a:schemeClr val="accent4">
                        <a:shade val="50000"/>
                        <a:satMod val="12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4">
                          <a:shade val="20000"/>
                          <a:satMod val="245000"/>
                        </a:schemeClr>
                      </a:gs>
                      <a:gs pos="43000">
                        <a:schemeClr val="accent4">
                          <a:satMod val="255000"/>
                        </a:schemeClr>
                      </a:gs>
                      <a:gs pos="48000">
                        <a:schemeClr val="accent4">
                          <a:shade val="85000"/>
                          <a:satMod val="255000"/>
                        </a:schemeClr>
                      </a:gs>
                      <a:gs pos="100000">
                        <a:schemeClr val="accent4">
                          <a:shade val="20000"/>
                          <a:satMod val="245000"/>
                        </a:schemeClr>
                      </a:gs>
                    </a:gsLst>
                    <a:lin ang="5400000"/>
                  </a:gra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6000" b="1" cap="all" spc="0" dirty="0" smtClean="0">
                  <a:ln w="9000" cmpd="sng">
                    <a:solidFill>
                      <a:schemeClr val="accent4">
                        <a:shade val="50000"/>
                        <a:satMod val="12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4">
                          <a:shade val="20000"/>
                          <a:satMod val="245000"/>
                        </a:schemeClr>
                      </a:gs>
                      <a:gs pos="43000">
                        <a:schemeClr val="accent4">
                          <a:satMod val="255000"/>
                        </a:schemeClr>
                      </a:gs>
                      <a:gs pos="48000">
                        <a:schemeClr val="accent4">
                          <a:shade val="85000"/>
                          <a:satMod val="255000"/>
                        </a:schemeClr>
                      </a:gs>
                      <a:gs pos="100000">
                        <a:schemeClr val="accent4">
                          <a:shade val="20000"/>
                          <a:satMod val="245000"/>
                        </a:schemeClr>
                      </a:gs>
                    </a:gsLst>
                    <a:lin ang="5400000"/>
                  </a:gra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3.14</a:t>
              </a:r>
              <a:endParaRPr lang="en-US" sz="60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532437" y="2231136"/>
            <a:ext cx="3611563" cy="1603375"/>
            <a:chOff x="5532437" y="2231136"/>
            <a:chExt cx="3611563" cy="1603375"/>
          </a:xfrm>
        </p:grpSpPr>
        <p:pic>
          <p:nvPicPr>
            <p:cNvPr id="1029" name="Picture 5" descr="C:\Users\JohnSchram\AppData\Local\Microsoft\Windows\Temporary Internet Files\Content.IE5\3CVVRU9R\MC900436337[1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2400" y="2322831"/>
              <a:ext cx="1371600" cy="1371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2437" y="2231136"/>
              <a:ext cx="2773363" cy="160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4000"/>
          </a:xfrm>
        </p:spPr>
        <p:txBody>
          <a:bodyPr/>
          <a:lstStyle/>
          <a:p>
            <a:pPr eaLnBrk="1" hangingPunct="1"/>
            <a:r>
              <a:rPr lang="en-US" sz="5400" dirty="0" smtClean="0">
                <a:latin typeface="Arial Black" pitchFamily="34" charset="0"/>
              </a:rPr>
              <a:t>AP</a:t>
            </a:r>
            <a:r>
              <a:rPr lang="en-US" sz="5400" baseline="30000" dirty="0" smtClean="0">
                <a:latin typeface="Arial Black" pitchFamily="34" charset="0"/>
              </a:rPr>
              <a:t>®</a:t>
            </a:r>
            <a:r>
              <a:rPr lang="en-US" sz="5400" dirty="0" smtClean="0">
                <a:latin typeface="Arial Black" pitchFamily="34" charset="0"/>
              </a:rPr>
              <a:t> Exam Alert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609600" y="1747838"/>
            <a:ext cx="7765256" cy="440120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200" dirty="0"/>
              <a:t>The </a:t>
            </a:r>
            <a:r>
              <a:rPr lang="en-US" sz="3200" b="0" dirty="0">
                <a:latin typeface="Arial Black" pitchFamily="34" charset="0"/>
              </a:rPr>
              <a:t>Math</a:t>
            </a:r>
            <a:r>
              <a:rPr lang="en-US" sz="3200" dirty="0"/>
              <a:t> class has many methods.</a:t>
            </a:r>
          </a:p>
          <a:p>
            <a:r>
              <a:rPr lang="en-US" sz="2800" dirty="0"/>
              <a:t> </a:t>
            </a:r>
          </a:p>
          <a:p>
            <a:r>
              <a:rPr lang="en-US" sz="3200" dirty="0"/>
              <a:t>Only the </a:t>
            </a:r>
            <a:r>
              <a:rPr lang="en-US" sz="3200" b="0" dirty="0">
                <a:latin typeface="Arial Black" pitchFamily="34" charset="0"/>
              </a:rPr>
              <a:t>abs</a:t>
            </a:r>
            <a:r>
              <a:rPr lang="en-US" sz="3200" dirty="0"/>
              <a:t>, </a:t>
            </a:r>
            <a:r>
              <a:rPr lang="en-US" sz="3200" b="0" dirty="0" err="1">
                <a:latin typeface="Arial Black" pitchFamily="34" charset="0"/>
              </a:rPr>
              <a:t>pow</a:t>
            </a:r>
            <a:r>
              <a:rPr lang="en-US" sz="3200" dirty="0"/>
              <a:t>, </a:t>
            </a:r>
            <a:r>
              <a:rPr lang="en-US" sz="3200" b="0" dirty="0" err="1">
                <a:latin typeface="Arial Black" pitchFamily="34" charset="0"/>
              </a:rPr>
              <a:t>sqrt</a:t>
            </a:r>
            <a:r>
              <a:rPr lang="en-US" sz="3200" dirty="0"/>
              <a:t> and </a:t>
            </a:r>
            <a:r>
              <a:rPr lang="en-US" sz="3200" b="0" dirty="0">
                <a:latin typeface="Arial Black" pitchFamily="34" charset="0"/>
              </a:rPr>
              <a:t>random</a:t>
            </a:r>
            <a:r>
              <a:rPr lang="en-US" sz="3200" dirty="0"/>
              <a:t> methods will be tested on the </a:t>
            </a:r>
            <a:endParaRPr lang="en-US" sz="3200" dirty="0" smtClean="0"/>
          </a:p>
          <a:p>
            <a:r>
              <a:rPr lang="en-US" sz="3200" dirty="0" smtClean="0"/>
              <a:t>AP</a:t>
            </a:r>
            <a:r>
              <a:rPr lang="en-US" sz="3200" baseline="30000" dirty="0" smtClean="0"/>
              <a:t>®</a:t>
            </a:r>
            <a:r>
              <a:rPr lang="en-US" sz="3200" dirty="0" smtClean="0"/>
              <a:t> </a:t>
            </a:r>
            <a:r>
              <a:rPr lang="en-US" sz="3200" dirty="0"/>
              <a:t>Computer Science Examination.</a:t>
            </a:r>
          </a:p>
          <a:p>
            <a:r>
              <a:rPr lang="en-US" sz="2800" dirty="0"/>
              <a:t> </a:t>
            </a:r>
          </a:p>
          <a:p>
            <a:r>
              <a:rPr lang="en-US" sz="3200" dirty="0"/>
              <a:t>You will learn about </a:t>
            </a:r>
            <a:endParaRPr lang="en-US" sz="3200" dirty="0" smtClean="0"/>
          </a:p>
          <a:p>
            <a:r>
              <a:rPr lang="en-US" sz="3200" b="0" dirty="0" err="1" smtClean="0">
                <a:latin typeface="Arial Black" pitchFamily="34" charset="0"/>
              </a:rPr>
              <a:t>Math.random</a:t>
            </a:r>
            <a:r>
              <a:rPr lang="en-US" sz="3200" b="0" dirty="0">
                <a:latin typeface="Arial Black" pitchFamily="34" charset="0"/>
              </a:rPr>
              <a:t>() </a:t>
            </a:r>
            <a:endParaRPr lang="en-US" sz="3200" b="0" dirty="0" smtClean="0">
              <a:latin typeface="Arial Black" pitchFamily="34" charset="0"/>
            </a:endParaRPr>
          </a:p>
          <a:p>
            <a:r>
              <a:rPr lang="en-US" sz="3200" dirty="0" smtClean="0"/>
              <a:t>in chapter 6.</a:t>
            </a:r>
            <a:r>
              <a:rPr lang="en-US" sz="3200" dirty="0"/>
              <a:t>	</a:t>
            </a:r>
          </a:p>
        </p:txBody>
      </p:sp>
      <p:pic>
        <p:nvPicPr>
          <p:cNvPr id="58372" name="Picture 4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5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6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5" name="Picture 7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6" name="Picture 8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7" name="Picture 9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MMAG00293_0000[1]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638" y="4191000"/>
            <a:ext cx="229076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329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4.5</a:t>
            </a:r>
          </a:p>
        </p:txBody>
      </p:sp>
      <p:sp>
        <p:nvSpPr>
          <p:cNvPr id="21508" name="WordArt 2"/>
          <p:cNvSpPr>
            <a:spLocks noChangeArrowheads="1" noChangeShapeType="1" noTextEdit="1"/>
          </p:cNvSpPr>
          <p:nvPr/>
        </p:nvSpPr>
        <p:spPr bwMode="auto">
          <a:xfrm>
            <a:off x="457200" y="3036888"/>
            <a:ext cx="8382000" cy="2144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Graphics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21509" name="WordArt 2"/>
          <p:cNvSpPr>
            <a:spLocks noChangeArrowheads="1" noChangeShapeType="1" noTextEdit="1"/>
          </p:cNvSpPr>
          <p:nvPr/>
        </p:nvSpPr>
        <p:spPr bwMode="auto">
          <a:xfrm>
            <a:off x="457200" y="4789488"/>
            <a:ext cx="8382000" cy="19923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Coordinates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457200" y="1371600"/>
            <a:ext cx="8382000" cy="19923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Geometric &amp;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Learning</a:t>
            </a:r>
            <a:br>
              <a:rPr lang="en-US" sz="4800" smtClean="0">
                <a:latin typeface="Arial Black" pitchFamily="34" charset="0"/>
              </a:rPr>
            </a:br>
            <a:r>
              <a:rPr lang="en-US" sz="4800" smtClean="0">
                <a:latin typeface="Arial Black" pitchFamily="34" charset="0"/>
              </a:rPr>
              <a:t>Graphics Programming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33400" y="1689100"/>
            <a:ext cx="8153400" cy="50165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>
                <a:sym typeface="Symbol" pitchFamily="18" charset="2"/>
              </a:rPr>
              <a:t>Learning graphics programming is not simply a fun issue.  </a:t>
            </a:r>
          </a:p>
          <a:p>
            <a:pPr eaLnBrk="1" hangingPunct="1">
              <a:lnSpc>
                <a:spcPct val="80000"/>
              </a:lnSpc>
            </a:pPr>
            <a:endParaRPr lang="en-US" sz="2800">
              <a:sym typeface="Symbol" pitchFamily="18" charset="2"/>
            </a:endParaRPr>
          </a:p>
          <a:p>
            <a:pPr eaLnBrk="1" hangingPunct="1"/>
            <a:r>
              <a:rPr lang="en-US" sz="2800">
                <a:sym typeface="Symbol" pitchFamily="18" charset="2"/>
              </a:rPr>
              <a:t>You will learn many sophisticated computer science concepts by studying graphics programs.</a:t>
            </a:r>
          </a:p>
          <a:p>
            <a:pPr eaLnBrk="1" hangingPunct="1">
              <a:lnSpc>
                <a:spcPct val="80000"/>
              </a:lnSpc>
            </a:pPr>
            <a:endParaRPr lang="en-US" sz="2800">
              <a:sym typeface="Symbol" pitchFamily="18" charset="2"/>
            </a:endParaRPr>
          </a:p>
          <a:p>
            <a:pPr eaLnBrk="1" hangingPunct="1"/>
            <a:r>
              <a:rPr lang="en-US" sz="2800">
                <a:sym typeface="Symbol" pitchFamily="18" charset="2"/>
              </a:rPr>
              <a:t>Some of the most sophisticated programs are video games.  </a:t>
            </a:r>
          </a:p>
          <a:p>
            <a:pPr eaLnBrk="1" hangingPunct="1">
              <a:lnSpc>
                <a:spcPct val="80000"/>
              </a:lnSpc>
            </a:pPr>
            <a:endParaRPr lang="en-US" sz="2800">
              <a:sym typeface="Symbol" pitchFamily="18" charset="2"/>
            </a:endParaRPr>
          </a:p>
          <a:p>
            <a:pPr eaLnBrk="1" hangingPunct="1"/>
            <a:r>
              <a:rPr lang="en-US" sz="2800">
                <a:sym typeface="Symbol" pitchFamily="18" charset="2"/>
              </a:rPr>
              <a:t>Only very dedicated and knowledgeable programmers can write effective video games.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b="1" smtClean="0"/>
              <a:t>Graphics &amp; Coordinate Geometry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82000" cy="52736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tabLst>
                <a:tab pos="457200" algn="l"/>
                <a:tab pos="693738" algn="l"/>
                <a:tab pos="1371600" algn="l"/>
                <a:tab pos="2065338" algn="l"/>
              </a:tabLst>
              <a:defRPr/>
            </a:pPr>
            <a:r>
              <a:rPr lang="en-US" sz="2800" dirty="0">
                <a:sym typeface="Symbol" pitchFamily="18" charset="2"/>
              </a:rPr>
              <a:t>A graphics window uses a system of (X,Y) coordinates in a manner similar to the use of coordinates that you first learned in your math classes.  </a:t>
            </a:r>
          </a:p>
          <a:p>
            <a:pPr algn="just">
              <a:tabLst>
                <a:tab pos="457200" algn="l"/>
                <a:tab pos="693738" algn="l"/>
                <a:tab pos="1371600" algn="l"/>
                <a:tab pos="2065338" algn="l"/>
              </a:tabLst>
              <a:defRPr/>
            </a:pPr>
            <a:endParaRPr lang="en-US" sz="2800" dirty="0">
              <a:sym typeface="Symbol" pitchFamily="18" charset="2"/>
            </a:endParaRPr>
          </a:p>
          <a:p>
            <a:pPr algn="just">
              <a:tabLst>
                <a:tab pos="457200" algn="l"/>
                <a:tab pos="693738" algn="l"/>
                <a:tab pos="1371600" algn="l"/>
                <a:tab pos="2065338" algn="l"/>
              </a:tabLst>
              <a:defRPr/>
            </a:pPr>
            <a:r>
              <a:rPr lang="en-US" sz="2800" dirty="0">
                <a:sym typeface="Symbol" pitchFamily="18" charset="2"/>
              </a:rPr>
              <a:t>The next slide shows an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example of the </a:t>
            </a:r>
          </a:p>
          <a:p>
            <a:pPr algn="just">
              <a:tabLst>
                <a:tab pos="457200" algn="l"/>
                <a:tab pos="693738" algn="l"/>
                <a:tab pos="1371600" algn="l"/>
                <a:tab pos="2065338" algn="l"/>
              </a:tabLst>
              <a:defRPr/>
            </a:pP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Cartesian Coordinate System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.  </a:t>
            </a:r>
          </a:p>
          <a:p>
            <a:pPr algn="just">
              <a:tabLst>
                <a:tab pos="457200" algn="l"/>
                <a:tab pos="693738" algn="l"/>
                <a:tab pos="1371600" algn="l"/>
                <a:tab pos="2065338" algn="l"/>
              </a:tabLst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algn="just">
              <a:tabLst>
                <a:tab pos="457200" algn="l"/>
                <a:tab pos="693738" algn="l"/>
                <a:tab pos="1371600" algn="l"/>
                <a:tab pos="2065338" algn="l"/>
              </a:tabLst>
              <a:defRPr/>
            </a:pPr>
            <a:r>
              <a:rPr lang="en-US" sz="2800" dirty="0">
                <a:sym typeface="Symbol" pitchFamily="18" charset="2"/>
              </a:rPr>
              <a:t>In particular, note that the </a:t>
            </a:r>
            <a:r>
              <a:rPr lang="en-US" sz="2800" i="1" dirty="0">
                <a:sym typeface="Symbol" pitchFamily="18" charset="2"/>
              </a:rPr>
              <a:t>Cartesian</a:t>
            </a:r>
            <a:r>
              <a:rPr lang="en-US" sz="2800" dirty="0">
                <a:sym typeface="Symbol" pitchFamily="18" charset="2"/>
              </a:rPr>
              <a:t> system has four quadrants with the </a:t>
            </a:r>
            <a:r>
              <a:rPr lang="en-US" sz="2800" dirty="0">
                <a:latin typeface="+mn-lt"/>
                <a:sym typeface="Symbol" pitchFamily="18" charset="2"/>
              </a:rPr>
              <a:t>(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0</a:t>
            </a:r>
            <a:r>
              <a:rPr lang="en-US" sz="2800" dirty="0">
                <a:latin typeface="+mn-lt"/>
                <a:sym typeface="Symbol" pitchFamily="18" charset="2"/>
              </a:rPr>
              <a:t>,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0</a:t>
            </a:r>
            <a:r>
              <a:rPr lang="en-US" sz="2800" dirty="0">
                <a:latin typeface="+mn-lt"/>
                <a:sym typeface="Symbol" pitchFamily="18" charset="2"/>
              </a:rPr>
              <a:t>) coordinate (called the "origin") located in the center of the grid where the </a:t>
            </a:r>
            <a:r>
              <a:rPr lang="en-US" sz="2800" i="1" dirty="0">
                <a:latin typeface="+mn-lt"/>
                <a:sym typeface="Symbol" pitchFamily="18" charset="2"/>
              </a:rPr>
              <a:t>X-Axis</a:t>
            </a:r>
            <a:r>
              <a:rPr lang="en-US" sz="2800" dirty="0">
                <a:latin typeface="+mn-lt"/>
                <a:sym typeface="Symbol" pitchFamily="18" charset="2"/>
              </a:rPr>
              <a:t> </a:t>
            </a:r>
            <a:r>
              <a:rPr lang="en-US" dirty="0">
                <a:latin typeface="+mn-lt"/>
                <a:sym typeface="Symbol" pitchFamily="18" charset="2"/>
              </a:rPr>
              <a:t> </a:t>
            </a:r>
            <a:r>
              <a:rPr lang="en-US" sz="2800" dirty="0">
                <a:latin typeface="+mn-lt"/>
                <a:sym typeface="Symbol" pitchFamily="18" charset="2"/>
              </a:rPr>
              <a:t>and the </a:t>
            </a:r>
            <a:r>
              <a:rPr lang="en-US" sz="2800" i="1" dirty="0">
                <a:latin typeface="+mn-lt"/>
                <a:sym typeface="Symbol" pitchFamily="18" charset="2"/>
              </a:rPr>
              <a:t>Y-Axis </a:t>
            </a:r>
            <a:r>
              <a:rPr lang="en-US" dirty="0">
                <a:latin typeface="+mn-lt"/>
                <a:sym typeface="Symbol" pitchFamily="18" charset="2"/>
              </a:rPr>
              <a:t> </a:t>
            </a:r>
            <a:r>
              <a:rPr lang="en-US" sz="2800" dirty="0">
                <a:sym typeface="Symbol" pitchFamily="18" charset="2"/>
              </a:rPr>
              <a:t>intersect.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 Black" pitchFamily="34" charset="0"/>
              </a:rPr>
              <a:t>Cartesian Coordinate Graph</a:t>
            </a:r>
          </a:p>
        </p:txBody>
      </p:sp>
      <p:pic>
        <p:nvPicPr>
          <p:cNvPr id="245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" t="5887" r="21294" b="16437"/>
          <a:stretch>
            <a:fillRect/>
          </a:stretch>
        </p:blipFill>
        <p:spPr bwMode="auto">
          <a:xfrm>
            <a:off x="609600" y="990600"/>
            <a:ext cx="769620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4.6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457200" y="1676400"/>
            <a:ext cx="8382000" cy="2525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Working with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7" name="WordArt 2"/>
          <p:cNvSpPr>
            <a:spLocks noChangeArrowheads="1" noChangeShapeType="1" noTextEdit="1"/>
          </p:cNvSpPr>
          <p:nvPr/>
        </p:nvSpPr>
        <p:spPr bwMode="auto">
          <a:xfrm>
            <a:off x="457200" y="3951288"/>
            <a:ext cx="8382000" cy="2525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Java Applets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086360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4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Executing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Java Applet Programs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52400" y="1595021"/>
            <a:ext cx="8839200" cy="526297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/>
              <a:t>All the graphics programs examples that follow in this section are created as </a:t>
            </a:r>
            <a:r>
              <a:rPr lang="en-US" sz="2800" dirty="0">
                <a:latin typeface="Arial Rounded MT Bold" pitchFamily="34" charset="0"/>
              </a:rPr>
              <a:t>Java applets</a:t>
            </a:r>
            <a:r>
              <a:rPr lang="en-US" sz="2800" dirty="0"/>
              <a:t>.   </a:t>
            </a:r>
            <a:endParaRPr lang="en-US" sz="2800" dirty="0" smtClean="0"/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 smtClean="0"/>
              <a:t>Java applets require an </a:t>
            </a:r>
            <a:r>
              <a:rPr lang="en-US" sz="2800" b="0" dirty="0" smtClean="0">
                <a:latin typeface="Arial Black" panose="020B0A04020102020204" pitchFamily="34" charset="0"/>
              </a:rPr>
              <a:t>.html</a:t>
            </a:r>
            <a:r>
              <a:rPr lang="en-US" sz="2800" dirty="0" smtClean="0"/>
              <a:t> file for execution.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 smtClean="0"/>
              <a:t>Some IDEs, like </a:t>
            </a:r>
            <a:r>
              <a:rPr lang="en-US" sz="2800" dirty="0" err="1" smtClean="0">
                <a:latin typeface="Arial Rounded MT Bold" panose="020F0704030504030204" pitchFamily="34" charset="0"/>
              </a:rPr>
              <a:t>jGRASP</a:t>
            </a:r>
            <a:r>
              <a:rPr lang="en-US" sz="2800" dirty="0" smtClean="0"/>
              <a:t>, automatically generate this file.  This allows you to “compile and execute” the </a:t>
            </a:r>
            <a:r>
              <a:rPr lang="en-US" sz="2800" b="0" dirty="0" smtClean="0">
                <a:latin typeface="Arial Black" panose="020B0A04020102020204" pitchFamily="34" charset="0"/>
              </a:rPr>
              <a:t>.java </a:t>
            </a:r>
            <a:r>
              <a:rPr lang="en-US" sz="2800" dirty="0" smtClean="0"/>
              <a:t>file just like an </a:t>
            </a:r>
            <a:r>
              <a:rPr lang="en-US" sz="2800" dirty="0" smtClean="0">
                <a:latin typeface="Arial Rounded MT Bold" panose="020F0704030504030204" pitchFamily="34" charset="0"/>
              </a:rPr>
              <a:t>application</a:t>
            </a:r>
            <a:r>
              <a:rPr lang="en-US" sz="2800" dirty="0" smtClean="0"/>
              <a:t>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 smtClean="0"/>
              <a:t>If your IDE does not do this, then you will need to execute the </a:t>
            </a:r>
            <a:r>
              <a:rPr lang="en-US" sz="2800" b="0" dirty="0" smtClean="0">
                <a:latin typeface="Arial Black" panose="020B0A04020102020204" pitchFamily="34" charset="0"/>
              </a:rPr>
              <a:t>.html</a:t>
            </a:r>
            <a:r>
              <a:rPr lang="en-US" sz="2800" dirty="0" smtClean="0"/>
              <a:t> </a:t>
            </a:r>
            <a:r>
              <a:rPr lang="en-US" sz="2800" dirty="0"/>
              <a:t>file </a:t>
            </a:r>
            <a:r>
              <a:rPr lang="en-US" sz="2800" dirty="0" smtClean="0"/>
              <a:t>using </a:t>
            </a:r>
            <a:r>
              <a:rPr lang="en-US" sz="2800" dirty="0" err="1" smtClean="0">
                <a:latin typeface="Arial Rounded MT Bold" panose="020F0704030504030204" pitchFamily="34" charset="0"/>
              </a:rPr>
              <a:t>AppletViewer</a:t>
            </a:r>
            <a:r>
              <a:rPr lang="en-US" sz="2800" dirty="0" smtClean="0"/>
              <a:t> or a </a:t>
            </a:r>
            <a:r>
              <a:rPr lang="en-US" sz="2800" dirty="0" smtClean="0">
                <a:latin typeface="Arial Rounded MT Bold" panose="020F0704030504030204" pitchFamily="34" charset="0"/>
              </a:rPr>
              <a:t>Web Browser </a:t>
            </a:r>
            <a:r>
              <a:rPr lang="en-US" sz="2800" dirty="0" smtClean="0"/>
              <a:t>like </a:t>
            </a:r>
            <a:r>
              <a:rPr lang="en-US" sz="2800" dirty="0" smtClean="0">
                <a:latin typeface="Arial Rounded MT Bold" panose="020F0704030504030204" pitchFamily="34" charset="0"/>
              </a:rPr>
              <a:t>Internet Explorer </a:t>
            </a:r>
            <a:r>
              <a:rPr lang="en-US" sz="2800" dirty="0" smtClean="0"/>
              <a:t>or </a:t>
            </a:r>
            <a:r>
              <a:rPr lang="en-US" sz="2800" dirty="0" smtClean="0">
                <a:latin typeface="Arial Rounded MT Bold" panose="020F0704030504030204" pitchFamily="34" charset="0"/>
              </a:rPr>
              <a:t>Chrome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536832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drawLine Method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534400" cy="206210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b="0" dirty="0" err="1">
                <a:latin typeface="Arial Black" panose="020B0A04020102020204" pitchFamily="34" charset="0"/>
                <a:sym typeface="Symbol" pitchFamily="18" charset="2"/>
              </a:rPr>
              <a:t>drawLine</a:t>
            </a:r>
            <a:r>
              <a:rPr lang="en-US" sz="3200" b="0" dirty="0">
                <a:latin typeface="Arial Black" panose="020B0A04020102020204" pitchFamily="34" charset="0"/>
                <a:sym typeface="Symbol" pitchFamily="18" charset="2"/>
              </a:rPr>
              <a:t>(</a:t>
            </a:r>
            <a:r>
              <a:rPr lang="en-US" sz="32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3200" b="0" dirty="0">
                <a:latin typeface="Arial Black" panose="020B0A04020102020204" pitchFamily="34" charset="0"/>
                <a:sym typeface="Symbol" pitchFamily="18" charset="2"/>
              </a:rPr>
              <a:t> x1, </a:t>
            </a:r>
            <a:r>
              <a:rPr lang="en-US" sz="32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3200" b="0" dirty="0">
                <a:latin typeface="Arial Black" panose="020B0A04020102020204" pitchFamily="34" charset="0"/>
                <a:sym typeface="Symbol" pitchFamily="18" charset="2"/>
              </a:rPr>
              <a:t> y1, </a:t>
            </a:r>
            <a:r>
              <a:rPr lang="en-US" sz="32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3200" b="0" dirty="0">
                <a:latin typeface="Arial Black" panose="020B0A04020102020204" pitchFamily="34" charset="0"/>
                <a:sym typeface="Symbol" pitchFamily="18" charset="2"/>
              </a:rPr>
              <a:t> x2, </a:t>
            </a:r>
            <a:r>
              <a:rPr lang="en-US" sz="32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3200" b="0" dirty="0">
                <a:latin typeface="Arial Black" panose="020B0A04020102020204" pitchFamily="34" charset="0"/>
                <a:sym typeface="Symbol" pitchFamily="18" charset="2"/>
              </a:rPr>
              <a:t> y2)</a:t>
            </a:r>
          </a:p>
          <a:p>
            <a:pPr eaLnBrk="1" hangingPunct="1"/>
            <a:endParaRPr lang="en-US" sz="3200" dirty="0">
              <a:sym typeface="Symbol" pitchFamily="18" charset="2"/>
            </a:endParaRPr>
          </a:p>
          <a:p>
            <a:pPr eaLnBrk="1" hangingPunct="1"/>
            <a:r>
              <a:rPr lang="en-US" sz="3200" dirty="0">
                <a:sym typeface="Symbol" pitchFamily="18" charset="2"/>
              </a:rPr>
              <a:t>Draws a line from coordinate (x1,y1) to coordinate (x2,y2)</a:t>
            </a:r>
          </a:p>
        </p:txBody>
      </p:sp>
      <p:grpSp>
        <p:nvGrpSpPr>
          <p:cNvPr id="28676" name="Group 7"/>
          <p:cNvGrpSpPr>
            <a:grpSpLocks/>
          </p:cNvGrpSpPr>
          <p:nvPr/>
        </p:nvGrpSpPr>
        <p:grpSpPr bwMode="auto">
          <a:xfrm>
            <a:off x="1066800" y="3581400"/>
            <a:ext cx="7239000" cy="2789238"/>
            <a:chOff x="672" y="2256"/>
            <a:chExt cx="4560" cy="1757"/>
          </a:xfrm>
        </p:grpSpPr>
        <p:sp>
          <p:nvSpPr>
            <p:cNvPr id="28677" name="Line 4"/>
            <p:cNvSpPr>
              <a:spLocks noChangeShapeType="1"/>
            </p:cNvSpPr>
            <p:nvPr/>
          </p:nvSpPr>
          <p:spPr bwMode="auto">
            <a:xfrm>
              <a:off x="1152" y="2688"/>
              <a:ext cx="3552" cy="96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8" name="Text Box 5"/>
            <p:cNvSpPr txBox="1">
              <a:spLocks noChangeArrowheads="1"/>
            </p:cNvSpPr>
            <p:nvPr/>
          </p:nvSpPr>
          <p:spPr bwMode="auto">
            <a:xfrm>
              <a:off x="672" y="2256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x1, y1 </a:t>
              </a:r>
            </a:p>
          </p:txBody>
        </p:sp>
        <p:sp>
          <p:nvSpPr>
            <p:cNvPr id="28679" name="Text Box 6"/>
            <p:cNvSpPr txBox="1">
              <a:spLocks noChangeArrowheads="1"/>
            </p:cNvSpPr>
            <p:nvPr/>
          </p:nvSpPr>
          <p:spPr bwMode="auto">
            <a:xfrm>
              <a:off x="4176" y="3648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x2, y2 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// Java0407.java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This program demonstrates how to draw lines.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Lines are drawn from (X1,Y1) to (X2,Y2) with drawLine(X1,Y1,X2,Y2).</a:t>
            </a:r>
          </a:p>
          <a:p>
            <a:pPr eaLnBrk="1" hangingPunct="1">
              <a:lnSpc>
                <a:spcPct val="6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</a:rPr>
              <a:t>java.awt</a:t>
            </a:r>
            <a:r>
              <a:rPr lang="en-US" sz="2200" dirty="0">
                <a:latin typeface="Times New Roman" pitchFamily="18" charset="0"/>
              </a:rPr>
              <a:t>.*;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</a:rPr>
              <a:t>java.applet</a:t>
            </a:r>
            <a:r>
              <a:rPr lang="en-US" sz="22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6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public class Java0407 extends Applet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void paint(Graphics g)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g.drawLine</a:t>
            </a:r>
            <a:r>
              <a:rPr lang="en-US" sz="2200" dirty="0">
                <a:latin typeface="Times New Roman" pitchFamily="18" charset="0"/>
              </a:rPr>
              <a:t>(0,0,800,600);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g.drawLine</a:t>
            </a:r>
            <a:r>
              <a:rPr lang="en-US" sz="2200" dirty="0">
                <a:latin typeface="Times New Roman" pitchFamily="18" charset="0"/>
              </a:rPr>
              <a:t>(0,600,800,0);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g.drawLine</a:t>
            </a:r>
            <a:r>
              <a:rPr lang="en-US" sz="2200" dirty="0">
                <a:latin typeface="Times New Roman" pitchFamily="18" charset="0"/>
              </a:rPr>
              <a:t>(100,300,700,300);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g.drawLine</a:t>
            </a:r>
            <a:r>
              <a:rPr lang="en-US" sz="2200" dirty="0">
                <a:latin typeface="Times New Roman" pitchFamily="18" charset="0"/>
              </a:rPr>
              <a:t>(400,100,400,500);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50000"/>
              </a:lnSpc>
            </a:pPr>
            <a:endParaRPr lang="en-US" sz="2200" b="0" dirty="0" smtClean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 smtClean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 smtClean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 smtClean="0">
              <a:latin typeface="Times New Roman" pitchFamily="18" charset="0"/>
            </a:endParaRPr>
          </a:p>
          <a:p>
            <a:pPr eaLnBrk="1" hangingPunct="1">
              <a:lnSpc>
                <a:spcPct val="50000"/>
              </a:lnSpc>
            </a:pPr>
            <a:endParaRPr lang="en-US" sz="2200" b="0" dirty="0">
              <a:latin typeface="Times New Roman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5715000"/>
            <a:ext cx="9144000" cy="11334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&lt;!-- </a:t>
            </a:r>
            <a:r>
              <a:rPr lang="en-US" sz="2200" dirty="0" smtClean="0">
                <a:latin typeface="Times New Roman" pitchFamily="18" charset="0"/>
              </a:rPr>
              <a:t>Java0407.html </a:t>
            </a:r>
            <a:r>
              <a:rPr lang="en-US" sz="2200" dirty="0">
                <a:latin typeface="Times New Roman" pitchFamily="18" charset="0"/>
              </a:rPr>
              <a:t>--&gt;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&lt;APPLET CODE = "</a:t>
            </a:r>
            <a:r>
              <a:rPr lang="en-US" sz="2200" dirty="0" smtClean="0">
                <a:latin typeface="Times New Roman" pitchFamily="18" charset="0"/>
              </a:rPr>
              <a:t>Java0407.class</a:t>
            </a:r>
            <a:r>
              <a:rPr lang="en-US" sz="2200" dirty="0">
                <a:latin typeface="Times New Roman" pitchFamily="18" charset="0"/>
              </a:rPr>
              <a:t>" </a:t>
            </a:r>
            <a:r>
              <a:rPr lang="en-US" sz="2200" dirty="0" smtClean="0">
                <a:latin typeface="Times New Roman" pitchFamily="18" charset="0"/>
              </a:rPr>
              <a:t>WIDTH=800 HEIGHT=600</a:t>
            </a:r>
            <a:r>
              <a:rPr lang="en-US" sz="2200" dirty="0">
                <a:latin typeface="Times New Roman" pitchFamily="18" charset="0"/>
              </a:rPr>
              <a:t>&gt;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&lt;/APPLET&gt;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1" name="WordArt 10"/>
          <p:cNvSpPr>
            <a:spLocks noChangeArrowheads="1" noChangeShapeType="1" noTextEdit="1"/>
          </p:cNvSpPr>
          <p:nvPr/>
        </p:nvSpPr>
        <p:spPr bwMode="auto">
          <a:xfrm>
            <a:off x="6496050" y="1752600"/>
            <a:ext cx="2190750" cy="35623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32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Java0407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Internet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Explorer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C:\Users\leonschram\Desktop\APCS 2014\APCS-04-Using Methods and Parameters\JavaSecurity.JP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5" r="8250"/>
          <a:stretch/>
        </p:blipFill>
        <p:spPr bwMode="auto">
          <a:xfrm>
            <a:off x="152399" y="990600"/>
            <a:ext cx="8652987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51" name="WordArt 10"/>
          <p:cNvSpPr>
            <a:spLocks noChangeArrowheads="1" noChangeShapeType="1" noTextEdit="1"/>
          </p:cNvSpPr>
          <p:nvPr/>
        </p:nvSpPr>
        <p:spPr bwMode="auto">
          <a:xfrm>
            <a:off x="914400" y="5581650"/>
            <a:ext cx="7772400" cy="9715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329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You might see this instead.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6420607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WordArt 10"/>
          <p:cNvSpPr>
            <a:spLocks noChangeArrowheads="1" noChangeShapeType="1" noTextEdit="1"/>
          </p:cNvSpPr>
          <p:nvPr/>
        </p:nvSpPr>
        <p:spPr bwMode="auto">
          <a:xfrm>
            <a:off x="6496050" y="1752600"/>
            <a:ext cx="2190750" cy="35623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32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Java0407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Applet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Viewer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224572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</a:rPr>
              <a:t>Java0408.java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demonstrates how to draw </a:t>
            </a:r>
            <a:r>
              <a:rPr lang="en-US" sz="2400" dirty="0" smtClean="0">
                <a:latin typeface="Times New Roman" pitchFamily="18" charset="0"/>
              </a:rPr>
              <a:t>pixels.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</a:rPr>
              <a:t>Pixels </a:t>
            </a:r>
            <a:r>
              <a:rPr lang="en-US" sz="2400" dirty="0">
                <a:latin typeface="Times New Roman" pitchFamily="18" charset="0"/>
              </a:rPr>
              <a:t>are drawn from (</a:t>
            </a:r>
            <a:r>
              <a:rPr lang="en-US" sz="2400" dirty="0" smtClean="0">
                <a:latin typeface="Times New Roman" pitchFamily="18" charset="0"/>
              </a:rPr>
              <a:t>X,Y) </a:t>
            </a:r>
            <a:r>
              <a:rPr lang="en-US" sz="2400" dirty="0">
                <a:latin typeface="Times New Roman" pitchFamily="18" charset="0"/>
              </a:rPr>
              <a:t>to (</a:t>
            </a:r>
            <a:r>
              <a:rPr lang="en-US" sz="2400" dirty="0" smtClean="0">
                <a:latin typeface="Times New Roman" pitchFamily="18" charset="0"/>
              </a:rPr>
              <a:t>X,Y) </a:t>
            </a:r>
            <a:r>
              <a:rPr lang="en-US" sz="2400" dirty="0">
                <a:latin typeface="Times New Roman" pitchFamily="18" charset="0"/>
              </a:rPr>
              <a:t>with </a:t>
            </a:r>
            <a:r>
              <a:rPr lang="en-US" sz="2400" dirty="0" smtClean="0">
                <a:latin typeface="Times New Roman" pitchFamily="18" charset="0"/>
              </a:rPr>
              <a:t>drawLine(X,Y,X,Y).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</a:rPr>
              <a:t>.*;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</a:rPr>
              <a:t>.*;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public class </a:t>
            </a:r>
            <a:r>
              <a:rPr lang="en-US" sz="2400" dirty="0" smtClean="0">
                <a:latin typeface="Times New Roman" pitchFamily="18" charset="0"/>
              </a:rPr>
              <a:t>Java0408 </a:t>
            </a:r>
            <a:r>
              <a:rPr lang="en-US" sz="2400" dirty="0">
                <a:latin typeface="Times New Roman" pitchFamily="18" charset="0"/>
              </a:rPr>
              <a:t>extends Applet</a:t>
            </a: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public void paint(Graphics g)</a:t>
            </a: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</a:rPr>
              <a:t>g.drawLine</a:t>
            </a:r>
            <a:r>
              <a:rPr lang="en-US" sz="2400" dirty="0" smtClean="0">
                <a:latin typeface="Times New Roman" pitchFamily="18" charset="0"/>
              </a:rPr>
              <a:t>(100,100,100,100);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</a:rPr>
              <a:t>g.drawLine</a:t>
            </a:r>
            <a:r>
              <a:rPr lang="en-US" sz="2400" dirty="0" smtClean="0">
                <a:latin typeface="Times New Roman" pitchFamily="18" charset="0"/>
              </a:rPr>
              <a:t>(200,100,200,100);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</a:rPr>
              <a:t>g.drawLine</a:t>
            </a:r>
            <a:r>
              <a:rPr lang="en-US" sz="2400" dirty="0" smtClean="0">
                <a:latin typeface="Times New Roman" pitchFamily="18" charset="0"/>
              </a:rPr>
              <a:t>(100,200,100,200);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</a:rPr>
              <a:t>g.drawLine</a:t>
            </a:r>
            <a:r>
              <a:rPr lang="en-US" sz="2400" dirty="0" smtClean="0">
                <a:latin typeface="Times New Roman" pitchFamily="18" charset="0"/>
              </a:rPr>
              <a:t>(200,200,200,200);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284163" algn="l"/>
                <a:tab pos="465138" algn="l"/>
                <a:tab pos="1379538" algn="l"/>
                <a:tab pos="1827213" algn="l"/>
                <a:tab pos="2293938" algn="l"/>
              </a:tabLst>
            </a:pPr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2200" b="0" dirty="0" smtClean="0">
              <a:latin typeface="Times New Roman" pitchFamily="18" charset="0"/>
            </a:endParaRPr>
          </a:p>
          <a:p>
            <a:pPr eaLnBrk="1" hangingPunct="1"/>
            <a:endParaRPr lang="en-US" sz="2200" b="0" dirty="0">
              <a:latin typeface="Times New Roman" pitchFamily="18" charset="0"/>
            </a:endParaRPr>
          </a:p>
        </p:txBody>
      </p:sp>
      <p:pic>
        <p:nvPicPr>
          <p:cNvPr id="3" name="Picture 2" descr="C:\Users\leonschram\Desktop\Captur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" r="28115"/>
          <a:stretch/>
        </p:blipFill>
        <p:spPr bwMode="auto">
          <a:xfrm>
            <a:off x="4419601" y="1245267"/>
            <a:ext cx="4724400" cy="561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7174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4.7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457200" y="1676400"/>
            <a:ext cx="8382000" cy="2525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Java’s draw &amp;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7" name="WordArt 2"/>
          <p:cNvSpPr>
            <a:spLocks noChangeArrowheads="1" noChangeShapeType="1" noTextEdit="1"/>
          </p:cNvSpPr>
          <p:nvPr/>
        </p:nvSpPr>
        <p:spPr bwMode="auto">
          <a:xfrm>
            <a:off x="457200" y="3951288"/>
            <a:ext cx="8382000" cy="2525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fill Methods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402955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drawRect Method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52400" y="1003300"/>
            <a:ext cx="8839200" cy="2209836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drawRect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(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x, 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y, 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width, 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height)</a:t>
            </a:r>
          </a:p>
          <a:p>
            <a:pPr eaLnBrk="1" hangingPunct="1">
              <a:lnSpc>
                <a:spcPct val="70000"/>
              </a:lnSpc>
            </a:pPr>
            <a:endParaRPr lang="en-US" sz="2400" dirty="0">
              <a:sym typeface="Symbol" pitchFamily="18" charset="2"/>
            </a:endParaRPr>
          </a:p>
          <a:p>
            <a:pPr eaLnBrk="1" hangingPunct="1"/>
            <a:r>
              <a:rPr lang="en-US" sz="2400" dirty="0">
                <a:sym typeface="Symbol" pitchFamily="18" charset="2"/>
              </a:rPr>
              <a:t>Draws a rectangle with top-left corner at coordinate (</a:t>
            </a:r>
            <a:r>
              <a:rPr lang="en-US" sz="2400" dirty="0" err="1">
                <a:sym typeface="Symbol" pitchFamily="18" charset="2"/>
              </a:rPr>
              <a:t>x,y</a:t>
            </a:r>
            <a:r>
              <a:rPr lang="en-US" sz="2400" dirty="0">
                <a:sym typeface="Symbol" pitchFamily="18" charset="2"/>
              </a:rPr>
              <a:t>) using width and height dimensions.</a:t>
            </a:r>
          </a:p>
          <a:p>
            <a:pPr eaLnBrk="1" hangingPunct="1">
              <a:lnSpc>
                <a:spcPct val="70000"/>
              </a:lnSpc>
            </a:pPr>
            <a:r>
              <a:rPr lang="en-US" sz="2400" dirty="0">
                <a:sym typeface="Symbol" pitchFamily="18" charset="2"/>
              </a:rPr>
              <a:t> </a:t>
            </a:r>
          </a:p>
          <a:p>
            <a:pPr eaLnBrk="1" hangingPunct="1"/>
            <a:r>
              <a:rPr lang="en-US" sz="2800" b="0" spc="-40" dirty="0" err="1">
                <a:latin typeface="Arial Black" panose="020B0A04020102020204" pitchFamily="34" charset="0"/>
                <a:sym typeface="Symbol" pitchFamily="18" charset="2"/>
              </a:rPr>
              <a:t>fillRect</a:t>
            </a:r>
            <a:r>
              <a:rPr lang="en-US" sz="2800" spc="-40" dirty="0">
                <a:sym typeface="Symbol" pitchFamily="18" charset="2"/>
              </a:rPr>
              <a:t> </a:t>
            </a:r>
            <a:r>
              <a:rPr lang="en-US" sz="2400" spc="-40" dirty="0">
                <a:sym typeface="Symbol" pitchFamily="18" charset="2"/>
              </a:rPr>
              <a:t>uses identical parameters, but fills in the </a:t>
            </a:r>
            <a:r>
              <a:rPr lang="en-US" sz="2400" spc="-40" dirty="0" smtClean="0">
                <a:sym typeface="Symbol" pitchFamily="18" charset="2"/>
              </a:rPr>
              <a:t>rectangle.</a:t>
            </a:r>
            <a:endParaRPr lang="en-US" sz="2400" spc="-40" dirty="0">
              <a:sym typeface="Symbol" pitchFamily="18" charset="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0" y="3276600"/>
            <a:ext cx="8610600" cy="3505200"/>
            <a:chOff x="457200" y="3276600"/>
            <a:chExt cx="8610600" cy="3505200"/>
          </a:xfrm>
        </p:grpSpPr>
        <p:sp>
          <p:nvSpPr>
            <p:cNvPr id="30724" name="Text Box 6"/>
            <p:cNvSpPr txBox="1">
              <a:spLocks noChangeArrowheads="1"/>
            </p:cNvSpPr>
            <p:nvPr/>
          </p:nvSpPr>
          <p:spPr bwMode="auto">
            <a:xfrm>
              <a:off x="3429000" y="6202363"/>
              <a:ext cx="16764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 smtClean="0">
                  <a:latin typeface="Arial Black" pitchFamily="34" charset="0"/>
                </a:rPr>
                <a:t>width</a:t>
              </a:r>
              <a:endParaRPr lang="en-US" sz="3200" b="0" dirty="0">
                <a:latin typeface="Arial Black" pitchFamily="34" charset="0"/>
              </a:endParaRPr>
            </a:p>
          </p:txBody>
        </p:sp>
        <p:grpSp>
          <p:nvGrpSpPr>
            <p:cNvPr id="30725" name="Group 15"/>
            <p:cNvGrpSpPr>
              <a:grpSpLocks/>
            </p:cNvGrpSpPr>
            <p:nvPr/>
          </p:nvGrpSpPr>
          <p:grpSpPr bwMode="auto">
            <a:xfrm>
              <a:off x="457200" y="3276600"/>
              <a:ext cx="8610600" cy="3230563"/>
              <a:chOff x="288" y="2016"/>
              <a:chExt cx="5424" cy="2035"/>
            </a:xfrm>
          </p:grpSpPr>
          <p:sp>
            <p:nvSpPr>
              <p:cNvPr id="30726" name="Text Box 5"/>
              <p:cNvSpPr txBox="1">
                <a:spLocks noChangeArrowheads="1"/>
              </p:cNvSpPr>
              <p:nvPr/>
            </p:nvSpPr>
            <p:spPr bwMode="auto">
              <a:xfrm>
                <a:off x="288" y="2016"/>
                <a:ext cx="76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3200" b="0" dirty="0">
                    <a:latin typeface="Arial Black" pitchFamily="34" charset="0"/>
                  </a:rPr>
                  <a:t>x, y </a:t>
                </a:r>
              </a:p>
            </p:txBody>
          </p:sp>
          <p:sp>
            <p:nvSpPr>
              <p:cNvPr id="30727" name="Rectangle 7"/>
              <p:cNvSpPr>
                <a:spLocks noChangeArrowheads="1"/>
              </p:cNvSpPr>
              <p:nvPr/>
            </p:nvSpPr>
            <p:spPr bwMode="auto">
              <a:xfrm>
                <a:off x="624" y="2477"/>
                <a:ext cx="3984" cy="1344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8" name="Oval 8"/>
              <p:cNvSpPr>
                <a:spLocks noChangeArrowheads="1"/>
              </p:cNvSpPr>
              <p:nvPr/>
            </p:nvSpPr>
            <p:spPr bwMode="auto">
              <a:xfrm>
                <a:off x="528" y="2381"/>
                <a:ext cx="192" cy="192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9" name="Text Box 9"/>
              <p:cNvSpPr txBox="1">
                <a:spLocks noChangeArrowheads="1"/>
              </p:cNvSpPr>
              <p:nvPr/>
            </p:nvSpPr>
            <p:spPr bwMode="auto">
              <a:xfrm>
                <a:off x="4656" y="2947"/>
                <a:ext cx="105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3200" b="0" dirty="0">
                    <a:latin typeface="Arial Black" pitchFamily="34" charset="0"/>
                  </a:rPr>
                  <a:t>height</a:t>
                </a:r>
              </a:p>
            </p:txBody>
          </p:sp>
          <p:sp>
            <p:nvSpPr>
              <p:cNvPr id="30730" name="Line 11"/>
              <p:cNvSpPr>
                <a:spLocks noChangeShapeType="1"/>
              </p:cNvSpPr>
              <p:nvPr/>
            </p:nvSpPr>
            <p:spPr bwMode="auto">
              <a:xfrm>
                <a:off x="3072" y="4032"/>
                <a:ext cx="15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1" name="Line 12"/>
              <p:cNvSpPr>
                <a:spLocks noChangeShapeType="1"/>
              </p:cNvSpPr>
              <p:nvPr/>
            </p:nvSpPr>
            <p:spPr bwMode="auto">
              <a:xfrm flipH="1" flipV="1">
                <a:off x="624" y="4032"/>
                <a:ext cx="1536" cy="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2" name="Line 13"/>
              <p:cNvSpPr>
                <a:spLocks noChangeShapeType="1"/>
              </p:cNvSpPr>
              <p:nvPr/>
            </p:nvSpPr>
            <p:spPr bwMode="auto">
              <a:xfrm flipV="1">
                <a:off x="5136" y="2448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3" name="Line 14"/>
              <p:cNvSpPr>
                <a:spLocks noChangeShapeType="1"/>
              </p:cNvSpPr>
              <p:nvPr/>
            </p:nvSpPr>
            <p:spPr bwMode="auto">
              <a:xfrm>
                <a:off x="5136" y="3312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</a:rPr>
              <a:t>Java0409.java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introduces the rectangle command.  </a:t>
            </a:r>
            <a:r>
              <a:rPr lang="en-US" sz="2400" dirty="0" smtClean="0">
                <a:latin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</a:rPr>
              <a:t>rectangle is </a:t>
            </a:r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// drawn </a:t>
            </a:r>
            <a:r>
              <a:rPr lang="en-US" sz="2400" dirty="0">
                <a:latin typeface="Times New Roman" pitchFamily="18" charset="0"/>
              </a:rPr>
              <a:t>from </a:t>
            </a:r>
            <a:r>
              <a:rPr lang="en-US" sz="2400" dirty="0" smtClean="0">
                <a:latin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</a:rPr>
              <a:t>top-left (X,Y) coordinate </a:t>
            </a:r>
            <a:r>
              <a:rPr lang="en-US" sz="2400" dirty="0" smtClean="0">
                <a:latin typeface="Times New Roman" pitchFamily="18" charset="0"/>
              </a:rPr>
              <a:t>of </a:t>
            </a:r>
            <a:r>
              <a:rPr lang="en-US" sz="2400" dirty="0">
                <a:latin typeface="Times New Roman" pitchFamily="18" charset="0"/>
              </a:rPr>
              <a:t>a rectangle followed </a:t>
            </a:r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// by </a:t>
            </a:r>
            <a:r>
              <a:rPr lang="en-US" sz="2400" dirty="0">
                <a:latin typeface="Times New Roman" pitchFamily="18" charset="0"/>
              </a:rPr>
              <a:t>Width and Height using  </a:t>
            </a:r>
            <a:r>
              <a:rPr lang="en-US" sz="2400" dirty="0" smtClean="0">
                <a:latin typeface="Times New Roman" pitchFamily="18" charset="0"/>
              </a:rPr>
              <a:t>&lt;</a:t>
            </a:r>
            <a:r>
              <a:rPr lang="en-US" sz="2400" dirty="0">
                <a:latin typeface="Times New Roman" pitchFamily="18" charset="0"/>
              </a:rPr>
              <a:t>drawRect(</a:t>
            </a:r>
            <a:r>
              <a:rPr lang="en-US" sz="2400" dirty="0" err="1">
                <a:latin typeface="Times New Roman" pitchFamily="18" charset="0"/>
              </a:rPr>
              <a:t>X,Y,Width,Height</a:t>
            </a:r>
            <a:r>
              <a:rPr lang="en-US" sz="2400" dirty="0">
                <a:latin typeface="Times New Roman" pitchFamily="18" charset="0"/>
              </a:rPr>
              <a:t>)&gt;.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The &lt;fillRect&gt; command draws a rectangle filled with solid pixels.</a:t>
            </a:r>
          </a:p>
          <a:p>
            <a:pPr eaLnBrk="1" hangingPunct="1">
              <a:lnSpc>
                <a:spcPct val="7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</a:rPr>
              <a:t>.*;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7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public class </a:t>
            </a:r>
            <a:r>
              <a:rPr lang="en-US" sz="2400" dirty="0" smtClean="0">
                <a:latin typeface="Times New Roman" pitchFamily="18" charset="0"/>
              </a:rPr>
              <a:t>Java0409 </a:t>
            </a:r>
            <a:r>
              <a:rPr lang="en-US" sz="2400" dirty="0">
                <a:latin typeface="Times New Roman" pitchFamily="18" charset="0"/>
              </a:rPr>
              <a:t>extends Applet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void paint(Graphics g)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g.drawRect</a:t>
            </a:r>
            <a:r>
              <a:rPr lang="en-US" sz="2400" dirty="0">
                <a:latin typeface="Times New Roman" pitchFamily="18" charset="0"/>
              </a:rPr>
              <a:t>(50,50,100,100);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g.drawRect</a:t>
            </a:r>
            <a:r>
              <a:rPr lang="en-US" sz="2400" dirty="0">
                <a:latin typeface="Times New Roman" pitchFamily="18" charset="0"/>
              </a:rPr>
              <a:t>(300,50,300,150);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g.fillRect</a:t>
            </a:r>
            <a:r>
              <a:rPr lang="en-US" sz="2400" dirty="0">
                <a:latin typeface="Times New Roman" pitchFamily="18" charset="0"/>
              </a:rPr>
              <a:t>(50,400,100,100);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g.fillRect</a:t>
            </a:r>
            <a:r>
              <a:rPr lang="en-US" sz="2400" dirty="0">
                <a:latin typeface="Times New Roman" pitchFamily="18" charset="0"/>
              </a:rPr>
              <a:t>(300,400,300,150);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952" y="0"/>
            <a:ext cx="6081048" cy="44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drawOval Method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52400" y="1003300"/>
            <a:ext cx="8839200" cy="223445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drawOval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(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x, 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y, 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width, </a:t>
            </a:r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b="0" dirty="0">
                <a:latin typeface="Arial Black" panose="020B0A04020102020204" pitchFamily="34" charset="0"/>
                <a:sym typeface="Symbol" pitchFamily="18" charset="2"/>
              </a:rPr>
              <a:t> height)</a:t>
            </a:r>
          </a:p>
          <a:p>
            <a:pPr eaLnBrk="1" hangingPunct="1">
              <a:lnSpc>
                <a:spcPct val="110000"/>
              </a:lnSpc>
            </a:pPr>
            <a:endParaRPr lang="en-US" sz="1600" dirty="0">
              <a:sym typeface="Symbol" pitchFamily="18" charset="2"/>
            </a:endParaRPr>
          </a:p>
          <a:p>
            <a:pPr eaLnBrk="1" hangingPunct="1"/>
            <a:r>
              <a:rPr lang="en-US" sz="2400" spc="-1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Draws an oval that is </a:t>
            </a:r>
            <a:r>
              <a:rPr lang="en-US" sz="2400" i="1" spc="-1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circumscribed</a:t>
            </a:r>
            <a:r>
              <a:rPr lang="en-US" sz="2400" spc="-1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by the rectangle with top-left 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corner at coordinate (</a:t>
            </a:r>
            <a:r>
              <a:rPr lang="en-US" sz="2400" spc="-50" dirty="0" err="1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x,y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 using width and height dimensions.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>
                <a:sym typeface="Symbol" pitchFamily="18" charset="2"/>
              </a:rPr>
              <a:t> </a:t>
            </a:r>
          </a:p>
          <a:p>
            <a:pPr eaLnBrk="1" hangingPunct="1"/>
            <a:r>
              <a:rPr lang="en-US" sz="2800" b="0" dirty="0" err="1">
                <a:latin typeface="Arial Black" panose="020B0A04020102020204" pitchFamily="34" charset="0"/>
                <a:sym typeface="Symbol" pitchFamily="18" charset="2"/>
              </a:rPr>
              <a:t>fillOval</a:t>
            </a:r>
            <a:r>
              <a:rPr lang="en-US" sz="2400" dirty="0">
                <a:sym typeface="Symbol" pitchFamily="18" charset="2"/>
              </a:rPr>
              <a:t> uses identical parameters, but fills in the oval.</a:t>
            </a:r>
          </a:p>
        </p:txBody>
      </p:sp>
      <p:grpSp>
        <p:nvGrpSpPr>
          <p:cNvPr id="32772" name="Group 14"/>
          <p:cNvGrpSpPr>
            <a:grpSpLocks/>
          </p:cNvGrpSpPr>
          <p:nvPr/>
        </p:nvGrpSpPr>
        <p:grpSpPr bwMode="auto">
          <a:xfrm>
            <a:off x="457200" y="3276600"/>
            <a:ext cx="8610600" cy="3505200"/>
            <a:chOff x="288" y="2016"/>
            <a:chExt cx="5424" cy="2208"/>
          </a:xfrm>
        </p:grpSpPr>
        <p:sp>
          <p:nvSpPr>
            <p:cNvPr id="32773" name="Text Box 4"/>
            <p:cNvSpPr txBox="1">
              <a:spLocks noChangeArrowheads="1"/>
            </p:cNvSpPr>
            <p:nvPr/>
          </p:nvSpPr>
          <p:spPr bwMode="auto">
            <a:xfrm>
              <a:off x="288" y="2016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x, y </a:t>
              </a:r>
            </a:p>
          </p:txBody>
        </p:sp>
        <p:sp>
          <p:nvSpPr>
            <p:cNvPr id="32774" name="Text Box 5"/>
            <p:cNvSpPr txBox="1">
              <a:spLocks noChangeArrowheads="1"/>
            </p:cNvSpPr>
            <p:nvPr/>
          </p:nvSpPr>
          <p:spPr bwMode="auto">
            <a:xfrm>
              <a:off x="2160" y="3859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width</a:t>
              </a:r>
            </a:p>
          </p:txBody>
        </p:sp>
        <p:sp>
          <p:nvSpPr>
            <p:cNvPr id="32775" name="Rectangle 6"/>
            <p:cNvSpPr>
              <a:spLocks noChangeArrowheads="1"/>
            </p:cNvSpPr>
            <p:nvPr/>
          </p:nvSpPr>
          <p:spPr bwMode="auto">
            <a:xfrm>
              <a:off x="624" y="2477"/>
              <a:ext cx="3984" cy="13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6" name="Oval 7"/>
            <p:cNvSpPr>
              <a:spLocks noChangeArrowheads="1"/>
            </p:cNvSpPr>
            <p:nvPr/>
          </p:nvSpPr>
          <p:spPr bwMode="auto">
            <a:xfrm>
              <a:off x="528" y="2381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7" name="Text Box 8"/>
            <p:cNvSpPr txBox="1">
              <a:spLocks noChangeArrowheads="1"/>
            </p:cNvSpPr>
            <p:nvPr/>
          </p:nvSpPr>
          <p:spPr bwMode="auto">
            <a:xfrm>
              <a:off x="4656" y="2947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height</a:t>
              </a:r>
            </a:p>
          </p:txBody>
        </p:sp>
        <p:sp>
          <p:nvSpPr>
            <p:cNvPr id="32778" name="Line 9"/>
            <p:cNvSpPr>
              <a:spLocks noChangeShapeType="1"/>
            </p:cNvSpPr>
            <p:nvPr/>
          </p:nvSpPr>
          <p:spPr bwMode="auto">
            <a:xfrm>
              <a:off x="3072" y="4032"/>
              <a:ext cx="15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9" name="Line 10"/>
            <p:cNvSpPr>
              <a:spLocks noChangeShapeType="1"/>
            </p:cNvSpPr>
            <p:nvPr/>
          </p:nvSpPr>
          <p:spPr bwMode="auto">
            <a:xfrm flipH="1" flipV="1">
              <a:off x="624" y="4032"/>
              <a:ext cx="1536" cy="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0" name="Line 11"/>
            <p:cNvSpPr>
              <a:spLocks noChangeShapeType="1"/>
            </p:cNvSpPr>
            <p:nvPr/>
          </p:nvSpPr>
          <p:spPr bwMode="auto">
            <a:xfrm flipV="1">
              <a:off x="5136" y="2448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Line 12"/>
            <p:cNvSpPr>
              <a:spLocks noChangeShapeType="1"/>
            </p:cNvSpPr>
            <p:nvPr/>
          </p:nvSpPr>
          <p:spPr bwMode="auto">
            <a:xfrm>
              <a:off x="5136" y="3312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Oval 13"/>
            <p:cNvSpPr>
              <a:spLocks noChangeArrowheads="1"/>
            </p:cNvSpPr>
            <p:nvPr/>
          </p:nvSpPr>
          <p:spPr bwMode="auto">
            <a:xfrm>
              <a:off x="633" y="2496"/>
              <a:ext cx="3962" cy="1307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788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Java0410.java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uses the &lt;</a:t>
            </a:r>
            <a:r>
              <a:rPr lang="en-US" sz="2000" dirty="0" err="1">
                <a:latin typeface="Times New Roman" pitchFamily="18" charset="0"/>
              </a:rPr>
              <a:t>drawOval</a:t>
            </a:r>
            <a:r>
              <a:rPr lang="en-US" sz="2000" dirty="0">
                <a:latin typeface="Times New Roman" pitchFamily="18" charset="0"/>
              </a:rPr>
              <a:t>&gt; method to draw ovals and circles.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The four parameters of the &lt;</a:t>
            </a:r>
            <a:r>
              <a:rPr lang="en-US" sz="2000" dirty="0" err="1">
                <a:latin typeface="Times New Roman" pitchFamily="18" charset="0"/>
              </a:rPr>
              <a:t>drawOval</a:t>
            </a:r>
            <a:r>
              <a:rPr lang="en-US" sz="2000" dirty="0">
                <a:latin typeface="Times New Roman" pitchFamily="18" charset="0"/>
              </a:rPr>
              <a:t>&gt; method are identical to the parameters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of the &lt;drawRect&gt; method.  With &lt;</a:t>
            </a:r>
            <a:r>
              <a:rPr lang="en-US" sz="2000" dirty="0" err="1">
                <a:latin typeface="Times New Roman" pitchFamily="18" charset="0"/>
              </a:rPr>
              <a:t>drawOval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</a:rPr>
              <a:t>X,Y,Width,Height</a:t>
            </a:r>
            <a:r>
              <a:rPr lang="en-US" sz="2000" dirty="0">
                <a:latin typeface="Times New Roman" pitchFamily="18" charset="0"/>
              </a:rPr>
              <a:t>)&gt; (X,Y) is the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coordinate of the top-left corner of the rectangle that circumscribes the oval.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It also shows that the Graphics variable does not have to be "g".</a:t>
            </a:r>
          </a:p>
          <a:p>
            <a:pPr eaLnBrk="1" hangingPunct="1">
              <a:lnSpc>
                <a:spcPct val="130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000" dirty="0" smtClean="0">
                <a:latin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</a:rPr>
              <a:t>java.awt</a:t>
            </a:r>
            <a:r>
              <a:rPr lang="en-US" sz="2000" dirty="0">
                <a:latin typeface="Times New Roman" pitchFamily="18" charset="0"/>
              </a:rPr>
              <a:t>.*;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</a:rPr>
              <a:t>java.applet</a:t>
            </a:r>
            <a:r>
              <a:rPr lang="en-US" sz="20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120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sz="2400" dirty="0" smtClean="0">
                <a:latin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</a:rPr>
              <a:t>class </a:t>
            </a:r>
            <a:r>
              <a:rPr lang="en-US" sz="2400" dirty="0" smtClean="0">
                <a:latin typeface="Times New Roman" pitchFamily="18" charset="0"/>
              </a:rPr>
              <a:t>Java0410 </a:t>
            </a:r>
            <a:r>
              <a:rPr lang="en-US" sz="2400" dirty="0">
                <a:latin typeface="Times New Roman" pitchFamily="18" charset="0"/>
              </a:rPr>
              <a:t>extends Applet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void paint(Graphics screen)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screen.drawOval</a:t>
            </a:r>
            <a:r>
              <a:rPr lang="en-US" sz="2400" dirty="0">
                <a:latin typeface="Times New Roman" pitchFamily="18" charset="0"/>
              </a:rPr>
              <a:t>(50,50,100,100);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screen.drawOval</a:t>
            </a:r>
            <a:r>
              <a:rPr lang="en-US" sz="2400" dirty="0">
                <a:latin typeface="Times New Roman" pitchFamily="18" charset="0"/>
              </a:rPr>
              <a:t>(300,50,300,50);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screen.fillOval</a:t>
            </a:r>
            <a:r>
              <a:rPr lang="en-US" sz="2400" dirty="0">
                <a:latin typeface="Times New Roman" pitchFamily="18" charset="0"/>
              </a:rPr>
              <a:t>(50,400,100,100);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screen.fillOval</a:t>
            </a:r>
            <a:r>
              <a:rPr lang="en-US" sz="2400" dirty="0">
                <a:latin typeface="Times New Roman" pitchFamily="18" charset="0"/>
              </a:rPr>
              <a:t>(300,400,300,150);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251" y="0"/>
            <a:ext cx="6352749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drawArc Method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09728" y="1003300"/>
            <a:ext cx="8924544" cy="220368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drawArc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(</a:t>
            </a:r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 x, </a:t>
            </a:r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 y, </a:t>
            </a:r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 width, </a:t>
            </a:r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 height, </a:t>
            </a:r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 start, </a:t>
            </a:r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000" b="0" dirty="0">
                <a:latin typeface="Arial Black" panose="020B0A04020102020204" pitchFamily="34" charset="0"/>
                <a:sym typeface="Symbol" pitchFamily="18" charset="2"/>
              </a:rPr>
              <a:t> degrees)</a:t>
            </a:r>
          </a:p>
          <a:p>
            <a:pPr eaLnBrk="1" hangingPunct="1">
              <a:lnSpc>
                <a:spcPct val="70000"/>
              </a:lnSpc>
            </a:pPr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dirty="0">
                <a:sym typeface="Symbol" pitchFamily="18" charset="2"/>
              </a:rPr>
              <a:t>Draws part of an oval.  The 1</a:t>
            </a:r>
            <a:r>
              <a:rPr lang="en-US" baseline="30000" dirty="0">
                <a:sym typeface="Symbol" pitchFamily="18" charset="2"/>
              </a:rPr>
              <a:t>st</a:t>
            </a:r>
            <a:r>
              <a:rPr lang="en-US" dirty="0">
                <a:sym typeface="Symbol" pitchFamily="18" charset="2"/>
              </a:rPr>
              <a:t> 4 parameters are the same as </a:t>
            </a:r>
            <a:r>
              <a:rPr lang="en-US" b="0" dirty="0" err="1">
                <a:latin typeface="Arial Black" panose="020B0A04020102020204" pitchFamily="34" charset="0"/>
                <a:sym typeface="Symbol" pitchFamily="18" charset="2"/>
              </a:rPr>
              <a:t>drawOval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eaLnBrk="1" hangingPunct="1"/>
            <a:r>
              <a:rPr lang="en-US" spc="-3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The 5</a:t>
            </a:r>
            <a:r>
              <a:rPr lang="en-US" spc="-30" baseline="30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th</a:t>
            </a:r>
            <a:r>
              <a:rPr lang="en-US" spc="-3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parameter, </a:t>
            </a:r>
            <a:r>
              <a:rPr lang="en-US" b="0" spc="-30" dirty="0" smtClean="0">
                <a:latin typeface="Arial Black" pitchFamily="34" charset="0"/>
                <a:sym typeface="Symbol" pitchFamily="18" charset="2"/>
              </a:rPr>
              <a:t>start</a:t>
            </a:r>
            <a:r>
              <a:rPr lang="en-US" spc="-30" dirty="0" smtClean="0">
                <a:sym typeface="Symbol" pitchFamily="18" charset="2"/>
              </a:rPr>
              <a:t>, indicates </a:t>
            </a:r>
            <a:r>
              <a:rPr lang="en-US" spc="-30" dirty="0">
                <a:sym typeface="Symbol" pitchFamily="18" charset="2"/>
              </a:rPr>
              <a:t>the degree location of the beginning of the arc.</a:t>
            </a:r>
          </a:p>
          <a:p>
            <a:pPr eaLnBrk="1" hangingPunct="1"/>
            <a:r>
              <a:rPr lang="en-US" spc="-3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The </a:t>
            </a:r>
            <a:r>
              <a:rPr lang="en-US" spc="-3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6</a:t>
            </a:r>
            <a:r>
              <a:rPr lang="en-US" spc="-30" baseline="30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th</a:t>
            </a:r>
            <a:r>
              <a:rPr lang="en-US" spc="-3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spc="-3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parameter, </a:t>
            </a:r>
            <a:r>
              <a:rPr lang="en-US" b="0" spc="-30" dirty="0" smtClean="0">
                <a:latin typeface="Arial Black" pitchFamily="34" charset="0"/>
                <a:sym typeface="Symbol" pitchFamily="18" charset="2"/>
              </a:rPr>
              <a:t>degrees</a:t>
            </a:r>
            <a:r>
              <a:rPr lang="en-US" spc="-30" dirty="0" smtClean="0">
                <a:sym typeface="Symbol" pitchFamily="18" charset="2"/>
              </a:rPr>
              <a:t>, </a:t>
            </a:r>
            <a:r>
              <a:rPr lang="en-US" spc="-30" dirty="0">
                <a:sym typeface="Symbol" pitchFamily="18" charset="2"/>
              </a:rPr>
              <a:t>indicates </a:t>
            </a:r>
            <a:r>
              <a:rPr lang="en-US" dirty="0" smtClean="0">
                <a:sym typeface="Symbol" pitchFamily="18" charset="2"/>
              </a:rPr>
              <a:t>the </a:t>
            </a:r>
            <a:r>
              <a:rPr lang="en-US" dirty="0">
                <a:sym typeface="Symbol" pitchFamily="18" charset="2"/>
              </a:rPr>
              <a:t>number of degrees traveled by the arc.  </a:t>
            </a:r>
            <a:endParaRPr lang="en-US" dirty="0" smtClean="0">
              <a:sym typeface="Symbol" pitchFamily="18" charset="2"/>
            </a:endParaRPr>
          </a:p>
          <a:p>
            <a:pPr eaLnBrk="1" hangingPunct="1"/>
            <a:r>
              <a:rPr lang="en-US" spc="-70" dirty="0" smtClean="0">
                <a:sym typeface="Symbol" pitchFamily="18" charset="2"/>
              </a:rPr>
              <a:t>0 </a:t>
            </a:r>
            <a:r>
              <a:rPr lang="en-US" spc="-70" dirty="0">
                <a:sym typeface="Symbol" pitchFamily="18" charset="2"/>
              </a:rPr>
              <a:t>degrees is </a:t>
            </a:r>
            <a:r>
              <a:rPr lang="en-US" spc="-70" dirty="0" smtClean="0">
                <a:sym typeface="Symbol" pitchFamily="18" charset="2"/>
              </a:rPr>
              <a:t>at </a:t>
            </a:r>
            <a:r>
              <a:rPr lang="en-US" spc="-70" dirty="0">
                <a:sym typeface="Symbol" pitchFamily="18" charset="2"/>
              </a:rPr>
              <a:t>the </a:t>
            </a:r>
            <a:r>
              <a:rPr lang="en-US" spc="-70" dirty="0" smtClean="0">
                <a:sym typeface="Symbol" pitchFamily="18" charset="2"/>
              </a:rPr>
              <a:t>3 o’clock </a:t>
            </a:r>
            <a:r>
              <a:rPr lang="en-US" spc="-70" dirty="0">
                <a:sym typeface="Symbol" pitchFamily="18" charset="2"/>
              </a:rPr>
              <a:t>position and </a:t>
            </a:r>
            <a:r>
              <a:rPr lang="en-US" spc="-7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increases </a:t>
            </a:r>
            <a:r>
              <a:rPr lang="en-US" i="1" spc="-7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counter clockwise </a:t>
            </a:r>
            <a:r>
              <a:rPr lang="en-US" spc="-7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to </a:t>
            </a:r>
            <a:r>
              <a:rPr lang="en-US" spc="-70" dirty="0">
                <a:sym typeface="Symbol" pitchFamily="18" charset="2"/>
              </a:rPr>
              <a:t>360 degrees.</a:t>
            </a:r>
          </a:p>
          <a:p>
            <a:pPr eaLnBrk="1" hangingPunct="1">
              <a:lnSpc>
                <a:spcPct val="70000"/>
              </a:lnSpc>
            </a:pPr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sz="2000" b="0" dirty="0" err="1">
                <a:latin typeface="Arial Black" panose="020B0A04020102020204" pitchFamily="34" charset="0"/>
                <a:sym typeface="Symbol" pitchFamily="18" charset="2"/>
              </a:rPr>
              <a:t>fillArc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uses identical parameters, but </a:t>
            </a:r>
            <a:r>
              <a:rPr lang="en-US" dirty="0" smtClean="0">
                <a:sym typeface="Symbol" pitchFamily="18" charset="2"/>
              </a:rPr>
              <a:t>“fills” </a:t>
            </a:r>
            <a:r>
              <a:rPr lang="en-US" dirty="0">
                <a:sym typeface="Symbol" pitchFamily="18" charset="2"/>
              </a:rPr>
              <a:t>in the arc.</a:t>
            </a:r>
          </a:p>
        </p:txBody>
      </p:sp>
      <p:sp>
        <p:nvSpPr>
          <p:cNvPr id="34820" name="Text Box 8"/>
          <p:cNvSpPr txBox="1">
            <a:spLocks noChangeArrowheads="1"/>
          </p:cNvSpPr>
          <p:nvPr/>
        </p:nvSpPr>
        <p:spPr bwMode="auto">
          <a:xfrm>
            <a:off x="7391400" y="4678363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0" dirty="0">
                <a:latin typeface="Arial Black" pitchFamily="34" charset="0"/>
              </a:rPr>
              <a:t>height</a:t>
            </a:r>
          </a:p>
        </p:txBody>
      </p:sp>
      <p:grpSp>
        <p:nvGrpSpPr>
          <p:cNvPr id="34821" name="Group 22"/>
          <p:cNvGrpSpPr>
            <a:grpSpLocks/>
          </p:cNvGrpSpPr>
          <p:nvPr/>
        </p:nvGrpSpPr>
        <p:grpSpPr bwMode="auto">
          <a:xfrm>
            <a:off x="228600" y="3200400"/>
            <a:ext cx="7924800" cy="3505200"/>
            <a:chOff x="144" y="2016"/>
            <a:chExt cx="4992" cy="2208"/>
          </a:xfrm>
        </p:grpSpPr>
        <p:sp>
          <p:nvSpPr>
            <p:cNvPr id="34822" name="Oval 16"/>
            <p:cNvSpPr>
              <a:spLocks noChangeArrowheads="1"/>
            </p:cNvSpPr>
            <p:nvPr/>
          </p:nvSpPr>
          <p:spPr bwMode="auto">
            <a:xfrm>
              <a:off x="1161" y="2669"/>
              <a:ext cx="2967" cy="97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3" name="Text Box 4"/>
            <p:cNvSpPr txBox="1">
              <a:spLocks noChangeArrowheads="1"/>
            </p:cNvSpPr>
            <p:nvPr/>
          </p:nvSpPr>
          <p:spPr bwMode="auto">
            <a:xfrm>
              <a:off x="288" y="2016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x, y </a:t>
              </a:r>
            </a:p>
          </p:txBody>
        </p:sp>
        <p:sp>
          <p:nvSpPr>
            <p:cNvPr id="34824" name="Text Box 5"/>
            <p:cNvSpPr txBox="1">
              <a:spLocks noChangeArrowheads="1"/>
            </p:cNvSpPr>
            <p:nvPr/>
          </p:nvSpPr>
          <p:spPr bwMode="auto">
            <a:xfrm>
              <a:off x="2160" y="3859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0" dirty="0">
                  <a:latin typeface="Arial Black" pitchFamily="34" charset="0"/>
                </a:rPr>
                <a:t>width</a:t>
              </a:r>
            </a:p>
          </p:txBody>
        </p:sp>
        <p:sp>
          <p:nvSpPr>
            <p:cNvPr id="34825" name="Oval 7"/>
            <p:cNvSpPr>
              <a:spLocks noChangeArrowheads="1"/>
            </p:cNvSpPr>
            <p:nvPr/>
          </p:nvSpPr>
          <p:spPr bwMode="auto">
            <a:xfrm>
              <a:off x="528" y="2381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6" name="Line 9"/>
            <p:cNvSpPr>
              <a:spLocks noChangeShapeType="1"/>
            </p:cNvSpPr>
            <p:nvPr/>
          </p:nvSpPr>
          <p:spPr bwMode="auto">
            <a:xfrm>
              <a:off x="3072" y="4032"/>
              <a:ext cx="15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Line 10"/>
            <p:cNvSpPr>
              <a:spLocks noChangeShapeType="1"/>
            </p:cNvSpPr>
            <p:nvPr/>
          </p:nvSpPr>
          <p:spPr bwMode="auto">
            <a:xfrm flipH="1" flipV="1">
              <a:off x="624" y="4032"/>
              <a:ext cx="1536" cy="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8" name="Line 11"/>
            <p:cNvSpPr>
              <a:spLocks noChangeShapeType="1"/>
            </p:cNvSpPr>
            <p:nvPr/>
          </p:nvSpPr>
          <p:spPr bwMode="auto">
            <a:xfrm flipV="1">
              <a:off x="5136" y="2448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9" name="Line 12"/>
            <p:cNvSpPr>
              <a:spLocks noChangeShapeType="1"/>
            </p:cNvSpPr>
            <p:nvPr/>
          </p:nvSpPr>
          <p:spPr bwMode="auto">
            <a:xfrm>
              <a:off x="5136" y="3312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Oval 13"/>
            <p:cNvSpPr>
              <a:spLocks noChangeArrowheads="1"/>
            </p:cNvSpPr>
            <p:nvPr/>
          </p:nvSpPr>
          <p:spPr bwMode="auto">
            <a:xfrm>
              <a:off x="633" y="2496"/>
              <a:ext cx="3962" cy="1307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1" name="Rectangle 14"/>
            <p:cNvSpPr>
              <a:spLocks noChangeArrowheads="1"/>
            </p:cNvSpPr>
            <p:nvPr/>
          </p:nvSpPr>
          <p:spPr bwMode="auto">
            <a:xfrm>
              <a:off x="2592" y="3120"/>
              <a:ext cx="2064" cy="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2" name="Rectangle 6"/>
            <p:cNvSpPr>
              <a:spLocks noChangeArrowheads="1"/>
            </p:cNvSpPr>
            <p:nvPr/>
          </p:nvSpPr>
          <p:spPr bwMode="auto">
            <a:xfrm>
              <a:off x="624" y="2477"/>
              <a:ext cx="3984" cy="13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>
              <a:off x="2544" y="3648"/>
              <a:ext cx="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Text Box 18"/>
            <p:cNvSpPr txBox="1">
              <a:spLocks noChangeArrowheads="1"/>
            </p:cNvSpPr>
            <p:nvPr/>
          </p:nvSpPr>
          <p:spPr bwMode="auto">
            <a:xfrm>
              <a:off x="4032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b="0">
                  <a:latin typeface="Arial Black" pitchFamily="34" charset="0"/>
                </a:rPr>
                <a:t>0, 360</a:t>
              </a:r>
            </a:p>
          </p:txBody>
        </p:sp>
        <p:sp>
          <p:nvSpPr>
            <p:cNvPr id="34835" name="Text Box 19"/>
            <p:cNvSpPr txBox="1">
              <a:spLocks noChangeArrowheads="1"/>
            </p:cNvSpPr>
            <p:nvPr/>
          </p:nvSpPr>
          <p:spPr bwMode="auto">
            <a:xfrm>
              <a:off x="2544" y="2265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b="0">
                  <a:latin typeface="Arial Black" pitchFamily="34" charset="0"/>
                </a:rPr>
                <a:t>90</a:t>
              </a:r>
            </a:p>
          </p:txBody>
        </p:sp>
        <p:sp>
          <p:nvSpPr>
            <p:cNvPr id="34836" name="Text Box 20"/>
            <p:cNvSpPr txBox="1">
              <a:spLocks noChangeArrowheads="1"/>
            </p:cNvSpPr>
            <p:nvPr/>
          </p:nvSpPr>
          <p:spPr bwMode="auto">
            <a:xfrm>
              <a:off x="144" y="3033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b="0">
                  <a:latin typeface="Arial Black" pitchFamily="34" charset="0"/>
                </a:rPr>
                <a:t>180</a:t>
              </a:r>
            </a:p>
          </p:txBody>
        </p:sp>
        <p:sp>
          <p:nvSpPr>
            <p:cNvPr id="34837" name="Text Box 21"/>
            <p:cNvSpPr txBox="1">
              <a:spLocks noChangeArrowheads="1"/>
            </p:cNvSpPr>
            <p:nvPr/>
          </p:nvSpPr>
          <p:spPr bwMode="auto">
            <a:xfrm>
              <a:off x="2544" y="3561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b="0">
                  <a:latin typeface="Arial Black" pitchFamily="34" charset="0"/>
                </a:rPr>
                <a:t>270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956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Java0411.java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This program uses the &lt;</a:t>
            </a:r>
            <a:r>
              <a:rPr lang="en-US" sz="2000" dirty="0" err="1">
                <a:latin typeface="Times New Roman" pitchFamily="18" charset="0"/>
              </a:rPr>
              <a:t>drawArc</a:t>
            </a:r>
            <a:r>
              <a:rPr lang="en-US" sz="2000" dirty="0">
                <a:latin typeface="Times New Roman" pitchFamily="18" charset="0"/>
              </a:rPr>
              <a:t>&gt; and &lt;</a:t>
            </a:r>
            <a:r>
              <a:rPr lang="en-US" sz="2000" dirty="0" err="1">
                <a:latin typeface="Times New Roman" pitchFamily="18" charset="0"/>
              </a:rPr>
              <a:t>fillArcs</a:t>
            </a:r>
            <a:r>
              <a:rPr lang="en-US" sz="2000" dirty="0">
                <a:latin typeface="Times New Roman" pitchFamily="18" charset="0"/>
              </a:rPr>
              <a:t>&gt; methods.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Method &lt;</a:t>
            </a:r>
            <a:r>
              <a:rPr lang="en-US" sz="2000" dirty="0" err="1">
                <a:latin typeface="Times New Roman" pitchFamily="18" charset="0"/>
              </a:rPr>
              <a:t>drawArc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</a:rPr>
              <a:t>X,Y,Width,Height,Start,Degrees</a:t>
            </a:r>
            <a:r>
              <a:rPr lang="en-US" sz="2000" dirty="0">
                <a:latin typeface="Times New Roman" pitchFamily="18" charset="0"/>
              </a:rPr>
              <a:t>)&gt; uses the first four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parameters in the same manner as the &lt;</a:t>
            </a:r>
            <a:r>
              <a:rPr lang="en-US" sz="2000" dirty="0" err="1">
                <a:latin typeface="Times New Roman" pitchFamily="18" charset="0"/>
              </a:rPr>
              <a:t>drawOval</a:t>
            </a:r>
            <a:r>
              <a:rPr lang="en-US" sz="2000" dirty="0">
                <a:latin typeface="Times New Roman" pitchFamily="18" charset="0"/>
              </a:rPr>
              <a:t>&gt; method.  Start is the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// degree value of the arc-start and Degrees is the number of degrees the arc travels.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Start (0 degrees) is at 3:00 o'clock and positive degrees travel counter-clockwise</a:t>
            </a:r>
            <a:r>
              <a:rPr lang="en-US" sz="20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2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</a:rPr>
              <a:t>java.awt</a:t>
            </a:r>
            <a:r>
              <a:rPr lang="en-US" sz="20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</a:rPr>
              <a:t>java.applet</a:t>
            </a:r>
            <a:r>
              <a:rPr lang="en-US" sz="20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2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</a:rPr>
              <a:t>class </a:t>
            </a:r>
            <a:r>
              <a:rPr lang="en-US" sz="2000" dirty="0" smtClean="0">
                <a:latin typeface="Times New Roman" pitchFamily="18" charset="0"/>
              </a:rPr>
              <a:t>Java0411 </a:t>
            </a:r>
            <a:r>
              <a:rPr lang="en-US" sz="2000" dirty="0">
                <a:latin typeface="Times New Roman" pitchFamily="18" charset="0"/>
              </a:rPr>
              <a:t>extends Applet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void paint(Graphics g)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		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g.drawArc</a:t>
            </a:r>
            <a:r>
              <a:rPr lang="en-US" sz="2000" dirty="0">
                <a:latin typeface="Times New Roman" pitchFamily="18" charset="0"/>
              </a:rPr>
              <a:t>(50,50,100,100,0,180);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g.fillArc</a:t>
            </a:r>
            <a:r>
              <a:rPr lang="en-US" sz="2000" dirty="0">
                <a:latin typeface="Times New Roman" pitchFamily="18" charset="0"/>
              </a:rPr>
              <a:t>(200,50,100,100,0,270);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g.drawArc</a:t>
            </a:r>
            <a:r>
              <a:rPr lang="en-US" sz="2000" dirty="0">
                <a:latin typeface="Times New Roman" pitchFamily="18" charset="0"/>
              </a:rPr>
              <a:t>(350,50,100,100,0,360);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g.fillArc</a:t>
            </a:r>
            <a:r>
              <a:rPr lang="en-US" sz="2000" dirty="0">
                <a:latin typeface="Times New Roman" pitchFamily="18" charset="0"/>
              </a:rPr>
              <a:t>(500,50,100,100,0,-180);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g.drawArc</a:t>
            </a:r>
            <a:r>
              <a:rPr lang="en-US" sz="2000" dirty="0">
                <a:latin typeface="Times New Roman" pitchFamily="18" charset="0"/>
              </a:rPr>
              <a:t>(50,250,100,200,0,180);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g.fillArc</a:t>
            </a:r>
            <a:r>
              <a:rPr lang="en-US" sz="2000" dirty="0">
                <a:latin typeface="Times New Roman" pitchFamily="18" charset="0"/>
              </a:rPr>
              <a:t>(200,250,100,200,0,270);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g.drawArc</a:t>
            </a:r>
            <a:r>
              <a:rPr lang="en-US" sz="2000" dirty="0">
                <a:latin typeface="Times New Roman" pitchFamily="18" charset="0"/>
              </a:rPr>
              <a:t>(350,250,200,100,0,360);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g.fillArc</a:t>
            </a:r>
            <a:r>
              <a:rPr lang="en-US" sz="2000" dirty="0">
                <a:latin typeface="Times New Roman" pitchFamily="18" charset="0"/>
              </a:rPr>
              <a:t>(350,400,200,100,0,-180);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7422"/>
          <a:stretch/>
        </p:blipFill>
        <p:spPr bwMode="auto">
          <a:xfrm>
            <a:off x="4907941" y="1904998"/>
            <a:ext cx="4236059" cy="4953002"/>
          </a:xfrm>
          <a:prstGeom prst="rect">
            <a:avLst/>
          </a:prstGeom>
          <a:noFill/>
          <a:ln>
            <a:noFill/>
          </a:ln>
          <a:ex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Rectangle 16"/>
          <p:cNvSpPr>
            <a:spLocks noChangeArrowheads="1"/>
          </p:cNvSpPr>
          <p:nvPr/>
        </p:nvSpPr>
        <p:spPr bwMode="auto">
          <a:xfrm>
            <a:off x="0" y="448"/>
            <a:ext cx="9144000" cy="155084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  <a:latin typeface="Arial Black" panose="020B0A04020102020204" pitchFamily="34" charset="0"/>
              </a:rPr>
              <a:t>Parameter Sequence Matters</a:t>
            </a:r>
            <a:r>
              <a:rPr lang="en-US" sz="3600" dirty="0">
                <a:solidFill>
                  <a:schemeClr val="tx2"/>
                </a:solidFill>
              </a:rPr>
              <a:t/>
            </a:r>
            <a:br>
              <a:rPr lang="en-US" sz="3600" dirty="0">
                <a:solidFill>
                  <a:schemeClr val="tx2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Java0410.java</a:t>
            </a:r>
            <a:r>
              <a:rPr lang="en-US" sz="3600" dirty="0" smtClean="0">
                <a:solidFill>
                  <a:schemeClr val="tx2"/>
                </a:solidFill>
              </a:rPr>
              <a:t>   </a:t>
            </a:r>
            <a:r>
              <a:rPr lang="en-US" sz="3600" dirty="0">
                <a:solidFill>
                  <a:srgbClr val="0000FF"/>
                </a:solidFill>
              </a:rPr>
              <a:t>vs.</a:t>
            </a:r>
            <a:r>
              <a:rPr lang="en-US" sz="3600" dirty="0">
                <a:solidFill>
                  <a:schemeClr val="tx2"/>
                </a:solidFill>
              </a:rPr>
              <a:t>   </a:t>
            </a:r>
            <a:r>
              <a:rPr lang="en-US" sz="3600" dirty="0" smtClean="0">
                <a:solidFill>
                  <a:srgbClr val="FF0000"/>
                </a:solidFill>
              </a:rPr>
              <a:t>Java0412.java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6"/>
          <a:stretch/>
        </p:blipFill>
        <p:spPr bwMode="auto">
          <a:xfrm>
            <a:off x="0" y="1551288"/>
            <a:ext cx="9144000" cy="53067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4.8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457200" y="1676400"/>
            <a:ext cx="8382000" cy="2525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Adding Color to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7" name="WordArt 2"/>
          <p:cNvSpPr>
            <a:spLocks noChangeArrowheads="1" noChangeShapeType="1" noTextEdit="1"/>
          </p:cNvSpPr>
          <p:nvPr/>
        </p:nvSpPr>
        <p:spPr bwMode="auto">
          <a:xfrm>
            <a:off x="457200" y="3951288"/>
            <a:ext cx="8382000" cy="252571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Graphics Output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166275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619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</a:rPr>
              <a:t>// </a:t>
            </a:r>
            <a:r>
              <a:rPr lang="en-US" dirty="0" smtClean="0">
                <a:latin typeface="Times New Roman" pitchFamily="18" charset="0"/>
              </a:rPr>
              <a:t>Java0413.java</a:t>
            </a:r>
            <a:endParaRPr lang="en-US" dirty="0">
              <a:latin typeface="Times New Roman" pitchFamily="18" charset="0"/>
            </a:endParaRPr>
          </a:p>
          <a:p>
            <a:pPr eaLnBrk="1" hangingPunct="1"/>
            <a:r>
              <a:rPr lang="en-US" dirty="0">
                <a:latin typeface="Times New Roman" pitchFamily="18" charset="0"/>
              </a:rPr>
              <a:t>// This program demonstrates how to control the output display color with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// the &lt;Color&gt; class and the &lt;</a:t>
            </a:r>
            <a:r>
              <a:rPr lang="en-US" dirty="0" err="1">
                <a:latin typeface="Times New Roman" pitchFamily="18" charset="0"/>
              </a:rPr>
              <a:t>setColor</a:t>
            </a:r>
            <a:r>
              <a:rPr lang="en-US" dirty="0">
                <a:latin typeface="Times New Roman" pitchFamily="18" charset="0"/>
              </a:rPr>
              <a:t>&gt; method</a:t>
            </a:r>
            <a:r>
              <a:rPr lang="en-US" dirty="0" smtClean="0">
                <a:latin typeface="Times New Roman" pitchFamily="18" charset="0"/>
              </a:rPr>
              <a:t>.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dirty="0">
                <a:latin typeface="Times New Roman" pitchFamily="18" charset="0"/>
              </a:rPr>
              <a:t>import </a:t>
            </a:r>
            <a:r>
              <a:rPr lang="en-US" dirty="0" err="1">
                <a:latin typeface="Times New Roman" pitchFamily="18" charset="0"/>
              </a:rPr>
              <a:t>java.awt</a:t>
            </a:r>
            <a:r>
              <a:rPr lang="en-US" dirty="0">
                <a:latin typeface="Times New Roman" pitchFamily="18" charset="0"/>
              </a:rPr>
              <a:t>.*;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import </a:t>
            </a:r>
            <a:r>
              <a:rPr lang="en-US" dirty="0" err="1">
                <a:latin typeface="Times New Roman" pitchFamily="18" charset="0"/>
              </a:rPr>
              <a:t>java.applet</a:t>
            </a:r>
            <a:r>
              <a:rPr lang="en-US" dirty="0">
                <a:latin typeface="Times New Roman" pitchFamily="18" charset="0"/>
              </a:rPr>
              <a:t>.*;</a:t>
            </a:r>
          </a:p>
          <a:p>
            <a:pPr eaLnBrk="1" hangingPunct="1"/>
            <a:endParaRPr lang="en-US" sz="1600" dirty="0" smtClean="0">
              <a:latin typeface="Times New Roman" pitchFamily="18" charset="0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public </a:t>
            </a:r>
            <a:r>
              <a:rPr lang="en-US" dirty="0">
                <a:latin typeface="Times New Roman" pitchFamily="18" charset="0"/>
              </a:rPr>
              <a:t>class </a:t>
            </a:r>
            <a:r>
              <a:rPr lang="en-US" dirty="0" smtClean="0">
                <a:latin typeface="Times New Roman" pitchFamily="18" charset="0"/>
              </a:rPr>
              <a:t>Java0413 </a:t>
            </a:r>
            <a:r>
              <a:rPr lang="en-US" dirty="0">
                <a:latin typeface="Times New Roman" pitchFamily="18" charset="0"/>
              </a:rPr>
              <a:t>extends Applet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latin typeface="Times New Roman" pitchFamily="18" charset="0"/>
              </a:rPr>
              <a:t>	public void paint(Graphics g)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Color.red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(50,50,100,100);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Color.green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(200,50,100,100);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Color.blue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(350,50,100,100);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Color.orange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(500,50,100,100);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Color.cyan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(50,200,100,100);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Color.magenta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(200,200,100,100);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Color.yellow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(350,200,100,100);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Color.gray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(500,200,100,100);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Color.lightGray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(50,350,100,100);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Color.darkGray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(200,350,100,100);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Color.pink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(350,350,100,100);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3941763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g.setColor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Color.black</a:t>
            </a:r>
            <a:r>
              <a:rPr lang="en-US" dirty="0">
                <a:latin typeface="Times New Roman" pitchFamily="18" charset="0"/>
              </a:rPr>
              <a:t>);	</a:t>
            </a:r>
            <a:r>
              <a:rPr lang="en-US" dirty="0" err="1">
                <a:latin typeface="Times New Roman" pitchFamily="18" charset="0"/>
              </a:rPr>
              <a:t>g.fillOval</a:t>
            </a:r>
            <a:r>
              <a:rPr lang="en-US" dirty="0">
                <a:latin typeface="Times New Roman" pitchFamily="18" charset="0"/>
              </a:rPr>
              <a:t>(500,350,100,100);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} </a:t>
            </a:r>
            <a:endParaRPr lang="en-US" sz="16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74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setColor Method</a:t>
            </a:r>
          </a:p>
        </p:txBody>
      </p:sp>
      <p:graphicFrame>
        <p:nvGraphicFramePr>
          <p:cNvPr id="450644" name="Group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242009"/>
              </p:ext>
            </p:extLst>
          </p:nvPr>
        </p:nvGraphicFramePr>
        <p:xfrm>
          <a:off x="533400" y="1066800"/>
          <a:ext cx="8153400" cy="5657788"/>
        </p:xfrm>
        <a:graphic>
          <a:graphicData uri="http://schemas.openxmlformats.org/drawingml/2006/table">
            <a:tbl>
              <a:tblPr/>
              <a:tblGrid>
                <a:gridCol w="8153400"/>
              </a:tblGrid>
              <a:tr h="23467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itchFamily="18" charset="0"/>
                          <a:cs typeface="Arial" charset="0"/>
                        </a:rPr>
                        <a:t>setColor</a:t>
                      </a:r>
                      <a:r>
                        <a:rPr kumimoji="0" lang="en-US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3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itchFamily="18" charset="0"/>
                          <a:cs typeface="Arial" charset="0"/>
                        </a:rPr>
                        <a:t>Color.constant</a:t>
                      </a:r>
                      <a:r>
                        <a:rPr kumimoji="0" lang="en-US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itchFamily="18" charset="0"/>
                          <a:cs typeface="Arial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Sets the graphics display color of the following graphics output to the specified constant of the 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Color class.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There are 13 color constants listed below.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08" marB="45708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128395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429000" algn="l"/>
                          <a:tab pos="3657600" algn="l"/>
                          <a:tab pos="4114800" algn="l"/>
                          <a:tab pos="4572000" algn="l"/>
                          <a:tab pos="4922838" algn="l"/>
                          <a:tab pos="5029200" algn="l"/>
                          <a:tab pos="5943600" algn="l"/>
                          <a:tab pos="6340475" algn="l"/>
                          <a:tab pos="6858000" algn="l"/>
                        </a:tabLst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red          		green       	blue       		orange      	cyan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429000" algn="l"/>
                          <a:tab pos="3657600" algn="l"/>
                          <a:tab pos="4114800" algn="l"/>
                          <a:tab pos="4572000" algn="l"/>
                          <a:tab pos="4922838" algn="l"/>
                          <a:tab pos="5029200" algn="l"/>
                          <a:tab pos="5943600" algn="l"/>
                          <a:tab pos="6340475" algn="l"/>
                          <a:tab pos="6858000" algn="l"/>
                        </a:tabLst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magenta    	yellow     	gray       		lightGray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429000" algn="l"/>
                          <a:tab pos="3657600" algn="l"/>
                          <a:tab pos="4114800" algn="l"/>
                          <a:tab pos="4572000" algn="l"/>
                          <a:tab pos="4922838" algn="l"/>
                          <a:tab pos="5029200" algn="l"/>
                          <a:tab pos="5943600" algn="l"/>
                          <a:tab pos="6340475" algn="l"/>
                          <a:tab pos="6858000" algn="l"/>
                        </a:tabLst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drakGray      pink        	black     		white</a:t>
                      </a:r>
                    </a:p>
                  </a:txBody>
                  <a:tcPr marT="45708" marB="45708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1981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NOTE:  You are not limited to only these 13 colors.  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By combining different amounts of red, green, and blue values you can create any of over 16 million different colors.  You will be shown how to do this in a later chapter.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08" marB="45708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Java0414.java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This program demonstrates the &lt;</a:t>
            </a:r>
            <a:r>
              <a:rPr lang="en-US" sz="2000" dirty="0" err="1">
                <a:latin typeface="Times New Roman" pitchFamily="18" charset="0"/>
              </a:rPr>
              <a:t>drawString</a:t>
            </a:r>
            <a:r>
              <a:rPr lang="en-US" sz="2000" dirty="0">
                <a:latin typeface="Times New Roman" pitchFamily="18" charset="0"/>
              </a:rPr>
              <a:t>&gt; method.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With &lt;</a:t>
            </a:r>
            <a:r>
              <a:rPr lang="en-US" sz="2000" dirty="0" err="1">
                <a:latin typeface="Times New Roman" pitchFamily="18" charset="0"/>
              </a:rPr>
              <a:t>drawString</a:t>
            </a:r>
            <a:r>
              <a:rPr lang="en-US" sz="2000" dirty="0">
                <a:latin typeface="Times New Roman" pitchFamily="18" charset="0"/>
              </a:rPr>
              <a:t>("Hello World",</a:t>
            </a:r>
            <a:r>
              <a:rPr lang="en-US" sz="2000" dirty="0" err="1">
                <a:latin typeface="Times New Roman" pitchFamily="18" charset="0"/>
              </a:rPr>
              <a:t>x,y</a:t>
            </a:r>
            <a:r>
              <a:rPr lang="en-US" sz="2000" dirty="0">
                <a:latin typeface="Times New Roman" pitchFamily="18" charset="0"/>
              </a:rPr>
              <a:t>)&gt;, the string Hello World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// will be displayed starting at the [</a:t>
            </a:r>
            <a:r>
              <a:rPr lang="en-US" sz="2000" dirty="0" err="1">
                <a:latin typeface="Times New Roman" pitchFamily="18" charset="0"/>
              </a:rPr>
              <a:t>x,y</a:t>
            </a:r>
            <a:r>
              <a:rPr lang="en-US" sz="2000" dirty="0">
                <a:latin typeface="Times New Roman" pitchFamily="18" charset="0"/>
              </a:rPr>
              <a:t>] pixel coordinate.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</a:rPr>
              <a:t>java.awt</a:t>
            </a:r>
            <a:r>
              <a:rPr lang="en-US" sz="20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</a:rPr>
              <a:t>java.applet</a:t>
            </a:r>
            <a:r>
              <a:rPr lang="en-US" sz="2000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</a:rPr>
              <a:t>Java0414 </a:t>
            </a:r>
            <a:r>
              <a:rPr lang="en-US" sz="2000" dirty="0">
                <a:latin typeface="Times New Roman" pitchFamily="18" charset="0"/>
              </a:rPr>
              <a:t>extends Applet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public void paint(Graphics g)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spc="-30" dirty="0">
                <a:latin typeface="Times New Roman" pitchFamily="18" charset="0"/>
              </a:rPr>
              <a:t>		</a:t>
            </a:r>
            <a:r>
              <a:rPr lang="en-US" sz="2000" spc="-30" dirty="0" err="1">
                <a:latin typeface="Times New Roman" pitchFamily="18" charset="0"/>
              </a:rPr>
              <a:t>g.drawString</a:t>
            </a:r>
            <a:r>
              <a:rPr lang="en-US" sz="2000" spc="-30" dirty="0">
                <a:latin typeface="Times New Roman" pitchFamily="18" charset="0"/>
              </a:rPr>
              <a:t>("This string will display in default black at coordinate [200,250]", 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	200,250);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g.setColor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</a:rPr>
              <a:t>Color.red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g.drawString</a:t>
            </a:r>
            <a:r>
              <a:rPr lang="en-US" sz="2000" dirty="0">
                <a:latin typeface="Times New Roman" pitchFamily="18" charset="0"/>
              </a:rPr>
              <a:t>("This string will display in red at coordinate [5,50]",5,50);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g.setColor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</a:rPr>
              <a:t>Color.blue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spc="-30" dirty="0">
                <a:latin typeface="Times New Roman" pitchFamily="18" charset="0"/>
              </a:rPr>
              <a:t>		</a:t>
            </a:r>
            <a:r>
              <a:rPr lang="en-US" sz="2000" spc="-30" dirty="0" err="1">
                <a:latin typeface="Times New Roman" pitchFamily="18" charset="0"/>
              </a:rPr>
              <a:t>g.drawString</a:t>
            </a:r>
            <a:r>
              <a:rPr lang="en-US" sz="2000" spc="-30" dirty="0">
                <a:latin typeface="Times New Roman" pitchFamily="18" charset="0"/>
              </a:rPr>
              <a:t>("This string will display in blue at coordinate [400,500]",400,500);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  <a:tabLst>
                <a:tab pos="233363" algn="l"/>
                <a:tab pos="466725" algn="l"/>
                <a:tab pos="1379538" algn="l"/>
                <a:tab pos="1827213" algn="l"/>
                <a:tab pos="2293938" algn="l"/>
              </a:tabLst>
            </a:pP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261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40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drawString Method</a:t>
            </a:r>
          </a:p>
        </p:txBody>
      </p:sp>
      <p:sp>
        <p:nvSpPr>
          <p:cNvPr id="41987" name="Text Box 4"/>
          <p:cNvSpPr txBox="1">
            <a:spLocks noChangeArrowheads="1"/>
          </p:cNvSpPr>
          <p:nvPr/>
        </p:nvSpPr>
        <p:spPr bwMode="auto">
          <a:xfrm>
            <a:off x="762000" y="1574800"/>
            <a:ext cx="7620000" cy="1261884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 err="1">
                <a:latin typeface="Arial Black" panose="020B0A04020102020204" pitchFamily="34" charset="0"/>
                <a:sym typeface="Symbol" pitchFamily="18" charset="2"/>
              </a:rPr>
              <a:t>drawString</a:t>
            </a:r>
            <a:r>
              <a:rPr lang="en-US" sz="2800" dirty="0">
                <a:latin typeface="Arial Black" panose="020B0A04020102020204" pitchFamily="34" charset="0"/>
                <a:sym typeface="Symbol" pitchFamily="18" charset="2"/>
              </a:rPr>
              <a:t>(String s, </a:t>
            </a:r>
            <a:r>
              <a:rPr lang="en-US" sz="280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dirty="0">
                <a:latin typeface="Arial Black" panose="020B0A04020102020204" pitchFamily="34" charset="0"/>
                <a:sym typeface="Symbol" pitchFamily="18" charset="2"/>
              </a:rPr>
              <a:t> x, </a:t>
            </a:r>
            <a:r>
              <a:rPr lang="en-US" sz="2800" dirty="0" err="1">
                <a:latin typeface="Arial Black" panose="020B0A04020102020204" pitchFamily="34" charset="0"/>
                <a:sym typeface="Symbol" pitchFamily="18" charset="2"/>
              </a:rPr>
              <a:t>int</a:t>
            </a:r>
            <a:r>
              <a:rPr lang="en-US" sz="2800" dirty="0">
                <a:latin typeface="Arial Black" panose="020B0A04020102020204" pitchFamily="34" charset="0"/>
                <a:sym typeface="Symbol" pitchFamily="18" charset="2"/>
              </a:rPr>
              <a:t> y)</a:t>
            </a:r>
          </a:p>
          <a:p>
            <a:pPr eaLnBrk="1" hangingPunct="1"/>
            <a:endParaRPr lang="en-US" sz="2400" dirty="0">
              <a:sym typeface="Symbol" pitchFamily="18" charset="2"/>
            </a:endParaRPr>
          </a:p>
          <a:p>
            <a:pPr eaLnBrk="1" hangingPunct="1"/>
            <a:r>
              <a:rPr lang="en-US" sz="2400" dirty="0">
                <a:sym typeface="Symbol" pitchFamily="18" charset="2"/>
              </a:rPr>
              <a:t>Draws a String s starting at the at coordinate (</a:t>
            </a:r>
            <a:r>
              <a:rPr lang="en-US" sz="2400" dirty="0" err="1">
                <a:sym typeface="Symbol" pitchFamily="18" charset="2"/>
              </a:rPr>
              <a:t>x,y</a:t>
            </a:r>
            <a:r>
              <a:rPr lang="en-US" sz="2400" dirty="0">
                <a:sym typeface="Symbol" pitchFamily="18" charset="2"/>
              </a:rPr>
              <a:t>).</a:t>
            </a:r>
          </a:p>
        </p:txBody>
      </p:sp>
      <p:sp>
        <p:nvSpPr>
          <p:cNvPr id="41988" name="Text Box 79"/>
          <p:cNvSpPr txBox="1">
            <a:spLocks noChangeArrowheads="1"/>
          </p:cNvSpPr>
          <p:nvPr/>
        </p:nvSpPr>
        <p:spPr bwMode="auto">
          <a:xfrm>
            <a:off x="1447800" y="3429000"/>
            <a:ext cx="67056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9600" b="0"/>
              <a:t>Hello there!</a:t>
            </a:r>
          </a:p>
        </p:txBody>
      </p:sp>
      <p:sp>
        <p:nvSpPr>
          <p:cNvPr id="41989" name="Text Box 80"/>
          <p:cNvSpPr txBox="1">
            <a:spLocks noChangeArrowheads="1"/>
          </p:cNvSpPr>
          <p:nvPr/>
        </p:nvSpPr>
        <p:spPr bwMode="auto">
          <a:xfrm>
            <a:off x="1143000" y="47545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0" dirty="0">
                <a:latin typeface="Arial Black" pitchFamily="34" charset="0"/>
              </a:rPr>
              <a:t>x, y </a:t>
            </a:r>
          </a:p>
        </p:txBody>
      </p:sp>
      <p:sp>
        <p:nvSpPr>
          <p:cNvPr id="41990" name="Oval 81"/>
          <p:cNvSpPr>
            <a:spLocks noChangeArrowheads="1"/>
          </p:cNvSpPr>
          <p:nvPr/>
        </p:nvSpPr>
        <p:spPr bwMode="auto">
          <a:xfrm>
            <a:off x="1544638" y="44958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4328</TotalTime>
  <Words>2455</Words>
  <Application>Microsoft Macintosh PowerPoint</Application>
  <PresentationFormat>全屏显示(4:3)</PresentationFormat>
  <Paragraphs>592</Paragraphs>
  <Slides>52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3" baseType="lpstr">
      <vt:lpstr>Default Design</vt:lpstr>
      <vt:lpstr>PowerPoint 演示文稿</vt:lpstr>
      <vt:lpstr>PowerPoint 演示文稿</vt:lpstr>
      <vt:lpstr>PowerPoint 演示文稿</vt:lpstr>
      <vt:lpstr>The 4 Stages of  Program Design</vt:lpstr>
      <vt:lpstr>Avoid Spaghetti Programming</vt:lpstr>
      <vt:lpstr>PowerPoint 演示文稿</vt:lpstr>
      <vt:lpstr>PowerPoint 演示文稿</vt:lpstr>
      <vt:lpstr>OOP Example</vt:lpstr>
      <vt:lpstr>Encapsulation</vt:lpstr>
      <vt:lpstr>Polymorphism</vt:lpstr>
      <vt:lpstr>Class Interaction - Inheritance</vt:lpstr>
      <vt:lpstr>PowerPoint 演示文稿</vt:lpstr>
      <vt:lpstr>PowerPoint 演示文稿</vt:lpstr>
      <vt:lpstr>PowerPoint 演示文稿</vt:lpstr>
      <vt:lpstr>PowerPoint 演示文稿</vt:lpstr>
      <vt:lpstr>Class Method Syntax</vt:lpstr>
      <vt:lpstr>PowerPoint 演示文稿</vt:lpstr>
      <vt:lpstr>Method  Arguments or Parameters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AP® Exam Alert</vt:lpstr>
      <vt:lpstr>PowerPoint 演示文稿</vt:lpstr>
      <vt:lpstr>Learning Graphics Programming</vt:lpstr>
      <vt:lpstr>Graphics &amp; Coordinate Geometry</vt:lpstr>
      <vt:lpstr>Cartesian Coordinate Graph</vt:lpstr>
      <vt:lpstr>PowerPoint 演示文稿</vt:lpstr>
      <vt:lpstr>PowerPoint 演示文稿</vt:lpstr>
      <vt:lpstr>Executing Java Applet Programs</vt:lpstr>
      <vt:lpstr>The drawLine Method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drawRect Method</vt:lpstr>
      <vt:lpstr>PowerPoint 演示文稿</vt:lpstr>
      <vt:lpstr>The drawOval Method</vt:lpstr>
      <vt:lpstr>PowerPoint 演示文稿</vt:lpstr>
      <vt:lpstr>The drawArc Method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setColor Method</vt:lpstr>
      <vt:lpstr>PowerPoint 演示文稿</vt:lpstr>
      <vt:lpstr>PowerPoint 演示文稿</vt:lpstr>
      <vt:lpstr>The drawString Method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BHSFIC ddd</cp:lastModifiedBy>
  <cp:revision>482</cp:revision>
  <dcterms:created xsi:type="dcterms:W3CDTF">2003-07-04T03:08:29Z</dcterms:created>
  <dcterms:modified xsi:type="dcterms:W3CDTF">2016-03-18T01:10:52Z</dcterms:modified>
</cp:coreProperties>
</file>